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1439" r:id="rId2"/>
    <p:sldId id="1389" r:id="rId3"/>
    <p:sldId id="284" r:id="rId4"/>
    <p:sldId id="1388" r:id="rId5"/>
    <p:sldId id="1390" r:id="rId6"/>
    <p:sldId id="1243" r:id="rId7"/>
    <p:sldId id="257" r:id="rId8"/>
    <p:sldId id="1438" r:id="rId9"/>
    <p:sldId id="1244" r:id="rId10"/>
    <p:sldId id="256" r:id="rId11"/>
    <p:sldId id="279" r:id="rId12"/>
    <p:sldId id="280" r:id="rId13"/>
    <p:sldId id="281" r:id="rId14"/>
    <p:sldId id="1245" r:id="rId15"/>
    <p:sldId id="1246" r:id="rId16"/>
    <p:sldId id="258" r:id="rId17"/>
    <p:sldId id="259" r:id="rId18"/>
    <p:sldId id="260" r:id="rId19"/>
    <p:sldId id="1249" r:id="rId20"/>
    <p:sldId id="263" r:id="rId21"/>
    <p:sldId id="1247" r:id="rId22"/>
    <p:sldId id="283" r:id="rId23"/>
    <p:sldId id="262" r:id="rId24"/>
    <p:sldId id="1250" r:id="rId25"/>
    <p:sldId id="261" r:id="rId26"/>
    <p:sldId id="269" r:id="rId27"/>
    <p:sldId id="285" r:id="rId28"/>
    <p:sldId id="1251" r:id="rId29"/>
    <p:sldId id="282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1440" r:id="rId39"/>
    <p:sldId id="1252" r:id="rId40"/>
    <p:sldId id="1253" r:id="rId41"/>
    <p:sldId id="1254" r:id="rId42"/>
    <p:sldId id="1255" r:id="rId43"/>
    <p:sldId id="278" r:id="rId44"/>
    <p:sldId id="1248" r:id="rId4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BA1949-4B04-4179-BA8B-D1B2FA762C7E}" v="4" dt="2025-12-01T23:53:18.6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">
      <pc:chgData name="Lines, Todd" userId="afaf7c3a-e8aa-4568-882a-02ad8f9e19b0" providerId="ADAL" clId="{5FF5AC1B-ABA9-43D7-A1E3-2D92732CD6E2}" dt="2025-12-01T23:53:24.412" v="28" actId="21"/>
      <pc:docMkLst>
        <pc:docMk/>
      </pc:docMkLst>
      <pc:sldChg chg="delSp mod">
        <pc:chgData name="Lines, Todd" userId="afaf7c3a-e8aa-4568-882a-02ad8f9e19b0" providerId="ADAL" clId="{5FF5AC1B-ABA9-43D7-A1E3-2D92732CD6E2}" dt="2025-12-01T23:48:56.581" v="0" actId="478"/>
        <pc:sldMkLst>
          <pc:docMk/>
          <pc:sldMk cId="0" sldId="277"/>
        </pc:sldMkLst>
        <pc:spChg chg="del">
          <ac:chgData name="Lines, Todd" userId="afaf7c3a-e8aa-4568-882a-02ad8f9e19b0" providerId="ADAL" clId="{5FF5AC1B-ABA9-43D7-A1E3-2D92732CD6E2}" dt="2025-12-01T23:48:56.581" v="0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5-12-01T23:48:56.581" v="0" actId="478"/>
          <ac:spMkLst>
            <pc:docMk/>
            <pc:sldMk cId="0" sldId="277"/>
            <ac:spMk id="3" creationId="{00000000-0000-0000-0000-000000000000}"/>
          </ac:spMkLst>
        </pc:spChg>
      </pc:sldChg>
      <pc:sldChg chg="addSp delSp modSp add mod">
        <pc:chgData name="Lines, Todd" userId="afaf7c3a-e8aa-4568-882a-02ad8f9e19b0" providerId="ADAL" clId="{5FF5AC1B-ABA9-43D7-A1E3-2D92732CD6E2}" dt="2025-12-01T23:53:24.412" v="28" actId="21"/>
        <pc:sldMkLst>
          <pc:docMk/>
          <pc:sldMk cId="4079256307" sldId="1440"/>
        </pc:sldMkLst>
        <pc:picChg chg="del mod">
          <ac:chgData name="Lines, Todd" userId="afaf7c3a-e8aa-4568-882a-02ad8f9e19b0" providerId="ADAL" clId="{5FF5AC1B-ABA9-43D7-A1E3-2D92732CD6E2}" dt="2025-12-01T23:53:24.412" v="28" actId="21"/>
          <ac:picMkLst>
            <pc:docMk/>
            <pc:sldMk cId="4079256307" sldId="1440"/>
            <ac:picMk id="16" creationId="{5E909BE4-D47A-AD13-47EE-39E489892E36}"/>
          </ac:picMkLst>
        </pc:picChg>
        <pc:cxnChg chg="add mod">
          <ac:chgData name="Lines, Todd" userId="afaf7c3a-e8aa-4568-882a-02ad8f9e19b0" providerId="ADAL" clId="{5FF5AC1B-ABA9-43D7-A1E3-2D92732CD6E2}" dt="2025-12-01T23:52:32.682" v="22" actId="14100"/>
          <ac:cxnSpMkLst>
            <pc:docMk/>
            <pc:sldMk cId="4079256307" sldId="1440"/>
            <ac:cxnSpMk id="3" creationId="{FE432E90-B06B-C077-B7A8-7ECF04607DBC}"/>
          </ac:cxnSpMkLst>
        </pc:cxnChg>
        <pc:cxnChg chg="add mod">
          <ac:chgData name="Lines, Todd" userId="afaf7c3a-e8aa-4568-882a-02ad8f9e19b0" providerId="ADAL" clId="{5FF5AC1B-ABA9-43D7-A1E3-2D92732CD6E2}" dt="2025-12-01T23:52:45.502" v="23" actId="693"/>
          <ac:cxnSpMkLst>
            <pc:docMk/>
            <pc:sldMk cId="4079256307" sldId="1440"/>
            <ac:cxnSpMk id="4" creationId="{D8246F88-41BC-9A4F-8820-30A1459244E6}"/>
          </ac:cxnSpMkLst>
        </pc:cxnChg>
        <pc:cxnChg chg="add mod">
          <ac:chgData name="Lines, Todd" userId="afaf7c3a-e8aa-4568-882a-02ad8f9e19b0" providerId="ADAL" clId="{5FF5AC1B-ABA9-43D7-A1E3-2D92732CD6E2}" dt="2025-12-01T23:52:54.061" v="26" actId="14100"/>
          <ac:cxnSpMkLst>
            <pc:docMk/>
            <pc:sldMk cId="4079256307" sldId="1440"/>
            <ac:cxnSpMk id="14" creationId="{5BEAED55-FCDE-E733-DFF5-3EF289078A0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BD886E-328A-4552-A064-15B0F8E4FBBC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C71EA-E2BD-48F3-9EF6-0B6805EFB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98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0C29D-4A4F-4C4D-B0A6-7AE47C38EA4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6DD43-64EE-4BE1-B4D4-DAF8A992A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A885B9-6685-0CFD-D77D-EB4FCC89E3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76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782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File:MW door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762000"/>
            <a:ext cx="7143750" cy="5438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1346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61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3.2cm.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Take another physics class to find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762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4079631" cy="4525963"/>
          </a:xfrm>
        </p:spPr>
        <p:txBody>
          <a:bodyPr>
            <a:normAutofit fontScale="55000" lnSpcReduction="20000"/>
          </a:bodyPr>
          <a:lstStyle/>
          <a:p>
            <a:pPr marL="609600" indent="-609600" eaLnBrk="1" hangingPunct="1">
              <a:buFontTx/>
              <a:buNone/>
            </a:pPr>
            <a:r>
              <a:rPr lang="en-US" sz="3600" dirty="0"/>
              <a:t>You are in the western US and you observe a dramatic sunset. The Sun is descending through a bank of clouds and you see light and dark bands . What is causing these?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3600" dirty="0"/>
              <a:t>Constructive and Destructive Interference from the light traveling through small slits in the mountains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Constructive and Destructive Interference from the light traveling through small openings in the clouds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The dark bands are cloud or mountain shadows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092354" name="Picture 2" descr="File:Crepuscular ray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637" y="154744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4944065" y="4407904"/>
            <a:ext cx="396828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Crepuscular rays: Image public domain http://commons.wikimedia.org/wiki/File:Crepuscular_rays.jpg</a:t>
            </a:r>
          </a:p>
        </p:txBody>
      </p:sp>
    </p:spTree>
    <p:extLst>
      <p:ext uri="{BB962C8B-B14F-4D97-AF65-F5344CB8AC3E}">
        <p14:creationId xmlns:p14="http://schemas.microsoft.com/office/powerpoint/2010/main" val="3374420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228600"/>
            <a:ext cx="3581400" cy="63184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223.13.1.5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 eaLnBrk="1" hangingPunct="1">
              <a:buFontTx/>
              <a:buNone/>
            </a:pPr>
            <a:r>
              <a:rPr lang="en-US" sz="3600" dirty="0"/>
              <a:t>If I take two light bulbs near each other, will I observe interference where the light from the bulbs meet?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3600" dirty="0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3600" dirty="0"/>
              <a:t>No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095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223.13.2</a:t>
            </a:r>
          </a:p>
        </p:txBody>
      </p:sp>
      <p:sp>
        <p:nvSpPr>
          <p:cNvPr id="187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/>
              <a:t>Will light from two sources that starts in phase necessarily stay in phase?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/>
              <a:t>Yes, if the initial phase is the same, the light will stay in phase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/>
              <a:t>No, the light might have different wavelengths, which will cause the phase to diverge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/>
              <a:t>No, The light might take different paths, which would cause a relative phase</a:t>
            </a:r>
          </a:p>
        </p:txBody>
      </p:sp>
      <p:sp>
        <p:nvSpPr>
          <p:cNvPr id="187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A781BDF-DEEF-4871-A2B7-AB4B012F80A3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3581400"/>
            <a:ext cx="7543800" cy="2388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685800"/>
            <a:ext cx="7460871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6408" y="2362200"/>
            <a:ext cx="8716076" cy="2133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76200"/>
            <a:ext cx="7315200" cy="3679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3633982"/>
            <a:ext cx="7086600" cy="30943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600200"/>
            <a:ext cx="7391400" cy="34988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123.13.3</a:t>
            </a:r>
          </a:p>
        </p:txBody>
      </p:sp>
      <p:sp>
        <p:nvSpPr>
          <p:cNvPr id="18842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Which of the following would likely be a coherent source?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Laser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Light bulb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Glow stick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Radio transmission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Black body emission </a:t>
            </a:r>
          </a:p>
        </p:txBody>
      </p:sp>
      <p:sp>
        <p:nvSpPr>
          <p:cNvPr id="1884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3B35A56-0AA4-42D2-BB04-46A652FE9A8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223.13.4</a:t>
            </a:r>
          </a:p>
        </p:txBody>
      </p:sp>
      <p:sp>
        <p:nvSpPr>
          <p:cNvPr id="15053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 have a ray of light traveling from left to right across the room near the front. Can you see the ray?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No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 can see only part of the ray</a:t>
            </a:r>
          </a:p>
        </p:txBody>
      </p:sp>
      <p:sp>
        <p:nvSpPr>
          <p:cNvPr id="1505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7E09958-A25F-4F9E-A550-B8857377330A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rot="16200000" flipH="1">
            <a:off x="1321593" y="3964782"/>
            <a:ext cx="2195513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10800000" flipV="1">
            <a:off x="1843088" y="3279775"/>
            <a:ext cx="1468437" cy="1212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2"/>
          <p:cNvGrpSpPr>
            <a:grpSpLocks/>
          </p:cNvGrpSpPr>
          <p:nvPr/>
        </p:nvGrpSpPr>
        <p:grpSpPr bwMode="auto">
          <a:xfrm rot="-5400000">
            <a:off x="4729162" y="3711576"/>
            <a:ext cx="180975" cy="5632450"/>
            <a:chOff x="5539563" y="956930"/>
            <a:chExt cx="180753" cy="5633484"/>
          </a:xfrm>
        </p:grpSpPr>
        <p:sp>
          <p:nvSpPr>
            <p:cNvPr id="16" name="Rectangle 15"/>
            <p:cNvSpPr/>
            <p:nvPr/>
          </p:nvSpPr>
          <p:spPr>
            <a:xfrm>
              <a:off x="5539563" y="956931"/>
              <a:ext cx="180753" cy="562395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7" name="Straight Connector 16"/>
            <p:cNvCxnSpPr/>
            <p:nvPr/>
          </p:nvCxnSpPr>
          <p:spPr>
            <a:xfrm flipV="1">
              <a:off x="5550663" y="975984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550663" y="1128412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550663" y="1280840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V="1">
              <a:off x="5550663" y="1433268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V="1">
              <a:off x="5550663" y="1585696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5550663" y="1738124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5550663" y="1890552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 flipV="1">
              <a:off x="5550663" y="2042980"/>
              <a:ext cx="158555" cy="1286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V="1">
              <a:off x="5550663" y="2195408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5550663" y="2347836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V="1">
              <a:off x="5550663" y="2500264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flipV="1">
              <a:off x="5550663" y="2652692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flipV="1">
              <a:off x="5550663" y="2805120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V="1">
              <a:off x="5550663" y="2957548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V="1">
              <a:off x="5550663" y="3109976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5550663" y="3262404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5550663" y="3414832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flipV="1">
              <a:off x="5550663" y="3567260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flipV="1">
              <a:off x="5550663" y="3719688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V="1">
              <a:off x="5550663" y="3872116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 flipV="1">
              <a:off x="5550663" y="4024544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flipV="1">
              <a:off x="5550663" y="4176972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 flipV="1">
              <a:off x="5550663" y="4329400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 flipV="1">
              <a:off x="5550663" y="4481827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 flipV="1">
              <a:off x="5550663" y="4634255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flipV="1">
              <a:off x="5550663" y="4786683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 flipV="1">
              <a:off x="5550663" y="4939111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V="1">
              <a:off x="5550663" y="5091539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V="1">
              <a:off x="5550663" y="5243967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V="1">
              <a:off x="5550663" y="5396395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 flipV="1">
              <a:off x="5550663" y="5548823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flipV="1">
              <a:off x="5550663" y="5701251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flipV="1">
              <a:off x="5550663" y="5853679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5550663" y="6006107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5550663" y="6158535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 flipV="1">
              <a:off x="5550663" y="6310963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flipV="1">
              <a:off x="5550663" y="6463391"/>
              <a:ext cx="158555" cy="1270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Straight Arrow Connector 58"/>
          <p:cNvCxnSpPr/>
          <p:nvPr/>
        </p:nvCxnSpPr>
        <p:spPr>
          <a:xfrm rot="16200000" flipH="1">
            <a:off x="1729581" y="4491832"/>
            <a:ext cx="2195513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rot="16200000" flipH="1">
            <a:off x="2527300" y="4494213"/>
            <a:ext cx="2193925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rot="16200000" flipH="1">
            <a:off x="1804194" y="3547269"/>
            <a:ext cx="2195512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rot="16200000" flipH="1">
            <a:off x="3263900" y="4481513"/>
            <a:ext cx="2193925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rot="16200000" flipH="1">
            <a:off x="2241550" y="3130550"/>
            <a:ext cx="2195513" cy="166211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rot="5400000" flipH="1" flipV="1">
            <a:off x="4930775" y="4495800"/>
            <a:ext cx="2176463" cy="166211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rot="5400000" flipH="1" flipV="1">
            <a:off x="3326607" y="3931443"/>
            <a:ext cx="2825750" cy="215106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rot="10800000" flipV="1">
            <a:off x="2160588" y="3686175"/>
            <a:ext cx="1468437" cy="12144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 rot="10800000" flipV="1">
            <a:off x="2478088" y="4094163"/>
            <a:ext cx="1468437" cy="1212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rot="10800000" flipV="1">
            <a:off x="2825750" y="4516438"/>
            <a:ext cx="1468438" cy="1212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5391150" y="3708400"/>
            <a:ext cx="1308100" cy="1084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 rot="5400000" flipH="1" flipV="1">
            <a:off x="4129088" y="4240213"/>
            <a:ext cx="2482850" cy="18796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5048250" y="4160838"/>
            <a:ext cx="1309688" cy="10842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>
            <a:off x="4676775" y="4627563"/>
            <a:ext cx="1308100" cy="10842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8162" name="TextBox 89"/>
          <p:cNvSpPr txBox="1">
            <a:spLocks noChangeArrowheads="1"/>
          </p:cNvSpPr>
          <p:nvPr/>
        </p:nvSpPr>
        <p:spPr bwMode="auto">
          <a:xfrm>
            <a:off x="2184400" y="1319213"/>
            <a:ext cx="2727325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000" dirty="0"/>
              <a:t>Wave Crests</a:t>
            </a:r>
          </a:p>
        </p:txBody>
      </p:sp>
      <p:cxnSp>
        <p:nvCxnSpPr>
          <p:cNvPr id="91" name="Straight Arrow Connector 90"/>
          <p:cNvCxnSpPr/>
          <p:nvPr/>
        </p:nvCxnSpPr>
        <p:spPr>
          <a:xfrm rot="5400000">
            <a:off x="2789238" y="2535238"/>
            <a:ext cx="1266825" cy="25082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518162" idx="2"/>
          </p:cNvCxnSpPr>
          <p:nvPr/>
        </p:nvCxnSpPr>
        <p:spPr>
          <a:xfrm rot="16200000" flipH="1">
            <a:off x="2751138" y="2824163"/>
            <a:ext cx="2001837" cy="40798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518162" idx="2"/>
          </p:cNvCxnSpPr>
          <p:nvPr/>
        </p:nvCxnSpPr>
        <p:spPr>
          <a:xfrm rot="16200000" flipH="1">
            <a:off x="3224213" y="2351088"/>
            <a:ext cx="2076450" cy="142875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8166" name="TextBox 99"/>
          <p:cNvSpPr txBox="1">
            <a:spLocks noChangeArrowheads="1"/>
          </p:cNvSpPr>
          <p:nvPr/>
        </p:nvSpPr>
        <p:spPr bwMode="auto">
          <a:xfrm>
            <a:off x="5514975" y="1320800"/>
            <a:ext cx="1127125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000" dirty="0"/>
              <a:t>Rays</a:t>
            </a:r>
          </a:p>
        </p:txBody>
      </p:sp>
      <p:cxnSp>
        <p:nvCxnSpPr>
          <p:cNvPr id="101" name="Straight Arrow Connector 100"/>
          <p:cNvCxnSpPr>
            <a:stCxn id="518166" idx="2"/>
          </p:cNvCxnSpPr>
          <p:nvPr/>
        </p:nvCxnSpPr>
        <p:spPr>
          <a:xfrm rot="16200000" flipH="1">
            <a:off x="5359400" y="2747963"/>
            <a:ext cx="2119313" cy="68103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518166" idx="2"/>
          </p:cNvCxnSpPr>
          <p:nvPr/>
        </p:nvCxnSpPr>
        <p:spPr>
          <a:xfrm rot="5400000">
            <a:off x="5194300" y="2679700"/>
            <a:ext cx="1535113" cy="23336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69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9.1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A specular reflector is ……..</a:t>
            </a:r>
          </a:p>
          <a:p>
            <a:pPr>
              <a:buFontTx/>
              <a:buNone/>
              <a:defRPr/>
            </a:pPr>
            <a:endParaRPr lang="en-US" dirty="0"/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reflector that is spectacular!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One that can cook a hot dog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Like a mirror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rough surface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rot="16200000" flipH="1">
            <a:off x="1087437" y="3978276"/>
            <a:ext cx="2193925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2"/>
          <p:cNvGrpSpPr>
            <a:grpSpLocks/>
          </p:cNvGrpSpPr>
          <p:nvPr/>
        </p:nvGrpSpPr>
        <p:grpSpPr bwMode="auto">
          <a:xfrm rot="-5400000">
            <a:off x="4493419" y="3725069"/>
            <a:ext cx="180975" cy="5634037"/>
            <a:chOff x="5539563" y="956930"/>
            <a:chExt cx="180753" cy="5633484"/>
          </a:xfrm>
        </p:grpSpPr>
        <p:sp>
          <p:nvSpPr>
            <p:cNvPr id="16" name="Rectangle 15"/>
            <p:cNvSpPr/>
            <p:nvPr/>
          </p:nvSpPr>
          <p:spPr>
            <a:xfrm>
              <a:off x="5539563" y="956930"/>
              <a:ext cx="180753" cy="56239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7" name="Straight Connector 16"/>
            <p:cNvCxnSpPr/>
            <p:nvPr/>
          </p:nvCxnSpPr>
          <p:spPr>
            <a:xfrm flipV="1">
              <a:off x="5550662" y="97597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550662" y="112836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550662" y="128074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V="1">
              <a:off x="5550662" y="143313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V="1">
              <a:off x="5550662" y="158551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5550662" y="173790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5550662" y="189028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 flipV="1">
              <a:off x="5550662" y="204267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V="1">
              <a:off x="5550662" y="219505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5550662" y="234744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V="1">
              <a:off x="5550662" y="249982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flipV="1">
              <a:off x="5550662" y="265221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flipV="1">
              <a:off x="5550662" y="280459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V="1">
              <a:off x="5550662" y="295698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V="1">
              <a:off x="5550662" y="310936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5550662" y="326175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5550662" y="341413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flipV="1">
              <a:off x="5550662" y="356652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flipV="1">
              <a:off x="5550662" y="371890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V="1">
              <a:off x="5550662" y="387129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 flipV="1">
              <a:off x="5550662" y="4023679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flipV="1">
              <a:off x="5550662" y="4176064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 flipV="1">
              <a:off x="5550662" y="4328450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 flipV="1">
              <a:off x="5550662" y="4480835"/>
              <a:ext cx="158555" cy="128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 flipV="1">
              <a:off x="5550661" y="463480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flipV="1">
              <a:off x="5550661" y="478719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 flipV="1">
              <a:off x="5550661" y="493957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V="1">
              <a:off x="5550661" y="509196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V="1">
              <a:off x="5550661" y="524434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V="1">
              <a:off x="5550661" y="539673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 flipV="1">
              <a:off x="5550661" y="554911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flipV="1">
              <a:off x="5550661" y="570150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flipV="1">
              <a:off x="5550661" y="585388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5550661" y="600627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5550661" y="615865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 flipV="1">
              <a:off x="5550661" y="6311041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flipV="1">
              <a:off x="5550661" y="6463426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Straight Arrow Connector 58"/>
          <p:cNvCxnSpPr/>
          <p:nvPr/>
        </p:nvCxnSpPr>
        <p:spPr>
          <a:xfrm rot="16200000" flipH="1">
            <a:off x="1494631" y="4506120"/>
            <a:ext cx="2193925" cy="166211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rot="16200000" flipH="1">
            <a:off x="2290762" y="4508501"/>
            <a:ext cx="2195513" cy="166211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rot="16200000" flipH="1">
            <a:off x="1570037" y="3560763"/>
            <a:ext cx="2193925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rot="16200000" flipH="1">
            <a:off x="3028156" y="4495007"/>
            <a:ext cx="2195513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rot="16200000" flipH="1">
            <a:off x="2005807" y="3144044"/>
            <a:ext cx="2195512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rot="5400000" flipH="1" flipV="1">
            <a:off x="4695825" y="4510088"/>
            <a:ext cx="2174875" cy="166052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rot="5400000" flipH="1" flipV="1">
            <a:off x="3092451" y="3944937"/>
            <a:ext cx="2824162" cy="215106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 rot="5400000" flipH="1" flipV="1">
            <a:off x="3894138" y="4254500"/>
            <a:ext cx="2482850" cy="18796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203" name="TextBox 99"/>
          <p:cNvSpPr txBox="1">
            <a:spLocks noChangeArrowheads="1"/>
          </p:cNvSpPr>
          <p:nvPr/>
        </p:nvSpPr>
        <p:spPr bwMode="auto">
          <a:xfrm>
            <a:off x="5278438" y="1335088"/>
            <a:ext cx="1128712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000" dirty="0"/>
              <a:t>Rays</a:t>
            </a:r>
          </a:p>
        </p:txBody>
      </p:sp>
      <p:cxnSp>
        <p:nvCxnSpPr>
          <p:cNvPr id="101" name="Straight Arrow Connector 100"/>
          <p:cNvCxnSpPr>
            <a:stCxn id="520203" idx="2"/>
          </p:cNvCxnSpPr>
          <p:nvPr/>
        </p:nvCxnSpPr>
        <p:spPr>
          <a:xfrm rot="16200000" flipH="1">
            <a:off x="5124451" y="2762250"/>
            <a:ext cx="2119312" cy="68103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520203" idx="2"/>
          </p:cNvCxnSpPr>
          <p:nvPr/>
        </p:nvCxnSpPr>
        <p:spPr>
          <a:xfrm rot="5400000">
            <a:off x="4959351" y="2693987"/>
            <a:ext cx="1535112" cy="23336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223.13.5</a:t>
            </a:r>
          </a:p>
        </p:txBody>
      </p:sp>
      <p:sp>
        <p:nvSpPr>
          <p:cNvPr id="15360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laser beam is incident on a glass sheet. There is no apparent reflected ray. We might conclude that…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glass has a high index of refraction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glass surface is rough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glass has a low index of refraction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glass is opaque</a:t>
            </a:r>
          </a:p>
        </p:txBody>
      </p:sp>
      <p:sp>
        <p:nvSpPr>
          <p:cNvPr id="153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78FC868-350C-4584-AECC-B890249EEA2D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59"/>
          <p:cNvGrpSpPr>
            <a:grpSpLocks/>
          </p:cNvGrpSpPr>
          <p:nvPr/>
        </p:nvGrpSpPr>
        <p:grpSpPr bwMode="auto">
          <a:xfrm rot="1063169">
            <a:off x="2404125" y="5324393"/>
            <a:ext cx="5533086" cy="1090247"/>
            <a:chOff x="539762" y="0"/>
            <a:chExt cx="6524625" cy="1333500"/>
          </a:xfrm>
        </p:grpSpPr>
        <p:sp>
          <p:nvSpPr>
            <p:cNvPr id="74" name="Freeform 73"/>
            <p:cNvSpPr/>
            <p:nvPr/>
          </p:nvSpPr>
          <p:spPr>
            <a:xfrm>
              <a:off x="540443" y="-558"/>
              <a:ext cx="6523860" cy="1333948"/>
            </a:xfrm>
            <a:custGeom>
              <a:avLst/>
              <a:gdLst>
                <a:gd name="connsiteX0" fmla="*/ 0 w 6524625"/>
                <a:gd name="connsiteY0" fmla="*/ 857250 h 1333500"/>
                <a:gd name="connsiteX1" fmla="*/ 733425 w 6524625"/>
                <a:gd name="connsiteY1" fmla="*/ 247650 h 1333500"/>
                <a:gd name="connsiteX2" fmla="*/ 1495425 w 6524625"/>
                <a:gd name="connsiteY2" fmla="*/ 666750 h 1333500"/>
                <a:gd name="connsiteX3" fmla="*/ 2257425 w 6524625"/>
                <a:gd name="connsiteY3" fmla="*/ 104775 h 1333500"/>
                <a:gd name="connsiteX4" fmla="*/ 2628900 w 6524625"/>
                <a:gd name="connsiteY4" fmla="*/ 876300 h 1333500"/>
                <a:gd name="connsiteX5" fmla="*/ 3305175 w 6524625"/>
                <a:gd name="connsiteY5" fmla="*/ 1143000 h 1333500"/>
                <a:gd name="connsiteX6" fmla="*/ 3905250 w 6524625"/>
                <a:gd name="connsiteY6" fmla="*/ 514350 h 1333500"/>
                <a:gd name="connsiteX7" fmla="*/ 4676775 w 6524625"/>
                <a:gd name="connsiteY7" fmla="*/ 95250 h 1333500"/>
                <a:gd name="connsiteX8" fmla="*/ 5657850 w 6524625"/>
                <a:gd name="connsiteY8" fmla="*/ 228600 h 1333500"/>
                <a:gd name="connsiteX9" fmla="*/ 6496050 w 6524625"/>
                <a:gd name="connsiteY9" fmla="*/ 0 h 1333500"/>
                <a:gd name="connsiteX10" fmla="*/ 6524625 w 6524625"/>
                <a:gd name="connsiteY10" fmla="*/ 161925 h 1333500"/>
                <a:gd name="connsiteX11" fmla="*/ 5553075 w 6524625"/>
                <a:gd name="connsiteY11" fmla="*/ 390525 h 1333500"/>
                <a:gd name="connsiteX12" fmla="*/ 4686300 w 6524625"/>
                <a:gd name="connsiteY12" fmla="*/ 257175 h 1333500"/>
                <a:gd name="connsiteX13" fmla="*/ 3952875 w 6524625"/>
                <a:gd name="connsiteY13" fmla="*/ 714375 h 1333500"/>
                <a:gd name="connsiteX14" fmla="*/ 3352800 w 6524625"/>
                <a:gd name="connsiteY14" fmla="*/ 1333500 h 1333500"/>
                <a:gd name="connsiteX15" fmla="*/ 2486025 w 6524625"/>
                <a:gd name="connsiteY15" fmla="*/ 1000125 h 1333500"/>
                <a:gd name="connsiteX16" fmla="*/ 2171700 w 6524625"/>
                <a:gd name="connsiteY16" fmla="*/ 371475 h 1333500"/>
                <a:gd name="connsiteX17" fmla="*/ 1457325 w 6524625"/>
                <a:gd name="connsiteY17" fmla="*/ 876300 h 1333500"/>
                <a:gd name="connsiteX18" fmla="*/ 733425 w 6524625"/>
                <a:gd name="connsiteY18" fmla="*/ 447675 h 1333500"/>
                <a:gd name="connsiteX19" fmla="*/ 114300 w 6524625"/>
                <a:gd name="connsiteY19" fmla="*/ 1009650 h 1333500"/>
                <a:gd name="connsiteX20" fmla="*/ 0 w 6524625"/>
                <a:gd name="connsiteY20" fmla="*/ 857250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24625" h="1333500">
                  <a:moveTo>
                    <a:pt x="0" y="857250"/>
                  </a:moveTo>
                  <a:lnTo>
                    <a:pt x="733425" y="247650"/>
                  </a:lnTo>
                  <a:lnTo>
                    <a:pt x="1495425" y="666750"/>
                  </a:lnTo>
                  <a:lnTo>
                    <a:pt x="2257425" y="104775"/>
                  </a:lnTo>
                  <a:lnTo>
                    <a:pt x="2628900" y="876300"/>
                  </a:lnTo>
                  <a:lnTo>
                    <a:pt x="3305175" y="1143000"/>
                  </a:lnTo>
                  <a:lnTo>
                    <a:pt x="3905250" y="514350"/>
                  </a:lnTo>
                  <a:lnTo>
                    <a:pt x="4676775" y="95250"/>
                  </a:lnTo>
                  <a:lnTo>
                    <a:pt x="5657850" y="228600"/>
                  </a:lnTo>
                  <a:lnTo>
                    <a:pt x="6496050" y="0"/>
                  </a:lnTo>
                  <a:lnTo>
                    <a:pt x="6524625" y="161925"/>
                  </a:lnTo>
                  <a:lnTo>
                    <a:pt x="5553075" y="390525"/>
                  </a:lnTo>
                  <a:lnTo>
                    <a:pt x="4686300" y="257175"/>
                  </a:lnTo>
                  <a:lnTo>
                    <a:pt x="3952875" y="714375"/>
                  </a:lnTo>
                  <a:lnTo>
                    <a:pt x="3352800" y="1333500"/>
                  </a:lnTo>
                  <a:lnTo>
                    <a:pt x="2486025" y="1000125"/>
                  </a:lnTo>
                  <a:lnTo>
                    <a:pt x="2171700" y="371475"/>
                  </a:lnTo>
                  <a:lnTo>
                    <a:pt x="1457325" y="876300"/>
                  </a:lnTo>
                  <a:lnTo>
                    <a:pt x="733425" y="447675"/>
                  </a:lnTo>
                  <a:lnTo>
                    <a:pt x="114300" y="1009650"/>
                  </a:lnTo>
                  <a:lnTo>
                    <a:pt x="0" y="85725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7" name="Straight Connector 16"/>
            <p:cNvCxnSpPr/>
            <p:nvPr/>
          </p:nvCxnSpPr>
          <p:spPr>
            <a:xfrm rot="16200000" flipV="1">
              <a:off x="1104035" y="390765"/>
              <a:ext cx="124269" cy="9921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rot="16200000" flipV="1">
              <a:off x="1219971" y="296194"/>
              <a:ext cx="312614" cy="2489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rot="16200000" flipV="1">
              <a:off x="1393564" y="370212"/>
              <a:ext cx="401931" cy="3313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rot="16200000" flipV="1">
              <a:off x="2056028" y="671447"/>
              <a:ext cx="108735" cy="861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 rot="16200000" flipV="1">
              <a:off x="2179900" y="563735"/>
              <a:ext cx="120385" cy="973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rot="16200000" flipV="1">
              <a:off x="2330147" y="459142"/>
              <a:ext cx="118443" cy="954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rot="16200000" flipV="1">
              <a:off x="2480780" y="350880"/>
              <a:ext cx="159219" cy="1272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rot="16200000" flipV="1">
              <a:off x="2562460" y="276999"/>
              <a:ext cx="128152" cy="1048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rot="16200000" flipV="1">
              <a:off x="2740349" y="155883"/>
              <a:ext cx="159219" cy="129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rot="16200000" flipV="1">
              <a:off x="3220929" y="938322"/>
              <a:ext cx="244654" cy="1946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16200000" flipV="1">
              <a:off x="3382232" y="999085"/>
              <a:ext cx="242713" cy="1890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rot="16200000" flipV="1">
              <a:off x="3538160" y="1063415"/>
              <a:ext cx="221354" cy="1740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74" idx="14"/>
            </p:cNvCxnSpPr>
            <p:nvPr/>
          </p:nvCxnSpPr>
          <p:spPr>
            <a:xfrm flipH="1" flipV="1">
              <a:off x="3696420" y="1086149"/>
              <a:ext cx="194686" cy="2465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rot="16200000" flipV="1">
              <a:off x="4006634" y="995471"/>
              <a:ext cx="122328" cy="954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 rot="16200000" flipV="1">
              <a:off x="4148360" y="829009"/>
              <a:ext cx="133977" cy="1104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rot="16200000" flipV="1">
              <a:off x="4292728" y="679590"/>
              <a:ext cx="143686" cy="10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 rot="16200000" flipV="1">
              <a:off x="4460325" y="512230"/>
              <a:ext cx="159219" cy="1272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 rot="16200000" flipV="1">
              <a:off x="4613658" y="434086"/>
              <a:ext cx="141745" cy="1123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 rot="16200000" flipV="1">
              <a:off x="4767403" y="355328"/>
              <a:ext cx="128152" cy="1010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rot="16200000" flipV="1">
              <a:off x="4904175" y="265614"/>
              <a:ext cx="132036" cy="1029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 rot="16200000" flipV="1">
              <a:off x="5064935" y="185397"/>
              <a:ext cx="120385" cy="954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rot="16200000" flipV="1">
              <a:off x="5181117" y="114810"/>
              <a:ext cx="192228" cy="14601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rot="16200000" flipV="1">
              <a:off x="5374465" y="139636"/>
              <a:ext cx="170869" cy="1403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16200000" flipV="1">
              <a:off x="5522293" y="163418"/>
              <a:ext cx="188344" cy="14601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 rot="16200000" flipV="1">
              <a:off x="5674357" y="170870"/>
              <a:ext cx="199994" cy="16099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rot="16200000" flipV="1">
              <a:off x="5823522" y="214352"/>
              <a:ext cx="178636" cy="1310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rot="16200000" flipV="1">
              <a:off x="5963203" y="214560"/>
              <a:ext cx="184462" cy="1441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rot="16200000" flipV="1">
              <a:off x="6141519" y="240763"/>
              <a:ext cx="118444" cy="973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rot="16200000" flipV="1">
              <a:off x="6291980" y="204045"/>
              <a:ext cx="126211" cy="1010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 rot="16200000" flipV="1">
              <a:off x="6445782" y="162110"/>
              <a:ext cx="120385" cy="992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rot="16200000" flipV="1">
              <a:off x="6596042" y="117693"/>
              <a:ext cx="133978" cy="110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6200000" flipV="1">
              <a:off x="979049" y="487372"/>
              <a:ext cx="132036" cy="10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16200000" flipV="1">
              <a:off x="855276" y="612296"/>
              <a:ext cx="120385" cy="954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6200000" flipV="1">
              <a:off x="6754065" y="83153"/>
              <a:ext cx="124269" cy="10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16200000" flipV="1">
              <a:off x="6897513" y="43637"/>
              <a:ext cx="137861" cy="110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 rot="16200000" flipV="1">
              <a:off x="3860270" y="1128656"/>
              <a:ext cx="122328" cy="973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rot="16200000" flipV="1">
              <a:off x="2764825" y="615921"/>
              <a:ext cx="506783" cy="4006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rot="16200000" flipV="1">
              <a:off x="2619667" y="255119"/>
              <a:ext cx="532025" cy="42119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V="1">
              <a:off x="2917996" y="859447"/>
              <a:ext cx="198053" cy="16099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/>
            <p:nvPr/>
          </p:nvCxnSpPr>
          <p:spPr>
            <a:xfrm rot="16200000" flipV="1">
              <a:off x="1658627" y="505654"/>
              <a:ext cx="401931" cy="3332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/>
            <p:cNvCxnSpPr/>
            <p:nvPr/>
          </p:nvCxnSpPr>
          <p:spPr>
            <a:xfrm rot="16200000" flipV="1">
              <a:off x="726966" y="721153"/>
              <a:ext cx="120385" cy="973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/>
            <p:cNvCxnSpPr/>
            <p:nvPr/>
          </p:nvCxnSpPr>
          <p:spPr>
            <a:xfrm rot="16200000" flipV="1">
              <a:off x="616240" y="821039"/>
              <a:ext cx="120385" cy="973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/>
          <p:cNvCxnSpPr/>
          <p:nvPr/>
        </p:nvCxnSpPr>
        <p:spPr bwMode="auto">
          <a:xfrm rot="16200000" flipH="1">
            <a:off x="1907092" y="1219546"/>
            <a:ext cx="1793875" cy="14112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 bwMode="auto">
          <a:xfrm rot="16200000" flipH="1">
            <a:off x="2199193" y="3870670"/>
            <a:ext cx="1504950" cy="119221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 bwMode="auto">
          <a:xfrm rot="16200000" flipH="1">
            <a:off x="1960274" y="2715765"/>
            <a:ext cx="2744788" cy="2236787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 bwMode="auto">
          <a:xfrm rot="16200000" flipH="1">
            <a:off x="1303049" y="1728339"/>
            <a:ext cx="1784350" cy="143827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 bwMode="auto">
          <a:xfrm rot="16200000" flipH="1">
            <a:off x="2265074" y="2220466"/>
            <a:ext cx="4079875" cy="3216275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 bwMode="auto">
          <a:xfrm rot="5400000" flipH="1" flipV="1">
            <a:off x="5421023" y="4425503"/>
            <a:ext cx="1914525" cy="9271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 bwMode="auto">
          <a:xfrm flipV="1">
            <a:off x="3825297" y="2313695"/>
            <a:ext cx="3351358" cy="305536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 bwMode="auto">
          <a:xfrm rot="16200000" flipV="1">
            <a:off x="2071399" y="2815778"/>
            <a:ext cx="3635375" cy="108902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/>
          <p:nvPr/>
        </p:nvCxnSpPr>
        <p:spPr bwMode="auto">
          <a:xfrm rot="16200000" flipH="1">
            <a:off x="796637" y="2171252"/>
            <a:ext cx="1784350" cy="143827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 bwMode="auto">
          <a:xfrm>
            <a:off x="3529013" y="5195440"/>
            <a:ext cx="307180" cy="183357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35.3.6</a:t>
            </a:r>
          </a:p>
        </p:txBody>
      </p:sp>
      <p:sp>
        <p:nvSpPr>
          <p:cNvPr id="1515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400"/>
              <a:t>I have a neat demo on the board where light goes from left to right. You can see the path the light takes. How can this be?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The light ray is a different color than the laser, so I can see it.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The light ray must follow the law of reflection, so it must be bouncing back along it’s original path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The light ray must be hitting dust in the air as it travels, so we see the scattered light from the dust.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The light is not a single ray, and part of the light beam it hits the board, sending rays to my eyes </a:t>
            </a:r>
          </a:p>
        </p:txBody>
      </p:sp>
      <p:sp>
        <p:nvSpPr>
          <p:cNvPr id="1515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AF81AD2-4A78-4F09-9DFB-9A1A5C31FC83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 l="2476" t="12823" b="16953"/>
          <a:stretch>
            <a:fillRect/>
          </a:stretch>
        </p:blipFill>
        <p:spPr bwMode="auto">
          <a:xfrm>
            <a:off x="1981200" y="2362200"/>
            <a:ext cx="5149101" cy="1523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1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9.2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A diffuse reflector is ……..</a:t>
            </a:r>
          </a:p>
          <a:p>
            <a:pPr>
              <a:buFontTx/>
              <a:buNone/>
              <a:defRPr/>
            </a:pPr>
            <a:endParaRPr lang="en-US" dirty="0"/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reflector that is spectacular!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One that can cook a hot dog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Like a mirror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rough surface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223.13.6</a:t>
            </a:r>
          </a:p>
        </p:txBody>
      </p:sp>
      <p:sp>
        <p:nvSpPr>
          <p:cNvPr id="1546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Are most natural surfaces diffuse or specular reflectors?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Diffuse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Specular</a:t>
            </a:r>
          </a:p>
        </p:txBody>
      </p:sp>
      <p:sp>
        <p:nvSpPr>
          <p:cNvPr id="154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8E6AD27-EB95-4EB1-A594-734B180A987A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/>
          <p:cNvGrpSpPr>
            <a:grpSpLocks/>
          </p:cNvGrpSpPr>
          <p:nvPr/>
        </p:nvGrpSpPr>
        <p:grpSpPr bwMode="auto">
          <a:xfrm rot="-5400000">
            <a:off x="4790281" y="2336007"/>
            <a:ext cx="180975" cy="5634038"/>
            <a:chOff x="5539563" y="956930"/>
            <a:chExt cx="180753" cy="5633484"/>
          </a:xfrm>
        </p:grpSpPr>
        <p:sp>
          <p:nvSpPr>
            <p:cNvPr id="16" name="Rectangle 15"/>
            <p:cNvSpPr/>
            <p:nvPr/>
          </p:nvSpPr>
          <p:spPr>
            <a:xfrm>
              <a:off x="5539563" y="956930"/>
              <a:ext cx="180753" cy="56239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7" name="Straight Connector 16"/>
            <p:cNvCxnSpPr/>
            <p:nvPr/>
          </p:nvCxnSpPr>
          <p:spPr>
            <a:xfrm flipV="1">
              <a:off x="5550663" y="97597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550663" y="112836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550663" y="128074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V="1">
              <a:off x="5550663" y="143313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V="1">
              <a:off x="5550663" y="158551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5550663" y="173790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5550663" y="189028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 flipV="1">
              <a:off x="5550663" y="204267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V="1">
              <a:off x="5550663" y="219505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5550663" y="234744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V="1">
              <a:off x="5550663" y="249982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flipV="1">
              <a:off x="5550663" y="265221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flipV="1">
              <a:off x="5550663" y="280459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V="1">
              <a:off x="5550663" y="295698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V="1">
              <a:off x="5550663" y="310936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5550663" y="326175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5550663" y="341413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flipV="1">
              <a:off x="5550663" y="356652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flipV="1">
              <a:off x="5550663" y="371890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V="1">
              <a:off x="5550663" y="387129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 flipV="1">
              <a:off x="5550663" y="402367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flipV="1">
              <a:off x="5550663" y="417606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 flipV="1">
              <a:off x="5550663" y="4328449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 flipV="1">
              <a:off x="5550663" y="4480834"/>
              <a:ext cx="158555" cy="128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 flipV="1">
              <a:off x="5550663" y="463480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flipV="1">
              <a:off x="5550663" y="478719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 flipV="1">
              <a:off x="5550663" y="493957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V="1">
              <a:off x="5550663" y="509196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V="1">
              <a:off x="5550663" y="524434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V="1">
              <a:off x="5550663" y="539673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 flipV="1">
              <a:off x="5550663" y="554911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flipV="1">
              <a:off x="5550663" y="570150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flipV="1">
              <a:off x="5550663" y="585388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5550663" y="600627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5550663" y="615865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 flipV="1">
              <a:off x="5550663" y="6311042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flipV="1">
              <a:off x="5550663" y="6463427"/>
              <a:ext cx="158555" cy="126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Straight Arrow Connector 59"/>
          <p:cNvCxnSpPr/>
          <p:nvPr/>
        </p:nvCxnSpPr>
        <p:spPr>
          <a:xfrm rot="16200000" flipH="1">
            <a:off x="2586832" y="3118644"/>
            <a:ext cx="2195512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rot="16200000" flipH="1">
            <a:off x="1865312" y="2171701"/>
            <a:ext cx="2193925" cy="16637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 rot="5400000" flipH="1" flipV="1">
            <a:off x="4190207" y="2866231"/>
            <a:ext cx="2482850" cy="187801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5400000" flipH="1" flipV="1">
            <a:off x="2832894" y="3358356"/>
            <a:ext cx="3327400" cy="15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1222" name="TextBox 62"/>
          <p:cNvSpPr txBox="1">
            <a:spLocks noChangeArrowheads="1"/>
          </p:cNvSpPr>
          <p:nvPr/>
        </p:nvSpPr>
        <p:spPr bwMode="auto">
          <a:xfrm>
            <a:off x="3883025" y="3432175"/>
            <a:ext cx="898525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4000" dirty="0">
                <a:sym typeface="Symbol" pitchFamily="18" charset="2"/>
              </a:rPr>
              <a:t></a:t>
            </a:r>
            <a:r>
              <a:rPr lang="en-US" sz="4000" baseline="-25000" dirty="0" err="1">
                <a:sym typeface="Symbol" pitchFamily="18" charset="2"/>
              </a:rPr>
              <a:t>i</a:t>
            </a:r>
            <a:endParaRPr lang="en-US" sz="4000" baseline="-25000" dirty="0"/>
          </a:p>
        </p:txBody>
      </p:sp>
      <p:sp>
        <p:nvSpPr>
          <p:cNvPr id="521223" name="TextBox 65"/>
          <p:cNvSpPr txBox="1">
            <a:spLocks noChangeArrowheads="1"/>
          </p:cNvSpPr>
          <p:nvPr/>
        </p:nvSpPr>
        <p:spPr bwMode="auto">
          <a:xfrm>
            <a:off x="4668980" y="3449638"/>
            <a:ext cx="900113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4000" dirty="0">
                <a:sym typeface="Symbol" pitchFamily="18" charset="2"/>
              </a:rPr>
              <a:t></a:t>
            </a:r>
            <a:r>
              <a:rPr lang="en-US" sz="4000" baseline="-25000" dirty="0">
                <a:sym typeface="Symbol" pitchFamily="18" charset="2"/>
              </a:rPr>
              <a:t>r</a:t>
            </a:r>
            <a:endParaRPr lang="en-US" sz="4000" baseline="-25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Retroreflection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7338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/>
              <a:t>Assume the angle between two mirrors is 90</a:t>
            </a:r>
            <a:r>
              <a:rPr lang="en-US" sz="2800" baseline="30000"/>
              <a:t>o</a:t>
            </a:r>
            <a:endParaRPr lang="en-US" sz="2800"/>
          </a:p>
          <a:p>
            <a:pPr>
              <a:lnSpc>
                <a:spcPct val="90000"/>
              </a:lnSpc>
            </a:pPr>
            <a:r>
              <a:rPr lang="en-US" sz="2800"/>
              <a:t>The reflected beam returns to the source parallel to its original path</a:t>
            </a:r>
          </a:p>
          <a:p>
            <a:pPr>
              <a:lnSpc>
                <a:spcPct val="90000"/>
              </a:lnSpc>
            </a:pPr>
            <a:r>
              <a:rPr lang="en-US" sz="2800"/>
              <a:t>This phenomenon is called </a:t>
            </a:r>
            <a:r>
              <a:rPr lang="en-US" sz="2800" i="1"/>
              <a:t>retroreflection</a:t>
            </a:r>
            <a:endParaRPr lang="en-US" sz="2800"/>
          </a:p>
          <a:p>
            <a:pPr>
              <a:lnSpc>
                <a:spcPct val="90000"/>
              </a:lnSpc>
            </a:pPr>
            <a:endParaRPr lang="en-US" sz="2800"/>
          </a:p>
        </p:txBody>
      </p:sp>
      <p:sp>
        <p:nvSpPr>
          <p:cNvPr id="25605" name="Rectangle 5"/>
          <p:cNvSpPr>
            <a:spLocks noChangeArrowheads="1"/>
          </p:cNvSpPr>
          <p:nvPr/>
        </p:nvSpPr>
        <p:spPr bwMode="auto">
          <a:xfrm>
            <a:off x="8382000" y="4953000"/>
            <a:ext cx="304800" cy="304800"/>
          </a:xfrm>
          <a:prstGeom prst="rect">
            <a:avLst/>
          </a:prstGeom>
          <a:noFill/>
          <a:ln w="9525" algn="ctr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6"/>
          <p:cNvSpPr>
            <a:spLocks noChangeArrowheads="1"/>
          </p:cNvSpPr>
          <p:nvPr/>
        </p:nvSpPr>
        <p:spPr bwMode="auto">
          <a:xfrm>
            <a:off x="8686800" y="2057400"/>
            <a:ext cx="76200" cy="327660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7" name="Rectangle 7"/>
          <p:cNvSpPr>
            <a:spLocks noChangeArrowheads="1"/>
          </p:cNvSpPr>
          <p:nvPr/>
        </p:nvSpPr>
        <p:spPr bwMode="auto">
          <a:xfrm flipH="1" flipV="1">
            <a:off x="5486400" y="5257800"/>
            <a:ext cx="3200400" cy="7620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8" name="Line 8"/>
          <p:cNvSpPr>
            <a:spLocks noChangeShapeType="1"/>
          </p:cNvSpPr>
          <p:nvPr/>
        </p:nvSpPr>
        <p:spPr bwMode="auto">
          <a:xfrm>
            <a:off x="5257800" y="4191000"/>
            <a:ext cx="1600200" cy="1066800"/>
          </a:xfrm>
          <a:prstGeom prst="line">
            <a:avLst/>
          </a:prstGeom>
          <a:noFill/>
          <a:ln w="38100">
            <a:solidFill>
              <a:srgbClr val="FF0000"/>
            </a:solidFill>
            <a:miter lim="800000"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9" name="Line 9"/>
          <p:cNvSpPr>
            <a:spLocks noChangeShapeType="1"/>
          </p:cNvSpPr>
          <p:nvPr/>
        </p:nvSpPr>
        <p:spPr bwMode="auto">
          <a:xfrm>
            <a:off x="6858000" y="43434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13" name="Text Box 13"/>
          <p:cNvSpPr txBox="1">
            <a:spLocks noChangeArrowheads="1"/>
          </p:cNvSpPr>
          <p:nvPr/>
        </p:nvSpPr>
        <p:spPr bwMode="auto">
          <a:xfrm>
            <a:off x="6172200" y="4191000"/>
            <a:ext cx="685800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0" dirty="0">
                <a:sym typeface="Symbol" pitchFamily="18" charset="2"/>
              </a:rPr>
              <a:t>40.0</a:t>
            </a:r>
            <a:r>
              <a:rPr lang="en-US" b="0" dirty="0">
                <a:sym typeface="Symbol"/>
              </a:rPr>
              <a:t></a:t>
            </a:r>
            <a:endParaRPr lang="en-US" b="0" baseline="-25000" dirty="0">
              <a:sym typeface="Symbol" pitchFamily="18" charset="2"/>
            </a:endParaRPr>
          </a:p>
        </p:txBody>
      </p:sp>
      <p:sp>
        <p:nvSpPr>
          <p:cNvPr id="25619" name="Arc 19"/>
          <p:cNvSpPr>
            <a:spLocks/>
          </p:cNvSpPr>
          <p:nvPr/>
        </p:nvSpPr>
        <p:spPr bwMode="auto">
          <a:xfrm>
            <a:off x="6288088" y="4648200"/>
            <a:ext cx="571500" cy="228600"/>
          </a:xfrm>
          <a:custGeom>
            <a:avLst/>
            <a:gdLst>
              <a:gd name="G0" fmla="+- 21351 0 0"/>
              <a:gd name="G1" fmla="+- 21600 0 0"/>
              <a:gd name="G2" fmla="+- 21600 0 0"/>
              <a:gd name="T0" fmla="*/ 0 w 25662"/>
              <a:gd name="T1" fmla="*/ 18328 h 21600"/>
              <a:gd name="T2" fmla="*/ 25662 w 25662"/>
              <a:gd name="T3" fmla="*/ 434 h 21600"/>
              <a:gd name="T4" fmla="*/ 21351 w 25662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662" h="21600" fill="none" extrusionOk="0">
                <a:moveTo>
                  <a:pt x="0" y="18328"/>
                </a:moveTo>
                <a:cubicBezTo>
                  <a:pt x="1615" y="7785"/>
                  <a:pt x="10685" y="-1"/>
                  <a:pt x="21351" y="0"/>
                </a:cubicBezTo>
                <a:cubicBezTo>
                  <a:pt x="22798" y="0"/>
                  <a:pt x="24243" y="145"/>
                  <a:pt x="25661" y="434"/>
                </a:cubicBezTo>
              </a:path>
              <a:path w="25662" h="21600" stroke="0" extrusionOk="0">
                <a:moveTo>
                  <a:pt x="0" y="18328"/>
                </a:moveTo>
                <a:cubicBezTo>
                  <a:pt x="1615" y="7785"/>
                  <a:pt x="10685" y="-1"/>
                  <a:pt x="21351" y="0"/>
                </a:cubicBezTo>
                <a:cubicBezTo>
                  <a:pt x="22798" y="0"/>
                  <a:pt x="24243" y="145"/>
                  <a:pt x="25661" y="434"/>
                </a:cubicBezTo>
                <a:lnTo>
                  <a:pt x="21351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miter lim="800000"/>
            <a:headEnd type="arrow" w="med" len="med"/>
            <a:tailEnd type="arrow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858000" y="4557930"/>
            <a:ext cx="1827212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140358" y="206906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  <a:r>
              <a:rPr lang="en-US" baseline="-25000" dirty="0"/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2821" y="48440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  <a:r>
              <a:rPr lang="en-US" baseline="-25000" dirty="0"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1595" y="3751636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Incident Light</a:t>
            </a:r>
          </a:p>
        </p:txBody>
      </p:sp>
      <p:sp>
        <p:nvSpPr>
          <p:cNvPr id="30" name="Rectangle 5"/>
          <p:cNvSpPr>
            <a:spLocks noChangeArrowheads="1"/>
          </p:cNvSpPr>
          <p:nvPr/>
        </p:nvSpPr>
        <p:spPr bwMode="auto">
          <a:xfrm>
            <a:off x="6858000" y="4953000"/>
            <a:ext cx="304800" cy="304800"/>
          </a:xfrm>
          <a:prstGeom prst="rect">
            <a:avLst/>
          </a:prstGeom>
          <a:noFill/>
          <a:ln w="9525" algn="ctr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362581" y="4343400"/>
            <a:ext cx="7777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1.25m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Retroreflection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7338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/>
              <a:t>Assume the angle between two mirrors is 90</a:t>
            </a:r>
            <a:r>
              <a:rPr lang="en-US" sz="2800" baseline="30000"/>
              <a:t>o</a:t>
            </a:r>
            <a:endParaRPr lang="en-US" sz="2800"/>
          </a:p>
          <a:p>
            <a:pPr>
              <a:lnSpc>
                <a:spcPct val="90000"/>
              </a:lnSpc>
            </a:pPr>
            <a:r>
              <a:rPr lang="en-US" sz="2800"/>
              <a:t>The reflected beam returns to the source parallel to its original path</a:t>
            </a:r>
          </a:p>
          <a:p>
            <a:pPr>
              <a:lnSpc>
                <a:spcPct val="90000"/>
              </a:lnSpc>
            </a:pPr>
            <a:r>
              <a:rPr lang="en-US" sz="2800"/>
              <a:t>This phenomenon is called </a:t>
            </a:r>
            <a:r>
              <a:rPr lang="en-US" sz="2800" i="1"/>
              <a:t>retroreflection</a:t>
            </a:r>
            <a:endParaRPr lang="en-US" sz="2800"/>
          </a:p>
          <a:p>
            <a:pPr>
              <a:lnSpc>
                <a:spcPct val="90000"/>
              </a:lnSpc>
            </a:pPr>
            <a:endParaRPr lang="en-US" sz="280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257800" y="2057400"/>
            <a:ext cx="3505200" cy="3276600"/>
            <a:chOff x="3312" y="1296"/>
            <a:chExt cx="2208" cy="2064"/>
          </a:xfrm>
        </p:grpSpPr>
        <p:sp>
          <p:nvSpPr>
            <p:cNvPr id="25605" name="Rectangle 5"/>
            <p:cNvSpPr>
              <a:spLocks noChangeArrowheads="1"/>
            </p:cNvSpPr>
            <p:nvPr/>
          </p:nvSpPr>
          <p:spPr bwMode="auto">
            <a:xfrm>
              <a:off x="5280" y="3120"/>
              <a:ext cx="192" cy="192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06" name="Rectangle 6"/>
            <p:cNvSpPr>
              <a:spLocks noChangeArrowheads="1"/>
            </p:cNvSpPr>
            <p:nvPr/>
          </p:nvSpPr>
          <p:spPr bwMode="auto">
            <a:xfrm>
              <a:off x="5472" y="1296"/>
              <a:ext cx="48" cy="2064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07" name="Rectangle 7"/>
            <p:cNvSpPr>
              <a:spLocks noChangeArrowheads="1"/>
            </p:cNvSpPr>
            <p:nvPr/>
          </p:nvSpPr>
          <p:spPr bwMode="auto">
            <a:xfrm flipH="1" flipV="1">
              <a:off x="3456" y="3312"/>
              <a:ext cx="2016" cy="48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08" name="Line 8"/>
            <p:cNvSpPr>
              <a:spLocks noChangeShapeType="1"/>
            </p:cNvSpPr>
            <p:nvPr/>
          </p:nvSpPr>
          <p:spPr bwMode="auto">
            <a:xfrm>
              <a:off x="3312" y="2640"/>
              <a:ext cx="1008" cy="6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09" name="Line 9"/>
            <p:cNvSpPr>
              <a:spLocks noChangeShapeType="1"/>
            </p:cNvSpPr>
            <p:nvPr/>
          </p:nvSpPr>
          <p:spPr bwMode="auto">
            <a:xfrm>
              <a:off x="4320" y="2736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0" name="Line 10"/>
            <p:cNvSpPr>
              <a:spLocks noChangeShapeType="1"/>
            </p:cNvSpPr>
            <p:nvPr/>
          </p:nvSpPr>
          <p:spPr bwMode="auto">
            <a:xfrm flipV="1">
              <a:off x="4320" y="2496"/>
              <a:ext cx="1152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1" name="Line 11"/>
            <p:cNvSpPr>
              <a:spLocks noChangeShapeType="1"/>
            </p:cNvSpPr>
            <p:nvPr/>
          </p:nvSpPr>
          <p:spPr bwMode="auto">
            <a:xfrm>
              <a:off x="4896" y="2496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2" name="Line 12"/>
            <p:cNvSpPr>
              <a:spLocks noChangeShapeType="1"/>
            </p:cNvSpPr>
            <p:nvPr/>
          </p:nvSpPr>
          <p:spPr bwMode="auto">
            <a:xfrm flipH="1" flipV="1">
              <a:off x="4320" y="1680"/>
              <a:ext cx="1152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3" name="Text Box 13"/>
            <p:cNvSpPr txBox="1">
              <a:spLocks noChangeArrowheads="1"/>
            </p:cNvSpPr>
            <p:nvPr/>
          </p:nvSpPr>
          <p:spPr bwMode="auto">
            <a:xfrm>
              <a:off x="3888" y="2640"/>
              <a:ext cx="242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dirty="0">
                  <a:sym typeface="Symbol" pitchFamily="18" charset="2"/>
                </a:rPr>
                <a:t></a:t>
              </a:r>
              <a:r>
                <a:rPr lang="en-US" baseline="-25000" dirty="0">
                  <a:sym typeface="Symbol" pitchFamily="18" charset="2"/>
                </a:rPr>
                <a:t>1</a:t>
              </a:r>
            </a:p>
          </p:txBody>
        </p:sp>
        <p:sp>
          <p:nvSpPr>
            <p:cNvPr id="25614" name="Text Box 14"/>
            <p:cNvSpPr txBox="1">
              <a:spLocks noChangeArrowheads="1"/>
            </p:cNvSpPr>
            <p:nvPr/>
          </p:nvSpPr>
          <p:spPr bwMode="auto">
            <a:xfrm>
              <a:off x="4416" y="2736"/>
              <a:ext cx="24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0" dirty="0">
                  <a:sym typeface="Symbol" pitchFamily="18" charset="2"/>
                </a:rPr>
                <a:t></a:t>
              </a:r>
              <a:r>
                <a:rPr lang="en-US" b="0" baseline="-25000" dirty="0">
                  <a:sym typeface="Symbol" pitchFamily="18" charset="2"/>
                </a:rPr>
                <a:t>2</a:t>
              </a:r>
            </a:p>
          </p:txBody>
        </p:sp>
        <p:sp>
          <p:nvSpPr>
            <p:cNvPr id="25615" name="Text Box 15"/>
            <p:cNvSpPr txBox="1">
              <a:spLocks noChangeArrowheads="1"/>
            </p:cNvSpPr>
            <p:nvPr/>
          </p:nvSpPr>
          <p:spPr bwMode="auto">
            <a:xfrm>
              <a:off x="4896" y="2496"/>
              <a:ext cx="24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0">
                  <a:sym typeface="Symbol" pitchFamily="18" charset="2"/>
                </a:rPr>
                <a:t></a:t>
              </a:r>
              <a:r>
                <a:rPr lang="en-US" b="0" baseline="-25000">
                  <a:sym typeface="Symbol" pitchFamily="18" charset="2"/>
                </a:rPr>
                <a:t>3</a:t>
              </a:r>
            </a:p>
          </p:txBody>
        </p:sp>
        <p:sp>
          <p:nvSpPr>
            <p:cNvPr id="25616" name="Text Box 16"/>
            <p:cNvSpPr txBox="1">
              <a:spLocks noChangeArrowheads="1"/>
            </p:cNvSpPr>
            <p:nvPr/>
          </p:nvSpPr>
          <p:spPr bwMode="auto">
            <a:xfrm>
              <a:off x="4752" y="2160"/>
              <a:ext cx="24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0">
                  <a:sym typeface="Symbol" pitchFamily="18" charset="2"/>
                </a:rPr>
                <a:t></a:t>
              </a:r>
              <a:r>
                <a:rPr lang="en-US" b="0" baseline="-25000">
                  <a:sym typeface="Symbol" pitchFamily="18" charset="2"/>
                </a:rPr>
                <a:t>4</a:t>
              </a:r>
            </a:p>
          </p:txBody>
        </p:sp>
        <p:sp>
          <p:nvSpPr>
            <p:cNvPr id="25617" name="Text Box 17"/>
            <p:cNvSpPr txBox="1">
              <a:spLocks noChangeArrowheads="1"/>
            </p:cNvSpPr>
            <p:nvPr/>
          </p:nvSpPr>
          <p:spPr bwMode="auto">
            <a:xfrm>
              <a:off x="4752" y="3072"/>
              <a:ext cx="20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0">
                  <a:sym typeface="Symbol" pitchFamily="18" charset="2"/>
                </a:rPr>
                <a:t></a:t>
              </a:r>
            </a:p>
          </p:txBody>
        </p:sp>
        <p:sp>
          <p:nvSpPr>
            <p:cNvPr id="25618" name="Arc 18"/>
            <p:cNvSpPr>
              <a:spLocks/>
            </p:cNvSpPr>
            <p:nvPr/>
          </p:nvSpPr>
          <p:spPr bwMode="auto">
            <a:xfrm>
              <a:off x="4320" y="3024"/>
              <a:ext cx="240" cy="192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18628"/>
                <a:gd name="T1" fmla="*/ 0 h 21600"/>
                <a:gd name="T2" fmla="*/ 18628 w 18628"/>
                <a:gd name="T3" fmla="*/ 10666 h 21600"/>
                <a:gd name="T4" fmla="*/ 0 w 1862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628" h="21600" fill="none" extrusionOk="0">
                  <a:moveTo>
                    <a:pt x="-1" y="0"/>
                  </a:moveTo>
                  <a:cubicBezTo>
                    <a:pt x="7661" y="0"/>
                    <a:pt x="14749" y="4058"/>
                    <a:pt x="18628" y="10665"/>
                  </a:cubicBezTo>
                </a:path>
                <a:path w="18628" h="21600" stroke="0" extrusionOk="0">
                  <a:moveTo>
                    <a:pt x="-1" y="0"/>
                  </a:moveTo>
                  <a:cubicBezTo>
                    <a:pt x="7661" y="0"/>
                    <a:pt x="14749" y="4058"/>
                    <a:pt x="18628" y="10665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miter lim="800000"/>
              <a:headEnd type="arrow" w="med" len="med"/>
              <a:tailEnd type="arrow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9" name="Arc 19"/>
            <p:cNvSpPr>
              <a:spLocks/>
            </p:cNvSpPr>
            <p:nvPr/>
          </p:nvSpPr>
          <p:spPr bwMode="auto">
            <a:xfrm>
              <a:off x="3961" y="2928"/>
              <a:ext cx="360" cy="144"/>
            </a:xfrm>
            <a:custGeom>
              <a:avLst/>
              <a:gdLst>
                <a:gd name="G0" fmla="+- 21351 0 0"/>
                <a:gd name="G1" fmla="+- 21600 0 0"/>
                <a:gd name="G2" fmla="+- 21600 0 0"/>
                <a:gd name="T0" fmla="*/ 0 w 25662"/>
                <a:gd name="T1" fmla="*/ 18328 h 21600"/>
                <a:gd name="T2" fmla="*/ 25662 w 25662"/>
                <a:gd name="T3" fmla="*/ 434 h 21600"/>
                <a:gd name="T4" fmla="*/ 21351 w 25662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5662" h="21600" fill="none" extrusionOk="0">
                  <a:moveTo>
                    <a:pt x="0" y="18328"/>
                  </a:moveTo>
                  <a:cubicBezTo>
                    <a:pt x="1615" y="7785"/>
                    <a:pt x="10685" y="-1"/>
                    <a:pt x="21351" y="0"/>
                  </a:cubicBezTo>
                  <a:cubicBezTo>
                    <a:pt x="22798" y="0"/>
                    <a:pt x="24243" y="145"/>
                    <a:pt x="25661" y="434"/>
                  </a:cubicBezTo>
                </a:path>
                <a:path w="25662" h="21600" stroke="0" extrusionOk="0">
                  <a:moveTo>
                    <a:pt x="0" y="18328"/>
                  </a:moveTo>
                  <a:cubicBezTo>
                    <a:pt x="1615" y="7785"/>
                    <a:pt x="10685" y="-1"/>
                    <a:pt x="21351" y="0"/>
                  </a:cubicBezTo>
                  <a:cubicBezTo>
                    <a:pt x="22798" y="0"/>
                    <a:pt x="24243" y="145"/>
                    <a:pt x="25661" y="434"/>
                  </a:cubicBezTo>
                  <a:lnTo>
                    <a:pt x="21351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miter lim="800000"/>
              <a:headEnd type="arrow" w="med" len="med"/>
              <a:tailEnd type="arrow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20" name="Arc 20"/>
            <p:cNvSpPr>
              <a:spLocks/>
            </p:cNvSpPr>
            <p:nvPr/>
          </p:nvSpPr>
          <p:spPr bwMode="auto">
            <a:xfrm>
              <a:off x="5088" y="2505"/>
              <a:ext cx="279" cy="181"/>
            </a:xfrm>
            <a:custGeom>
              <a:avLst/>
              <a:gdLst>
                <a:gd name="G0" fmla="+- 21600 0 0"/>
                <a:gd name="G1" fmla="+- 2711 0 0"/>
                <a:gd name="G2" fmla="+- 21600 0 0"/>
                <a:gd name="T0" fmla="*/ 9177 w 21600"/>
                <a:gd name="T1" fmla="*/ 20381 h 20381"/>
                <a:gd name="T2" fmla="*/ 171 w 21600"/>
                <a:gd name="T3" fmla="*/ 0 h 20381"/>
                <a:gd name="T4" fmla="*/ 21600 w 21600"/>
                <a:gd name="T5" fmla="*/ 2711 h 20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0381" fill="none" extrusionOk="0">
                  <a:moveTo>
                    <a:pt x="9176" y="20381"/>
                  </a:moveTo>
                  <a:cubicBezTo>
                    <a:pt x="3423" y="16336"/>
                    <a:pt x="0" y="9743"/>
                    <a:pt x="0" y="2711"/>
                  </a:cubicBezTo>
                  <a:cubicBezTo>
                    <a:pt x="-1" y="1804"/>
                    <a:pt x="57" y="899"/>
                    <a:pt x="170" y="-1"/>
                  </a:cubicBezTo>
                </a:path>
                <a:path w="21600" h="20381" stroke="0" extrusionOk="0">
                  <a:moveTo>
                    <a:pt x="9176" y="20381"/>
                  </a:moveTo>
                  <a:cubicBezTo>
                    <a:pt x="3423" y="16336"/>
                    <a:pt x="0" y="9743"/>
                    <a:pt x="0" y="2711"/>
                  </a:cubicBezTo>
                  <a:cubicBezTo>
                    <a:pt x="-1" y="1804"/>
                    <a:pt x="57" y="899"/>
                    <a:pt x="170" y="-1"/>
                  </a:cubicBezTo>
                  <a:lnTo>
                    <a:pt x="21600" y="271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miter lim="800000"/>
              <a:headEnd type="arrow" w="med" len="med"/>
              <a:tailEnd type="arrow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21" name="Arc 21"/>
            <p:cNvSpPr>
              <a:spLocks/>
            </p:cNvSpPr>
            <p:nvPr/>
          </p:nvSpPr>
          <p:spPr bwMode="auto">
            <a:xfrm>
              <a:off x="5040" y="2292"/>
              <a:ext cx="279" cy="197"/>
            </a:xfrm>
            <a:custGeom>
              <a:avLst/>
              <a:gdLst>
                <a:gd name="G0" fmla="+- 21600 0 0"/>
                <a:gd name="G1" fmla="+- 17308 0 0"/>
                <a:gd name="G2" fmla="+- 21600 0 0"/>
                <a:gd name="T0" fmla="*/ 546 w 21600"/>
                <a:gd name="T1" fmla="*/ 22132 h 22132"/>
                <a:gd name="T2" fmla="*/ 8678 w 21600"/>
                <a:gd name="T3" fmla="*/ 0 h 22132"/>
                <a:gd name="T4" fmla="*/ 21600 w 21600"/>
                <a:gd name="T5" fmla="*/ 17308 h 22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2132" fill="none" extrusionOk="0">
                  <a:moveTo>
                    <a:pt x="545" y="22132"/>
                  </a:moveTo>
                  <a:cubicBezTo>
                    <a:pt x="183" y="20549"/>
                    <a:pt x="0" y="18931"/>
                    <a:pt x="0" y="17308"/>
                  </a:cubicBezTo>
                  <a:cubicBezTo>
                    <a:pt x="-1" y="10492"/>
                    <a:pt x="3216" y="4077"/>
                    <a:pt x="8677" y="-1"/>
                  </a:cubicBezTo>
                </a:path>
                <a:path w="21600" h="22132" stroke="0" extrusionOk="0">
                  <a:moveTo>
                    <a:pt x="545" y="22132"/>
                  </a:moveTo>
                  <a:cubicBezTo>
                    <a:pt x="183" y="20549"/>
                    <a:pt x="0" y="18931"/>
                    <a:pt x="0" y="17308"/>
                  </a:cubicBezTo>
                  <a:cubicBezTo>
                    <a:pt x="-1" y="10492"/>
                    <a:pt x="3216" y="4077"/>
                    <a:pt x="8677" y="-1"/>
                  </a:cubicBezTo>
                  <a:lnTo>
                    <a:pt x="21600" y="1730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miter lim="800000"/>
              <a:headEnd type="arrow" w="med" len="med"/>
              <a:tailEnd type="arrow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22" name="Arc 22"/>
            <p:cNvSpPr>
              <a:spLocks/>
            </p:cNvSpPr>
            <p:nvPr/>
          </p:nvSpPr>
          <p:spPr bwMode="auto">
            <a:xfrm>
              <a:off x="4464" y="3072"/>
              <a:ext cx="278" cy="212"/>
            </a:xfrm>
            <a:custGeom>
              <a:avLst/>
              <a:gdLst>
                <a:gd name="G0" fmla="+- 0 0 0"/>
                <a:gd name="G1" fmla="+- 12454 0 0"/>
                <a:gd name="G2" fmla="+- 21600 0 0"/>
                <a:gd name="T0" fmla="*/ 17648 w 21600"/>
                <a:gd name="T1" fmla="*/ 0 h 23846"/>
                <a:gd name="T2" fmla="*/ 18351 w 21600"/>
                <a:gd name="T3" fmla="*/ 23846 h 23846"/>
                <a:gd name="T4" fmla="*/ 0 w 21600"/>
                <a:gd name="T5" fmla="*/ 12454 h 238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3846" fill="none" extrusionOk="0">
                  <a:moveTo>
                    <a:pt x="17648" y="-1"/>
                  </a:moveTo>
                  <a:cubicBezTo>
                    <a:pt x="20219" y="3643"/>
                    <a:pt x="21600" y="7994"/>
                    <a:pt x="21600" y="12454"/>
                  </a:cubicBezTo>
                  <a:cubicBezTo>
                    <a:pt x="21600" y="16479"/>
                    <a:pt x="20474" y="20425"/>
                    <a:pt x="18351" y="23846"/>
                  </a:cubicBezTo>
                </a:path>
                <a:path w="21600" h="23846" stroke="0" extrusionOk="0">
                  <a:moveTo>
                    <a:pt x="17648" y="-1"/>
                  </a:moveTo>
                  <a:cubicBezTo>
                    <a:pt x="20219" y="3643"/>
                    <a:pt x="21600" y="7994"/>
                    <a:pt x="21600" y="12454"/>
                  </a:cubicBezTo>
                  <a:cubicBezTo>
                    <a:pt x="21600" y="16479"/>
                    <a:pt x="20474" y="20425"/>
                    <a:pt x="18351" y="23846"/>
                  </a:cubicBezTo>
                  <a:lnTo>
                    <a:pt x="0" y="124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miter lim="800000"/>
              <a:headEnd type="arrow" w="med" len="med"/>
              <a:tailEnd type="arrow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513040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223.13.7</a:t>
            </a:r>
          </a:p>
        </p:txBody>
      </p:sp>
      <p:sp>
        <p:nvSpPr>
          <p:cNvPr id="442371" name="Rectangle 3"/>
          <p:cNvSpPr>
            <a:spLocks noGrp="1" noChangeArrowheads="1"/>
          </p:cNvSpPr>
          <p:nvPr>
            <p:ph idx="1"/>
          </p:nvPr>
        </p:nvSpPr>
        <p:spPr>
          <a:xfrm>
            <a:off x="225425" y="1309688"/>
            <a:ext cx="4222750" cy="4525962"/>
          </a:xfrm>
        </p:spPr>
        <p:txBody>
          <a:bodyPr/>
          <a:lstStyle/>
          <a:p>
            <a:pPr eaLnBrk="1" hangingPunct="1">
              <a:lnSpc>
                <a:spcPct val="129000"/>
              </a:lnSpc>
              <a:buFontTx/>
              <a:buNone/>
              <a:defRPr/>
            </a:pPr>
            <a:r>
              <a:rPr lang="en-US" sz="2800" b="1">
                <a:effectLst>
                  <a:outerShdw blurRad="38100" dist="38100" dir="2700000" algn="tl">
                    <a:srgbClr val="C0C0C0"/>
                  </a:outerShdw>
                </a:effectLst>
              </a:rPr>
              <a:t>An observer at point O is facing a mirror and observes a light source S.    Where does the observer perceive the mirror image of the source to be located?</a:t>
            </a:r>
            <a:endParaRPr lang="en-US" sz="2800" b="1"/>
          </a:p>
          <a:p>
            <a:pPr eaLnBrk="1" hangingPunct="1">
              <a:defRPr/>
            </a:pPr>
            <a:endParaRPr lang="en-US" sz="2800"/>
          </a:p>
        </p:txBody>
      </p:sp>
      <p:sp>
        <p:nvSpPr>
          <p:cNvPr id="155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50BF4A1-AE21-4954-9C2A-785BBF0CAE04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55653" name="Oval 6"/>
          <p:cNvSpPr>
            <a:spLocks noChangeArrowheads="1"/>
          </p:cNvSpPr>
          <p:nvPr/>
        </p:nvSpPr>
        <p:spPr bwMode="auto">
          <a:xfrm>
            <a:off x="7318375" y="5719763"/>
            <a:ext cx="258763" cy="269875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54" name="Rectangle 7"/>
          <p:cNvSpPr>
            <a:spLocks noChangeArrowheads="1"/>
          </p:cNvSpPr>
          <p:nvPr/>
        </p:nvSpPr>
        <p:spPr bwMode="auto">
          <a:xfrm>
            <a:off x="6753225" y="2039938"/>
            <a:ext cx="115888" cy="1577975"/>
          </a:xfrm>
          <a:prstGeom prst="rect">
            <a:avLst/>
          </a:prstGeom>
          <a:solidFill>
            <a:srgbClr val="C0C0C0"/>
          </a:solidFill>
          <a:ln w="9525">
            <a:solidFill>
              <a:srgbClr val="B2B2B2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55655" name="Oval 8"/>
          <p:cNvSpPr>
            <a:spLocks noChangeArrowheads="1"/>
          </p:cNvSpPr>
          <p:nvPr/>
        </p:nvSpPr>
        <p:spPr bwMode="auto">
          <a:xfrm>
            <a:off x="4973638" y="2128838"/>
            <a:ext cx="258762" cy="269875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56" name="Oval 9"/>
          <p:cNvSpPr>
            <a:spLocks noChangeArrowheads="1"/>
          </p:cNvSpPr>
          <p:nvPr/>
        </p:nvSpPr>
        <p:spPr bwMode="auto">
          <a:xfrm>
            <a:off x="5976938" y="3711575"/>
            <a:ext cx="258762" cy="269875"/>
          </a:xfrm>
          <a:prstGeom prst="ellipse">
            <a:avLst/>
          </a:prstGeom>
          <a:solidFill>
            <a:srgbClr val="FFFF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57" name="Oval 10"/>
          <p:cNvSpPr>
            <a:spLocks noChangeArrowheads="1"/>
          </p:cNvSpPr>
          <p:nvPr/>
        </p:nvSpPr>
        <p:spPr bwMode="auto">
          <a:xfrm>
            <a:off x="7315200" y="3705225"/>
            <a:ext cx="260350" cy="269875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58" name="Oval 11"/>
          <p:cNvSpPr>
            <a:spLocks noChangeArrowheads="1"/>
          </p:cNvSpPr>
          <p:nvPr/>
        </p:nvSpPr>
        <p:spPr bwMode="auto">
          <a:xfrm>
            <a:off x="6673850" y="3268663"/>
            <a:ext cx="258763" cy="268287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59" name="Oval 12"/>
          <p:cNvSpPr>
            <a:spLocks noChangeArrowheads="1"/>
          </p:cNvSpPr>
          <p:nvPr/>
        </p:nvSpPr>
        <p:spPr bwMode="auto">
          <a:xfrm>
            <a:off x="8485188" y="2114550"/>
            <a:ext cx="258762" cy="269875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5660" name="Text Box 13"/>
          <p:cNvSpPr txBox="1">
            <a:spLocks noChangeArrowheads="1"/>
          </p:cNvSpPr>
          <p:nvPr/>
        </p:nvSpPr>
        <p:spPr bwMode="auto">
          <a:xfrm>
            <a:off x="5962650" y="3709988"/>
            <a:ext cx="319088" cy="312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 dirty="0"/>
              <a:t>S</a:t>
            </a:r>
            <a:endParaRPr lang="en-US" sz="2000" dirty="0"/>
          </a:p>
        </p:txBody>
      </p:sp>
      <p:sp>
        <p:nvSpPr>
          <p:cNvPr id="155661" name="Text Box 14"/>
          <p:cNvSpPr txBox="1">
            <a:spLocks noChangeArrowheads="1"/>
          </p:cNvSpPr>
          <p:nvPr/>
        </p:nvSpPr>
        <p:spPr bwMode="auto">
          <a:xfrm>
            <a:off x="4948238" y="2111375"/>
            <a:ext cx="342900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 dirty="0"/>
              <a:t>O</a:t>
            </a:r>
            <a:endParaRPr lang="en-US" sz="2000" dirty="0"/>
          </a:p>
        </p:txBody>
      </p:sp>
      <p:sp>
        <p:nvSpPr>
          <p:cNvPr id="155662" name="Text Box 15"/>
          <p:cNvSpPr txBox="1">
            <a:spLocks noChangeArrowheads="1"/>
          </p:cNvSpPr>
          <p:nvPr/>
        </p:nvSpPr>
        <p:spPr bwMode="auto">
          <a:xfrm>
            <a:off x="6643688" y="3251200"/>
            <a:ext cx="296862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>
                <a:solidFill>
                  <a:schemeClr val="bg2"/>
                </a:solidFill>
              </a:rPr>
              <a:t>1</a:t>
            </a:r>
            <a:endParaRPr lang="en-US" sz="2000">
              <a:solidFill>
                <a:srgbClr val="00DFCA"/>
              </a:solidFill>
            </a:endParaRPr>
          </a:p>
        </p:txBody>
      </p:sp>
      <p:sp>
        <p:nvSpPr>
          <p:cNvPr id="155663" name="Text Box 16"/>
          <p:cNvSpPr txBox="1">
            <a:spLocks noChangeArrowheads="1"/>
          </p:cNvSpPr>
          <p:nvPr/>
        </p:nvSpPr>
        <p:spPr bwMode="auto">
          <a:xfrm>
            <a:off x="7278688" y="3686175"/>
            <a:ext cx="296862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>
                <a:solidFill>
                  <a:schemeClr val="bg2"/>
                </a:solidFill>
              </a:rPr>
              <a:t>2</a:t>
            </a:r>
            <a:endParaRPr lang="en-US" sz="2000">
              <a:solidFill>
                <a:srgbClr val="00DFCA"/>
              </a:solidFill>
            </a:endParaRPr>
          </a:p>
        </p:txBody>
      </p:sp>
      <p:sp>
        <p:nvSpPr>
          <p:cNvPr id="155664" name="Text Box 17"/>
          <p:cNvSpPr txBox="1">
            <a:spLocks noChangeArrowheads="1"/>
          </p:cNvSpPr>
          <p:nvPr/>
        </p:nvSpPr>
        <p:spPr bwMode="auto">
          <a:xfrm>
            <a:off x="8453438" y="2098675"/>
            <a:ext cx="296862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>
                <a:solidFill>
                  <a:schemeClr val="bg2"/>
                </a:solidFill>
              </a:rPr>
              <a:t>3</a:t>
            </a:r>
            <a:endParaRPr lang="en-US" sz="2000">
              <a:solidFill>
                <a:srgbClr val="00DFCA"/>
              </a:solidFill>
            </a:endParaRPr>
          </a:p>
        </p:txBody>
      </p:sp>
      <p:sp>
        <p:nvSpPr>
          <p:cNvPr id="155665" name="Text Box 18"/>
          <p:cNvSpPr txBox="1">
            <a:spLocks noChangeArrowheads="1"/>
          </p:cNvSpPr>
          <p:nvPr/>
        </p:nvSpPr>
        <p:spPr bwMode="auto">
          <a:xfrm>
            <a:off x="7288213" y="5699125"/>
            <a:ext cx="296862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1600" b="1">
                <a:solidFill>
                  <a:schemeClr val="bg2"/>
                </a:solidFill>
              </a:rPr>
              <a:t>4</a:t>
            </a:r>
            <a:endParaRPr lang="en-US" sz="2000">
              <a:solidFill>
                <a:srgbClr val="00DFCA"/>
              </a:solidFill>
            </a:endParaRPr>
          </a:p>
        </p:txBody>
      </p:sp>
      <p:sp>
        <p:nvSpPr>
          <p:cNvPr id="155666" name="Text Box 19"/>
          <p:cNvSpPr txBox="1">
            <a:spLocks noChangeArrowheads="1"/>
          </p:cNvSpPr>
          <p:nvPr/>
        </p:nvSpPr>
        <p:spPr bwMode="auto">
          <a:xfrm>
            <a:off x="6397625" y="1738313"/>
            <a:ext cx="9318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</a:pPr>
            <a:r>
              <a:rPr lang="en-US" sz="2000" b="1">
                <a:solidFill>
                  <a:schemeClr val="tx2"/>
                </a:solidFill>
              </a:rPr>
              <a:t>mirror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4" descr="crn_cb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914400"/>
            <a:ext cx="6019800" cy="4514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Retroreflectors</a:t>
            </a:r>
          </a:p>
        </p:txBody>
      </p:sp>
      <p:sp>
        <p:nvSpPr>
          <p:cNvPr id="9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0119" name="Picture 7" descr="reflector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00600" y="2971800"/>
            <a:ext cx="3962400" cy="3062288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" y="1143000"/>
            <a:ext cx="4476750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Apollo Retro-reflectors</a:t>
            </a:r>
          </a:p>
        </p:txBody>
      </p:sp>
      <p:sp>
        <p:nvSpPr>
          <p:cNvPr id="91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1140" name="Picture 4" descr="moon_annotat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219200"/>
            <a:ext cx="5305425" cy="4962525"/>
          </a:xfrm>
          <a:prstGeom prst="rect">
            <a:avLst/>
          </a:prstGeom>
          <a:noFill/>
        </p:spPr>
      </p:pic>
      <p:pic>
        <p:nvPicPr>
          <p:cNvPr id="91141" name="Picture 5" descr="lunar_reflector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9200" y="1447800"/>
            <a:ext cx="2673350" cy="2743200"/>
          </a:xfrm>
          <a:prstGeom prst="rect">
            <a:avLst/>
          </a:prstGeom>
          <a:noFill/>
        </p:spPr>
      </p:pic>
      <p:pic>
        <p:nvPicPr>
          <p:cNvPr id="91142" name="Picture 6" descr="A15_LRRRful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0" y="3429000"/>
            <a:ext cx="2747963" cy="27908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Try it at Home</a:t>
            </a:r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/>
              <a:t>Amateur Radio Moonbounce Communication</a:t>
            </a:r>
          </a:p>
        </p:txBody>
      </p:sp>
      <p:pic>
        <p:nvPicPr>
          <p:cNvPr id="174084" name="Picture 4" descr="W5UN-QS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371600"/>
            <a:ext cx="4800600" cy="3071813"/>
          </a:xfrm>
          <a:prstGeom prst="rect">
            <a:avLst/>
          </a:prstGeom>
          <a:noFill/>
        </p:spPr>
      </p:pic>
      <p:pic>
        <p:nvPicPr>
          <p:cNvPr id="174085" name="Picture 5" descr="SM2CEW-antenn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10200" y="4267200"/>
            <a:ext cx="3124200" cy="2349500"/>
          </a:xfrm>
          <a:prstGeom prst="rect">
            <a:avLst/>
          </a:prstGeom>
          <a:noFill/>
        </p:spPr>
      </p:pic>
      <p:pic>
        <p:nvPicPr>
          <p:cNvPr id="174087" name="Picture 7" descr="SM2CEW-Shack-lr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3276600"/>
            <a:ext cx="3657600" cy="2743200"/>
          </a:xfrm>
          <a:prstGeom prst="rect">
            <a:avLst/>
          </a:prstGeom>
          <a:noFill/>
        </p:spPr>
      </p:pic>
      <p:sp>
        <p:nvSpPr>
          <p:cNvPr id="174088" name="Rectangle 8"/>
          <p:cNvSpPr>
            <a:spLocks noChangeArrowheads="1"/>
          </p:cNvSpPr>
          <p:nvPr/>
        </p:nvSpPr>
        <p:spPr bwMode="auto">
          <a:xfrm>
            <a:off x="228600" y="6172200"/>
            <a:ext cx="3352800" cy="457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200" b="0"/>
              <a:t>http://www.arrl.org/news/features/2002/01/21/1/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89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 Mirror Arrays</a:t>
            </a:r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295400"/>
            <a:ext cx="8229600" cy="2239963"/>
          </a:xfrm>
        </p:spPr>
        <p:txBody>
          <a:bodyPr/>
          <a:lstStyle/>
          <a:p>
            <a:r>
              <a:rPr lang="en-US"/>
              <a:t>A high-tech example is the new micro-mirror arrays</a:t>
            </a:r>
          </a:p>
          <a:p>
            <a:pPr lvl="1"/>
            <a:r>
              <a:rPr lang="en-US"/>
              <a:t>ITT version</a:t>
            </a:r>
          </a:p>
          <a:p>
            <a:pPr lvl="1"/>
            <a:endParaRPr lang="en-US"/>
          </a:p>
        </p:txBody>
      </p:sp>
      <p:pic>
        <p:nvPicPr>
          <p:cNvPr id="8909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343400"/>
            <a:ext cx="2219325" cy="10001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</p:pic>
      <p:pic>
        <p:nvPicPr>
          <p:cNvPr id="8909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90575" y="4391025"/>
            <a:ext cx="2209800" cy="9525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</p:pic>
      <p:sp>
        <p:nvSpPr>
          <p:cNvPr id="89094" name="Freeform 6"/>
          <p:cNvSpPr>
            <a:spLocks/>
          </p:cNvSpPr>
          <p:nvPr/>
        </p:nvSpPr>
        <p:spPr bwMode="auto">
          <a:xfrm>
            <a:off x="644525" y="4622800"/>
            <a:ext cx="268288" cy="555625"/>
          </a:xfrm>
          <a:custGeom>
            <a:avLst/>
            <a:gdLst/>
            <a:ahLst/>
            <a:cxnLst>
              <a:cxn ang="0">
                <a:pos x="234" y="97"/>
              </a:cxn>
              <a:cxn ang="0">
                <a:pos x="0" y="0"/>
              </a:cxn>
              <a:cxn ang="0">
                <a:pos x="0" y="1255"/>
              </a:cxn>
              <a:cxn ang="0">
                <a:pos x="290" y="1380"/>
              </a:cxn>
            </a:cxnLst>
            <a:rect l="0" t="0" r="r" b="b"/>
            <a:pathLst>
              <a:path w="291" h="1381">
                <a:moveTo>
                  <a:pt x="234" y="97"/>
                </a:moveTo>
                <a:lnTo>
                  <a:pt x="0" y="0"/>
                </a:lnTo>
                <a:lnTo>
                  <a:pt x="0" y="1255"/>
                </a:lnTo>
                <a:lnTo>
                  <a:pt x="290" y="1380"/>
                </a:lnTo>
              </a:path>
            </a:pathLst>
          </a:custGeom>
          <a:noFill/>
          <a:ln w="25400" cap="rnd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9095" name="Line 7"/>
          <p:cNvSpPr>
            <a:spLocks noChangeShapeType="1"/>
          </p:cNvSpPr>
          <p:nvPr/>
        </p:nvSpPr>
        <p:spPr bwMode="auto">
          <a:xfrm>
            <a:off x="644525" y="5019675"/>
            <a:ext cx="1588" cy="463550"/>
          </a:xfrm>
          <a:prstGeom prst="line">
            <a:avLst/>
          </a:prstGeom>
          <a:noFill/>
          <a:ln w="25400">
            <a:solidFill>
              <a:schemeClr val="bg2"/>
            </a:solidFill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9096" name="Line 8"/>
          <p:cNvSpPr>
            <a:spLocks noChangeShapeType="1"/>
          </p:cNvSpPr>
          <p:nvPr/>
        </p:nvSpPr>
        <p:spPr bwMode="auto">
          <a:xfrm>
            <a:off x="609600" y="5541963"/>
            <a:ext cx="71438" cy="1587"/>
          </a:xfrm>
          <a:prstGeom prst="line">
            <a:avLst/>
          </a:prstGeom>
          <a:noFill/>
          <a:ln w="25400">
            <a:solidFill>
              <a:schemeClr val="bg2"/>
            </a:solidFill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9097" name="Line 9"/>
          <p:cNvSpPr>
            <a:spLocks noChangeShapeType="1"/>
          </p:cNvSpPr>
          <p:nvPr/>
        </p:nvSpPr>
        <p:spPr bwMode="auto">
          <a:xfrm>
            <a:off x="630238" y="5607050"/>
            <a:ext cx="39687" cy="1588"/>
          </a:xfrm>
          <a:prstGeom prst="line">
            <a:avLst/>
          </a:prstGeom>
          <a:noFill/>
          <a:ln w="25400">
            <a:solidFill>
              <a:schemeClr val="bg2"/>
            </a:solidFill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295775" y="3819525"/>
            <a:ext cx="1295400" cy="1079500"/>
            <a:chOff x="2880" y="2304"/>
            <a:chExt cx="816" cy="680"/>
          </a:xfrm>
        </p:grpSpPr>
        <p:sp>
          <p:nvSpPr>
            <p:cNvPr id="89099" name="Line 11"/>
            <p:cNvSpPr>
              <a:spLocks noChangeShapeType="1"/>
            </p:cNvSpPr>
            <p:nvPr/>
          </p:nvSpPr>
          <p:spPr bwMode="auto">
            <a:xfrm flipH="1" flipV="1">
              <a:off x="3312" y="2304"/>
              <a:ext cx="0" cy="446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sysDot"/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0" name="Line 12"/>
            <p:cNvSpPr>
              <a:spLocks noChangeShapeType="1"/>
            </p:cNvSpPr>
            <p:nvPr/>
          </p:nvSpPr>
          <p:spPr bwMode="auto">
            <a:xfrm flipH="1">
              <a:off x="3252" y="2318"/>
              <a:ext cx="0" cy="55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1" name="Line 13"/>
            <p:cNvSpPr>
              <a:spLocks noChangeShapeType="1"/>
            </p:cNvSpPr>
            <p:nvPr/>
          </p:nvSpPr>
          <p:spPr bwMode="auto">
            <a:xfrm flipV="1">
              <a:off x="3264" y="2366"/>
              <a:ext cx="240" cy="60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2" name="Line 14"/>
            <p:cNvSpPr>
              <a:spLocks noChangeShapeType="1"/>
            </p:cNvSpPr>
            <p:nvPr/>
          </p:nvSpPr>
          <p:spPr bwMode="auto">
            <a:xfrm flipH="1" flipV="1">
              <a:off x="3072" y="2366"/>
              <a:ext cx="183" cy="60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3" name="Line 15"/>
            <p:cNvSpPr>
              <a:spLocks noChangeShapeType="1"/>
            </p:cNvSpPr>
            <p:nvPr/>
          </p:nvSpPr>
          <p:spPr bwMode="auto">
            <a:xfrm flipH="1" flipV="1">
              <a:off x="2880" y="2366"/>
              <a:ext cx="360" cy="582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4" name="Line 16"/>
            <p:cNvSpPr>
              <a:spLocks noChangeShapeType="1"/>
            </p:cNvSpPr>
            <p:nvPr/>
          </p:nvSpPr>
          <p:spPr bwMode="auto">
            <a:xfrm flipV="1">
              <a:off x="3258" y="2366"/>
              <a:ext cx="438" cy="61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514600" y="3810000"/>
            <a:ext cx="381000" cy="1066800"/>
            <a:chOff x="1632" y="2448"/>
            <a:chExt cx="240" cy="672"/>
          </a:xfrm>
        </p:grpSpPr>
        <p:sp>
          <p:nvSpPr>
            <p:cNvPr id="89106" name="Line 18"/>
            <p:cNvSpPr>
              <a:spLocks noChangeShapeType="1"/>
            </p:cNvSpPr>
            <p:nvPr/>
          </p:nvSpPr>
          <p:spPr bwMode="auto">
            <a:xfrm>
              <a:off x="1632" y="2466"/>
              <a:ext cx="96" cy="654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107" name="Line 19"/>
            <p:cNvSpPr>
              <a:spLocks noChangeShapeType="1"/>
            </p:cNvSpPr>
            <p:nvPr/>
          </p:nvSpPr>
          <p:spPr bwMode="auto">
            <a:xfrm flipH="1">
              <a:off x="1776" y="2448"/>
              <a:ext cx="96" cy="67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9108" name="Rectangle 20"/>
          <p:cNvSpPr>
            <a:spLocks noChangeArrowheads="1"/>
          </p:cNvSpPr>
          <p:nvPr/>
        </p:nvSpPr>
        <p:spPr bwMode="auto">
          <a:xfrm>
            <a:off x="838200" y="5327650"/>
            <a:ext cx="20574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eaLnBrk="0" hangingPunct="0"/>
            <a:r>
              <a:rPr lang="en-US" sz="1200">
                <a:solidFill>
                  <a:schemeClr val="bg2"/>
                </a:solidFill>
                <a:latin typeface="Times New Roman" pitchFamily="18" charset="0"/>
              </a:rPr>
              <a:t>GEMS Device Off-State</a:t>
            </a:r>
            <a:endParaRPr lang="en-US" sz="70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89109" name="AutoShape 21"/>
          <p:cNvSpPr>
            <a:spLocks/>
          </p:cNvSpPr>
          <p:nvPr/>
        </p:nvSpPr>
        <p:spPr bwMode="auto">
          <a:xfrm>
            <a:off x="533400" y="3962400"/>
            <a:ext cx="1143000" cy="304800"/>
          </a:xfrm>
          <a:prstGeom prst="borderCallout2">
            <a:avLst>
              <a:gd name="adj1" fmla="val 37500"/>
              <a:gd name="adj2" fmla="val 106667"/>
              <a:gd name="adj3" fmla="val 37500"/>
              <a:gd name="adj4" fmla="val 126389"/>
              <a:gd name="adj5" fmla="val 140625"/>
              <a:gd name="adj6" fmla="val 136111"/>
            </a:avLst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 type="none" w="sm" len="sm"/>
            <a:tailEnd type="triangle" w="med" len="med"/>
          </a:ln>
          <a:effectLst/>
        </p:spPr>
        <p:txBody>
          <a:bodyPr/>
          <a:lstStyle/>
          <a:p>
            <a:r>
              <a:rPr lang="en-US" sz="1100" b="0">
                <a:latin typeface="Times New Roman" pitchFamily="18" charset="0"/>
              </a:rPr>
              <a:t>Metal “Mirror”</a:t>
            </a:r>
          </a:p>
        </p:txBody>
      </p:sp>
      <p:sp>
        <p:nvSpPr>
          <p:cNvPr id="89110" name="Rectangle 22"/>
          <p:cNvSpPr>
            <a:spLocks noChangeArrowheads="1"/>
          </p:cNvSpPr>
          <p:nvPr/>
        </p:nvSpPr>
        <p:spPr bwMode="auto">
          <a:xfrm>
            <a:off x="3473450" y="5326063"/>
            <a:ext cx="2165350" cy="27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eaLnBrk="0" hangingPunct="0"/>
            <a:r>
              <a:rPr lang="en-US" sz="1200">
                <a:solidFill>
                  <a:schemeClr val="bg2"/>
                </a:solidFill>
                <a:latin typeface="Times New Roman" pitchFamily="18" charset="0"/>
              </a:rPr>
              <a:t>GEMS Device On-State</a:t>
            </a:r>
            <a:endParaRPr lang="en-US" sz="70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89111" name="Freeform 23"/>
          <p:cNvSpPr>
            <a:spLocks/>
          </p:cNvSpPr>
          <p:nvPr/>
        </p:nvSpPr>
        <p:spPr bwMode="auto">
          <a:xfrm>
            <a:off x="3362325" y="4648200"/>
            <a:ext cx="263525" cy="609600"/>
          </a:xfrm>
          <a:custGeom>
            <a:avLst/>
            <a:gdLst/>
            <a:ahLst/>
            <a:cxnLst>
              <a:cxn ang="0">
                <a:pos x="234" y="97"/>
              </a:cxn>
              <a:cxn ang="0">
                <a:pos x="0" y="0"/>
              </a:cxn>
              <a:cxn ang="0">
                <a:pos x="0" y="1255"/>
              </a:cxn>
              <a:cxn ang="0">
                <a:pos x="290" y="1380"/>
              </a:cxn>
            </a:cxnLst>
            <a:rect l="0" t="0" r="r" b="b"/>
            <a:pathLst>
              <a:path w="291" h="1381">
                <a:moveTo>
                  <a:pt x="234" y="97"/>
                </a:moveTo>
                <a:lnTo>
                  <a:pt x="0" y="0"/>
                </a:lnTo>
                <a:lnTo>
                  <a:pt x="0" y="1255"/>
                </a:lnTo>
                <a:lnTo>
                  <a:pt x="290" y="1380"/>
                </a:lnTo>
              </a:path>
            </a:pathLst>
          </a:custGeom>
          <a:noFill/>
          <a:ln w="25400" cap="rnd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9112" name="Oval 24"/>
          <p:cNvSpPr>
            <a:spLocks noChangeArrowheads="1"/>
          </p:cNvSpPr>
          <p:nvPr/>
        </p:nvSpPr>
        <p:spPr bwMode="auto">
          <a:xfrm>
            <a:off x="3200400" y="4814888"/>
            <a:ext cx="342900" cy="290512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bg2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89113" name="Text Box 25"/>
          <p:cNvSpPr txBox="1">
            <a:spLocks noChangeArrowheads="1"/>
          </p:cNvSpPr>
          <p:nvPr/>
        </p:nvSpPr>
        <p:spPr bwMode="auto">
          <a:xfrm>
            <a:off x="3228975" y="4875213"/>
            <a:ext cx="304800" cy="2889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lnSpc>
                <a:spcPct val="40000"/>
              </a:lnSpc>
            </a:pPr>
            <a:r>
              <a:rPr lang="en-US" sz="1600" b="0">
                <a:solidFill>
                  <a:schemeClr val="bg2"/>
                </a:solidFill>
                <a:latin typeface="Times New Roman" pitchFamily="18" charset="0"/>
              </a:rPr>
              <a:t>+-</a:t>
            </a:r>
          </a:p>
        </p:txBody>
      </p:sp>
      <p:sp>
        <p:nvSpPr>
          <p:cNvPr id="89114" name="Rectangle 26"/>
          <p:cNvSpPr>
            <a:spLocks noChangeArrowheads="1"/>
          </p:cNvSpPr>
          <p:nvPr/>
        </p:nvSpPr>
        <p:spPr bwMode="auto">
          <a:xfrm>
            <a:off x="5867400" y="5272088"/>
            <a:ext cx="2590800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eaLnBrk="0" hangingPunct="0"/>
            <a:r>
              <a:rPr lang="en-US" sz="1200">
                <a:solidFill>
                  <a:schemeClr val="bg2"/>
                </a:solidFill>
                <a:latin typeface="Times New Roman" pitchFamily="18" charset="0"/>
              </a:rPr>
              <a:t>6 channel GEMS Device</a:t>
            </a:r>
          </a:p>
          <a:p>
            <a:pPr eaLnBrk="0" hangingPunct="0"/>
            <a:r>
              <a:rPr lang="en-US" sz="1100" b="0">
                <a:solidFill>
                  <a:schemeClr val="bg2"/>
                </a:solidFill>
                <a:latin typeface="Times New Roman" pitchFamily="18" charset="0"/>
              </a:rPr>
              <a:t>(50 Channel Device is in Development)</a:t>
            </a:r>
          </a:p>
        </p:txBody>
      </p:sp>
      <p:pic>
        <p:nvPicPr>
          <p:cNvPr id="89115" name="Picture 2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24600" y="3914775"/>
            <a:ext cx="1676400" cy="13652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9775" y="1198563"/>
            <a:ext cx="51244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" y="2057400"/>
            <a:ext cx="8824948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9775" y="1198563"/>
            <a:ext cx="51244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03425" y="1189038"/>
            <a:ext cx="5135563" cy="44878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19350" y="1308100"/>
            <a:ext cx="43053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514F8-CD6C-9ADC-FB60-A93E2039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01E8CFD-C193-70B5-746D-C5CA86C0C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19350" y="1308100"/>
            <a:ext cx="43053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432E90-B06B-C077-B7A8-7ECF04607DBC}"/>
              </a:ext>
            </a:extLst>
          </p:cNvPr>
          <p:cNvCxnSpPr>
            <a:cxnSpLocks/>
          </p:cNvCxnSpPr>
          <p:nvPr/>
        </p:nvCxnSpPr>
        <p:spPr>
          <a:xfrm flipV="1">
            <a:off x="3781426" y="2514600"/>
            <a:ext cx="942974" cy="228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246F88-41BC-9A4F-8820-30A1459244E6}"/>
              </a:ext>
            </a:extLst>
          </p:cNvPr>
          <p:cNvCxnSpPr>
            <a:cxnSpLocks/>
          </p:cNvCxnSpPr>
          <p:nvPr/>
        </p:nvCxnSpPr>
        <p:spPr>
          <a:xfrm>
            <a:off x="3657600" y="2362200"/>
            <a:ext cx="2133600" cy="3048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EAED55-FCDE-E733-DFF5-3EF289078A01}"/>
              </a:ext>
            </a:extLst>
          </p:cNvPr>
          <p:cNvCxnSpPr>
            <a:cxnSpLocks/>
          </p:cNvCxnSpPr>
          <p:nvPr/>
        </p:nvCxnSpPr>
        <p:spPr>
          <a:xfrm>
            <a:off x="3657600" y="2362200"/>
            <a:ext cx="1066800" cy="152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9256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27AF202-8363-4A3F-874C-13259FD1A7E5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56675" name="Text Box 3"/>
          <p:cNvSpPr txBox="1">
            <a:spLocks noChangeArrowheads="1"/>
          </p:cNvSpPr>
          <p:nvPr/>
        </p:nvSpPr>
        <p:spPr bwMode="auto">
          <a:xfrm>
            <a:off x="762000" y="1295400"/>
            <a:ext cx="7620000" cy="433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In the movies, you sometimes see an actor looking in a mirror and you can see his face in the mirror. During the filming of this scene, what does the actor see in the mirror?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his face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your face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director’s face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movie camera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impossible to determine</a:t>
            </a:r>
          </a:p>
        </p:txBody>
      </p:sp>
      <p:sp>
        <p:nvSpPr>
          <p:cNvPr id="156676" name="Line 4"/>
          <p:cNvSpPr>
            <a:spLocks noChangeShapeType="1"/>
          </p:cNvSpPr>
          <p:nvPr/>
        </p:nvSpPr>
        <p:spPr bwMode="auto">
          <a:xfrm>
            <a:off x="2743200" y="990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56677" name="Rectangle 5"/>
          <p:cNvSpPr>
            <a:spLocks noChangeArrowheads="1"/>
          </p:cNvSpPr>
          <p:nvPr/>
        </p:nvSpPr>
        <p:spPr bwMode="auto">
          <a:xfrm>
            <a:off x="1600200" y="0"/>
            <a:ext cx="6477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223.13.8</a:t>
            </a:r>
            <a:endParaRPr lang="en-US" sz="36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223.13.9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4441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266825"/>
            <a:ext cx="8229600" cy="2087563"/>
          </a:xfrm>
        </p:spPr>
        <p:txBody>
          <a:bodyPr/>
          <a:lstStyle/>
          <a:p>
            <a:pPr eaLnBrk="1" hangingPunct="1">
              <a:lnSpc>
                <a:spcPct val="139000"/>
              </a:lnSpc>
              <a:buFontTx/>
              <a:buNone/>
              <a:defRPr/>
            </a:pPr>
            <a:r>
              <a:rPr lang="en-US" sz="2800" b="1" dirty="0"/>
              <a:t>When watching the Moon over the ocean, you often see a long streak of light on the surface of the water.  This occurs because:</a:t>
            </a:r>
            <a:endParaRPr lang="en-US" sz="28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defRPr/>
            </a:pPr>
            <a:endParaRPr lang="en-US" sz="2800" dirty="0"/>
          </a:p>
        </p:txBody>
      </p:sp>
      <p:sp>
        <p:nvSpPr>
          <p:cNvPr id="157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018E07D-EBF8-4CC9-B550-C735294C19A8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157701" name="Text Box 4"/>
          <p:cNvSpPr txBox="1">
            <a:spLocks noChangeArrowheads="1"/>
          </p:cNvSpPr>
          <p:nvPr/>
        </p:nvSpPr>
        <p:spPr bwMode="auto">
          <a:xfrm>
            <a:off x="6483350" y="6146800"/>
            <a:ext cx="361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G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6321425" y="3263900"/>
            <a:ext cx="2254250" cy="2797175"/>
            <a:chOff x="3945" y="2038"/>
            <a:chExt cx="1420" cy="1762"/>
          </a:xfrm>
        </p:grpSpPr>
        <p:sp>
          <p:nvSpPr>
            <p:cNvPr id="157704" name="Rectangle 6"/>
            <p:cNvSpPr>
              <a:spLocks noChangeArrowheads="1"/>
            </p:cNvSpPr>
            <p:nvPr/>
          </p:nvSpPr>
          <p:spPr bwMode="auto">
            <a:xfrm>
              <a:off x="3952" y="2038"/>
              <a:ext cx="1396" cy="1757"/>
            </a:xfrm>
            <a:prstGeom prst="rect">
              <a:avLst/>
            </a:prstGeom>
            <a:solidFill>
              <a:srgbClr val="000099"/>
            </a:solidFill>
            <a:ln w="9525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945" y="2049"/>
              <a:ext cx="1420" cy="1751"/>
              <a:chOff x="2360" y="627"/>
              <a:chExt cx="988" cy="1218"/>
            </a:xfrm>
          </p:grpSpPr>
          <p:sp>
            <p:nvSpPr>
              <p:cNvPr id="157706" name="Rectangle 8"/>
              <p:cNvSpPr>
                <a:spLocks noChangeArrowheads="1"/>
              </p:cNvSpPr>
              <p:nvPr/>
            </p:nvSpPr>
            <p:spPr bwMode="auto">
              <a:xfrm>
                <a:off x="2364" y="789"/>
                <a:ext cx="975" cy="1056"/>
              </a:xfrm>
              <a:prstGeom prst="rect">
                <a:avLst/>
              </a:prstGeom>
              <a:solidFill>
                <a:srgbClr val="99A3D6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7" name="Freeform 9"/>
              <p:cNvSpPr>
                <a:spLocks/>
              </p:cNvSpPr>
              <p:nvPr/>
            </p:nvSpPr>
            <p:spPr bwMode="auto">
              <a:xfrm>
                <a:off x="2789" y="691"/>
                <a:ext cx="219" cy="100"/>
              </a:xfrm>
              <a:custGeom>
                <a:avLst/>
                <a:gdLst>
                  <a:gd name="T0" fmla="*/ 0 w 219"/>
                  <a:gd name="T1" fmla="*/ 96 h 100"/>
                  <a:gd name="T2" fmla="*/ 2 w 219"/>
                  <a:gd name="T3" fmla="*/ 67 h 100"/>
                  <a:gd name="T4" fmla="*/ 24 w 219"/>
                  <a:gd name="T5" fmla="*/ 34 h 100"/>
                  <a:gd name="T6" fmla="*/ 62 w 219"/>
                  <a:gd name="T7" fmla="*/ 9 h 100"/>
                  <a:gd name="T8" fmla="*/ 128 w 219"/>
                  <a:gd name="T9" fmla="*/ 0 h 100"/>
                  <a:gd name="T10" fmla="*/ 177 w 219"/>
                  <a:gd name="T11" fmla="*/ 14 h 100"/>
                  <a:gd name="T12" fmla="*/ 208 w 219"/>
                  <a:gd name="T13" fmla="*/ 42 h 100"/>
                  <a:gd name="T14" fmla="*/ 219 w 219"/>
                  <a:gd name="T15" fmla="*/ 89 h 100"/>
                  <a:gd name="T16" fmla="*/ 153 w 219"/>
                  <a:gd name="T17" fmla="*/ 96 h 100"/>
                  <a:gd name="T18" fmla="*/ 29 w 219"/>
                  <a:gd name="T19" fmla="*/ 100 h 100"/>
                  <a:gd name="T20" fmla="*/ 0 w 219"/>
                  <a:gd name="T21" fmla="*/ 96 h 100"/>
                  <a:gd name="T22" fmla="*/ 0 w 219"/>
                  <a:gd name="T23" fmla="*/ 96 h 1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219"/>
                  <a:gd name="T37" fmla="*/ 0 h 100"/>
                  <a:gd name="T38" fmla="*/ 219 w 219"/>
                  <a:gd name="T39" fmla="*/ 100 h 1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219" h="100">
                    <a:moveTo>
                      <a:pt x="0" y="96"/>
                    </a:moveTo>
                    <a:lnTo>
                      <a:pt x="2" y="67"/>
                    </a:lnTo>
                    <a:lnTo>
                      <a:pt x="24" y="34"/>
                    </a:lnTo>
                    <a:lnTo>
                      <a:pt x="62" y="9"/>
                    </a:lnTo>
                    <a:lnTo>
                      <a:pt x="128" y="0"/>
                    </a:lnTo>
                    <a:lnTo>
                      <a:pt x="177" y="14"/>
                    </a:lnTo>
                    <a:lnTo>
                      <a:pt x="208" y="42"/>
                    </a:lnTo>
                    <a:lnTo>
                      <a:pt x="219" y="89"/>
                    </a:lnTo>
                    <a:lnTo>
                      <a:pt x="153" y="96"/>
                    </a:lnTo>
                    <a:lnTo>
                      <a:pt x="29" y="100"/>
                    </a:lnTo>
                    <a:lnTo>
                      <a:pt x="0" y="96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8" name="Freeform 10"/>
              <p:cNvSpPr>
                <a:spLocks/>
              </p:cNvSpPr>
              <p:nvPr/>
            </p:nvSpPr>
            <p:spPr bwMode="auto">
              <a:xfrm>
                <a:off x="2360" y="779"/>
                <a:ext cx="988" cy="25"/>
              </a:xfrm>
              <a:custGeom>
                <a:avLst/>
                <a:gdLst>
                  <a:gd name="T0" fmla="*/ 560 w 988"/>
                  <a:gd name="T1" fmla="*/ 7 h 25"/>
                  <a:gd name="T2" fmla="*/ 636 w 988"/>
                  <a:gd name="T3" fmla="*/ 5 h 25"/>
                  <a:gd name="T4" fmla="*/ 709 w 988"/>
                  <a:gd name="T5" fmla="*/ 5 h 25"/>
                  <a:gd name="T6" fmla="*/ 784 w 988"/>
                  <a:gd name="T7" fmla="*/ 5 h 25"/>
                  <a:gd name="T8" fmla="*/ 844 w 988"/>
                  <a:gd name="T9" fmla="*/ 5 h 25"/>
                  <a:gd name="T10" fmla="*/ 882 w 988"/>
                  <a:gd name="T11" fmla="*/ 5 h 25"/>
                  <a:gd name="T12" fmla="*/ 919 w 988"/>
                  <a:gd name="T13" fmla="*/ 5 h 25"/>
                  <a:gd name="T14" fmla="*/ 955 w 988"/>
                  <a:gd name="T15" fmla="*/ 5 h 25"/>
                  <a:gd name="T16" fmla="*/ 977 w 988"/>
                  <a:gd name="T17" fmla="*/ 5 h 25"/>
                  <a:gd name="T18" fmla="*/ 988 w 988"/>
                  <a:gd name="T19" fmla="*/ 7 h 25"/>
                  <a:gd name="T20" fmla="*/ 984 w 988"/>
                  <a:gd name="T21" fmla="*/ 14 h 25"/>
                  <a:gd name="T22" fmla="*/ 959 w 988"/>
                  <a:gd name="T23" fmla="*/ 18 h 25"/>
                  <a:gd name="T24" fmla="*/ 924 w 988"/>
                  <a:gd name="T25" fmla="*/ 18 h 25"/>
                  <a:gd name="T26" fmla="*/ 884 w 988"/>
                  <a:gd name="T27" fmla="*/ 18 h 25"/>
                  <a:gd name="T28" fmla="*/ 857 w 988"/>
                  <a:gd name="T29" fmla="*/ 18 h 25"/>
                  <a:gd name="T30" fmla="*/ 844 w 988"/>
                  <a:gd name="T31" fmla="*/ 18 h 25"/>
                  <a:gd name="T32" fmla="*/ 829 w 988"/>
                  <a:gd name="T33" fmla="*/ 18 h 25"/>
                  <a:gd name="T34" fmla="*/ 815 w 988"/>
                  <a:gd name="T35" fmla="*/ 18 h 25"/>
                  <a:gd name="T36" fmla="*/ 789 w 988"/>
                  <a:gd name="T37" fmla="*/ 18 h 25"/>
                  <a:gd name="T38" fmla="*/ 749 w 988"/>
                  <a:gd name="T39" fmla="*/ 18 h 25"/>
                  <a:gd name="T40" fmla="*/ 711 w 988"/>
                  <a:gd name="T41" fmla="*/ 18 h 25"/>
                  <a:gd name="T42" fmla="*/ 673 w 988"/>
                  <a:gd name="T43" fmla="*/ 18 h 25"/>
                  <a:gd name="T44" fmla="*/ 622 w 988"/>
                  <a:gd name="T45" fmla="*/ 18 h 25"/>
                  <a:gd name="T46" fmla="*/ 556 w 988"/>
                  <a:gd name="T47" fmla="*/ 18 h 25"/>
                  <a:gd name="T48" fmla="*/ 492 w 988"/>
                  <a:gd name="T49" fmla="*/ 20 h 25"/>
                  <a:gd name="T50" fmla="*/ 427 w 988"/>
                  <a:gd name="T51" fmla="*/ 22 h 25"/>
                  <a:gd name="T52" fmla="*/ 387 w 988"/>
                  <a:gd name="T53" fmla="*/ 25 h 25"/>
                  <a:gd name="T54" fmla="*/ 379 w 988"/>
                  <a:gd name="T55" fmla="*/ 25 h 25"/>
                  <a:gd name="T56" fmla="*/ 354 w 988"/>
                  <a:gd name="T57" fmla="*/ 22 h 25"/>
                  <a:gd name="T58" fmla="*/ 319 w 988"/>
                  <a:gd name="T59" fmla="*/ 22 h 25"/>
                  <a:gd name="T60" fmla="*/ 283 w 988"/>
                  <a:gd name="T61" fmla="*/ 25 h 25"/>
                  <a:gd name="T62" fmla="*/ 248 w 988"/>
                  <a:gd name="T63" fmla="*/ 25 h 25"/>
                  <a:gd name="T64" fmla="*/ 215 w 988"/>
                  <a:gd name="T65" fmla="*/ 22 h 25"/>
                  <a:gd name="T66" fmla="*/ 184 w 988"/>
                  <a:gd name="T67" fmla="*/ 25 h 25"/>
                  <a:gd name="T68" fmla="*/ 155 w 988"/>
                  <a:gd name="T69" fmla="*/ 25 h 25"/>
                  <a:gd name="T70" fmla="*/ 121 w 988"/>
                  <a:gd name="T71" fmla="*/ 25 h 25"/>
                  <a:gd name="T72" fmla="*/ 90 w 988"/>
                  <a:gd name="T73" fmla="*/ 22 h 25"/>
                  <a:gd name="T74" fmla="*/ 62 w 988"/>
                  <a:gd name="T75" fmla="*/ 22 h 25"/>
                  <a:gd name="T76" fmla="*/ 37 w 988"/>
                  <a:gd name="T77" fmla="*/ 20 h 25"/>
                  <a:gd name="T78" fmla="*/ 11 w 988"/>
                  <a:gd name="T79" fmla="*/ 18 h 25"/>
                  <a:gd name="T80" fmla="*/ 2 w 988"/>
                  <a:gd name="T81" fmla="*/ 9 h 25"/>
                  <a:gd name="T82" fmla="*/ 0 w 988"/>
                  <a:gd name="T83" fmla="*/ 2 h 25"/>
                  <a:gd name="T84" fmla="*/ 2 w 988"/>
                  <a:gd name="T85" fmla="*/ 0 h 25"/>
                  <a:gd name="T86" fmla="*/ 31 w 988"/>
                  <a:gd name="T87" fmla="*/ 2 h 25"/>
                  <a:gd name="T88" fmla="*/ 82 w 988"/>
                  <a:gd name="T89" fmla="*/ 5 h 25"/>
                  <a:gd name="T90" fmla="*/ 130 w 988"/>
                  <a:gd name="T91" fmla="*/ 7 h 25"/>
                  <a:gd name="T92" fmla="*/ 172 w 988"/>
                  <a:gd name="T93" fmla="*/ 9 h 25"/>
                  <a:gd name="T94" fmla="*/ 217 w 988"/>
                  <a:gd name="T95" fmla="*/ 9 h 25"/>
                  <a:gd name="T96" fmla="*/ 270 w 988"/>
                  <a:gd name="T97" fmla="*/ 9 h 25"/>
                  <a:gd name="T98" fmla="*/ 321 w 988"/>
                  <a:gd name="T99" fmla="*/ 9 h 25"/>
                  <a:gd name="T100" fmla="*/ 376 w 988"/>
                  <a:gd name="T101" fmla="*/ 11 h 25"/>
                  <a:gd name="T102" fmla="*/ 418 w 988"/>
                  <a:gd name="T103" fmla="*/ 11 h 25"/>
                  <a:gd name="T104" fmla="*/ 447 w 988"/>
                  <a:gd name="T105" fmla="*/ 9 h 25"/>
                  <a:gd name="T106" fmla="*/ 478 w 988"/>
                  <a:gd name="T107" fmla="*/ 9 h 25"/>
                  <a:gd name="T108" fmla="*/ 507 w 988"/>
                  <a:gd name="T109" fmla="*/ 9 h 25"/>
                  <a:gd name="T110" fmla="*/ 520 w 988"/>
                  <a:gd name="T111" fmla="*/ 9 h 2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w 988"/>
                  <a:gd name="T169" fmla="*/ 0 h 25"/>
                  <a:gd name="T170" fmla="*/ 988 w 988"/>
                  <a:gd name="T171" fmla="*/ 25 h 25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T168" t="T169" r="T170" b="T171"/>
                <a:pathLst>
                  <a:path w="988" h="25">
                    <a:moveTo>
                      <a:pt x="520" y="9"/>
                    </a:moveTo>
                    <a:lnTo>
                      <a:pt x="560" y="7"/>
                    </a:lnTo>
                    <a:lnTo>
                      <a:pt x="598" y="7"/>
                    </a:lnTo>
                    <a:lnTo>
                      <a:pt x="636" y="5"/>
                    </a:lnTo>
                    <a:lnTo>
                      <a:pt x="673" y="5"/>
                    </a:lnTo>
                    <a:lnTo>
                      <a:pt x="709" y="5"/>
                    </a:lnTo>
                    <a:lnTo>
                      <a:pt x="747" y="5"/>
                    </a:lnTo>
                    <a:lnTo>
                      <a:pt x="784" y="5"/>
                    </a:lnTo>
                    <a:lnTo>
                      <a:pt x="826" y="7"/>
                    </a:lnTo>
                    <a:lnTo>
                      <a:pt x="844" y="5"/>
                    </a:lnTo>
                    <a:lnTo>
                      <a:pt x="862" y="5"/>
                    </a:lnTo>
                    <a:lnTo>
                      <a:pt x="882" y="5"/>
                    </a:lnTo>
                    <a:lnTo>
                      <a:pt x="899" y="5"/>
                    </a:lnTo>
                    <a:lnTo>
                      <a:pt x="919" y="5"/>
                    </a:lnTo>
                    <a:lnTo>
                      <a:pt x="937" y="5"/>
                    </a:lnTo>
                    <a:lnTo>
                      <a:pt x="955" y="5"/>
                    </a:lnTo>
                    <a:lnTo>
                      <a:pt x="975" y="5"/>
                    </a:lnTo>
                    <a:lnTo>
                      <a:pt x="977" y="5"/>
                    </a:lnTo>
                    <a:lnTo>
                      <a:pt x="986" y="5"/>
                    </a:lnTo>
                    <a:lnTo>
                      <a:pt x="988" y="7"/>
                    </a:lnTo>
                    <a:lnTo>
                      <a:pt x="988" y="11"/>
                    </a:lnTo>
                    <a:lnTo>
                      <a:pt x="984" y="14"/>
                    </a:lnTo>
                    <a:lnTo>
                      <a:pt x="975" y="18"/>
                    </a:lnTo>
                    <a:lnTo>
                      <a:pt x="959" y="18"/>
                    </a:lnTo>
                    <a:lnTo>
                      <a:pt x="944" y="18"/>
                    </a:lnTo>
                    <a:lnTo>
                      <a:pt x="924" y="18"/>
                    </a:lnTo>
                    <a:lnTo>
                      <a:pt x="904" y="18"/>
                    </a:lnTo>
                    <a:lnTo>
                      <a:pt x="884" y="18"/>
                    </a:lnTo>
                    <a:lnTo>
                      <a:pt x="866" y="18"/>
                    </a:lnTo>
                    <a:lnTo>
                      <a:pt x="857" y="18"/>
                    </a:lnTo>
                    <a:lnTo>
                      <a:pt x="851" y="18"/>
                    </a:lnTo>
                    <a:lnTo>
                      <a:pt x="844" y="18"/>
                    </a:lnTo>
                    <a:lnTo>
                      <a:pt x="837" y="18"/>
                    </a:lnTo>
                    <a:lnTo>
                      <a:pt x="829" y="18"/>
                    </a:lnTo>
                    <a:lnTo>
                      <a:pt x="822" y="18"/>
                    </a:lnTo>
                    <a:lnTo>
                      <a:pt x="815" y="18"/>
                    </a:lnTo>
                    <a:lnTo>
                      <a:pt x="809" y="20"/>
                    </a:lnTo>
                    <a:lnTo>
                      <a:pt x="789" y="18"/>
                    </a:lnTo>
                    <a:lnTo>
                      <a:pt x="769" y="18"/>
                    </a:lnTo>
                    <a:lnTo>
                      <a:pt x="749" y="18"/>
                    </a:lnTo>
                    <a:lnTo>
                      <a:pt x="731" y="18"/>
                    </a:lnTo>
                    <a:lnTo>
                      <a:pt x="711" y="18"/>
                    </a:lnTo>
                    <a:lnTo>
                      <a:pt x="693" y="18"/>
                    </a:lnTo>
                    <a:lnTo>
                      <a:pt x="673" y="18"/>
                    </a:lnTo>
                    <a:lnTo>
                      <a:pt x="656" y="18"/>
                    </a:lnTo>
                    <a:lnTo>
                      <a:pt x="622" y="18"/>
                    </a:lnTo>
                    <a:lnTo>
                      <a:pt x="589" y="18"/>
                    </a:lnTo>
                    <a:lnTo>
                      <a:pt x="556" y="18"/>
                    </a:lnTo>
                    <a:lnTo>
                      <a:pt x="523" y="20"/>
                    </a:lnTo>
                    <a:lnTo>
                      <a:pt x="492" y="20"/>
                    </a:lnTo>
                    <a:lnTo>
                      <a:pt x="458" y="22"/>
                    </a:lnTo>
                    <a:lnTo>
                      <a:pt x="427" y="22"/>
                    </a:lnTo>
                    <a:lnTo>
                      <a:pt x="394" y="25"/>
                    </a:lnTo>
                    <a:lnTo>
                      <a:pt x="387" y="25"/>
                    </a:lnTo>
                    <a:lnTo>
                      <a:pt x="383" y="25"/>
                    </a:lnTo>
                    <a:lnTo>
                      <a:pt x="379" y="25"/>
                    </a:lnTo>
                    <a:lnTo>
                      <a:pt x="372" y="25"/>
                    </a:lnTo>
                    <a:lnTo>
                      <a:pt x="354" y="22"/>
                    </a:lnTo>
                    <a:lnTo>
                      <a:pt x="336" y="22"/>
                    </a:lnTo>
                    <a:lnTo>
                      <a:pt x="319" y="22"/>
                    </a:lnTo>
                    <a:lnTo>
                      <a:pt x="301" y="25"/>
                    </a:lnTo>
                    <a:lnTo>
                      <a:pt x="283" y="25"/>
                    </a:lnTo>
                    <a:lnTo>
                      <a:pt x="266" y="25"/>
                    </a:lnTo>
                    <a:lnTo>
                      <a:pt x="248" y="25"/>
                    </a:lnTo>
                    <a:lnTo>
                      <a:pt x="230" y="25"/>
                    </a:lnTo>
                    <a:lnTo>
                      <a:pt x="215" y="22"/>
                    </a:lnTo>
                    <a:lnTo>
                      <a:pt x="199" y="22"/>
                    </a:lnTo>
                    <a:lnTo>
                      <a:pt x="184" y="25"/>
                    </a:lnTo>
                    <a:lnTo>
                      <a:pt x="170" y="25"/>
                    </a:lnTo>
                    <a:lnTo>
                      <a:pt x="155" y="25"/>
                    </a:lnTo>
                    <a:lnTo>
                      <a:pt x="139" y="25"/>
                    </a:lnTo>
                    <a:lnTo>
                      <a:pt x="121" y="25"/>
                    </a:lnTo>
                    <a:lnTo>
                      <a:pt x="104" y="25"/>
                    </a:lnTo>
                    <a:lnTo>
                      <a:pt x="90" y="22"/>
                    </a:lnTo>
                    <a:lnTo>
                      <a:pt x="77" y="22"/>
                    </a:lnTo>
                    <a:lnTo>
                      <a:pt x="62" y="22"/>
                    </a:lnTo>
                    <a:lnTo>
                      <a:pt x="51" y="22"/>
                    </a:lnTo>
                    <a:lnTo>
                      <a:pt x="37" y="20"/>
                    </a:lnTo>
                    <a:lnTo>
                      <a:pt x="24" y="20"/>
                    </a:lnTo>
                    <a:lnTo>
                      <a:pt x="11" y="18"/>
                    </a:lnTo>
                    <a:lnTo>
                      <a:pt x="0" y="14"/>
                    </a:lnTo>
                    <a:lnTo>
                      <a:pt x="2" y="9"/>
                    </a:lnTo>
                    <a:lnTo>
                      <a:pt x="2" y="5"/>
                    </a:lnTo>
                    <a:lnTo>
                      <a:pt x="0" y="2"/>
                    </a:lnTo>
                    <a:lnTo>
                      <a:pt x="0" y="0"/>
                    </a:lnTo>
                    <a:lnTo>
                      <a:pt x="2" y="0"/>
                    </a:lnTo>
                    <a:lnTo>
                      <a:pt x="6" y="0"/>
                    </a:lnTo>
                    <a:lnTo>
                      <a:pt x="31" y="2"/>
                    </a:lnTo>
                    <a:lnTo>
                      <a:pt x="57" y="5"/>
                    </a:lnTo>
                    <a:lnTo>
                      <a:pt x="82" y="5"/>
                    </a:lnTo>
                    <a:lnTo>
                      <a:pt x="106" y="7"/>
                    </a:lnTo>
                    <a:lnTo>
                      <a:pt x="130" y="7"/>
                    </a:lnTo>
                    <a:lnTo>
                      <a:pt x="152" y="9"/>
                    </a:lnTo>
                    <a:lnTo>
                      <a:pt x="172" y="9"/>
                    </a:lnTo>
                    <a:lnTo>
                      <a:pt x="192" y="9"/>
                    </a:lnTo>
                    <a:lnTo>
                      <a:pt x="217" y="9"/>
                    </a:lnTo>
                    <a:lnTo>
                      <a:pt x="246" y="9"/>
                    </a:lnTo>
                    <a:lnTo>
                      <a:pt x="270" y="9"/>
                    </a:lnTo>
                    <a:lnTo>
                      <a:pt x="297" y="9"/>
                    </a:lnTo>
                    <a:lnTo>
                      <a:pt x="321" y="9"/>
                    </a:lnTo>
                    <a:lnTo>
                      <a:pt x="348" y="9"/>
                    </a:lnTo>
                    <a:lnTo>
                      <a:pt x="376" y="11"/>
                    </a:lnTo>
                    <a:lnTo>
                      <a:pt x="405" y="11"/>
                    </a:lnTo>
                    <a:lnTo>
                      <a:pt x="418" y="11"/>
                    </a:lnTo>
                    <a:lnTo>
                      <a:pt x="432" y="11"/>
                    </a:lnTo>
                    <a:lnTo>
                      <a:pt x="447" y="9"/>
                    </a:lnTo>
                    <a:lnTo>
                      <a:pt x="463" y="9"/>
                    </a:lnTo>
                    <a:lnTo>
                      <a:pt x="478" y="9"/>
                    </a:lnTo>
                    <a:lnTo>
                      <a:pt x="494" y="9"/>
                    </a:lnTo>
                    <a:lnTo>
                      <a:pt x="507" y="9"/>
                    </a:lnTo>
                    <a:lnTo>
                      <a:pt x="520" y="9"/>
                    </a:lnTo>
                    <a:close/>
                  </a:path>
                </a:pathLst>
              </a:custGeom>
              <a:solidFill>
                <a:srgbClr val="000000"/>
              </a:solidFill>
              <a:ln w="190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9" name="Freeform 11"/>
              <p:cNvSpPr>
                <a:spLocks/>
              </p:cNvSpPr>
              <p:nvPr/>
            </p:nvSpPr>
            <p:spPr bwMode="auto">
              <a:xfrm>
                <a:off x="2784" y="685"/>
                <a:ext cx="231" cy="106"/>
              </a:xfrm>
              <a:custGeom>
                <a:avLst/>
                <a:gdLst>
                  <a:gd name="T0" fmla="*/ 105 w 231"/>
                  <a:gd name="T1" fmla="*/ 2 h 106"/>
                  <a:gd name="T2" fmla="*/ 127 w 231"/>
                  <a:gd name="T3" fmla="*/ 0 h 106"/>
                  <a:gd name="T4" fmla="*/ 151 w 231"/>
                  <a:gd name="T5" fmla="*/ 4 h 106"/>
                  <a:gd name="T6" fmla="*/ 173 w 231"/>
                  <a:gd name="T7" fmla="*/ 11 h 106"/>
                  <a:gd name="T8" fmla="*/ 193 w 231"/>
                  <a:gd name="T9" fmla="*/ 22 h 106"/>
                  <a:gd name="T10" fmla="*/ 211 w 231"/>
                  <a:gd name="T11" fmla="*/ 37 h 106"/>
                  <a:gd name="T12" fmla="*/ 224 w 231"/>
                  <a:gd name="T13" fmla="*/ 57 h 106"/>
                  <a:gd name="T14" fmla="*/ 229 w 231"/>
                  <a:gd name="T15" fmla="*/ 79 h 106"/>
                  <a:gd name="T16" fmla="*/ 231 w 231"/>
                  <a:gd name="T17" fmla="*/ 104 h 106"/>
                  <a:gd name="T18" fmla="*/ 226 w 231"/>
                  <a:gd name="T19" fmla="*/ 104 h 106"/>
                  <a:gd name="T20" fmla="*/ 222 w 231"/>
                  <a:gd name="T21" fmla="*/ 104 h 106"/>
                  <a:gd name="T22" fmla="*/ 218 w 231"/>
                  <a:gd name="T23" fmla="*/ 104 h 106"/>
                  <a:gd name="T24" fmla="*/ 215 w 231"/>
                  <a:gd name="T25" fmla="*/ 104 h 106"/>
                  <a:gd name="T26" fmla="*/ 213 w 231"/>
                  <a:gd name="T27" fmla="*/ 82 h 106"/>
                  <a:gd name="T28" fmla="*/ 206 w 231"/>
                  <a:gd name="T29" fmla="*/ 59 h 106"/>
                  <a:gd name="T30" fmla="*/ 195 w 231"/>
                  <a:gd name="T31" fmla="*/ 44 h 106"/>
                  <a:gd name="T32" fmla="*/ 180 w 231"/>
                  <a:gd name="T33" fmla="*/ 31 h 106"/>
                  <a:gd name="T34" fmla="*/ 162 w 231"/>
                  <a:gd name="T35" fmla="*/ 20 h 106"/>
                  <a:gd name="T36" fmla="*/ 142 w 231"/>
                  <a:gd name="T37" fmla="*/ 15 h 106"/>
                  <a:gd name="T38" fmla="*/ 122 w 231"/>
                  <a:gd name="T39" fmla="*/ 15 h 106"/>
                  <a:gd name="T40" fmla="*/ 102 w 231"/>
                  <a:gd name="T41" fmla="*/ 20 h 106"/>
                  <a:gd name="T42" fmla="*/ 82 w 231"/>
                  <a:gd name="T43" fmla="*/ 20 h 106"/>
                  <a:gd name="T44" fmla="*/ 65 w 231"/>
                  <a:gd name="T45" fmla="*/ 26 h 106"/>
                  <a:gd name="T46" fmla="*/ 49 w 231"/>
                  <a:gd name="T47" fmla="*/ 33 h 106"/>
                  <a:gd name="T48" fmla="*/ 36 w 231"/>
                  <a:gd name="T49" fmla="*/ 44 h 106"/>
                  <a:gd name="T50" fmla="*/ 25 w 231"/>
                  <a:gd name="T51" fmla="*/ 55 h 106"/>
                  <a:gd name="T52" fmla="*/ 16 w 231"/>
                  <a:gd name="T53" fmla="*/ 71 h 106"/>
                  <a:gd name="T54" fmla="*/ 11 w 231"/>
                  <a:gd name="T55" fmla="*/ 86 h 106"/>
                  <a:gd name="T56" fmla="*/ 11 w 231"/>
                  <a:gd name="T57" fmla="*/ 106 h 106"/>
                  <a:gd name="T58" fmla="*/ 5 w 231"/>
                  <a:gd name="T59" fmla="*/ 104 h 106"/>
                  <a:gd name="T60" fmla="*/ 0 w 231"/>
                  <a:gd name="T61" fmla="*/ 104 h 106"/>
                  <a:gd name="T62" fmla="*/ 0 w 231"/>
                  <a:gd name="T63" fmla="*/ 82 h 106"/>
                  <a:gd name="T64" fmla="*/ 7 w 231"/>
                  <a:gd name="T65" fmla="*/ 62 h 106"/>
                  <a:gd name="T66" fmla="*/ 16 w 231"/>
                  <a:gd name="T67" fmla="*/ 46 h 106"/>
                  <a:gd name="T68" fmla="*/ 31 w 231"/>
                  <a:gd name="T69" fmla="*/ 31 h 106"/>
                  <a:gd name="T70" fmla="*/ 47 w 231"/>
                  <a:gd name="T71" fmla="*/ 20 h 106"/>
                  <a:gd name="T72" fmla="*/ 65 w 231"/>
                  <a:gd name="T73" fmla="*/ 11 h 106"/>
                  <a:gd name="T74" fmla="*/ 85 w 231"/>
                  <a:gd name="T75" fmla="*/ 6 h 106"/>
                  <a:gd name="T76" fmla="*/ 105 w 231"/>
                  <a:gd name="T77" fmla="*/ 2 h 106"/>
                  <a:gd name="T78" fmla="*/ 105 w 231"/>
                  <a:gd name="T79" fmla="*/ 2 h 10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231"/>
                  <a:gd name="T121" fmla="*/ 0 h 106"/>
                  <a:gd name="T122" fmla="*/ 231 w 231"/>
                  <a:gd name="T123" fmla="*/ 106 h 106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231" h="106">
                    <a:moveTo>
                      <a:pt x="105" y="2"/>
                    </a:moveTo>
                    <a:lnTo>
                      <a:pt x="127" y="0"/>
                    </a:lnTo>
                    <a:lnTo>
                      <a:pt x="151" y="4"/>
                    </a:lnTo>
                    <a:lnTo>
                      <a:pt x="173" y="11"/>
                    </a:lnTo>
                    <a:lnTo>
                      <a:pt x="193" y="22"/>
                    </a:lnTo>
                    <a:lnTo>
                      <a:pt x="211" y="37"/>
                    </a:lnTo>
                    <a:lnTo>
                      <a:pt x="224" y="57"/>
                    </a:lnTo>
                    <a:lnTo>
                      <a:pt x="229" y="79"/>
                    </a:lnTo>
                    <a:lnTo>
                      <a:pt x="231" y="104"/>
                    </a:lnTo>
                    <a:lnTo>
                      <a:pt x="226" y="104"/>
                    </a:lnTo>
                    <a:lnTo>
                      <a:pt x="222" y="104"/>
                    </a:lnTo>
                    <a:lnTo>
                      <a:pt x="218" y="104"/>
                    </a:lnTo>
                    <a:lnTo>
                      <a:pt x="215" y="104"/>
                    </a:lnTo>
                    <a:lnTo>
                      <a:pt x="213" y="82"/>
                    </a:lnTo>
                    <a:lnTo>
                      <a:pt x="206" y="59"/>
                    </a:lnTo>
                    <a:lnTo>
                      <a:pt x="195" y="44"/>
                    </a:lnTo>
                    <a:lnTo>
                      <a:pt x="180" y="31"/>
                    </a:lnTo>
                    <a:lnTo>
                      <a:pt x="162" y="20"/>
                    </a:lnTo>
                    <a:lnTo>
                      <a:pt x="142" y="15"/>
                    </a:lnTo>
                    <a:lnTo>
                      <a:pt x="122" y="15"/>
                    </a:lnTo>
                    <a:lnTo>
                      <a:pt x="102" y="20"/>
                    </a:lnTo>
                    <a:lnTo>
                      <a:pt x="82" y="20"/>
                    </a:lnTo>
                    <a:lnTo>
                      <a:pt x="65" y="26"/>
                    </a:lnTo>
                    <a:lnTo>
                      <a:pt x="49" y="33"/>
                    </a:lnTo>
                    <a:lnTo>
                      <a:pt x="36" y="44"/>
                    </a:lnTo>
                    <a:lnTo>
                      <a:pt x="25" y="55"/>
                    </a:lnTo>
                    <a:lnTo>
                      <a:pt x="16" y="71"/>
                    </a:lnTo>
                    <a:lnTo>
                      <a:pt x="11" y="86"/>
                    </a:lnTo>
                    <a:lnTo>
                      <a:pt x="11" y="106"/>
                    </a:lnTo>
                    <a:lnTo>
                      <a:pt x="5" y="104"/>
                    </a:lnTo>
                    <a:lnTo>
                      <a:pt x="0" y="104"/>
                    </a:lnTo>
                    <a:lnTo>
                      <a:pt x="0" y="82"/>
                    </a:lnTo>
                    <a:lnTo>
                      <a:pt x="7" y="62"/>
                    </a:lnTo>
                    <a:lnTo>
                      <a:pt x="16" y="46"/>
                    </a:lnTo>
                    <a:lnTo>
                      <a:pt x="31" y="31"/>
                    </a:lnTo>
                    <a:lnTo>
                      <a:pt x="47" y="20"/>
                    </a:lnTo>
                    <a:lnTo>
                      <a:pt x="65" y="11"/>
                    </a:lnTo>
                    <a:lnTo>
                      <a:pt x="85" y="6"/>
                    </a:lnTo>
                    <a:lnTo>
                      <a:pt x="105" y="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0" name="Freeform 12"/>
              <p:cNvSpPr>
                <a:spLocks/>
              </p:cNvSpPr>
              <p:nvPr/>
            </p:nvSpPr>
            <p:spPr bwMode="auto">
              <a:xfrm>
                <a:off x="2911" y="627"/>
                <a:ext cx="15" cy="51"/>
              </a:xfrm>
              <a:custGeom>
                <a:avLst/>
                <a:gdLst>
                  <a:gd name="T0" fmla="*/ 9 w 15"/>
                  <a:gd name="T1" fmla="*/ 2 h 51"/>
                  <a:gd name="T2" fmla="*/ 13 w 15"/>
                  <a:gd name="T3" fmla="*/ 0 h 51"/>
                  <a:gd name="T4" fmla="*/ 15 w 15"/>
                  <a:gd name="T5" fmla="*/ 7 h 51"/>
                  <a:gd name="T6" fmla="*/ 15 w 15"/>
                  <a:gd name="T7" fmla="*/ 11 h 51"/>
                  <a:gd name="T8" fmla="*/ 15 w 15"/>
                  <a:gd name="T9" fmla="*/ 16 h 51"/>
                  <a:gd name="T10" fmla="*/ 13 w 15"/>
                  <a:gd name="T11" fmla="*/ 22 h 51"/>
                  <a:gd name="T12" fmla="*/ 13 w 15"/>
                  <a:gd name="T13" fmla="*/ 29 h 51"/>
                  <a:gd name="T14" fmla="*/ 13 w 15"/>
                  <a:gd name="T15" fmla="*/ 33 h 51"/>
                  <a:gd name="T16" fmla="*/ 11 w 15"/>
                  <a:gd name="T17" fmla="*/ 40 h 51"/>
                  <a:gd name="T18" fmla="*/ 11 w 15"/>
                  <a:gd name="T19" fmla="*/ 44 h 51"/>
                  <a:gd name="T20" fmla="*/ 9 w 15"/>
                  <a:gd name="T21" fmla="*/ 49 h 51"/>
                  <a:gd name="T22" fmla="*/ 6 w 15"/>
                  <a:gd name="T23" fmla="*/ 51 h 51"/>
                  <a:gd name="T24" fmla="*/ 4 w 15"/>
                  <a:gd name="T25" fmla="*/ 51 h 51"/>
                  <a:gd name="T26" fmla="*/ 0 w 15"/>
                  <a:gd name="T27" fmla="*/ 51 h 51"/>
                  <a:gd name="T28" fmla="*/ 0 w 15"/>
                  <a:gd name="T29" fmla="*/ 49 h 51"/>
                  <a:gd name="T30" fmla="*/ 0 w 15"/>
                  <a:gd name="T31" fmla="*/ 42 h 51"/>
                  <a:gd name="T32" fmla="*/ 0 w 15"/>
                  <a:gd name="T33" fmla="*/ 35 h 51"/>
                  <a:gd name="T34" fmla="*/ 0 w 15"/>
                  <a:gd name="T35" fmla="*/ 29 h 51"/>
                  <a:gd name="T36" fmla="*/ 0 w 15"/>
                  <a:gd name="T37" fmla="*/ 24 h 51"/>
                  <a:gd name="T38" fmla="*/ 0 w 15"/>
                  <a:gd name="T39" fmla="*/ 16 h 51"/>
                  <a:gd name="T40" fmla="*/ 4 w 15"/>
                  <a:gd name="T41" fmla="*/ 11 h 51"/>
                  <a:gd name="T42" fmla="*/ 4 w 15"/>
                  <a:gd name="T43" fmla="*/ 7 h 51"/>
                  <a:gd name="T44" fmla="*/ 9 w 15"/>
                  <a:gd name="T45" fmla="*/ 2 h 51"/>
                  <a:gd name="T46" fmla="*/ 9 w 15"/>
                  <a:gd name="T47" fmla="*/ 2 h 51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15"/>
                  <a:gd name="T73" fmla="*/ 0 h 51"/>
                  <a:gd name="T74" fmla="*/ 15 w 15"/>
                  <a:gd name="T75" fmla="*/ 51 h 51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15" h="51">
                    <a:moveTo>
                      <a:pt x="9" y="2"/>
                    </a:moveTo>
                    <a:lnTo>
                      <a:pt x="13" y="0"/>
                    </a:lnTo>
                    <a:lnTo>
                      <a:pt x="15" y="7"/>
                    </a:lnTo>
                    <a:lnTo>
                      <a:pt x="15" y="11"/>
                    </a:lnTo>
                    <a:lnTo>
                      <a:pt x="15" y="16"/>
                    </a:lnTo>
                    <a:lnTo>
                      <a:pt x="13" y="22"/>
                    </a:lnTo>
                    <a:lnTo>
                      <a:pt x="13" y="29"/>
                    </a:lnTo>
                    <a:lnTo>
                      <a:pt x="13" y="33"/>
                    </a:lnTo>
                    <a:lnTo>
                      <a:pt x="11" y="40"/>
                    </a:lnTo>
                    <a:lnTo>
                      <a:pt x="11" y="44"/>
                    </a:lnTo>
                    <a:lnTo>
                      <a:pt x="9" y="49"/>
                    </a:lnTo>
                    <a:lnTo>
                      <a:pt x="6" y="51"/>
                    </a:lnTo>
                    <a:lnTo>
                      <a:pt x="4" y="51"/>
                    </a:lnTo>
                    <a:lnTo>
                      <a:pt x="0" y="51"/>
                    </a:lnTo>
                    <a:lnTo>
                      <a:pt x="0" y="49"/>
                    </a:lnTo>
                    <a:lnTo>
                      <a:pt x="0" y="42"/>
                    </a:lnTo>
                    <a:lnTo>
                      <a:pt x="0" y="35"/>
                    </a:lnTo>
                    <a:lnTo>
                      <a:pt x="0" y="29"/>
                    </a:lnTo>
                    <a:lnTo>
                      <a:pt x="0" y="24"/>
                    </a:lnTo>
                    <a:lnTo>
                      <a:pt x="0" y="16"/>
                    </a:lnTo>
                    <a:lnTo>
                      <a:pt x="4" y="11"/>
                    </a:lnTo>
                    <a:lnTo>
                      <a:pt x="4" y="7"/>
                    </a:lnTo>
                    <a:lnTo>
                      <a:pt x="9" y="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1" name="Freeform 13"/>
              <p:cNvSpPr>
                <a:spLocks/>
              </p:cNvSpPr>
              <p:nvPr/>
            </p:nvSpPr>
            <p:spPr bwMode="auto">
              <a:xfrm>
                <a:off x="2959" y="638"/>
                <a:ext cx="25" cy="47"/>
              </a:xfrm>
              <a:custGeom>
                <a:avLst/>
                <a:gdLst>
                  <a:gd name="T0" fmla="*/ 16 w 25"/>
                  <a:gd name="T1" fmla="*/ 0 h 47"/>
                  <a:gd name="T2" fmla="*/ 20 w 25"/>
                  <a:gd name="T3" fmla="*/ 0 h 47"/>
                  <a:gd name="T4" fmla="*/ 23 w 25"/>
                  <a:gd name="T5" fmla="*/ 0 h 47"/>
                  <a:gd name="T6" fmla="*/ 25 w 25"/>
                  <a:gd name="T7" fmla="*/ 2 h 47"/>
                  <a:gd name="T8" fmla="*/ 25 w 25"/>
                  <a:gd name="T9" fmla="*/ 7 h 47"/>
                  <a:gd name="T10" fmla="*/ 23 w 25"/>
                  <a:gd name="T11" fmla="*/ 9 h 47"/>
                  <a:gd name="T12" fmla="*/ 20 w 25"/>
                  <a:gd name="T13" fmla="*/ 16 h 47"/>
                  <a:gd name="T14" fmla="*/ 20 w 25"/>
                  <a:gd name="T15" fmla="*/ 20 h 47"/>
                  <a:gd name="T16" fmla="*/ 18 w 25"/>
                  <a:gd name="T17" fmla="*/ 27 h 47"/>
                  <a:gd name="T18" fmla="*/ 16 w 25"/>
                  <a:gd name="T19" fmla="*/ 31 h 47"/>
                  <a:gd name="T20" fmla="*/ 14 w 25"/>
                  <a:gd name="T21" fmla="*/ 38 h 47"/>
                  <a:gd name="T22" fmla="*/ 12 w 25"/>
                  <a:gd name="T23" fmla="*/ 40 h 47"/>
                  <a:gd name="T24" fmla="*/ 9 w 25"/>
                  <a:gd name="T25" fmla="*/ 44 h 47"/>
                  <a:gd name="T26" fmla="*/ 5 w 25"/>
                  <a:gd name="T27" fmla="*/ 47 h 47"/>
                  <a:gd name="T28" fmla="*/ 3 w 25"/>
                  <a:gd name="T29" fmla="*/ 47 h 47"/>
                  <a:gd name="T30" fmla="*/ 0 w 25"/>
                  <a:gd name="T31" fmla="*/ 44 h 47"/>
                  <a:gd name="T32" fmla="*/ 0 w 25"/>
                  <a:gd name="T33" fmla="*/ 40 h 47"/>
                  <a:gd name="T34" fmla="*/ 0 w 25"/>
                  <a:gd name="T35" fmla="*/ 36 h 47"/>
                  <a:gd name="T36" fmla="*/ 0 w 25"/>
                  <a:gd name="T37" fmla="*/ 31 h 47"/>
                  <a:gd name="T38" fmla="*/ 3 w 25"/>
                  <a:gd name="T39" fmla="*/ 24 h 47"/>
                  <a:gd name="T40" fmla="*/ 5 w 25"/>
                  <a:gd name="T41" fmla="*/ 20 h 47"/>
                  <a:gd name="T42" fmla="*/ 7 w 25"/>
                  <a:gd name="T43" fmla="*/ 13 h 47"/>
                  <a:gd name="T44" fmla="*/ 12 w 25"/>
                  <a:gd name="T45" fmla="*/ 7 h 47"/>
                  <a:gd name="T46" fmla="*/ 14 w 25"/>
                  <a:gd name="T47" fmla="*/ 2 h 47"/>
                  <a:gd name="T48" fmla="*/ 16 w 25"/>
                  <a:gd name="T49" fmla="*/ 0 h 47"/>
                  <a:gd name="T50" fmla="*/ 16 w 25"/>
                  <a:gd name="T51" fmla="*/ 0 h 47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w 25"/>
                  <a:gd name="T79" fmla="*/ 0 h 47"/>
                  <a:gd name="T80" fmla="*/ 25 w 25"/>
                  <a:gd name="T81" fmla="*/ 47 h 47"/>
                </a:gdLst>
                <a:ahLst/>
                <a:cxnLst>
                  <a:cxn ang="T52">
                    <a:pos x="T0" y="T1"/>
                  </a:cxn>
                  <a:cxn ang="T53">
                    <a:pos x="T2" y="T3"/>
                  </a:cxn>
                  <a:cxn ang="T54">
                    <a:pos x="T4" y="T5"/>
                  </a:cxn>
                  <a:cxn ang="T55">
                    <a:pos x="T6" y="T7"/>
                  </a:cxn>
                  <a:cxn ang="T56">
                    <a:pos x="T8" y="T9"/>
                  </a:cxn>
                  <a:cxn ang="T57">
                    <a:pos x="T10" y="T11"/>
                  </a:cxn>
                  <a:cxn ang="T58">
                    <a:pos x="T12" y="T13"/>
                  </a:cxn>
                  <a:cxn ang="T59">
                    <a:pos x="T14" y="T15"/>
                  </a:cxn>
                  <a:cxn ang="T60">
                    <a:pos x="T16" y="T17"/>
                  </a:cxn>
                  <a:cxn ang="T61">
                    <a:pos x="T18" y="T19"/>
                  </a:cxn>
                  <a:cxn ang="T62">
                    <a:pos x="T20" y="T21"/>
                  </a:cxn>
                  <a:cxn ang="T63">
                    <a:pos x="T22" y="T23"/>
                  </a:cxn>
                  <a:cxn ang="T64">
                    <a:pos x="T24" y="T25"/>
                  </a:cxn>
                  <a:cxn ang="T65">
                    <a:pos x="T26" y="T27"/>
                  </a:cxn>
                  <a:cxn ang="T66">
                    <a:pos x="T28" y="T29"/>
                  </a:cxn>
                  <a:cxn ang="T67">
                    <a:pos x="T30" y="T31"/>
                  </a:cxn>
                  <a:cxn ang="T68">
                    <a:pos x="T32" y="T33"/>
                  </a:cxn>
                  <a:cxn ang="T69">
                    <a:pos x="T34" y="T35"/>
                  </a:cxn>
                  <a:cxn ang="T70">
                    <a:pos x="T36" y="T37"/>
                  </a:cxn>
                  <a:cxn ang="T71">
                    <a:pos x="T38" y="T39"/>
                  </a:cxn>
                  <a:cxn ang="T72">
                    <a:pos x="T40" y="T41"/>
                  </a:cxn>
                  <a:cxn ang="T73">
                    <a:pos x="T42" y="T43"/>
                  </a:cxn>
                  <a:cxn ang="T74">
                    <a:pos x="T44" y="T45"/>
                  </a:cxn>
                  <a:cxn ang="T75">
                    <a:pos x="T46" y="T47"/>
                  </a:cxn>
                  <a:cxn ang="T76">
                    <a:pos x="T48" y="T49"/>
                  </a:cxn>
                  <a:cxn ang="T77">
                    <a:pos x="T50" y="T51"/>
                  </a:cxn>
                </a:cxnLst>
                <a:rect l="T78" t="T79" r="T80" b="T81"/>
                <a:pathLst>
                  <a:path w="25" h="47">
                    <a:moveTo>
                      <a:pt x="16" y="0"/>
                    </a:moveTo>
                    <a:lnTo>
                      <a:pt x="20" y="0"/>
                    </a:lnTo>
                    <a:lnTo>
                      <a:pt x="23" y="0"/>
                    </a:lnTo>
                    <a:lnTo>
                      <a:pt x="25" y="2"/>
                    </a:lnTo>
                    <a:lnTo>
                      <a:pt x="25" y="7"/>
                    </a:lnTo>
                    <a:lnTo>
                      <a:pt x="23" y="9"/>
                    </a:lnTo>
                    <a:lnTo>
                      <a:pt x="20" y="16"/>
                    </a:lnTo>
                    <a:lnTo>
                      <a:pt x="20" y="20"/>
                    </a:lnTo>
                    <a:lnTo>
                      <a:pt x="18" y="27"/>
                    </a:lnTo>
                    <a:lnTo>
                      <a:pt x="16" y="31"/>
                    </a:lnTo>
                    <a:lnTo>
                      <a:pt x="14" y="38"/>
                    </a:lnTo>
                    <a:lnTo>
                      <a:pt x="12" y="40"/>
                    </a:lnTo>
                    <a:lnTo>
                      <a:pt x="9" y="44"/>
                    </a:lnTo>
                    <a:lnTo>
                      <a:pt x="5" y="47"/>
                    </a:lnTo>
                    <a:lnTo>
                      <a:pt x="3" y="47"/>
                    </a:lnTo>
                    <a:lnTo>
                      <a:pt x="0" y="44"/>
                    </a:lnTo>
                    <a:lnTo>
                      <a:pt x="0" y="40"/>
                    </a:lnTo>
                    <a:lnTo>
                      <a:pt x="0" y="36"/>
                    </a:lnTo>
                    <a:lnTo>
                      <a:pt x="0" y="31"/>
                    </a:lnTo>
                    <a:lnTo>
                      <a:pt x="3" y="24"/>
                    </a:lnTo>
                    <a:lnTo>
                      <a:pt x="5" y="20"/>
                    </a:lnTo>
                    <a:lnTo>
                      <a:pt x="7" y="13"/>
                    </a:lnTo>
                    <a:lnTo>
                      <a:pt x="12" y="7"/>
                    </a:lnTo>
                    <a:lnTo>
                      <a:pt x="14" y="2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2" name="Freeform 14"/>
              <p:cNvSpPr>
                <a:spLocks/>
              </p:cNvSpPr>
              <p:nvPr/>
            </p:nvSpPr>
            <p:spPr bwMode="auto">
              <a:xfrm>
                <a:off x="2855" y="638"/>
                <a:ext cx="22" cy="40"/>
              </a:xfrm>
              <a:custGeom>
                <a:avLst/>
                <a:gdLst>
                  <a:gd name="T0" fmla="*/ 7 w 22"/>
                  <a:gd name="T1" fmla="*/ 0 h 40"/>
                  <a:gd name="T2" fmla="*/ 14 w 22"/>
                  <a:gd name="T3" fmla="*/ 7 h 40"/>
                  <a:gd name="T4" fmla="*/ 20 w 22"/>
                  <a:gd name="T5" fmla="*/ 18 h 40"/>
                  <a:gd name="T6" fmla="*/ 20 w 22"/>
                  <a:gd name="T7" fmla="*/ 22 h 40"/>
                  <a:gd name="T8" fmla="*/ 22 w 22"/>
                  <a:gd name="T9" fmla="*/ 27 h 40"/>
                  <a:gd name="T10" fmla="*/ 22 w 22"/>
                  <a:gd name="T11" fmla="*/ 31 h 40"/>
                  <a:gd name="T12" fmla="*/ 22 w 22"/>
                  <a:gd name="T13" fmla="*/ 38 h 40"/>
                  <a:gd name="T14" fmla="*/ 20 w 22"/>
                  <a:gd name="T15" fmla="*/ 40 h 40"/>
                  <a:gd name="T16" fmla="*/ 14 w 22"/>
                  <a:gd name="T17" fmla="*/ 38 h 40"/>
                  <a:gd name="T18" fmla="*/ 9 w 22"/>
                  <a:gd name="T19" fmla="*/ 31 h 40"/>
                  <a:gd name="T20" fmla="*/ 5 w 22"/>
                  <a:gd name="T21" fmla="*/ 24 h 40"/>
                  <a:gd name="T22" fmla="*/ 2 w 22"/>
                  <a:gd name="T23" fmla="*/ 16 h 40"/>
                  <a:gd name="T24" fmla="*/ 0 w 22"/>
                  <a:gd name="T25" fmla="*/ 7 h 40"/>
                  <a:gd name="T26" fmla="*/ 2 w 22"/>
                  <a:gd name="T27" fmla="*/ 2 h 40"/>
                  <a:gd name="T28" fmla="*/ 7 w 22"/>
                  <a:gd name="T29" fmla="*/ 0 h 40"/>
                  <a:gd name="T30" fmla="*/ 7 w 22"/>
                  <a:gd name="T31" fmla="*/ 0 h 40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2"/>
                  <a:gd name="T49" fmla="*/ 0 h 40"/>
                  <a:gd name="T50" fmla="*/ 22 w 22"/>
                  <a:gd name="T51" fmla="*/ 40 h 40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2" h="40">
                    <a:moveTo>
                      <a:pt x="7" y="0"/>
                    </a:moveTo>
                    <a:lnTo>
                      <a:pt x="14" y="7"/>
                    </a:lnTo>
                    <a:lnTo>
                      <a:pt x="20" y="18"/>
                    </a:lnTo>
                    <a:lnTo>
                      <a:pt x="20" y="22"/>
                    </a:lnTo>
                    <a:lnTo>
                      <a:pt x="22" y="27"/>
                    </a:lnTo>
                    <a:lnTo>
                      <a:pt x="22" y="31"/>
                    </a:lnTo>
                    <a:lnTo>
                      <a:pt x="22" y="38"/>
                    </a:lnTo>
                    <a:lnTo>
                      <a:pt x="20" y="40"/>
                    </a:lnTo>
                    <a:lnTo>
                      <a:pt x="14" y="38"/>
                    </a:lnTo>
                    <a:lnTo>
                      <a:pt x="9" y="31"/>
                    </a:lnTo>
                    <a:lnTo>
                      <a:pt x="5" y="24"/>
                    </a:lnTo>
                    <a:lnTo>
                      <a:pt x="2" y="16"/>
                    </a:lnTo>
                    <a:lnTo>
                      <a:pt x="0" y="7"/>
                    </a:lnTo>
                    <a:lnTo>
                      <a:pt x="2" y="2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3" name="Freeform 15"/>
              <p:cNvSpPr>
                <a:spLocks/>
              </p:cNvSpPr>
              <p:nvPr/>
            </p:nvSpPr>
            <p:spPr bwMode="auto">
              <a:xfrm>
                <a:off x="2993" y="667"/>
                <a:ext cx="33" cy="42"/>
              </a:xfrm>
              <a:custGeom>
                <a:avLst/>
                <a:gdLst>
                  <a:gd name="T0" fmla="*/ 22 w 33"/>
                  <a:gd name="T1" fmla="*/ 2 h 42"/>
                  <a:gd name="T2" fmla="*/ 26 w 33"/>
                  <a:gd name="T3" fmla="*/ 0 h 42"/>
                  <a:gd name="T4" fmla="*/ 31 w 33"/>
                  <a:gd name="T5" fmla="*/ 0 h 42"/>
                  <a:gd name="T6" fmla="*/ 33 w 33"/>
                  <a:gd name="T7" fmla="*/ 2 h 42"/>
                  <a:gd name="T8" fmla="*/ 33 w 33"/>
                  <a:gd name="T9" fmla="*/ 9 h 42"/>
                  <a:gd name="T10" fmla="*/ 26 w 33"/>
                  <a:gd name="T11" fmla="*/ 15 h 42"/>
                  <a:gd name="T12" fmla="*/ 20 w 33"/>
                  <a:gd name="T13" fmla="*/ 24 h 42"/>
                  <a:gd name="T14" fmla="*/ 15 w 33"/>
                  <a:gd name="T15" fmla="*/ 29 h 42"/>
                  <a:gd name="T16" fmla="*/ 13 w 33"/>
                  <a:gd name="T17" fmla="*/ 33 h 42"/>
                  <a:gd name="T18" fmla="*/ 9 w 33"/>
                  <a:gd name="T19" fmla="*/ 38 h 42"/>
                  <a:gd name="T20" fmla="*/ 6 w 33"/>
                  <a:gd name="T21" fmla="*/ 42 h 42"/>
                  <a:gd name="T22" fmla="*/ 0 w 33"/>
                  <a:gd name="T23" fmla="*/ 40 h 42"/>
                  <a:gd name="T24" fmla="*/ 0 w 33"/>
                  <a:gd name="T25" fmla="*/ 38 h 42"/>
                  <a:gd name="T26" fmla="*/ 0 w 33"/>
                  <a:gd name="T27" fmla="*/ 33 h 42"/>
                  <a:gd name="T28" fmla="*/ 0 w 33"/>
                  <a:gd name="T29" fmla="*/ 33 h 42"/>
                  <a:gd name="T30" fmla="*/ 4 w 33"/>
                  <a:gd name="T31" fmla="*/ 24 h 42"/>
                  <a:gd name="T32" fmla="*/ 11 w 33"/>
                  <a:gd name="T33" fmla="*/ 15 h 42"/>
                  <a:gd name="T34" fmla="*/ 15 w 33"/>
                  <a:gd name="T35" fmla="*/ 9 h 42"/>
                  <a:gd name="T36" fmla="*/ 22 w 33"/>
                  <a:gd name="T37" fmla="*/ 2 h 42"/>
                  <a:gd name="T38" fmla="*/ 22 w 33"/>
                  <a:gd name="T39" fmla="*/ 2 h 42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33"/>
                  <a:gd name="T61" fmla="*/ 0 h 42"/>
                  <a:gd name="T62" fmla="*/ 33 w 33"/>
                  <a:gd name="T63" fmla="*/ 42 h 42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33" h="42">
                    <a:moveTo>
                      <a:pt x="22" y="2"/>
                    </a:moveTo>
                    <a:lnTo>
                      <a:pt x="26" y="0"/>
                    </a:lnTo>
                    <a:lnTo>
                      <a:pt x="31" y="0"/>
                    </a:lnTo>
                    <a:lnTo>
                      <a:pt x="33" y="2"/>
                    </a:lnTo>
                    <a:lnTo>
                      <a:pt x="33" y="9"/>
                    </a:lnTo>
                    <a:lnTo>
                      <a:pt x="26" y="15"/>
                    </a:lnTo>
                    <a:lnTo>
                      <a:pt x="20" y="24"/>
                    </a:lnTo>
                    <a:lnTo>
                      <a:pt x="15" y="29"/>
                    </a:lnTo>
                    <a:lnTo>
                      <a:pt x="13" y="33"/>
                    </a:lnTo>
                    <a:lnTo>
                      <a:pt x="9" y="38"/>
                    </a:lnTo>
                    <a:lnTo>
                      <a:pt x="6" y="42"/>
                    </a:lnTo>
                    <a:lnTo>
                      <a:pt x="0" y="40"/>
                    </a:lnTo>
                    <a:lnTo>
                      <a:pt x="0" y="38"/>
                    </a:lnTo>
                    <a:lnTo>
                      <a:pt x="0" y="33"/>
                    </a:lnTo>
                    <a:lnTo>
                      <a:pt x="4" y="24"/>
                    </a:lnTo>
                    <a:lnTo>
                      <a:pt x="11" y="15"/>
                    </a:lnTo>
                    <a:lnTo>
                      <a:pt x="15" y="9"/>
                    </a:lnTo>
                    <a:lnTo>
                      <a:pt x="22" y="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4" name="Freeform 16"/>
              <p:cNvSpPr>
                <a:spLocks/>
              </p:cNvSpPr>
              <p:nvPr/>
            </p:nvSpPr>
            <p:spPr bwMode="auto">
              <a:xfrm>
                <a:off x="2791" y="669"/>
                <a:ext cx="33" cy="27"/>
              </a:xfrm>
              <a:custGeom>
                <a:avLst/>
                <a:gdLst>
                  <a:gd name="T0" fmla="*/ 4 w 33"/>
                  <a:gd name="T1" fmla="*/ 0 h 27"/>
                  <a:gd name="T2" fmla="*/ 13 w 33"/>
                  <a:gd name="T3" fmla="*/ 5 h 27"/>
                  <a:gd name="T4" fmla="*/ 22 w 33"/>
                  <a:gd name="T5" fmla="*/ 9 h 27"/>
                  <a:gd name="T6" fmla="*/ 29 w 33"/>
                  <a:gd name="T7" fmla="*/ 13 h 27"/>
                  <a:gd name="T8" fmla="*/ 33 w 33"/>
                  <a:gd name="T9" fmla="*/ 22 h 27"/>
                  <a:gd name="T10" fmla="*/ 33 w 33"/>
                  <a:gd name="T11" fmla="*/ 27 h 27"/>
                  <a:gd name="T12" fmla="*/ 27 w 33"/>
                  <a:gd name="T13" fmla="*/ 27 h 27"/>
                  <a:gd name="T14" fmla="*/ 18 w 33"/>
                  <a:gd name="T15" fmla="*/ 22 h 27"/>
                  <a:gd name="T16" fmla="*/ 11 w 33"/>
                  <a:gd name="T17" fmla="*/ 18 h 27"/>
                  <a:gd name="T18" fmla="*/ 4 w 33"/>
                  <a:gd name="T19" fmla="*/ 13 h 27"/>
                  <a:gd name="T20" fmla="*/ 0 w 33"/>
                  <a:gd name="T21" fmla="*/ 9 h 27"/>
                  <a:gd name="T22" fmla="*/ 0 w 33"/>
                  <a:gd name="T23" fmla="*/ 0 h 27"/>
                  <a:gd name="T24" fmla="*/ 4 w 33"/>
                  <a:gd name="T25" fmla="*/ 0 h 27"/>
                  <a:gd name="T26" fmla="*/ 4 w 33"/>
                  <a:gd name="T27" fmla="*/ 0 h 27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w 33"/>
                  <a:gd name="T43" fmla="*/ 0 h 27"/>
                  <a:gd name="T44" fmla="*/ 33 w 33"/>
                  <a:gd name="T45" fmla="*/ 27 h 27"/>
                </a:gdLst>
                <a:ahLst/>
                <a:cxnLst>
                  <a:cxn ang="T28">
                    <a:pos x="T0" y="T1"/>
                  </a:cxn>
                  <a:cxn ang="T29">
                    <a:pos x="T2" y="T3"/>
                  </a:cxn>
                  <a:cxn ang="T30">
                    <a:pos x="T4" y="T5"/>
                  </a:cxn>
                  <a:cxn ang="T31">
                    <a:pos x="T6" y="T7"/>
                  </a:cxn>
                  <a:cxn ang="T32">
                    <a:pos x="T8" y="T9"/>
                  </a:cxn>
                  <a:cxn ang="T33">
                    <a:pos x="T10" y="T11"/>
                  </a:cxn>
                  <a:cxn ang="T34">
                    <a:pos x="T12" y="T13"/>
                  </a:cxn>
                  <a:cxn ang="T35">
                    <a:pos x="T14" y="T15"/>
                  </a:cxn>
                  <a:cxn ang="T36">
                    <a:pos x="T16" y="T17"/>
                  </a:cxn>
                  <a:cxn ang="T37">
                    <a:pos x="T18" y="T19"/>
                  </a:cxn>
                  <a:cxn ang="T38">
                    <a:pos x="T20" y="T21"/>
                  </a:cxn>
                  <a:cxn ang="T39">
                    <a:pos x="T22" y="T23"/>
                  </a:cxn>
                  <a:cxn ang="T40">
                    <a:pos x="T24" y="T25"/>
                  </a:cxn>
                  <a:cxn ang="T41">
                    <a:pos x="T26" y="T27"/>
                  </a:cxn>
                </a:cxnLst>
                <a:rect l="T42" t="T43" r="T44" b="T45"/>
                <a:pathLst>
                  <a:path w="33" h="27">
                    <a:moveTo>
                      <a:pt x="4" y="0"/>
                    </a:moveTo>
                    <a:lnTo>
                      <a:pt x="13" y="5"/>
                    </a:lnTo>
                    <a:lnTo>
                      <a:pt x="22" y="9"/>
                    </a:lnTo>
                    <a:lnTo>
                      <a:pt x="29" y="13"/>
                    </a:lnTo>
                    <a:lnTo>
                      <a:pt x="33" y="22"/>
                    </a:lnTo>
                    <a:lnTo>
                      <a:pt x="33" y="27"/>
                    </a:lnTo>
                    <a:lnTo>
                      <a:pt x="27" y="27"/>
                    </a:lnTo>
                    <a:lnTo>
                      <a:pt x="18" y="22"/>
                    </a:lnTo>
                    <a:lnTo>
                      <a:pt x="11" y="18"/>
                    </a:lnTo>
                    <a:lnTo>
                      <a:pt x="4" y="13"/>
                    </a:lnTo>
                    <a:lnTo>
                      <a:pt x="0" y="9"/>
                    </a:lnTo>
                    <a:lnTo>
                      <a:pt x="0" y="0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5" name="Freeform 17"/>
              <p:cNvSpPr>
                <a:spLocks/>
              </p:cNvSpPr>
              <p:nvPr/>
            </p:nvSpPr>
            <p:spPr bwMode="auto">
              <a:xfrm>
                <a:off x="3008" y="702"/>
                <a:ext cx="49" cy="31"/>
              </a:xfrm>
              <a:custGeom>
                <a:avLst/>
                <a:gdLst>
                  <a:gd name="T0" fmla="*/ 45 w 49"/>
                  <a:gd name="T1" fmla="*/ 0 h 31"/>
                  <a:gd name="T2" fmla="*/ 47 w 49"/>
                  <a:gd name="T3" fmla="*/ 5 h 31"/>
                  <a:gd name="T4" fmla="*/ 49 w 49"/>
                  <a:gd name="T5" fmla="*/ 9 h 31"/>
                  <a:gd name="T6" fmla="*/ 42 w 49"/>
                  <a:gd name="T7" fmla="*/ 14 h 31"/>
                  <a:gd name="T8" fmla="*/ 38 w 49"/>
                  <a:gd name="T9" fmla="*/ 18 h 31"/>
                  <a:gd name="T10" fmla="*/ 33 w 49"/>
                  <a:gd name="T11" fmla="*/ 23 h 31"/>
                  <a:gd name="T12" fmla="*/ 27 w 49"/>
                  <a:gd name="T13" fmla="*/ 27 h 31"/>
                  <a:gd name="T14" fmla="*/ 20 w 49"/>
                  <a:gd name="T15" fmla="*/ 29 h 31"/>
                  <a:gd name="T16" fmla="*/ 13 w 49"/>
                  <a:gd name="T17" fmla="*/ 31 h 31"/>
                  <a:gd name="T18" fmla="*/ 9 w 49"/>
                  <a:gd name="T19" fmla="*/ 31 h 31"/>
                  <a:gd name="T20" fmla="*/ 5 w 49"/>
                  <a:gd name="T21" fmla="*/ 31 h 31"/>
                  <a:gd name="T22" fmla="*/ 0 w 49"/>
                  <a:gd name="T23" fmla="*/ 27 h 31"/>
                  <a:gd name="T24" fmla="*/ 2 w 49"/>
                  <a:gd name="T25" fmla="*/ 25 h 31"/>
                  <a:gd name="T26" fmla="*/ 5 w 49"/>
                  <a:gd name="T27" fmla="*/ 18 h 31"/>
                  <a:gd name="T28" fmla="*/ 9 w 49"/>
                  <a:gd name="T29" fmla="*/ 16 h 31"/>
                  <a:gd name="T30" fmla="*/ 16 w 49"/>
                  <a:gd name="T31" fmla="*/ 14 h 31"/>
                  <a:gd name="T32" fmla="*/ 22 w 49"/>
                  <a:gd name="T33" fmla="*/ 9 h 31"/>
                  <a:gd name="T34" fmla="*/ 27 w 49"/>
                  <a:gd name="T35" fmla="*/ 7 h 31"/>
                  <a:gd name="T36" fmla="*/ 33 w 49"/>
                  <a:gd name="T37" fmla="*/ 5 h 31"/>
                  <a:gd name="T38" fmla="*/ 38 w 49"/>
                  <a:gd name="T39" fmla="*/ 3 h 31"/>
                  <a:gd name="T40" fmla="*/ 45 w 49"/>
                  <a:gd name="T41" fmla="*/ 0 h 31"/>
                  <a:gd name="T42" fmla="*/ 45 w 49"/>
                  <a:gd name="T43" fmla="*/ 0 h 3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49"/>
                  <a:gd name="T67" fmla="*/ 0 h 31"/>
                  <a:gd name="T68" fmla="*/ 49 w 49"/>
                  <a:gd name="T69" fmla="*/ 31 h 31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49" h="31">
                    <a:moveTo>
                      <a:pt x="45" y="0"/>
                    </a:moveTo>
                    <a:lnTo>
                      <a:pt x="47" y="5"/>
                    </a:lnTo>
                    <a:lnTo>
                      <a:pt x="49" y="9"/>
                    </a:lnTo>
                    <a:lnTo>
                      <a:pt x="42" y="14"/>
                    </a:lnTo>
                    <a:lnTo>
                      <a:pt x="38" y="18"/>
                    </a:lnTo>
                    <a:lnTo>
                      <a:pt x="33" y="23"/>
                    </a:lnTo>
                    <a:lnTo>
                      <a:pt x="27" y="27"/>
                    </a:lnTo>
                    <a:lnTo>
                      <a:pt x="20" y="29"/>
                    </a:lnTo>
                    <a:lnTo>
                      <a:pt x="13" y="31"/>
                    </a:lnTo>
                    <a:lnTo>
                      <a:pt x="9" y="31"/>
                    </a:lnTo>
                    <a:lnTo>
                      <a:pt x="5" y="31"/>
                    </a:lnTo>
                    <a:lnTo>
                      <a:pt x="0" y="27"/>
                    </a:lnTo>
                    <a:lnTo>
                      <a:pt x="2" y="25"/>
                    </a:lnTo>
                    <a:lnTo>
                      <a:pt x="5" y="18"/>
                    </a:lnTo>
                    <a:lnTo>
                      <a:pt x="9" y="16"/>
                    </a:lnTo>
                    <a:lnTo>
                      <a:pt x="16" y="14"/>
                    </a:lnTo>
                    <a:lnTo>
                      <a:pt x="22" y="9"/>
                    </a:lnTo>
                    <a:lnTo>
                      <a:pt x="27" y="7"/>
                    </a:lnTo>
                    <a:lnTo>
                      <a:pt x="33" y="5"/>
                    </a:lnTo>
                    <a:lnTo>
                      <a:pt x="38" y="3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6" name="Freeform 18"/>
              <p:cNvSpPr>
                <a:spLocks/>
              </p:cNvSpPr>
              <p:nvPr/>
            </p:nvSpPr>
            <p:spPr bwMode="auto">
              <a:xfrm>
                <a:off x="2742" y="713"/>
                <a:ext cx="47" cy="14"/>
              </a:xfrm>
              <a:custGeom>
                <a:avLst/>
                <a:gdLst>
                  <a:gd name="T0" fmla="*/ 16 w 47"/>
                  <a:gd name="T1" fmla="*/ 0 h 14"/>
                  <a:gd name="T2" fmla="*/ 20 w 47"/>
                  <a:gd name="T3" fmla="*/ 0 h 14"/>
                  <a:gd name="T4" fmla="*/ 27 w 47"/>
                  <a:gd name="T5" fmla="*/ 3 h 14"/>
                  <a:gd name="T6" fmla="*/ 33 w 47"/>
                  <a:gd name="T7" fmla="*/ 3 h 14"/>
                  <a:gd name="T8" fmla="*/ 38 w 47"/>
                  <a:gd name="T9" fmla="*/ 3 h 14"/>
                  <a:gd name="T10" fmla="*/ 42 w 47"/>
                  <a:gd name="T11" fmla="*/ 5 h 14"/>
                  <a:gd name="T12" fmla="*/ 47 w 47"/>
                  <a:gd name="T13" fmla="*/ 7 h 14"/>
                  <a:gd name="T14" fmla="*/ 47 w 47"/>
                  <a:gd name="T15" fmla="*/ 12 h 14"/>
                  <a:gd name="T16" fmla="*/ 42 w 47"/>
                  <a:gd name="T17" fmla="*/ 14 h 14"/>
                  <a:gd name="T18" fmla="*/ 38 w 47"/>
                  <a:gd name="T19" fmla="*/ 14 h 14"/>
                  <a:gd name="T20" fmla="*/ 33 w 47"/>
                  <a:gd name="T21" fmla="*/ 14 h 14"/>
                  <a:gd name="T22" fmla="*/ 29 w 47"/>
                  <a:gd name="T23" fmla="*/ 14 h 14"/>
                  <a:gd name="T24" fmla="*/ 25 w 47"/>
                  <a:gd name="T25" fmla="*/ 14 h 14"/>
                  <a:gd name="T26" fmla="*/ 18 w 47"/>
                  <a:gd name="T27" fmla="*/ 14 h 14"/>
                  <a:gd name="T28" fmla="*/ 14 w 47"/>
                  <a:gd name="T29" fmla="*/ 14 h 14"/>
                  <a:gd name="T30" fmla="*/ 9 w 47"/>
                  <a:gd name="T31" fmla="*/ 12 h 14"/>
                  <a:gd name="T32" fmla="*/ 2 w 47"/>
                  <a:gd name="T33" fmla="*/ 12 h 14"/>
                  <a:gd name="T34" fmla="*/ 0 w 47"/>
                  <a:gd name="T35" fmla="*/ 7 h 14"/>
                  <a:gd name="T36" fmla="*/ 2 w 47"/>
                  <a:gd name="T37" fmla="*/ 5 h 14"/>
                  <a:gd name="T38" fmla="*/ 2 w 47"/>
                  <a:gd name="T39" fmla="*/ 3 h 14"/>
                  <a:gd name="T40" fmla="*/ 7 w 47"/>
                  <a:gd name="T41" fmla="*/ 0 h 14"/>
                  <a:gd name="T42" fmla="*/ 9 w 47"/>
                  <a:gd name="T43" fmla="*/ 0 h 14"/>
                  <a:gd name="T44" fmla="*/ 16 w 47"/>
                  <a:gd name="T45" fmla="*/ 0 h 14"/>
                  <a:gd name="T46" fmla="*/ 16 w 47"/>
                  <a:gd name="T47" fmla="*/ 0 h 1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47"/>
                  <a:gd name="T73" fmla="*/ 0 h 14"/>
                  <a:gd name="T74" fmla="*/ 47 w 47"/>
                  <a:gd name="T75" fmla="*/ 14 h 1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47" h="14">
                    <a:moveTo>
                      <a:pt x="16" y="0"/>
                    </a:moveTo>
                    <a:lnTo>
                      <a:pt x="20" y="0"/>
                    </a:lnTo>
                    <a:lnTo>
                      <a:pt x="27" y="3"/>
                    </a:lnTo>
                    <a:lnTo>
                      <a:pt x="33" y="3"/>
                    </a:lnTo>
                    <a:lnTo>
                      <a:pt x="38" y="3"/>
                    </a:lnTo>
                    <a:lnTo>
                      <a:pt x="42" y="5"/>
                    </a:lnTo>
                    <a:lnTo>
                      <a:pt x="47" y="7"/>
                    </a:lnTo>
                    <a:lnTo>
                      <a:pt x="47" y="12"/>
                    </a:lnTo>
                    <a:lnTo>
                      <a:pt x="42" y="14"/>
                    </a:lnTo>
                    <a:lnTo>
                      <a:pt x="38" y="14"/>
                    </a:lnTo>
                    <a:lnTo>
                      <a:pt x="33" y="14"/>
                    </a:lnTo>
                    <a:lnTo>
                      <a:pt x="29" y="14"/>
                    </a:lnTo>
                    <a:lnTo>
                      <a:pt x="25" y="14"/>
                    </a:lnTo>
                    <a:lnTo>
                      <a:pt x="18" y="14"/>
                    </a:lnTo>
                    <a:lnTo>
                      <a:pt x="14" y="14"/>
                    </a:lnTo>
                    <a:lnTo>
                      <a:pt x="9" y="12"/>
                    </a:lnTo>
                    <a:lnTo>
                      <a:pt x="2" y="12"/>
                    </a:lnTo>
                    <a:lnTo>
                      <a:pt x="0" y="7"/>
                    </a:lnTo>
                    <a:lnTo>
                      <a:pt x="2" y="5"/>
                    </a:lnTo>
                    <a:lnTo>
                      <a:pt x="2" y="3"/>
                    </a:lnTo>
                    <a:lnTo>
                      <a:pt x="7" y="0"/>
                    </a:lnTo>
                    <a:lnTo>
                      <a:pt x="9" y="0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7" name="Freeform 19"/>
              <p:cNvSpPr>
                <a:spLocks/>
              </p:cNvSpPr>
              <p:nvPr/>
            </p:nvSpPr>
            <p:spPr bwMode="auto">
              <a:xfrm>
                <a:off x="3026" y="738"/>
                <a:ext cx="51" cy="29"/>
              </a:xfrm>
              <a:custGeom>
                <a:avLst/>
                <a:gdLst>
                  <a:gd name="T0" fmla="*/ 42 w 51"/>
                  <a:gd name="T1" fmla="*/ 2 h 29"/>
                  <a:gd name="T2" fmla="*/ 49 w 51"/>
                  <a:gd name="T3" fmla="*/ 0 h 29"/>
                  <a:gd name="T4" fmla="*/ 51 w 51"/>
                  <a:gd name="T5" fmla="*/ 6 h 29"/>
                  <a:gd name="T6" fmla="*/ 46 w 51"/>
                  <a:gd name="T7" fmla="*/ 11 h 29"/>
                  <a:gd name="T8" fmla="*/ 40 w 51"/>
                  <a:gd name="T9" fmla="*/ 15 h 29"/>
                  <a:gd name="T10" fmla="*/ 35 w 51"/>
                  <a:gd name="T11" fmla="*/ 20 h 29"/>
                  <a:gd name="T12" fmla="*/ 29 w 51"/>
                  <a:gd name="T13" fmla="*/ 22 h 29"/>
                  <a:gd name="T14" fmla="*/ 20 w 51"/>
                  <a:gd name="T15" fmla="*/ 24 h 29"/>
                  <a:gd name="T16" fmla="*/ 13 w 51"/>
                  <a:gd name="T17" fmla="*/ 29 h 29"/>
                  <a:gd name="T18" fmla="*/ 7 w 51"/>
                  <a:gd name="T19" fmla="*/ 26 h 29"/>
                  <a:gd name="T20" fmla="*/ 0 w 51"/>
                  <a:gd name="T21" fmla="*/ 26 h 29"/>
                  <a:gd name="T22" fmla="*/ 0 w 51"/>
                  <a:gd name="T23" fmla="*/ 22 h 29"/>
                  <a:gd name="T24" fmla="*/ 4 w 51"/>
                  <a:gd name="T25" fmla="*/ 20 h 29"/>
                  <a:gd name="T26" fmla="*/ 7 w 51"/>
                  <a:gd name="T27" fmla="*/ 15 h 29"/>
                  <a:gd name="T28" fmla="*/ 13 w 51"/>
                  <a:gd name="T29" fmla="*/ 13 h 29"/>
                  <a:gd name="T30" fmla="*/ 18 w 51"/>
                  <a:gd name="T31" fmla="*/ 11 h 29"/>
                  <a:gd name="T32" fmla="*/ 22 w 51"/>
                  <a:gd name="T33" fmla="*/ 9 h 29"/>
                  <a:gd name="T34" fmla="*/ 27 w 51"/>
                  <a:gd name="T35" fmla="*/ 6 h 29"/>
                  <a:gd name="T36" fmla="*/ 33 w 51"/>
                  <a:gd name="T37" fmla="*/ 4 h 29"/>
                  <a:gd name="T38" fmla="*/ 38 w 51"/>
                  <a:gd name="T39" fmla="*/ 2 h 29"/>
                  <a:gd name="T40" fmla="*/ 42 w 51"/>
                  <a:gd name="T41" fmla="*/ 2 h 29"/>
                  <a:gd name="T42" fmla="*/ 42 w 51"/>
                  <a:gd name="T43" fmla="*/ 2 h 29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51"/>
                  <a:gd name="T67" fmla="*/ 0 h 29"/>
                  <a:gd name="T68" fmla="*/ 51 w 51"/>
                  <a:gd name="T69" fmla="*/ 29 h 29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51" h="29">
                    <a:moveTo>
                      <a:pt x="42" y="2"/>
                    </a:moveTo>
                    <a:lnTo>
                      <a:pt x="49" y="0"/>
                    </a:lnTo>
                    <a:lnTo>
                      <a:pt x="51" y="6"/>
                    </a:lnTo>
                    <a:lnTo>
                      <a:pt x="46" y="11"/>
                    </a:lnTo>
                    <a:lnTo>
                      <a:pt x="40" y="15"/>
                    </a:lnTo>
                    <a:lnTo>
                      <a:pt x="35" y="20"/>
                    </a:lnTo>
                    <a:lnTo>
                      <a:pt x="29" y="22"/>
                    </a:lnTo>
                    <a:lnTo>
                      <a:pt x="20" y="24"/>
                    </a:lnTo>
                    <a:lnTo>
                      <a:pt x="13" y="29"/>
                    </a:lnTo>
                    <a:lnTo>
                      <a:pt x="7" y="26"/>
                    </a:lnTo>
                    <a:lnTo>
                      <a:pt x="0" y="26"/>
                    </a:lnTo>
                    <a:lnTo>
                      <a:pt x="0" y="22"/>
                    </a:lnTo>
                    <a:lnTo>
                      <a:pt x="4" y="20"/>
                    </a:lnTo>
                    <a:lnTo>
                      <a:pt x="7" y="15"/>
                    </a:lnTo>
                    <a:lnTo>
                      <a:pt x="13" y="13"/>
                    </a:lnTo>
                    <a:lnTo>
                      <a:pt x="18" y="11"/>
                    </a:lnTo>
                    <a:lnTo>
                      <a:pt x="22" y="9"/>
                    </a:lnTo>
                    <a:lnTo>
                      <a:pt x="27" y="6"/>
                    </a:lnTo>
                    <a:lnTo>
                      <a:pt x="33" y="4"/>
                    </a:lnTo>
                    <a:lnTo>
                      <a:pt x="38" y="2"/>
                    </a:lnTo>
                    <a:lnTo>
                      <a:pt x="42" y="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8" name="Freeform 20"/>
              <p:cNvSpPr>
                <a:spLocks/>
              </p:cNvSpPr>
              <p:nvPr/>
            </p:nvSpPr>
            <p:spPr bwMode="auto">
              <a:xfrm>
                <a:off x="2738" y="760"/>
                <a:ext cx="33" cy="13"/>
              </a:xfrm>
              <a:custGeom>
                <a:avLst/>
                <a:gdLst>
                  <a:gd name="T0" fmla="*/ 31 w 33"/>
                  <a:gd name="T1" fmla="*/ 2 h 13"/>
                  <a:gd name="T2" fmla="*/ 33 w 33"/>
                  <a:gd name="T3" fmla="*/ 7 h 13"/>
                  <a:gd name="T4" fmla="*/ 29 w 33"/>
                  <a:gd name="T5" fmla="*/ 11 h 13"/>
                  <a:gd name="T6" fmla="*/ 22 w 33"/>
                  <a:gd name="T7" fmla="*/ 13 h 13"/>
                  <a:gd name="T8" fmla="*/ 15 w 33"/>
                  <a:gd name="T9" fmla="*/ 13 h 13"/>
                  <a:gd name="T10" fmla="*/ 6 w 33"/>
                  <a:gd name="T11" fmla="*/ 11 h 13"/>
                  <a:gd name="T12" fmla="*/ 2 w 33"/>
                  <a:gd name="T13" fmla="*/ 9 h 13"/>
                  <a:gd name="T14" fmla="*/ 0 w 33"/>
                  <a:gd name="T15" fmla="*/ 4 h 13"/>
                  <a:gd name="T16" fmla="*/ 4 w 33"/>
                  <a:gd name="T17" fmla="*/ 0 h 13"/>
                  <a:gd name="T18" fmla="*/ 9 w 33"/>
                  <a:gd name="T19" fmla="*/ 0 h 13"/>
                  <a:gd name="T20" fmla="*/ 18 w 33"/>
                  <a:gd name="T21" fmla="*/ 0 h 13"/>
                  <a:gd name="T22" fmla="*/ 24 w 33"/>
                  <a:gd name="T23" fmla="*/ 0 h 13"/>
                  <a:gd name="T24" fmla="*/ 31 w 33"/>
                  <a:gd name="T25" fmla="*/ 2 h 13"/>
                  <a:gd name="T26" fmla="*/ 31 w 33"/>
                  <a:gd name="T27" fmla="*/ 2 h 13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w 33"/>
                  <a:gd name="T43" fmla="*/ 0 h 13"/>
                  <a:gd name="T44" fmla="*/ 33 w 33"/>
                  <a:gd name="T45" fmla="*/ 13 h 13"/>
                </a:gdLst>
                <a:ahLst/>
                <a:cxnLst>
                  <a:cxn ang="T28">
                    <a:pos x="T0" y="T1"/>
                  </a:cxn>
                  <a:cxn ang="T29">
                    <a:pos x="T2" y="T3"/>
                  </a:cxn>
                  <a:cxn ang="T30">
                    <a:pos x="T4" y="T5"/>
                  </a:cxn>
                  <a:cxn ang="T31">
                    <a:pos x="T6" y="T7"/>
                  </a:cxn>
                  <a:cxn ang="T32">
                    <a:pos x="T8" y="T9"/>
                  </a:cxn>
                  <a:cxn ang="T33">
                    <a:pos x="T10" y="T11"/>
                  </a:cxn>
                  <a:cxn ang="T34">
                    <a:pos x="T12" y="T13"/>
                  </a:cxn>
                  <a:cxn ang="T35">
                    <a:pos x="T14" y="T15"/>
                  </a:cxn>
                  <a:cxn ang="T36">
                    <a:pos x="T16" y="T17"/>
                  </a:cxn>
                  <a:cxn ang="T37">
                    <a:pos x="T18" y="T19"/>
                  </a:cxn>
                  <a:cxn ang="T38">
                    <a:pos x="T20" y="T21"/>
                  </a:cxn>
                  <a:cxn ang="T39">
                    <a:pos x="T22" y="T23"/>
                  </a:cxn>
                  <a:cxn ang="T40">
                    <a:pos x="T24" y="T25"/>
                  </a:cxn>
                  <a:cxn ang="T41">
                    <a:pos x="T26" y="T27"/>
                  </a:cxn>
                </a:cxnLst>
                <a:rect l="T42" t="T43" r="T44" b="T45"/>
                <a:pathLst>
                  <a:path w="33" h="13">
                    <a:moveTo>
                      <a:pt x="31" y="2"/>
                    </a:moveTo>
                    <a:lnTo>
                      <a:pt x="33" y="7"/>
                    </a:lnTo>
                    <a:lnTo>
                      <a:pt x="29" y="11"/>
                    </a:lnTo>
                    <a:lnTo>
                      <a:pt x="22" y="13"/>
                    </a:lnTo>
                    <a:lnTo>
                      <a:pt x="15" y="13"/>
                    </a:lnTo>
                    <a:lnTo>
                      <a:pt x="6" y="11"/>
                    </a:lnTo>
                    <a:lnTo>
                      <a:pt x="2" y="9"/>
                    </a:lnTo>
                    <a:lnTo>
                      <a:pt x="0" y="4"/>
                    </a:lnTo>
                    <a:lnTo>
                      <a:pt x="4" y="0"/>
                    </a:lnTo>
                    <a:lnTo>
                      <a:pt x="9" y="0"/>
                    </a:lnTo>
                    <a:lnTo>
                      <a:pt x="18" y="0"/>
                    </a:lnTo>
                    <a:lnTo>
                      <a:pt x="24" y="0"/>
                    </a:lnTo>
                    <a:lnTo>
                      <a:pt x="31" y="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19" name="Freeform 21"/>
              <p:cNvSpPr>
                <a:spLocks/>
              </p:cNvSpPr>
              <p:nvPr/>
            </p:nvSpPr>
            <p:spPr bwMode="auto">
              <a:xfrm>
                <a:off x="2656" y="1431"/>
                <a:ext cx="538" cy="18"/>
              </a:xfrm>
              <a:custGeom>
                <a:avLst/>
                <a:gdLst>
                  <a:gd name="T0" fmla="*/ 337 w 538"/>
                  <a:gd name="T1" fmla="*/ 3 h 18"/>
                  <a:gd name="T2" fmla="*/ 354 w 538"/>
                  <a:gd name="T3" fmla="*/ 0 h 18"/>
                  <a:gd name="T4" fmla="*/ 374 w 538"/>
                  <a:gd name="T5" fmla="*/ 0 h 18"/>
                  <a:gd name="T6" fmla="*/ 397 w 538"/>
                  <a:gd name="T7" fmla="*/ 0 h 18"/>
                  <a:gd name="T8" fmla="*/ 421 w 538"/>
                  <a:gd name="T9" fmla="*/ 0 h 18"/>
                  <a:gd name="T10" fmla="*/ 443 w 538"/>
                  <a:gd name="T11" fmla="*/ 0 h 18"/>
                  <a:gd name="T12" fmla="*/ 465 w 538"/>
                  <a:gd name="T13" fmla="*/ 0 h 18"/>
                  <a:gd name="T14" fmla="*/ 485 w 538"/>
                  <a:gd name="T15" fmla="*/ 0 h 18"/>
                  <a:gd name="T16" fmla="*/ 503 w 538"/>
                  <a:gd name="T17" fmla="*/ 3 h 18"/>
                  <a:gd name="T18" fmla="*/ 514 w 538"/>
                  <a:gd name="T19" fmla="*/ 3 h 18"/>
                  <a:gd name="T20" fmla="*/ 523 w 538"/>
                  <a:gd name="T21" fmla="*/ 3 h 18"/>
                  <a:gd name="T22" fmla="*/ 530 w 538"/>
                  <a:gd name="T23" fmla="*/ 3 h 18"/>
                  <a:gd name="T24" fmla="*/ 534 w 538"/>
                  <a:gd name="T25" fmla="*/ 5 h 18"/>
                  <a:gd name="T26" fmla="*/ 538 w 538"/>
                  <a:gd name="T27" fmla="*/ 5 h 18"/>
                  <a:gd name="T28" fmla="*/ 538 w 538"/>
                  <a:gd name="T29" fmla="*/ 7 h 18"/>
                  <a:gd name="T30" fmla="*/ 534 w 538"/>
                  <a:gd name="T31" fmla="*/ 9 h 18"/>
                  <a:gd name="T32" fmla="*/ 530 w 538"/>
                  <a:gd name="T33" fmla="*/ 11 h 18"/>
                  <a:gd name="T34" fmla="*/ 487 w 538"/>
                  <a:gd name="T35" fmla="*/ 14 h 18"/>
                  <a:gd name="T36" fmla="*/ 443 w 538"/>
                  <a:gd name="T37" fmla="*/ 14 h 18"/>
                  <a:gd name="T38" fmla="*/ 399 w 538"/>
                  <a:gd name="T39" fmla="*/ 14 h 18"/>
                  <a:gd name="T40" fmla="*/ 354 w 538"/>
                  <a:gd name="T41" fmla="*/ 16 h 18"/>
                  <a:gd name="T42" fmla="*/ 308 w 538"/>
                  <a:gd name="T43" fmla="*/ 16 h 18"/>
                  <a:gd name="T44" fmla="*/ 261 w 538"/>
                  <a:gd name="T45" fmla="*/ 16 h 18"/>
                  <a:gd name="T46" fmla="*/ 213 w 538"/>
                  <a:gd name="T47" fmla="*/ 16 h 18"/>
                  <a:gd name="T48" fmla="*/ 168 w 538"/>
                  <a:gd name="T49" fmla="*/ 18 h 18"/>
                  <a:gd name="T50" fmla="*/ 153 w 538"/>
                  <a:gd name="T51" fmla="*/ 18 h 18"/>
                  <a:gd name="T52" fmla="*/ 133 w 538"/>
                  <a:gd name="T53" fmla="*/ 18 h 18"/>
                  <a:gd name="T54" fmla="*/ 113 w 538"/>
                  <a:gd name="T55" fmla="*/ 18 h 18"/>
                  <a:gd name="T56" fmla="*/ 95 w 538"/>
                  <a:gd name="T57" fmla="*/ 18 h 18"/>
                  <a:gd name="T58" fmla="*/ 73 w 538"/>
                  <a:gd name="T59" fmla="*/ 18 h 18"/>
                  <a:gd name="T60" fmla="*/ 55 w 538"/>
                  <a:gd name="T61" fmla="*/ 18 h 18"/>
                  <a:gd name="T62" fmla="*/ 37 w 538"/>
                  <a:gd name="T63" fmla="*/ 18 h 18"/>
                  <a:gd name="T64" fmla="*/ 22 w 538"/>
                  <a:gd name="T65" fmla="*/ 18 h 18"/>
                  <a:gd name="T66" fmla="*/ 13 w 538"/>
                  <a:gd name="T67" fmla="*/ 16 h 18"/>
                  <a:gd name="T68" fmla="*/ 6 w 538"/>
                  <a:gd name="T69" fmla="*/ 14 h 18"/>
                  <a:gd name="T70" fmla="*/ 2 w 538"/>
                  <a:gd name="T71" fmla="*/ 11 h 18"/>
                  <a:gd name="T72" fmla="*/ 0 w 538"/>
                  <a:gd name="T73" fmla="*/ 11 h 18"/>
                  <a:gd name="T74" fmla="*/ 0 w 538"/>
                  <a:gd name="T75" fmla="*/ 7 h 18"/>
                  <a:gd name="T76" fmla="*/ 2 w 538"/>
                  <a:gd name="T77" fmla="*/ 7 h 18"/>
                  <a:gd name="T78" fmla="*/ 4 w 538"/>
                  <a:gd name="T79" fmla="*/ 5 h 18"/>
                  <a:gd name="T80" fmla="*/ 11 w 538"/>
                  <a:gd name="T81" fmla="*/ 5 h 18"/>
                  <a:gd name="T82" fmla="*/ 33 w 538"/>
                  <a:gd name="T83" fmla="*/ 3 h 18"/>
                  <a:gd name="T84" fmla="*/ 60 w 538"/>
                  <a:gd name="T85" fmla="*/ 3 h 18"/>
                  <a:gd name="T86" fmla="*/ 86 w 538"/>
                  <a:gd name="T87" fmla="*/ 3 h 18"/>
                  <a:gd name="T88" fmla="*/ 117 w 538"/>
                  <a:gd name="T89" fmla="*/ 5 h 18"/>
                  <a:gd name="T90" fmla="*/ 144 w 538"/>
                  <a:gd name="T91" fmla="*/ 5 h 18"/>
                  <a:gd name="T92" fmla="*/ 173 w 538"/>
                  <a:gd name="T93" fmla="*/ 5 h 18"/>
                  <a:gd name="T94" fmla="*/ 195 w 538"/>
                  <a:gd name="T95" fmla="*/ 5 h 18"/>
                  <a:gd name="T96" fmla="*/ 215 w 538"/>
                  <a:gd name="T97" fmla="*/ 5 h 18"/>
                  <a:gd name="T98" fmla="*/ 230 w 538"/>
                  <a:gd name="T99" fmla="*/ 5 h 18"/>
                  <a:gd name="T100" fmla="*/ 248 w 538"/>
                  <a:gd name="T101" fmla="*/ 3 h 18"/>
                  <a:gd name="T102" fmla="*/ 264 w 538"/>
                  <a:gd name="T103" fmla="*/ 3 h 18"/>
                  <a:gd name="T104" fmla="*/ 279 w 538"/>
                  <a:gd name="T105" fmla="*/ 3 h 18"/>
                  <a:gd name="T106" fmla="*/ 295 w 538"/>
                  <a:gd name="T107" fmla="*/ 3 h 18"/>
                  <a:gd name="T108" fmla="*/ 308 w 538"/>
                  <a:gd name="T109" fmla="*/ 3 h 18"/>
                  <a:gd name="T110" fmla="*/ 323 w 538"/>
                  <a:gd name="T111" fmla="*/ 3 h 18"/>
                  <a:gd name="T112" fmla="*/ 337 w 538"/>
                  <a:gd name="T113" fmla="*/ 3 h 18"/>
                  <a:gd name="T114" fmla="*/ 337 w 538"/>
                  <a:gd name="T115" fmla="*/ 3 h 18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538"/>
                  <a:gd name="T175" fmla="*/ 0 h 18"/>
                  <a:gd name="T176" fmla="*/ 538 w 538"/>
                  <a:gd name="T177" fmla="*/ 18 h 18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538" h="18">
                    <a:moveTo>
                      <a:pt x="337" y="3"/>
                    </a:moveTo>
                    <a:lnTo>
                      <a:pt x="354" y="0"/>
                    </a:lnTo>
                    <a:lnTo>
                      <a:pt x="374" y="0"/>
                    </a:lnTo>
                    <a:lnTo>
                      <a:pt x="397" y="0"/>
                    </a:lnTo>
                    <a:lnTo>
                      <a:pt x="421" y="0"/>
                    </a:lnTo>
                    <a:lnTo>
                      <a:pt x="443" y="0"/>
                    </a:lnTo>
                    <a:lnTo>
                      <a:pt x="465" y="0"/>
                    </a:lnTo>
                    <a:lnTo>
                      <a:pt x="485" y="0"/>
                    </a:lnTo>
                    <a:lnTo>
                      <a:pt x="503" y="3"/>
                    </a:lnTo>
                    <a:lnTo>
                      <a:pt x="514" y="3"/>
                    </a:lnTo>
                    <a:lnTo>
                      <a:pt x="523" y="3"/>
                    </a:lnTo>
                    <a:lnTo>
                      <a:pt x="530" y="3"/>
                    </a:lnTo>
                    <a:lnTo>
                      <a:pt x="534" y="5"/>
                    </a:lnTo>
                    <a:lnTo>
                      <a:pt x="538" y="5"/>
                    </a:lnTo>
                    <a:lnTo>
                      <a:pt x="538" y="7"/>
                    </a:lnTo>
                    <a:lnTo>
                      <a:pt x="534" y="9"/>
                    </a:lnTo>
                    <a:lnTo>
                      <a:pt x="530" y="11"/>
                    </a:lnTo>
                    <a:lnTo>
                      <a:pt x="487" y="14"/>
                    </a:lnTo>
                    <a:lnTo>
                      <a:pt x="443" y="14"/>
                    </a:lnTo>
                    <a:lnTo>
                      <a:pt x="399" y="14"/>
                    </a:lnTo>
                    <a:lnTo>
                      <a:pt x="354" y="16"/>
                    </a:lnTo>
                    <a:lnTo>
                      <a:pt x="308" y="16"/>
                    </a:lnTo>
                    <a:lnTo>
                      <a:pt x="261" y="16"/>
                    </a:lnTo>
                    <a:lnTo>
                      <a:pt x="213" y="16"/>
                    </a:lnTo>
                    <a:lnTo>
                      <a:pt x="168" y="18"/>
                    </a:lnTo>
                    <a:lnTo>
                      <a:pt x="153" y="18"/>
                    </a:lnTo>
                    <a:lnTo>
                      <a:pt x="133" y="18"/>
                    </a:lnTo>
                    <a:lnTo>
                      <a:pt x="113" y="18"/>
                    </a:lnTo>
                    <a:lnTo>
                      <a:pt x="95" y="18"/>
                    </a:lnTo>
                    <a:lnTo>
                      <a:pt x="73" y="18"/>
                    </a:lnTo>
                    <a:lnTo>
                      <a:pt x="55" y="18"/>
                    </a:lnTo>
                    <a:lnTo>
                      <a:pt x="37" y="18"/>
                    </a:lnTo>
                    <a:lnTo>
                      <a:pt x="22" y="18"/>
                    </a:lnTo>
                    <a:lnTo>
                      <a:pt x="13" y="16"/>
                    </a:lnTo>
                    <a:lnTo>
                      <a:pt x="6" y="14"/>
                    </a:lnTo>
                    <a:lnTo>
                      <a:pt x="2" y="11"/>
                    </a:lnTo>
                    <a:lnTo>
                      <a:pt x="0" y="11"/>
                    </a:lnTo>
                    <a:lnTo>
                      <a:pt x="0" y="7"/>
                    </a:lnTo>
                    <a:lnTo>
                      <a:pt x="2" y="7"/>
                    </a:lnTo>
                    <a:lnTo>
                      <a:pt x="4" y="5"/>
                    </a:lnTo>
                    <a:lnTo>
                      <a:pt x="11" y="5"/>
                    </a:lnTo>
                    <a:lnTo>
                      <a:pt x="33" y="3"/>
                    </a:lnTo>
                    <a:lnTo>
                      <a:pt x="60" y="3"/>
                    </a:lnTo>
                    <a:lnTo>
                      <a:pt x="86" y="3"/>
                    </a:lnTo>
                    <a:lnTo>
                      <a:pt x="117" y="5"/>
                    </a:lnTo>
                    <a:lnTo>
                      <a:pt x="144" y="5"/>
                    </a:lnTo>
                    <a:lnTo>
                      <a:pt x="173" y="5"/>
                    </a:lnTo>
                    <a:lnTo>
                      <a:pt x="195" y="5"/>
                    </a:lnTo>
                    <a:lnTo>
                      <a:pt x="215" y="5"/>
                    </a:lnTo>
                    <a:lnTo>
                      <a:pt x="230" y="5"/>
                    </a:lnTo>
                    <a:lnTo>
                      <a:pt x="248" y="3"/>
                    </a:lnTo>
                    <a:lnTo>
                      <a:pt x="264" y="3"/>
                    </a:lnTo>
                    <a:lnTo>
                      <a:pt x="279" y="3"/>
                    </a:lnTo>
                    <a:lnTo>
                      <a:pt x="295" y="3"/>
                    </a:lnTo>
                    <a:lnTo>
                      <a:pt x="308" y="3"/>
                    </a:lnTo>
                    <a:lnTo>
                      <a:pt x="323" y="3"/>
                    </a:lnTo>
                    <a:lnTo>
                      <a:pt x="337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0" name="Freeform 22"/>
              <p:cNvSpPr>
                <a:spLocks/>
              </p:cNvSpPr>
              <p:nvPr/>
            </p:nvSpPr>
            <p:spPr bwMode="auto">
              <a:xfrm>
                <a:off x="2826" y="1017"/>
                <a:ext cx="244" cy="20"/>
              </a:xfrm>
              <a:custGeom>
                <a:avLst/>
                <a:gdLst>
                  <a:gd name="T0" fmla="*/ 189 w 244"/>
                  <a:gd name="T1" fmla="*/ 0 h 20"/>
                  <a:gd name="T2" fmla="*/ 193 w 244"/>
                  <a:gd name="T3" fmla="*/ 0 h 20"/>
                  <a:gd name="T4" fmla="*/ 200 w 244"/>
                  <a:gd name="T5" fmla="*/ 0 h 20"/>
                  <a:gd name="T6" fmla="*/ 207 w 244"/>
                  <a:gd name="T7" fmla="*/ 0 h 20"/>
                  <a:gd name="T8" fmla="*/ 213 w 244"/>
                  <a:gd name="T9" fmla="*/ 0 h 20"/>
                  <a:gd name="T10" fmla="*/ 220 w 244"/>
                  <a:gd name="T11" fmla="*/ 0 h 20"/>
                  <a:gd name="T12" fmla="*/ 229 w 244"/>
                  <a:gd name="T13" fmla="*/ 0 h 20"/>
                  <a:gd name="T14" fmla="*/ 233 w 244"/>
                  <a:gd name="T15" fmla="*/ 0 h 20"/>
                  <a:gd name="T16" fmla="*/ 240 w 244"/>
                  <a:gd name="T17" fmla="*/ 0 h 20"/>
                  <a:gd name="T18" fmla="*/ 244 w 244"/>
                  <a:gd name="T19" fmla="*/ 4 h 20"/>
                  <a:gd name="T20" fmla="*/ 242 w 244"/>
                  <a:gd name="T21" fmla="*/ 11 h 20"/>
                  <a:gd name="T22" fmla="*/ 231 w 244"/>
                  <a:gd name="T23" fmla="*/ 13 h 20"/>
                  <a:gd name="T24" fmla="*/ 220 w 244"/>
                  <a:gd name="T25" fmla="*/ 16 h 20"/>
                  <a:gd name="T26" fmla="*/ 209 w 244"/>
                  <a:gd name="T27" fmla="*/ 16 h 20"/>
                  <a:gd name="T28" fmla="*/ 198 w 244"/>
                  <a:gd name="T29" fmla="*/ 16 h 20"/>
                  <a:gd name="T30" fmla="*/ 187 w 244"/>
                  <a:gd name="T31" fmla="*/ 16 h 20"/>
                  <a:gd name="T32" fmla="*/ 176 w 244"/>
                  <a:gd name="T33" fmla="*/ 16 h 20"/>
                  <a:gd name="T34" fmla="*/ 162 w 244"/>
                  <a:gd name="T35" fmla="*/ 16 h 20"/>
                  <a:gd name="T36" fmla="*/ 153 w 244"/>
                  <a:gd name="T37" fmla="*/ 18 h 20"/>
                  <a:gd name="T38" fmla="*/ 136 w 244"/>
                  <a:gd name="T39" fmla="*/ 18 h 20"/>
                  <a:gd name="T40" fmla="*/ 118 w 244"/>
                  <a:gd name="T41" fmla="*/ 18 h 20"/>
                  <a:gd name="T42" fmla="*/ 100 w 244"/>
                  <a:gd name="T43" fmla="*/ 18 h 20"/>
                  <a:gd name="T44" fmla="*/ 82 w 244"/>
                  <a:gd name="T45" fmla="*/ 20 h 20"/>
                  <a:gd name="T46" fmla="*/ 63 w 244"/>
                  <a:gd name="T47" fmla="*/ 20 h 20"/>
                  <a:gd name="T48" fmla="*/ 43 w 244"/>
                  <a:gd name="T49" fmla="*/ 20 h 20"/>
                  <a:gd name="T50" fmla="*/ 25 w 244"/>
                  <a:gd name="T51" fmla="*/ 20 h 20"/>
                  <a:gd name="T52" fmla="*/ 9 w 244"/>
                  <a:gd name="T53" fmla="*/ 20 h 20"/>
                  <a:gd name="T54" fmla="*/ 3 w 244"/>
                  <a:gd name="T55" fmla="*/ 18 h 20"/>
                  <a:gd name="T56" fmla="*/ 0 w 244"/>
                  <a:gd name="T57" fmla="*/ 16 h 20"/>
                  <a:gd name="T58" fmla="*/ 0 w 244"/>
                  <a:gd name="T59" fmla="*/ 13 h 20"/>
                  <a:gd name="T60" fmla="*/ 7 w 244"/>
                  <a:gd name="T61" fmla="*/ 9 h 20"/>
                  <a:gd name="T62" fmla="*/ 18 w 244"/>
                  <a:gd name="T63" fmla="*/ 9 h 20"/>
                  <a:gd name="T64" fmla="*/ 29 w 244"/>
                  <a:gd name="T65" fmla="*/ 7 h 20"/>
                  <a:gd name="T66" fmla="*/ 40 w 244"/>
                  <a:gd name="T67" fmla="*/ 7 h 20"/>
                  <a:gd name="T68" fmla="*/ 51 w 244"/>
                  <a:gd name="T69" fmla="*/ 7 h 20"/>
                  <a:gd name="T70" fmla="*/ 63 w 244"/>
                  <a:gd name="T71" fmla="*/ 7 h 20"/>
                  <a:gd name="T72" fmla="*/ 74 w 244"/>
                  <a:gd name="T73" fmla="*/ 7 h 20"/>
                  <a:gd name="T74" fmla="*/ 82 w 244"/>
                  <a:gd name="T75" fmla="*/ 7 h 20"/>
                  <a:gd name="T76" fmla="*/ 94 w 244"/>
                  <a:gd name="T77" fmla="*/ 7 h 20"/>
                  <a:gd name="T78" fmla="*/ 105 w 244"/>
                  <a:gd name="T79" fmla="*/ 4 h 20"/>
                  <a:gd name="T80" fmla="*/ 118 w 244"/>
                  <a:gd name="T81" fmla="*/ 4 h 20"/>
                  <a:gd name="T82" fmla="*/ 129 w 244"/>
                  <a:gd name="T83" fmla="*/ 2 h 20"/>
                  <a:gd name="T84" fmla="*/ 142 w 244"/>
                  <a:gd name="T85" fmla="*/ 2 h 20"/>
                  <a:gd name="T86" fmla="*/ 153 w 244"/>
                  <a:gd name="T87" fmla="*/ 2 h 20"/>
                  <a:gd name="T88" fmla="*/ 164 w 244"/>
                  <a:gd name="T89" fmla="*/ 0 h 20"/>
                  <a:gd name="T90" fmla="*/ 176 w 244"/>
                  <a:gd name="T91" fmla="*/ 0 h 20"/>
                  <a:gd name="T92" fmla="*/ 189 w 244"/>
                  <a:gd name="T93" fmla="*/ 0 h 20"/>
                  <a:gd name="T94" fmla="*/ 189 w 244"/>
                  <a:gd name="T95" fmla="*/ 0 h 20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4"/>
                  <a:gd name="T145" fmla="*/ 0 h 20"/>
                  <a:gd name="T146" fmla="*/ 244 w 244"/>
                  <a:gd name="T147" fmla="*/ 20 h 20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4" h="20">
                    <a:moveTo>
                      <a:pt x="189" y="0"/>
                    </a:moveTo>
                    <a:lnTo>
                      <a:pt x="193" y="0"/>
                    </a:lnTo>
                    <a:lnTo>
                      <a:pt x="200" y="0"/>
                    </a:lnTo>
                    <a:lnTo>
                      <a:pt x="207" y="0"/>
                    </a:lnTo>
                    <a:lnTo>
                      <a:pt x="213" y="0"/>
                    </a:lnTo>
                    <a:lnTo>
                      <a:pt x="220" y="0"/>
                    </a:lnTo>
                    <a:lnTo>
                      <a:pt x="229" y="0"/>
                    </a:lnTo>
                    <a:lnTo>
                      <a:pt x="233" y="0"/>
                    </a:lnTo>
                    <a:lnTo>
                      <a:pt x="240" y="0"/>
                    </a:lnTo>
                    <a:lnTo>
                      <a:pt x="244" y="4"/>
                    </a:lnTo>
                    <a:lnTo>
                      <a:pt x="242" y="11"/>
                    </a:lnTo>
                    <a:lnTo>
                      <a:pt x="231" y="13"/>
                    </a:lnTo>
                    <a:lnTo>
                      <a:pt x="220" y="16"/>
                    </a:lnTo>
                    <a:lnTo>
                      <a:pt x="209" y="16"/>
                    </a:lnTo>
                    <a:lnTo>
                      <a:pt x="198" y="16"/>
                    </a:lnTo>
                    <a:lnTo>
                      <a:pt x="187" y="16"/>
                    </a:lnTo>
                    <a:lnTo>
                      <a:pt x="176" y="16"/>
                    </a:lnTo>
                    <a:lnTo>
                      <a:pt x="162" y="16"/>
                    </a:lnTo>
                    <a:lnTo>
                      <a:pt x="153" y="18"/>
                    </a:lnTo>
                    <a:lnTo>
                      <a:pt x="136" y="18"/>
                    </a:lnTo>
                    <a:lnTo>
                      <a:pt x="118" y="18"/>
                    </a:lnTo>
                    <a:lnTo>
                      <a:pt x="100" y="18"/>
                    </a:lnTo>
                    <a:lnTo>
                      <a:pt x="82" y="20"/>
                    </a:lnTo>
                    <a:lnTo>
                      <a:pt x="63" y="20"/>
                    </a:lnTo>
                    <a:lnTo>
                      <a:pt x="43" y="20"/>
                    </a:lnTo>
                    <a:lnTo>
                      <a:pt x="25" y="20"/>
                    </a:lnTo>
                    <a:lnTo>
                      <a:pt x="9" y="20"/>
                    </a:lnTo>
                    <a:lnTo>
                      <a:pt x="3" y="18"/>
                    </a:lnTo>
                    <a:lnTo>
                      <a:pt x="0" y="16"/>
                    </a:lnTo>
                    <a:lnTo>
                      <a:pt x="0" y="13"/>
                    </a:lnTo>
                    <a:lnTo>
                      <a:pt x="7" y="9"/>
                    </a:lnTo>
                    <a:lnTo>
                      <a:pt x="18" y="9"/>
                    </a:lnTo>
                    <a:lnTo>
                      <a:pt x="29" y="7"/>
                    </a:lnTo>
                    <a:lnTo>
                      <a:pt x="40" y="7"/>
                    </a:lnTo>
                    <a:lnTo>
                      <a:pt x="51" y="7"/>
                    </a:lnTo>
                    <a:lnTo>
                      <a:pt x="63" y="7"/>
                    </a:lnTo>
                    <a:lnTo>
                      <a:pt x="74" y="7"/>
                    </a:lnTo>
                    <a:lnTo>
                      <a:pt x="82" y="7"/>
                    </a:lnTo>
                    <a:lnTo>
                      <a:pt x="94" y="7"/>
                    </a:lnTo>
                    <a:lnTo>
                      <a:pt x="105" y="4"/>
                    </a:lnTo>
                    <a:lnTo>
                      <a:pt x="118" y="4"/>
                    </a:lnTo>
                    <a:lnTo>
                      <a:pt x="129" y="2"/>
                    </a:lnTo>
                    <a:lnTo>
                      <a:pt x="142" y="2"/>
                    </a:lnTo>
                    <a:lnTo>
                      <a:pt x="153" y="2"/>
                    </a:lnTo>
                    <a:lnTo>
                      <a:pt x="164" y="0"/>
                    </a:lnTo>
                    <a:lnTo>
                      <a:pt x="176" y="0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1" name="Freeform 23"/>
              <p:cNvSpPr>
                <a:spLocks/>
              </p:cNvSpPr>
              <p:nvPr/>
            </p:nvSpPr>
            <p:spPr bwMode="auto">
              <a:xfrm>
                <a:off x="2769" y="857"/>
                <a:ext cx="277" cy="20"/>
              </a:xfrm>
              <a:custGeom>
                <a:avLst/>
                <a:gdLst>
                  <a:gd name="T0" fmla="*/ 224 w 277"/>
                  <a:gd name="T1" fmla="*/ 3 h 20"/>
                  <a:gd name="T2" fmla="*/ 230 w 277"/>
                  <a:gd name="T3" fmla="*/ 0 h 20"/>
                  <a:gd name="T4" fmla="*/ 239 w 277"/>
                  <a:gd name="T5" fmla="*/ 0 h 20"/>
                  <a:gd name="T6" fmla="*/ 250 w 277"/>
                  <a:gd name="T7" fmla="*/ 0 h 20"/>
                  <a:gd name="T8" fmla="*/ 261 w 277"/>
                  <a:gd name="T9" fmla="*/ 0 h 20"/>
                  <a:gd name="T10" fmla="*/ 268 w 277"/>
                  <a:gd name="T11" fmla="*/ 0 h 20"/>
                  <a:gd name="T12" fmla="*/ 275 w 277"/>
                  <a:gd name="T13" fmla="*/ 0 h 20"/>
                  <a:gd name="T14" fmla="*/ 277 w 277"/>
                  <a:gd name="T15" fmla="*/ 3 h 20"/>
                  <a:gd name="T16" fmla="*/ 277 w 277"/>
                  <a:gd name="T17" fmla="*/ 9 h 20"/>
                  <a:gd name="T18" fmla="*/ 266 w 277"/>
                  <a:gd name="T19" fmla="*/ 12 h 20"/>
                  <a:gd name="T20" fmla="*/ 255 w 277"/>
                  <a:gd name="T21" fmla="*/ 12 h 20"/>
                  <a:gd name="T22" fmla="*/ 241 w 277"/>
                  <a:gd name="T23" fmla="*/ 14 h 20"/>
                  <a:gd name="T24" fmla="*/ 228 w 277"/>
                  <a:gd name="T25" fmla="*/ 14 h 20"/>
                  <a:gd name="T26" fmla="*/ 213 w 277"/>
                  <a:gd name="T27" fmla="*/ 14 h 20"/>
                  <a:gd name="T28" fmla="*/ 199 w 277"/>
                  <a:gd name="T29" fmla="*/ 16 h 20"/>
                  <a:gd name="T30" fmla="*/ 184 w 277"/>
                  <a:gd name="T31" fmla="*/ 16 h 20"/>
                  <a:gd name="T32" fmla="*/ 170 w 277"/>
                  <a:gd name="T33" fmla="*/ 16 h 20"/>
                  <a:gd name="T34" fmla="*/ 151 w 277"/>
                  <a:gd name="T35" fmla="*/ 16 h 20"/>
                  <a:gd name="T36" fmla="*/ 128 w 277"/>
                  <a:gd name="T37" fmla="*/ 18 h 20"/>
                  <a:gd name="T38" fmla="*/ 106 w 277"/>
                  <a:gd name="T39" fmla="*/ 18 h 20"/>
                  <a:gd name="T40" fmla="*/ 86 w 277"/>
                  <a:gd name="T41" fmla="*/ 20 h 20"/>
                  <a:gd name="T42" fmla="*/ 64 w 277"/>
                  <a:gd name="T43" fmla="*/ 20 h 20"/>
                  <a:gd name="T44" fmla="*/ 44 w 277"/>
                  <a:gd name="T45" fmla="*/ 20 h 20"/>
                  <a:gd name="T46" fmla="*/ 26 w 277"/>
                  <a:gd name="T47" fmla="*/ 20 h 20"/>
                  <a:gd name="T48" fmla="*/ 9 w 277"/>
                  <a:gd name="T49" fmla="*/ 20 h 20"/>
                  <a:gd name="T50" fmla="*/ 0 w 277"/>
                  <a:gd name="T51" fmla="*/ 14 h 20"/>
                  <a:gd name="T52" fmla="*/ 2 w 277"/>
                  <a:gd name="T53" fmla="*/ 12 h 20"/>
                  <a:gd name="T54" fmla="*/ 9 w 277"/>
                  <a:gd name="T55" fmla="*/ 7 h 20"/>
                  <a:gd name="T56" fmla="*/ 22 w 277"/>
                  <a:gd name="T57" fmla="*/ 7 h 20"/>
                  <a:gd name="T58" fmla="*/ 35 w 277"/>
                  <a:gd name="T59" fmla="*/ 7 h 20"/>
                  <a:gd name="T60" fmla="*/ 51 w 277"/>
                  <a:gd name="T61" fmla="*/ 7 h 20"/>
                  <a:gd name="T62" fmla="*/ 66 w 277"/>
                  <a:gd name="T63" fmla="*/ 7 h 20"/>
                  <a:gd name="T64" fmla="*/ 80 w 277"/>
                  <a:gd name="T65" fmla="*/ 7 h 20"/>
                  <a:gd name="T66" fmla="*/ 97 w 277"/>
                  <a:gd name="T67" fmla="*/ 5 h 20"/>
                  <a:gd name="T68" fmla="*/ 115 w 277"/>
                  <a:gd name="T69" fmla="*/ 3 h 20"/>
                  <a:gd name="T70" fmla="*/ 133 w 277"/>
                  <a:gd name="T71" fmla="*/ 3 h 20"/>
                  <a:gd name="T72" fmla="*/ 153 w 277"/>
                  <a:gd name="T73" fmla="*/ 3 h 20"/>
                  <a:gd name="T74" fmla="*/ 170 w 277"/>
                  <a:gd name="T75" fmla="*/ 3 h 20"/>
                  <a:gd name="T76" fmla="*/ 188 w 277"/>
                  <a:gd name="T77" fmla="*/ 3 h 20"/>
                  <a:gd name="T78" fmla="*/ 206 w 277"/>
                  <a:gd name="T79" fmla="*/ 3 h 20"/>
                  <a:gd name="T80" fmla="*/ 224 w 277"/>
                  <a:gd name="T81" fmla="*/ 3 h 20"/>
                  <a:gd name="T82" fmla="*/ 224 w 277"/>
                  <a:gd name="T83" fmla="*/ 3 h 20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277"/>
                  <a:gd name="T127" fmla="*/ 0 h 20"/>
                  <a:gd name="T128" fmla="*/ 277 w 277"/>
                  <a:gd name="T129" fmla="*/ 20 h 20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277" h="20">
                    <a:moveTo>
                      <a:pt x="224" y="3"/>
                    </a:moveTo>
                    <a:lnTo>
                      <a:pt x="230" y="0"/>
                    </a:lnTo>
                    <a:lnTo>
                      <a:pt x="239" y="0"/>
                    </a:lnTo>
                    <a:lnTo>
                      <a:pt x="250" y="0"/>
                    </a:lnTo>
                    <a:lnTo>
                      <a:pt x="261" y="0"/>
                    </a:lnTo>
                    <a:lnTo>
                      <a:pt x="268" y="0"/>
                    </a:lnTo>
                    <a:lnTo>
                      <a:pt x="275" y="0"/>
                    </a:lnTo>
                    <a:lnTo>
                      <a:pt x="277" y="3"/>
                    </a:lnTo>
                    <a:lnTo>
                      <a:pt x="277" y="9"/>
                    </a:lnTo>
                    <a:lnTo>
                      <a:pt x="266" y="12"/>
                    </a:lnTo>
                    <a:lnTo>
                      <a:pt x="255" y="12"/>
                    </a:lnTo>
                    <a:lnTo>
                      <a:pt x="241" y="14"/>
                    </a:lnTo>
                    <a:lnTo>
                      <a:pt x="228" y="14"/>
                    </a:lnTo>
                    <a:lnTo>
                      <a:pt x="213" y="14"/>
                    </a:lnTo>
                    <a:lnTo>
                      <a:pt x="199" y="16"/>
                    </a:lnTo>
                    <a:lnTo>
                      <a:pt x="184" y="16"/>
                    </a:lnTo>
                    <a:lnTo>
                      <a:pt x="170" y="16"/>
                    </a:lnTo>
                    <a:lnTo>
                      <a:pt x="151" y="16"/>
                    </a:lnTo>
                    <a:lnTo>
                      <a:pt x="128" y="18"/>
                    </a:lnTo>
                    <a:lnTo>
                      <a:pt x="106" y="18"/>
                    </a:lnTo>
                    <a:lnTo>
                      <a:pt x="86" y="20"/>
                    </a:lnTo>
                    <a:lnTo>
                      <a:pt x="64" y="20"/>
                    </a:lnTo>
                    <a:lnTo>
                      <a:pt x="44" y="20"/>
                    </a:lnTo>
                    <a:lnTo>
                      <a:pt x="26" y="20"/>
                    </a:lnTo>
                    <a:lnTo>
                      <a:pt x="9" y="20"/>
                    </a:lnTo>
                    <a:lnTo>
                      <a:pt x="0" y="14"/>
                    </a:lnTo>
                    <a:lnTo>
                      <a:pt x="2" y="12"/>
                    </a:lnTo>
                    <a:lnTo>
                      <a:pt x="9" y="7"/>
                    </a:lnTo>
                    <a:lnTo>
                      <a:pt x="22" y="7"/>
                    </a:lnTo>
                    <a:lnTo>
                      <a:pt x="35" y="7"/>
                    </a:lnTo>
                    <a:lnTo>
                      <a:pt x="51" y="7"/>
                    </a:lnTo>
                    <a:lnTo>
                      <a:pt x="66" y="7"/>
                    </a:lnTo>
                    <a:lnTo>
                      <a:pt x="80" y="7"/>
                    </a:lnTo>
                    <a:lnTo>
                      <a:pt x="97" y="5"/>
                    </a:lnTo>
                    <a:lnTo>
                      <a:pt x="115" y="3"/>
                    </a:lnTo>
                    <a:lnTo>
                      <a:pt x="133" y="3"/>
                    </a:lnTo>
                    <a:lnTo>
                      <a:pt x="153" y="3"/>
                    </a:lnTo>
                    <a:lnTo>
                      <a:pt x="170" y="3"/>
                    </a:lnTo>
                    <a:lnTo>
                      <a:pt x="188" y="3"/>
                    </a:lnTo>
                    <a:lnTo>
                      <a:pt x="206" y="3"/>
                    </a:lnTo>
                    <a:lnTo>
                      <a:pt x="224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2" name="Freeform 24"/>
              <p:cNvSpPr>
                <a:spLocks/>
              </p:cNvSpPr>
              <p:nvPr/>
            </p:nvSpPr>
            <p:spPr bwMode="auto">
              <a:xfrm>
                <a:off x="2756" y="939"/>
                <a:ext cx="310" cy="25"/>
              </a:xfrm>
              <a:custGeom>
                <a:avLst/>
                <a:gdLst>
                  <a:gd name="T0" fmla="*/ 254 w 310"/>
                  <a:gd name="T1" fmla="*/ 3 h 25"/>
                  <a:gd name="T2" fmla="*/ 257 w 310"/>
                  <a:gd name="T3" fmla="*/ 0 h 25"/>
                  <a:gd name="T4" fmla="*/ 263 w 310"/>
                  <a:gd name="T5" fmla="*/ 0 h 25"/>
                  <a:gd name="T6" fmla="*/ 270 w 310"/>
                  <a:gd name="T7" fmla="*/ 0 h 25"/>
                  <a:gd name="T8" fmla="*/ 281 w 310"/>
                  <a:gd name="T9" fmla="*/ 0 h 25"/>
                  <a:gd name="T10" fmla="*/ 288 w 310"/>
                  <a:gd name="T11" fmla="*/ 0 h 25"/>
                  <a:gd name="T12" fmla="*/ 297 w 310"/>
                  <a:gd name="T13" fmla="*/ 0 h 25"/>
                  <a:gd name="T14" fmla="*/ 303 w 310"/>
                  <a:gd name="T15" fmla="*/ 0 h 25"/>
                  <a:gd name="T16" fmla="*/ 308 w 310"/>
                  <a:gd name="T17" fmla="*/ 3 h 25"/>
                  <a:gd name="T18" fmla="*/ 310 w 310"/>
                  <a:gd name="T19" fmla="*/ 5 h 25"/>
                  <a:gd name="T20" fmla="*/ 303 w 310"/>
                  <a:gd name="T21" fmla="*/ 9 h 25"/>
                  <a:gd name="T22" fmla="*/ 299 w 310"/>
                  <a:gd name="T23" fmla="*/ 9 h 25"/>
                  <a:gd name="T24" fmla="*/ 292 w 310"/>
                  <a:gd name="T25" fmla="*/ 12 h 25"/>
                  <a:gd name="T26" fmla="*/ 285 w 310"/>
                  <a:gd name="T27" fmla="*/ 12 h 25"/>
                  <a:gd name="T28" fmla="*/ 281 w 310"/>
                  <a:gd name="T29" fmla="*/ 14 h 25"/>
                  <a:gd name="T30" fmla="*/ 252 w 310"/>
                  <a:gd name="T31" fmla="*/ 14 h 25"/>
                  <a:gd name="T32" fmla="*/ 221 w 310"/>
                  <a:gd name="T33" fmla="*/ 16 h 25"/>
                  <a:gd name="T34" fmla="*/ 188 w 310"/>
                  <a:gd name="T35" fmla="*/ 18 h 25"/>
                  <a:gd name="T36" fmla="*/ 155 w 310"/>
                  <a:gd name="T37" fmla="*/ 20 h 25"/>
                  <a:gd name="T38" fmla="*/ 119 w 310"/>
                  <a:gd name="T39" fmla="*/ 20 h 25"/>
                  <a:gd name="T40" fmla="*/ 86 w 310"/>
                  <a:gd name="T41" fmla="*/ 23 h 25"/>
                  <a:gd name="T42" fmla="*/ 53 w 310"/>
                  <a:gd name="T43" fmla="*/ 23 h 25"/>
                  <a:gd name="T44" fmla="*/ 24 w 310"/>
                  <a:gd name="T45" fmla="*/ 25 h 25"/>
                  <a:gd name="T46" fmla="*/ 15 w 310"/>
                  <a:gd name="T47" fmla="*/ 23 h 25"/>
                  <a:gd name="T48" fmla="*/ 6 w 310"/>
                  <a:gd name="T49" fmla="*/ 23 h 25"/>
                  <a:gd name="T50" fmla="*/ 2 w 310"/>
                  <a:gd name="T51" fmla="*/ 20 h 25"/>
                  <a:gd name="T52" fmla="*/ 0 w 310"/>
                  <a:gd name="T53" fmla="*/ 18 h 25"/>
                  <a:gd name="T54" fmla="*/ 0 w 310"/>
                  <a:gd name="T55" fmla="*/ 16 h 25"/>
                  <a:gd name="T56" fmla="*/ 0 w 310"/>
                  <a:gd name="T57" fmla="*/ 16 h 25"/>
                  <a:gd name="T58" fmla="*/ 4 w 310"/>
                  <a:gd name="T59" fmla="*/ 14 h 25"/>
                  <a:gd name="T60" fmla="*/ 8 w 310"/>
                  <a:gd name="T61" fmla="*/ 14 h 25"/>
                  <a:gd name="T62" fmla="*/ 35 w 310"/>
                  <a:gd name="T63" fmla="*/ 12 h 25"/>
                  <a:gd name="T64" fmla="*/ 66 w 310"/>
                  <a:gd name="T65" fmla="*/ 9 h 25"/>
                  <a:gd name="T66" fmla="*/ 99 w 310"/>
                  <a:gd name="T67" fmla="*/ 9 h 25"/>
                  <a:gd name="T68" fmla="*/ 133 w 310"/>
                  <a:gd name="T69" fmla="*/ 7 h 25"/>
                  <a:gd name="T70" fmla="*/ 166 w 310"/>
                  <a:gd name="T71" fmla="*/ 5 h 25"/>
                  <a:gd name="T72" fmla="*/ 199 w 310"/>
                  <a:gd name="T73" fmla="*/ 5 h 25"/>
                  <a:gd name="T74" fmla="*/ 228 w 310"/>
                  <a:gd name="T75" fmla="*/ 3 h 25"/>
                  <a:gd name="T76" fmla="*/ 254 w 310"/>
                  <a:gd name="T77" fmla="*/ 3 h 25"/>
                  <a:gd name="T78" fmla="*/ 254 w 310"/>
                  <a:gd name="T79" fmla="*/ 3 h 25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310"/>
                  <a:gd name="T121" fmla="*/ 0 h 25"/>
                  <a:gd name="T122" fmla="*/ 310 w 310"/>
                  <a:gd name="T123" fmla="*/ 25 h 25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310" h="25">
                    <a:moveTo>
                      <a:pt x="254" y="3"/>
                    </a:moveTo>
                    <a:lnTo>
                      <a:pt x="257" y="0"/>
                    </a:lnTo>
                    <a:lnTo>
                      <a:pt x="263" y="0"/>
                    </a:lnTo>
                    <a:lnTo>
                      <a:pt x="270" y="0"/>
                    </a:lnTo>
                    <a:lnTo>
                      <a:pt x="281" y="0"/>
                    </a:lnTo>
                    <a:lnTo>
                      <a:pt x="288" y="0"/>
                    </a:lnTo>
                    <a:lnTo>
                      <a:pt x="297" y="0"/>
                    </a:lnTo>
                    <a:lnTo>
                      <a:pt x="303" y="0"/>
                    </a:lnTo>
                    <a:lnTo>
                      <a:pt x="308" y="3"/>
                    </a:lnTo>
                    <a:lnTo>
                      <a:pt x="310" y="5"/>
                    </a:lnTo>
                    <a:lnTo>
                      <a:pt x="303" y="9"/>
                    </a:lnTo>
                    <a:lnTo>
                      <a:pt x="299" y="9"/>
                    </a:lnTo>
                    <a:lnTo>
                      <a:pt x="292" y="12"/>
                    </a:lnTo>
                    <a:lnTo>
                      <a:pt x="285" y="12"/>
                    </a:lnTo>
                    <a:lnTo>
                      <a:pt x="281" y="14"/>
                    </a:lnTo>
                    <a:lnTo>
                      <a:pt x="252" y="14"/>
                    </a:lnTo>
                    <a:lnTo>
                      <a:pt x="221" y="16"/>
                    </a:lnTo>
                    <a:lnTo>
                      <a:pt x="188" y="18"/>
                    </a:lnTo>
                    <a:lnTo>
                      <a:pt x="155" y="20"/>
                    </a:lnTo>
                    <a:lnTo>
                      <a:pt x="119" y="20"/>
                    </a:lnTo>
                    <a:lnTo>
                      <a:pt x="86" y="23"/>
                    </a:lnTo>
                    <a:lnTo>
                      <a:pt x="53" y="23"/>
                    </a:lnTo>
                    <a:lnTo>
                      <a:pt x="24" y="25"/>
                    </a:lnTo>
                    <a:lnTo>
                      <a:pt x="15" y="23"/>
                    </a:lnTo>
                    <a:lnTo>
                      <a:pt x="6" y="23"/>
                    </a:lnTo>
                    <a:lnTo>
                      <a:pt x="2" y="20"/>
                    </a:lnTo>
                    <a:lnTo>
                      <a:pt x="0" y="18"/>
                    </a:lnTo>
                    <a:lnTo>
                      <a:pt x="0" y="16"/>
                    </a:lnTo>
                    <a:lnTo>
                      <a:pt x="4" y="14"/>
                    </a:lnTo>
                    <a:lnTo>
                      <a:pt x="8" y="14"/>
                    </a:lnTo>
                    <a:lnTo>
                      <a:pt x="35" y="12"/>
                    </a:lnTo>
                    <a:lnTo>
                      <a:pt x="66" y="9"/>
                    </a:lnTo>
                    <a:lnTo>
                      <a:pt x="99" y="9"/>
                    </a:lnTo>
                    <a:lnTo>
                      <a:pt x="133" y="7"/>
                    </a:lnTo>
                    <a:lnTo>
                      <a:pt x="166" y="5"/>
                    </a:lnTo>
                    <a:lnTo>
                      <a:pt x="199" y="5"/>
                    </a:lnTo>
                    <a:lnTo>
                      <a:pt x="228" y="3"/>
                    </a:lnTo>
                    <a:lnTo>
                      <a:pt x="254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3" name="Freeform 25"/>
              <p:cNvSpPr>
                <a:spLocks/>
              </p:cNvSpPr>
              <p:nvPr/>
            </p:nvSpPr>
            <p:spPr bwMode="auto">
              <a:xfrm>
                <a:off x="2937" y="964"/>
                <a:ext cx="118" cy="20"/>
              </a:xfrm>
              <a:custGeom>
                <a:avLst/>
                <a:gdLst>
                  <a:gd name="T0" fmla="*/ 34 w 118"/>
                  <a:gd name="T1" fmla="*/ 4 h 20"/>
                  <a:gd name="T2" fmla="*/ 40 w 118"/>
                  <a:gd name="T3" fmla="*/ 4 h 20"/>
                  <a:gd name="T4" fmla="*/ 51 w 118"/>
                  <a:gd name="T5" fmla="*/ 2 h 20"/>
                  <a:gd name="T6" fmla="*/ 62 w 118"/>
                  <a:gd name="T7" fmla="*/ 2 h 20"/>
                  <a:gd name="T8" fmla="*/ 73 w 118"/>
                  <a:gd name="T9" fmla="*/ 2 h 20"/>
                  <a:gd name="T10" fmla="*/ 84 w 118"/>
                  <a:gd name="T11" fmla="*/ 0 h 20"/>
                  <a:gd name="T12" fmla="*/ 93 w 118"/>
                  <a:gd name="T13" fmla="*/ 0 h 20"/>
                  <a:gd name="T14" fmla="*/ 104 w 118"/>
                  <a:gd name="T15" fmla="*/ 0 h 20"/>
                  <a:gd name="T16" fmla="*/ 113 w 118"/>
                  <a:gd name="T17" fmla="*/ 2 h 20"/>
                  <a:gd name="T18" fmla="*/ 116 w 118"/>
                  <a:gd name="T19" fmla="*/ 4 h 20"/>
                  <a:gd name="T20" fmla="*/ 118 w 118"/>
                  <a:gd name="T21" fmla="*/ 6 h 20"/>
                  <a:gd name="T22" fmla="*/ 118 w 118"/>
                  <a:gd name="T23" fmla="*/ 9 h 20"/>
                  <a:gd name="T24" fmla="*/ 113 w 118"/>
                  <a:gd name="T25" fmla="*/ 11 h 20"/>
                  <a:gd name="T26" fmla="*/ 100 w 118"/>
                  <a:gd name="T27" fmla="*/ 13 h 20"/>
                  <a:gd name="T28" fmla="*/ 87 w 118"/>
                  <a:gd name="T29" fmla="*/ 15 h 20"/>
                  <a:gd name="T30" fmla="*/ 71 w 118"/>
                  <a:gd name="T31" fmla="*/ 15 h 20"/>
                  <a:gd name="T32" fmla="*/ 60 w 118"/>
                  <a:gd name="T33" fmla="*/ 15 h 20"/>
                  <a:gd name="T34" fmla="*/ 45 w 118"/>
                  <a:gd name="T35" fmla="*/ 15 h 20"/>
                  <a:gd name="T36" fmla="*/ 31 w 118"/>
                  <a:gd name="T37" fmla="*/ 15 h 20"/>
                  <a:gd name="T38" fmla="*/ 18 w 118"/>
                  <a:gd name="T39" fmla="*/ 15 h 20"/>
                  <a:gd name="T40" fmla="*/ 5 w 118"/>
                  <a:gd name="T41" fmla="*/ 20 h 20"/>
                  <a:gd name="T42" fmla="*/ 0 w 118"/>
                  <a:gd name="T43" fmla="*/ 13 h 20"/>
                  <a:gd name="T44" fmla="*/ 2 w 118"/>
                  <a:gd name="T45" fmla="*/ 9 h 20"/>
                  <a:gd name="T46" fmla="*/ 5 w 118"/>
                  <a:gd name="T47" fmla="*/ 9 h 20"/>
                  <a:gd name="T48" fmla="*/ 7 w 118"/>
                  <a:gd name="T49" fmla="*/ 6 h 20"/>
                  <a:gd name="T50" fmla="*/ 11 w 118"/>
                  <a:gd name="T51" fmla="*/ 4 h 20"/>
                  <a:gd name="T52" fmla="*/ 18 w 118"/>
                  <a:gd name="T53" fmla="*/ 4 h 20"/>
                  <a:gd name="T54" fmla="*/ 22 w 118"/>
                  <a:gd name="T55" fmla="*/ 4 h 20"/>
                  <a:gd name="T56" fmla="*/ 27 w 118"/>
                  <a:gd name="T57" fmla="*/ 4 h 20"/>
                  <a:gd name="T58" fmla="*/ 31 w 118"/>
                  <a:gd name="T59" fmla="*/ 4 h 20"/>
                  <a:gd name="T60" fmla="*/ 34 w 118"/>
                  <a:gd name="T61" fmla="*/ 4 h 20"/>
                  <a:gd name="T62" fmla="*/ 34 w 118"/>
                  <a:gd name="T63" fmla="*/ 4 h 20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118"/>
                  <a:gd name="T97" fmla="*/ 0 h 20"/>
                  <a:gd name="T98" fmla="*/ 118 w 118"/>
                  <a:gd name="T99" fmla="*/ 20 h 20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118" h="20">
                    <a:moveTo>
                      <a:pt x="34" y="4"/>
                    </a:moveTo>
                    <a:lnTo>
                      <a:pt x="40" y="4"/>
                    </a:lnTo>
                    <a:lnTo>
                      <a:pt x="51" y="2"/>
                    </a:lnTo>
                    <a:lnTo>
                      <a:pt x="62" y="2"/>
                    </a:lnTo>
                    <a:lnTo>
                      <a:pt x="73" y="2"/>
                    </a:lnTo>
                    <a:lnTo>
                      <a:pt x="84" y="0"/>
                    </a:lnTo>
                    <a:lnTo>
                      <a:pt x="93" y="0"/>
                    </a:lnTo>
                    <a:lnTo>
                      <a:pt x="104" y="0"/>
                    </a:lnTo>
                    <a:lnTo>
                      <a:pt x="113" y="2"/>
                    </a:lnTo>
                    <a:lnTo>
                      <a:pt x="116" y="4"/>
                    </a:lnTo>
                    <a:lnTo>
                      <a:pt x="118" y="6"/>
                    </a:lnTo>
                    <a:lnTo>
                      <a:pt x="118" y="9"/>
                    </a:lnTo>
                    <a:lnTo>
                      <a:pt x="113" y="11"/>
                    </a:lnTo>
                    <a:lnTo>
                      <a:pt x="100" y="13"/>
                    </a:lnTo>
                    <a:lnTo>
                      <a:pt x="87" y="15"/>
                    </a:lnTo>
                    <a:lnTo>
                      <a:pt x="71" y="15"/>
                    </a:lnTo>
                    <a:lnTo>
                      <a:pt x="60" y="15"/>
                    </a:lnTo>
                    <a:lnTo>
                      <a:pt x="45" y="15"/>
                    </a:lnTo>
                    <a:lnTo>
                      <a:pt x="31" y="15"/>
                    </a:lnTo>
                    <a:lnTo>
                      <a:pt x="18" y="15"/>
                    </a:lnTo>
                    <a:lnTo>
                      <a:pt x="5" y="20"/>
                    </a:lnTo>
                    <a:lnTo>
                      <a:pt x="0" y="13"/>
                    </a:lnTo>
                    <a:lnTo>
                      <a:pt x="2" y="9"/>
                    </a:lnTo>
                    <a:lnTo>
                      <a:pt x="5" y="9"/>
                    </a:lnTo>
                    <a:lnTo>
                      <a:pt x="7" y="6"/>
                    </a:lnTo>
                    <a:lnTo>
                      <a:pt x="11" y="4"/>
                    </a:lnTo>
                    <a:lnTo>
                      <a:pt x="18" y="4"/>
                    </a:lnTo>
                    <a:lnTo>
                      <a:pt x="22" y="4"/>
                    </a:lnTo>
                    <a:lnTo>
                      <a:pt x="27" y="4"/>
                    </a:lnTo>
                    <a:lnTo>
                      <a:pt x="31" y="4"/>
                    </a:ln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4" name="Freeform 26"/>
              <p:cNvSpPr>
                <a:spLocks/>
              </p:cNvSpPr>
              <p:nvPr/>
            </p:nvSpPr>
            <p:spPr bwMode="auto">
              <a:xfrm>
                <a:off x="2857" y="973"/>
                <a:ext cx="71" cy="13"/>
              </a:xfrm>
              <a:custGeom>
                <a:avLst/>
                <a:gdLst>
                  <a:gd name="T0" fmla="*/ 38 w 71"/>
                  <a:gd name="T1" fmla="*/ 2 h 13"/>
                  <a:gd name="T2" fmla="*/ 45 w 71"/>
                  <a:gd name="T3" fmla="*/ 2 h 13"/>
                  <a:gd name="T4" fmla="*/ 54 w 71"/>
                  <a:gd name="T5" fmla="*/ 2 h 13"/>
                  <a:gd name="T6" fmla="*/ 60 w 71"/>
                  <a:gd name="T7" fmla="*/ 2 h 13"/>
                  <a:gd name="T8" fmla="*/ 67 w 71"/>
                  <a:gd name="T9" fmla="*/ 2 h 13"/>
                  <a:gd name="T10" fmla="*/ 69 w 71"/>
                  <a:gd name="T11" fmla="*/ 2 h 13"/>
                  <a:gd name="T12" fmla="*/ 71 w 71"/>
                  <a:gd name="T13" fmla="*/ 6 h 13"/>
                  <a:gd name="T14" fmla="*/ 71 w 71"/>
                  <a:gd name="T15" fmla="*/ 9 h 13"/>
                  <a:gd name="T16" fmla="*/ 67 w 71"/>
                  <a:gd name="T17" fmla="*/ 11 h 13"/>
                  <a:gd name="T18" fmla="*/ 58 w 71"/>
                  <a:gd name="T19" fmla="*/ 11 h 13"/>
                  <a:gd name="T20" fmla="*/ 51 w 71"/>
                  <a:gd name="T21" fmla="*/ 13 h 13"/>
                  <a:gd name="T22" fmla="*/ 45 w 71"/>
                  <a:gd name="T23" fmla="*/ 13 h 13"/>
                  <a:gd name="T24" fmla="*/ 38 w 71"/>
                  <a:gd name="T25" fmla="*/ 13 h 13"/>
                  <a:gd name="T26" fmla="*/ 29 w 71"/>
                  <a:gd name="T27" fmla="*/ 13 h 13"/>
                  <a:gd name="T28" fmla="*/ 23 w 71"/>
                  <a:gd name="T29" fmla="*/ 13 h 13"/>
                  <a:gd name="T30" fmla="*/ 16 w 71"/>
                  <a:gd name="T31" fmla="*/ 13 h 13"/>
                  <a:gd name="T32" fmla="*/ 9 w 71"/>
                  <a:gd name="T33" fmla="*/ 13 h 13"/>
                  <a:gd name="T34" fmla="*/ 3 w 71"/>
                  <a:gd name="T35" fmla="*/ 11 h 13"/>
                  <a:gd name="T36" fmla="*/ 0 w 71"/>
                  <a:gd name="T37" fmla="*/ 9 h 13"/>
                  <a:gd name="T38" fmla="*/ 0 w 71"/>
                  <a:gd name="T39" fmla="*/ 4 h 13"/>
                  <a:gd name="T40" fmla="*/ 5 w 71"/>
                  <a:gd name="T41" fmla="*/ 2 h 13"/>
                  <a:gd name="T42" fmla="*/ 5 w 71"/>
                  <a:gd name="T43" fmla="*/ 0 h 13"/>
                  <a:gd name="T44" fmla="*/ 9 w 71"/>
                  <a:gd name="T45" fmla="*/ 0 h 13"/>
                  <a:gd name="T46" fmla="*/ 14 w 71"/>
                  <a:gd name="T47" fmla="*/ 0 h 13"/>
                  <a:gd name="T48" fmla="*/ 20 w 71"/>
                  <a:gd name="T49" fmla="*/ 0 h 13"/>
                  <a:gd name="T50" fmla="*/ 25 w 71"/>
                  <a:gd name="T51" fmla="*/ 0 h 13"/>
                  <a:gd name="T52" fmla="*/ 29 w 71"/>
                  <a:gd name="T53" fmla="*/ 2 h 13"/>
                  <a:gd name="T54" fmla="*/ 34 w 71"/>
                  <a:gd name="T55" fmla="*/ 2 h 13"/>
                  <a:gd name="T56" fmla="*/ 38 w 71"/>
                  <a:gd name="T57" fmla="*/ 2 h 13"/>
                  <a:gd name="T58" fmla="*/ 38 w 71"/>
                  <a:gd name="T59" fmla="*/ 2 h 13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w 71"/>
                  <a:gd name="T91" fmla="*/ 0 h 13"/>
                  <a:gd name="T92" fmla="*/ 71 w 71"/>
                  <a:gd name="T93" fmla="*/ 13 h 13"/>
                </a:gdLst>
                <a:ahLst/>
                <a:cxnLst>
                  <a:cxn ang="T60">
                    <a:pos x="T0" y="T1"/>
                  </a:cxn>
                  <a:cxn ang="T61">
                    <a:pos x="T2" y="T3"/>
                  </a:cxn>
                  <a:cxn ang="T62">
                    <a:pos x="T4" y="T5"/>
                  </a:cxn>
                  <a:cxn ang="T63">
                    <a:pos x="T6" y="T7"/>
                  </a:cxn>
                  <a:cxn ang="T64">
                    <a:pos x="T8" y="T9"/>
                  </a:cxn>
                  <a:cxn ang="T65">
                    <a:pos x="T10" y="T11"/>
                  </a:cxn>
                  <a:cxn ang="T66">
                    <a:pos x="T12" y="T13"/>
                  </a:cxn>
                  <a:cxn ang="T67">
                    <a:pos x="T14" y="T15"/>
                  </a:cxn>
                  <a:cxn ang="T68">
                    <a:pos x="T16" y="T17"/>
                  </a:cxn>
                  <a:cxn ang="T69">
                    <a:pos x="T18" y="T19"/>
                  </a:cxn>
                  <a:cxn ang="T70">
                    <a:pos x="T20" y="T21"/>
                  </a:cxn>
                  <a:cxn ang="T71">
                    <a:pos x="T22" y="T23"/>
                  </a:cxn>
                  <a:cxn ang="T72">
                    <a:pos x="T24" y="T25"/>
                  </a:cxn>
                  <a:cxn ang="T73">
                    <a:pos x="T26" y="T27"/>
                  </a:cxn>
                  <a:cxn ang="T74">
                    <a:pos x="T28" y="T29"/>
                  </a:cxn>
                  <a:cxn ang="T75">
                    <a:pos x="T30" y="T31"/>
                  </a:cxn>
                  <a:cxn ang="T76">
                    <a:pos x="T32" y="T33"/>
                  </a:cxn>
                  <a:cxn ang="T77">
                    <a:pos x="T34" y="T35"/>
                  </a:cxn>
                  <a:cxn ang="T78">
                    <a:pos x="T36" y="T37"/>
                  </a:cxn>
                  <a:cxn ang="T79">
                    <a:pos x="T38" y="T39"/>
                  </a:cxn>
                  <a:cxn ang="T80">
                    <a:pos x="T40" y="T41"/>
                  </a:cxn>
                  <a:cxn ang="T81">
                    <a:pos x="T42" y="T43"/>
                  </a:cxn>
                  <a:cxn ang="T82">
                    <a:pos x="T44" y="T45"/>
                  </a:cxn>
                  <a:cxn ang="T83">
                    <a:pos x="T46" y="T47"/>
                  </a:cxn>
                  <a:cxn ang="T84">
                    <a:pos x="T48" y="T49"/>
                  </a:cxn>
                  <a:cxn ang="T85">
                    <a:pos x="T50" y="T51"/>
                  </a:cxn>
                  <a:cxn ang="T86">
                    <a:pos x="T52" y="T53"/>
                  </a:cxn>
                  <a:cxn ang="T87">
                    <a:pos x="T54" y="T55"/>
                  </a:cxn>
                  <a:cxn ang="T88">
                    <a:pos x="T56" y="T57"/>
                  </a:cxn>
                  <a:cxn ang="T89">
                    <a:pos x="T58" y="T59"/>
                  </a:cxn>
                </a:cxnLst>
                <a:rect l="T90" t="T91" r="T92" b="T93"/>
                <a:pathLst>
                  <a:path w="71" h="13">
                    <a:moveTo>
                      <a:pt x="38" y="2"/>
                    </a:moveTo>
                    <a:lnTo>
                      <a:pt x="45" y="2"/>
                    </a:lnTo>
                    <a:lnTo>
                      <a:pt x="54" y="2"/>
                    </a:lnTo>
                    <a:lnTo>
                      <a:pt x="60" y="2"/>
                    </a:lnTo>
                    <a:lnTo>
                      <a:pt x="67" y="2"/>
                    </a:lnTo>
                    <a:lnTo>
                      <a:pt x="69" y="2"/>
                    </a:lnTo>
                    <a:lnTo>
                      <a:pt x="71" y="6"/>
                    </a:lnTo>
                    <a:lnTo>
                      <a:pt x="71" y="9"/>
                    </a:lnTo>
                    <a:lnTo>
                      <a:pt x="67" y="11"/>
                    </a:lnTo>
                    <a:lnTo>
                      <a:pt x="58" y="11"/>
                    </a:lnTo>
                    <a:lnTo>
                      <a:pt x="51" y="13"/>
                    </a:lnTo>
                    <a:lnTo>
                      <a:pt x="45" y="13"/>
                    </a:lnTo>
                    <a:lnTo>
                      <a:pt x="38" y="13"/>
                    </a:lnTo>
                    <a:lnTo>
                      <a:pt x="29" y="13"/>
                    </a:lnTo>
                    <a:lnTo>
                      <a:pt x="23" y="13"/>
                    </a:lnTo>
                    <a:lnTo>
                      <a:pt x="16" y="13"/>
                    </a:lnTo>
                    <a:lnTo>
                      <a:pt x="9" y="13"/>
                    </a:lnTo>
                    <a:lnTo>
                      <a:pt x="3" y="11"/>
                    </a:lnTo>
                    <a:lnTo>
                      <a:pt x="0" y="9"/>
                    </a:lnTo>
                    <a:lnTo>
                      <a:pt x="0" y="4"/>
                    </a:lnTo>
                    <a:lnTo>
                      <a:pt x="5" y="2"/>
                    </a:lnTo>
                    <a:lnTo>
                      <a:pt x="5" y="0"/>
                    </a:lnTo>
                    <a:lnTo>
                      <a:pt x="9" y="0"/>
                    </a:lnTo>
                    <a:lnTo>
                      <a:pt x="14" y="0"/>
                    </a:lnTo>
                    <a:lnTo>
                      <a:pt x="20" y="0"/>
                    </a:lnTo>
                    <a:lnTo>
                      <a:pt x="25" y="0"/>
                    </a:lnTo>
                    <a:lnTo>
                      <a:pt x="29" y="2"/>
                    </a:lnTo>
                    <a:lnTo>
                      <a:pt x="34" y="2"/>
                    </a:lnTo>
                    <a:lnTo>
                      <a:pt x="38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5" name="Freeform 27"/>
              <p:cNvSpPr>
                <a:spLocks/>
              </p:cNvSpPr>
              <p:nvPr/>
            </p:nvSpPr>
            <p:spPr bwMode="auto">
              <a:xfrm>
                <a:off x="2756" y="1026"/>
                <a:ext cx="57" cy="13"/>
              </a:xfrm>
              <a:custGeom>
                <a:avLst/>
                <a:gdLst>
                  <a:gd name="T0" fmla="*/ 37 w 57"/>
                  <a:gd name="T1" fmla="*/ 0 h 13"/>
                  <a:gd name="T2" fmla="*/ 44 w 57"/>
                  <a:gd name="T3" fmla="*/ 0 h 13"/>
                  <a:gd name="T4" fmla="*/ 50 w 57"/>
                  <a:gd name="T5" fmla="*/ 0 h 13"/>
                  <a:gd name="T6" fmla="*/ 53 w 57"/>
                  <a:gd name="T7" fmla="*/ 0 h 13"/>
                  <a:gd name="T8" fmla="*/ 57 w 57"/>
                  <a:gd name="T9" fmla="*/ 2 h 13"/>
                  <a:gd name="T10" fmla="*/ 57 w 57"/>
                  <a:gd name="T11" fmla="*/ 4 h 13"/>
                  <a:gd name="T12" fmla="*/ 57 w 57"/>
                  <a:gd name="T13" fmla="*/ 11 h 13"/>
                  <a:gd name="T14" fmla="*/ 50 w 57"/>
                  <a:gd name="T15" fmla="*/ 11 h 13"/>
                  <a:gd name="T16" fmla="*/ 44 w 57"/>
                  <a:gd name="T17" fmla="*/ 11 h 13"/>
                  <a:gd name="T18" fmla="*/ 39 w 57"/>
                  <a:gd name="T19" fmla="*/ 11 h 13"/>
                  <a:gd name="T20" fmla="*/ 33 w 57"/>
                  <a:gd name="T21" fmla="*/ 13 h 13"/>
                  <a:gd name="T22" fmla="*/ 26 w 57"/>
                  <a:gd name="T23" fmla="*/ 11 h 13"/>
                  <a:gd name="T24" fmla="*/ 19 w 57"/>
                  <a:gd name="T25" fmla="*/ 11 h 13"/>
                  <a:gd name="T26" fmla="*/ 13 w 57"/>
                  <a:gd name="T27" fmla="*/ 11 h 13"/>
                  <a:gd name="T28" fmla="*/ 8 w 57"/>
                  <a:gd name="T29" fmla="*/ 13 h 13"/>
                  <a:gd name="T30" fmla="*/ 2 w 57"/>
                  <a:gd name="T31" fmla="*/ 7 h 13"/>
                  <a:gd name="T32" fmla="*/ 0 w 57"/>
                  <a:gd name="T33" fmla="*/ 4 h 13"/>
                  <a:gd name="T34" fmla="*/ 2 w 57"/>
                  <a:gd name="T35" fmla="*/ 2 h 13"/>
                  <a:gd name="T36" fmla="*/ 6 w 57"/>
                  <a:gd name="T37" fmla="*/ 0 h 13"/>
                  <a:gd name="T38" fmla="*/ 13 w 57"/>
                  <a:gd name="T39" fmla="*/ 0 h 13"/>
                  <a:gd name="T40" fmla="*/ 24 w 57"/>
                  <a:gd name="T41" fmla="*/ 0 h 13"/>
                  <a:gd name="T42" fmla="*/ 31 w 57"/>
                  <a:gd name="T43" fmla="*/ 0 h 13"/>
                  <a:gd name="T44" fmla="*/ 37 w 57"/>
                  <a:gd name="T45" fmla="*/ 0 h 13"/>
                  <a:gd name="T46" fmla="*/ 37 w 57"/>
                  <a:gd name="T47" fmla="*/ 0 h 13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57"/>
                  <a:gd name="T73" fmla="*/ 0 h 13"/>
                  <a:gd name="T74" fmla="*/ 57 w 57"/>
                  <a:gd name="T75" fmla="*/ 13 h 13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57" h="13">
                    <a:moveTo>
                      <a:pt x="37" y="0"/>
                    </a:moveTo>
                    <a:lnTo>
                      <a:pt x="44" y="0"/>
                    </a:lnTo>
                    <a:lnTo>
                      <a:pt x="50" y="0"/>
                    </a:lnTo>
                    <a:lnTo>
                      <a:pt x="53" y="0"/>
                    </a:lnTo>
                    <a:lnTo>
                      <a:pt x="57" y="2"/>
                    </a:lnTo>
                    <a:lnTo>
                      <a:pt x="57" y="4"/>
                    </a:lnTo>
                    <a:lnTo>
                      <a:pt x="57" y="11"/>
                    </a:lnTo>
                    <a:lnTo>
                      <a:pt x="50" y="11"/>
                    </a:lnTo>
                    <a:lnTo>
                      <a:pt x="44" y="11"/>
                    </a:lnTo>
                    <a:lnTo>
                      <a:pt x="39" y="11"/>
                    </a:lnTo>
                    <a:lnTo>
                      <a:pt x="33" y="13"/>
                    </a:lnTo>
                    <a:lnTo>
                      <a:pt x="26" y="11"/>
                    </a:lnTo>
                    <a:lnTo>
                      <a:pt x="19" y="11"/>
                    </a:lnTo>
                    <a:lnTo>
                      <a:pt x="13" y="11"/>
                    </a:lnTo>
                    <a:lnTo>
                      <a:pt x="8" y="13"/>
                    </a:lnTo>
                    <a:lnTo>
                      <a:pt x="2" y="7"/>
                    </a:lnTo>
                    <a:lnTo>
                      <a:pt x="0" y="4"/>
                    </a:lnTo>
                    <a:lnTo>
                      <a:pt x="2" y="2"/>
                    </a:lnTo>
                    <a:lnTo>
                      <a:pt x="6" y="0"/>
                    </a:lnTo>
                    <a:lnTo>
                      <a:pt x="13" y="0"/>
                    </a:lnTo>
                    <a:lnTo>
                      <a:pt x="24" y="0"/>
                    </a:lnTo>
                    <a:lnTo>
                      <a:pt x="31" y="0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6" name="Freeform 28"/>
              <p:cNvSpPr>
                <a:spLocks/>
              </p:cNvSpPr>
              <p:nvPr/>
            </p:nvSpPr>
            <p:spPr bwMode="auto">
              <a:xfrm>
                <a:off x="2778" y="1037"/>
                <a:ext cx="330" cy="51"/>
              </a:xfrm>
              <a:custGeom>
                <a:avLst/>
                <a:gdLst>
                  <a:gd name="T0" fmla="*/ 228 w 330"/>
                  <a:gd name="T1" fmla="*/ 0 h 51"/>
                  <a:gd name="T2" fmla="*/ 239 w 330"/>
                  <a:gd name="T3" fmla="*/ 2 h 51"/>
                  <a:gd name="T4" fmla="*/ 243 w 330"/>
                  <a:gd name="T5" fmla="*/ 7 h 51"/>
                  <a:gd name="T6" fmla="*/ 243 w 330"/>
                  <a:gd name="T7" fmla="*/ 11 h 51"/>
                  <a:gd name="T8" fmla="*/ 219 w 330"/>
                  <a:gd name="T9" fmla="*/ 13 h 51"/>
                  <a:gd name="T10" fmla="*/ 177 w 330"/>
                  <a:gd name="T11" fmla="*/ 18 h 51"/>
                  <a:gd name="T12" fmla="*/ 137 w 330"/>
                  <a:gd name="T13" fmla="*/ 22 h 51"/>
                  <a:gd name="T14" fmla="*/ 95 w 330"/>
                  <a:gd name="T15" fmla="*/ 29 h 51"/>
                  <a:gd name="T16" fmla="*/ 106 w 330"/>
                  <a:gd name="T17" fmla="*/ 29 h 51"/>
                  <a:gd name="T18" fmla="*/ 168 w 330"/>
                  <a:gd name="T19" fmla="*/ 29 h 51"/>
                  <a:gd name="T20" fmla="*/ 230 w 330"/>
                  <a:gd name="T21" fmla="*/ 29 h 51"/>
                  <a:gd name="T22" fmla="*/ 292 w 330"/>
                  <a:gd name="T23" fmla="*/ 29 h 51"/>
                  <a:gd name="T24" fmla="*/ 326 w 330"/>
                  <a:gd name="T25" fmla="*/ 31 h 51"/>
                  <a:gd name="T26" fmla="*/ 330 w 330"/>
                  <a:gd name="T27" fmla="*/ 33 h 51"/>
                  <a:gd name="T28" fmla="*/ 330 w 330"/>
                  <a:gd name="T29" fmla="*/ 38 h 51"/>
                  <a:gd name="T30" fmla="*/ 314 w 330"/>
                  <a:gd name="T31" fmla="*/ 42 h 51"/>
                  <a:gd name="T32" fmla="*/ 288 w 330"/>
                  <a:gd name="T33" fmla="*/ 46 h 51"/>
                  <a:gd name="T34" fmla="*/ 261 w 330"/>
                  <a:gd name="T35" fmla="*/ 46 h 51"/>
                  <a:gd name="T36" fmla="*/ 221 w 330"/>
                  <a:gd name="T37" fmla="*/ 44 h 51"/>
                  <a:gd name="T38" fmla="*/ 168 w 330"/>
                  <a:gd name="T39" fmla="*/ 44 h 51"/>
                  <a:gd name="T40" fmla="*/ 115 w 330"/>
                  <a:gd name="T41" fmla="*/ 46 h 51"/>
                  <a:gd name="T42" fmla="*/ 62 w 330"/>
                  <a:gd name="T43" fmla="*/ 46 h 51"/>
                  <a:gd name="T44" fmla="*/ 31 w 330"/>
                  <a:gd name="T45" fmla="*/ 46 h 51"/>
                  <a:gd name="T46" fmla="*/ 13 w 330"/>
                  <a:gd name="T47" fmla="*/ 49 h 51"/>
                  <a:gd name="T48" fmla="*/ 4 w 330"/>
                  <a:gd name="T49" fmla="*/ 49 h 51"/>
                  <a:gd name="T50" fmla="*/ 0 w 330"/>
                  <a:gd name="T51" fmla="*/ 40 h 51"/>
                  <a:gd name="T52" fmla="*/ 13 w 330"/>
                  <a:gd name="T53" fmla="*/ 31 h 51"/>
                  <a:gd name="T54" fmla="*/ 37 w 330"/>
                  <a:gd name="T55" fmla="*/ 29 h 51"/>
                  <a:gd name="T56" fmla="*/ 62 w 330"/>
                  <a:gd name="T57" fmla="*/ 27 h 51"/>
                  <a:gd name="T58" fmla="*/ 91 w 330"/>
                  <a:gd name="T59" fmla="*/ 18 h 51"/>
                  <a:gd name="T60" fmla="*/ 128 w 330"/>
                  <a:gd name="T61" fmla="*/ 11 h 51"/>
                  <a:gd name="T62" fmla="*/ 166 w 330"/>
                  <a:gd name="T63" fmla="*/ 4 h 51"/>
                  <a:gd name="T64" fmla="*/ 204 w 330"/>
                  <a:gd name="T65" fmla="*/ 0 h 51"/>
                  <a:gd name="T66" fmla="*/ 224 w 330"/>
                  <a:gd name="T67" fmla="*/ 0 h 51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330"/>
                  <a:gd name="T103" fmla="*/ 0 h 51"/>
                  <a:gd name="T104" fmla="*/ 330 w 330"/>
                  <a:gd name="T105" fmla="*/ 51 h 51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330" h="51">
                    <a:moveTo>
                      <a:pt x="224" y="0"/>
                    </a:moveTo>
                    <a:lnTo>
                      <a:pt x="228" y="0"/>
                    </a:lnTo>
                    <a:lnTo>
                      <a:pt x="235" y="0"/>
                    </a:lnTo>
                    <a:lnTo>
                      <a:pt x="239" y="2"/>
                    </a:lnTo>
                    <a:lnTo>
                      <a:pt x="243" y="4"/>
                    </a:lnTo>
                    <a:lnTo>
                      <a:pt x="243" y="7"/>
                    </a:lnTo>
                    <a:lnTo>
                      <a:pt x="246" y="9"/>
                    </a:lnTo>
                    <a:lnTo>
                      <a:pt x="243" y="11"/>
                    </a:lnTo>
                    <a:lnTo>
                      <a:pt x="241" y="13"/>
                    </a:lnTo>
                    <a:lnTo>
                      <a:pt x="219" y="13"/>
                    </a:lnTo>
                    <a:lnTo>
                      <a:pt x="199" y="18"/>
                    </a:lnTo>
                    <a:lnTo>
                      <a:pt x="177" y="18"/>
                    </a:lnTo>
                    <a:lnTo>
                      <a:pt x="157" y="20"/>
                    </a:lnTo>
                    <a:lnTo>
                      <a:pt x="137" y="22"/>
                    </a:lnTo>
                    <a:lnTo>
                      <a:pt x="115" y="27"/>
                    </a:lnTo>
                    <a:lnTo>
                      <a:pt x="95" y="29"/>
                    </a:lnTo>
                    <a:lnTo>
                      <a:pt x="77" y="33"/>
                    </a:lnTo>
                    <a:lnTo>
                      <a:pt x="106" y="29"/>
                    </a:lnTo>
                    <a:lnTo>
                      <a:pt x="137" y="29"/>
                    </a:lnTo>
                    <a:lnTo>
                      <a:pt x="168" y="29"/>
                    </a:lnTo>
                    <a:lnTo>
                      <a:pt x="199" y="29"/>
                    </a:lnTo>
                    <a:lnTo>
                      <a:pt x="230" y="29"/>
                    </a:lnTo>
                    <a:lnTo>
                      <a:pt x="261" y="31"/>
                    </a:lnTo>
                    <a:lnTo>
                      <a:pt x="292" y="29"/>
                    </a:lnTo>
                    <a:lnTo>
                      <a:pt x="323" y="29"/>
                    </a:lnTo>
                    <a:lnTo>
                      <a:pt x="326" y="31"/>
                    </a:lnTo>
                    <a:lnTo>
                      <a:pt x="330" y="33"/>
                    </a:lnTo>
                    <a:lnTo>
                      <a:pt x="330" y="35"/>
                    </a:lnTo>
                    <a:lnTo>
                      <a:pt x="330" y="38"/>
                    </a:lnTo>
                    <a:lnTo>
                      <a:pt x="323" y="42"/>
                    </a:lnTo>
                    <a:lnTo>
                      <a:pt x="314" y="42"/>
                    </a:lnTo>
                    <a:lnTo>
                      <a:pt x="301" y="46"/>
                    </a:lnTo>
                    <a:lnTo>
                      <a:pt x="288" y="46"/>
                    </a:lnTo>
                    <a:lnTo>
                      <a:pt x="275" y="46"/>
                    </a:lnTo>
                    <a:lnTo>
                      <a:pt x="261" y="46"/>
                    </a:lnTo>
                    <a:lnTo>
                      <a:pt x="248" y="46"/>
                    </a:lnTo>
                    <a:lnTo>
                      <a:pt x="221" y="44"/>
                    </a:lnTo>
                    <a:lnTo>
                      <a:pt x="195" y="44"/>
                    </a:lnTo>
                    <a:lnTo>
                      <a:pt x="168" y="44"/>
                    </a:lnTo>
                    <a:lnTo>
                      <a:pt x="142" y="46"/>
                    </a:lnTo>
                    <a:lnTo>
                      <a:pt x="115" y="46"/>
                    </a:lnTo>
                    <a:lnTo>
                      <a:pt x="88" y="46"/>
                    </a:lnTo>
                    <a:lnTo>
                      <a:pt x="62" y="46"/>
                    </a:lnTo>
                    <a:lnTo>
                      <a:pt x="35" y="46"/>
                    </a:lnTo>
                    <a:lnTo>
                      <a:pt x="31" y="46"/>
                    </a:lnTo>
                    <a:lnTo>
                      <a:pt x="22" y="49"/>
                    </a:lnTo>
                    <a:lnTo>
                      <a:pt x="13" y="49"/>
                    </a:lnTo>
                    <a:lnTo>
                      <a:pt x="9" y="51"/>
                    </a:lnTo>
                    <a:lnTo>
                      <a:pt x="4" y="49"/>
                    </a:lnTo>
                    <a:lnTo>
                      <a:pt x="0" y="46"/>
                    </a:lnTo>
                    <a:lnTo>
                      <a:pt x="0" y="40"/>
                    </a:lnTo>
                    <a:lnTo>
                      <a:pt x="4" y="35"/>
                    </a:lnTo>
                    <a:lnTo>
                      <a:pt x="13" y="31"/>
                    </a:lnTo>
                    <a:lnTo>
                      <a:pt x="24" y="31"/>
                    </a:lnTo>
                    <a:lnTo>
                      <a:pt x="37" y="29"/>
                    </a:lnTo>
                    <a:lnTo>
                      <a:pt x="48" y="29"/>
                    </a:lnTo>
                    <a:lnTo>
                      <a:pt x="62" y="27"/>
                    </a:lnTo>
                    <a:lnTo>
                      <a:pt x="71" y="24"/>
                    </a:lnTo>
                    <a:lnTo>
                      <a:pt x="91" y="18"/>
                    </a:lnTo>
                    <a:lnTo>
                      <a:pt x="108" y="15"/>
                    </a:lnTo>
                    <a:lnTo>
                      <a:pt x="128" y="11"/>
                    </a:lnTo>
                    <a:lnTo>
                      <a:pt x="146" y="9"/>
                    </a:lnTo>
                    <a:lnTo>
                      <a:pt x="166" y="4"/>
                    </a:lnTo>
                    <a:lnTo>
                      <a:pt x="184" y="2"/>
                    </a:lnTo>
                    <a:lnTo>
                      <a:pt x="204" y="0"/>
                    </a:lnTo>
                    <a:lnTo>
                      <a:pt x="224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7" name="Freeform 29"/>
              <p:cNvSpPr>
                <a:spLocks/>
              </p:cNvSpPr>
              <p:nvPr/>
            </p:nvSpPr>
            <p:spPr bwMode="auto">
              <a:xfrm>
                <a:off x="2744" y="1090"/>
                <a:ext cx="388" cy="22"/>
              </a:xfrm>
              <a:custGeom>
                <a:avLst/>
                <a:gdLst>
                  <a:gd name="T0" fmla="*/ 379 w 388"/>
                  <a:gd name="T1" fmla="*/ 0 h 22"/>
                  <a:gd name="T2" fmla="*/ 384 w 388"/>
                  <a:gd name="T3" fmla="*/ 0 h 22"/>
                  <a:gd name="T4" fmla="*/ 388 w 388"/>
                  <a:gd name="T5" fmla="*/ 5 h 22"/>
                  <a:gd name="T6" fmla="*/ 388 w 388"/>
                  <a:gd name="T7" fmla="*/ 9 h 22"/>
                  <a:gd name="T8" fmla="*/ 384 w 388"/>
                  <a:gd name="T9" fmla="*/ 13 h 22"/>
                  <a:gd name="T10" fmla="*/ 366 w 388"/>
                  <a:gd name="T11" fmla="*/ 13 h 22"/>
                  <a:gd name="T12" fmla="*/ 348 w 388"/>
                  <a:gd name="T13" fmla="*/ 13 h 22"/>
                  <a:gd name="T14" fmla="*/ 328 w 388"/>
                  <a:gd name="T15" fmla="*/ 16 h 22"/>
                  <a:gd name="T16" fmla="*/ 311 w 388"/>
                  <a:gd name="T17" fmla="*/ 18 h 22"/>
                  <a:gd name="T18" fmla="*/ 291 w 388"/>
                  <a:gd name="T19" fmla="*/ 18 h 22"/>
                  <a:gd name="T20" fmla="*/ 273 w 388"/>
                  <a:gd name="T21" fmla="*/ 20 h 22"/>
                  <a:gd name="T22" fmla="*/ 253 w 388"/>
                  <a:gd name="T23" fmla="*/ 20 h 22"/>
                  <a:gd name="T24" fmla="*/ 233 w 388"/>
                  <a:gd name="T25" fmla="*/ 20 h 22"/>
                  <a:gd name="T26" fmla="*/ 215 w 388"/>
                  <a:gd name="T27" fmla="*/ 20 h 22"/>
                  <a:gd name="T28" fmla="*/ 200 w 388"/>
                  <a:gd name="T29" fmla="*/ 20 h 22"/>
                  <a:gd name="T30" fmla="*/ 184 w 388"/>
                  <a:gd name="T31" fmla="*/ 20 h 22"/>
                  <a:gd name="T32" fmla="*/ 169 w 388"/>
                  <a:gd name="T33" fmla="*/ 20 h 22"/>
                  <a:gd name="T34" fmla="*/ 153 w 388"/>
                  <a:gd name="T35" fmla="*/ 20 h 22"/>
                  <a:gd name="T36" fmla="*/ 136 w 388"/>
                  <a:gd name="T37" fmla="*/ 22 h 22"/>
                  <a:gd name="T38" fmla="*/ 118 w 388"/>
                  <a:gd name="T39" fmla="*/ 22 h 22"/>
                  <a:gd name="T40" fmla="*/ 100 w 388"/>
                  <a:gd name="T41" fmla="*/ 22 h 22"/>
                  <a:gd name="T42" fmla="*/ 89 w 388"/>
                  <a:gd name="T43" fmla="*/ 22 h 22"/>
                  <a:gd name="T44" fmla="*/ 76 w 388"/>
                  <a:gd name="T45" fmla="*/ 22 h 22"/>
                  <a:gd name="T46" fmla="*/ 65 w 388"/>
                  <a:gd name="T47" fmla="*/ 22 h 22"/>
                  <a:gd name="T48" fmla="*/ 54 w 388"/>
                  <a:gd name="T49" fmla="*/ 22 h 22"/>
                  <a:gd name="T50" fmla="*/ 40 w 388"/>
                  <a:gd name="T51" fmla="*/ 22 h 22"/>
                  <a:gd name="T52" fmla="*/ 29 w 388"/>
                  <a:gd name="T53" fmla="*/ 22 h 22"/>
                  <a:gd name="T54" fmla="*/ 18 w 388"/>
                  <a:gd name="T55" fmla="*/ 22 h 22"/>
                  <a:gd name="T56" fmla="*/ 7 w 388"/>
                  <a:gd name="T57" fmla="*/ 22 h 22"/>
                  <a:gd name="T58" fmla="*/ 0 w 388"/>
                  <a:gd name="T59" fmla="*/ 16 h 22"/>
                  <a:gd name="T60" fmla="*/ 3 w 388"/>
                  <a:gd name="T61" fmla="*/ 11 h 22"/>
                  <a:gd name="T62" fmla="*/ 12 w 388"/>
                  <a:gd name="T63" fmla="*/ 7 h 22"/>
                  <a:gd name="T64" fmla="*/ 25 w 388"/>
                  <a:gd name="T65" fmla="*/ 7 h 22"/>
                  <a:gd name="T66" fmla="*/ 40 w 388"/>
                  <a:gd name="T67" fmla="*/ 5 h 22"/>
                  <a:gd name="T68" fmla="*/ 56 w 388"/>
                  <a:gd name="T69" fmla="*/ 7 h 22"/>
                  <a:gd name="T70" fmla="*/ 69 w 388"/>
                  <a:gd name="T71" fmla="*/ 7 h 22"/>
                  <a:gd name="T72" fmla="*/ 80 w 388"/>
                  <a:gd name="T73" fmla="*/ 7 h 22"/>
                  <a:gd name="T74" fmla="*/ 102 w 388"/>
                  <a:gd name="T75" fmla="*/ 7 h 22"/>
                  <a:gd name="T76" fmla="*/ 122 w 388"/>
                  <a:gd name="T77" fmla="*/ 7 h 22"/>
                  <a:gd name="T78" fmla="*/ 145 w 388"/>
                  <a:gd name="T79" fmla="*/ 7 h 22"/>
                  <a:gd name="T80" fmla="*/ 167 w 388"/>
                  <a:gd name="T81" fmla="*/ 7 h 22"/>
                  <a:gd name="T82" fmla="*/ 187 w 388"/>
                  <a:gd name="T83" fmla="*/ 7 h 22"/>
                  <a:gd name="T84" fmla="*/ 209 w 388"/>
                  <a:gd name="T85" fmla="*/ 7 h 22"/>
                  <a:gd name="T86" fmla="*/ 229 w 388"/>
                  <a:gd name="T87" fmla="*/ 7 h 22"/>
                  <a:gd name="T88" fmla="*/ 251 w 388"/>
                  <a:gd name="T89" fmla="*/ 7 h 22"/>
                  <a:gd name="T90" fmla="*/ 264 w 388"/>
                  <a:gd name="T91" fmla="*/ 7 h 22"/>
                  <a:gd name="T92" fmla="*/ 280 w 388"/>
                  <a:gd name="T93" fmla="*/ 7 h 22"/>
                  <a:gd name="T94" fmla="*/ 295 w 388"/>
                  <a:gd name="T95" fmla="*/ 5 h 22"/>
                  <a:gd name="T96" fmla="*/ 311 w 388"/>
                  <a:gd name="T97" fmla="*/ 5 h 22"/>
                  <a:gd name="T98" fmla="*/ 326 w 388"/>
                  <a:gd name="T99" fmla="*/ 2 h 22"/>
                  <a:gd name="T100" fmla="*/ 344 w 388"/>
                  <a:gd name="T101" fmla="*/ 2 h 22"/>
                  <a:gd name="T102" fmla="*/ 360 w 388"/>
                  <a:gd name="T103" fmla="*/ 0 h 22"/>
                  <a:gd name="T104" fmla="*/ 379 w 388"/>
                  <a:gd name="T105" fmla="*/ 0 h 22"/>
                  <a:gd name="T106" fmla="*/ 379 w 388"/>
                  <a:gd name="T107" fmla="*/ 0 h 22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388"/>
                  <a:gd name="T163" fmla="*/ 0 h 22"/>
                  <a:gd name="T164" fmla="*/ 388 w 388"/>
                  <a:gd name="T165" fmla="*/ 22 h 22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388" h="22">
                    <a:moveTo>
                      <a:pt x="379" y="0"/>
                    </a:moveTo>
                    <a:lnTo>
                      <a:pt x="384" y="0"/>
                    </a:lnTo>
                    <a:lnTo>
                      <a:pt x="388" y="5"/>
                    </a:lnTo>
                    <a:lnTo>
                      <a:pt x="388" y="9"/>
                    </a:lnTo>
                    <a:lnTo>
                      <a:pt x="384" y="13"/>
                    </a:lnTo>
                    <a:lnTo>
                      <a:pt x="366" y="13"/>
                    </a:lnTo>
                    <a:lnTo>
                      <a:pt x="348" y="13"/>
                    </a:lnTo>
                    <a:lnTo>
                      <a:pt x="328" y="16"/>
                    </a:lnTo>
                    <a:lnTo>
                      <a:pt x="311" y="18"/>
                    </a:lnTo>
                    <a:lnTo>
                      <a:pt x="291" y="18"/>
                    </a:lnTo>
                    <a:lnTo>
                      <a:pt x="273" y="20"/>
                    </a:lnTo>
                    <a:lnTo>
                      <a:pt x="253" y="20"/>
                    </a:lnTo>
                    <a:lnTo>
                      <a:pt x="233" y="20"/>
                    </a:lnTo>
                    <a:lnTo>
                      <a:pt x="215" y="20"/>
                    </a:lnTo>
                    <a:lnTo>
                      <a:pt x="200" y="20"/>
                    </a:lnTo>
                    <a:lnTo>
                      <a:pt x="184" y="20"/>
                    </a:lnTo>
                    <a:lnTo>
                      <a:pt x="169" y="20"/>
                    </a:lnTo>
                    <a:lnTo>
                      <a:pt x="153" y="20"/>
                    </a:lnTo>
                    <a:lnTo>
                      <a:pt x="136" y="22"/>
                    </a:lnTo>
                    <a:lnTo>
                      <a:pt x="118" y="22"/>
                    </a:lnTo>
                    <a:lnTo>
                      <a:pt x="100" y="22"/>
                    </a:lnTo>
                    <a:lnTo>
                      <a:pt x="89" y="22"/>
                    </a:lnTo>
                    <a:lnTo>
                      <a:pt x="76" y="22"/>
                    </a:lnTo>
                    <a:lnTo>
                      <a:pt x="65" y="22"/>
                    </a:lnTo>
                    <a:lnTo>
                      <a:pt x="54" y="22"/>
                    </a:lnTo>
                    <a:lnTo>
                      <a:pt x="40" y="22"/>
                    </a:lnTo>
                    <a:lnTo>
                      <a:pt x="29" y="22"/>
                    </a:lnTo>
                    <a:lnTo>
                      <a:pt x="18" y="22"/>
                    </a:lnTo>
                    <a:lnTo>
                      <a:pt x="7" y="22"/>
                    </a:lnTo>
                    <a:lnTo>
                      <a:pt x="0" y="16"/>
                    </a:lnTo>
                    <a:lnTo>
                      <a:pt x="3" y="11"/>
                    </a:lnTo>
                    <a:lnTo>
                      <a:pt x="12" y="7"/>
                    </a:lnTo>
                    <a:lnTo>
                      <a:pt x="25" y="7"/>
                    </a:lnTo>
                    <a:lnTo>
                      <a:pt x="40" y="5"/>
                    </a:lnTo>
                    <a:lnTo>
                      <a:pt x="56" y="7"/>
                    </a:lnTo>
                    <a:lnTo>
                      <a:pt x="69" y="7"/>
                    </a:lnTo>
                    <a:lnTo>
                      <a:pt x="80" y="7"/>
                    </a:lnTo>
                    <a:lnTo>
                      <a:pt x="102" y="7"/>
                    </a:lnTo>
                    <a:lnTo>
                      <a:pt x="122" y="7"/>
                    </a:lnTo>
                    <a:lnTo>
                      <a:pt x="145" y="7"/>
                    </a:lnTo>
                    <a:lnTo>
                      <a:pt x="167" y="7"/>
                    </a:lnTo>
                    <a:lnTo>
                      <a:pt x="187" y="7"/>
                    </a:lnTo>
                    <a:lnTo>
                      <a:pt x="209" y="7"/>
                    </a:lnTo>
                    <a:lnTo>
                      <a:pt x="229" y="7"/>
                    </a:lnTo>
                    <a:lnTo>
                      <a:pt x="251" y="7"/>
                    </a:lnTo>
                    <a:lnTo>
                      <a:pt x="264" y="7"/>
                    </a:lnTo>
                    <a:lnTo>
                      <a:pt x="280" y="7"/>
                    </a:lnTo>
                    <a:lnTo>
                      <a:pt x="295" y="5"/>
                    </a:lnTo>
                    <a:lnTo>
                      <a:pt x="311" y="5"/>
                    </a:lnTo>
                    <a:lnTo>
                      <a:pt x="326" y="2"/>
                    </a:lnTo>
                    <a:lnTo>
                      <a:pt x="344" y="2"/>
                    </a:lnTo>
                    <a:lnTo>
                      <a:pt x="360" y="0"/>
                    </a:lnTo>
                    <a:lnTo>
                      <a:pt x="379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8" name="Freeform 30"/>
              <p:cNvSpPr>
                <a:spLocks/>
              </p:cNvSpPr>
              <p:nvPr/>
            </p:nvSpPr>
            <p:spPr bwMode="auto">
              <a:xfrm>
                <a:off x="2702" y="1172"/>
                <a:ext cx="410" cy="27"/>
              </a:xfrm>
              <a:custGeom>
                <a:avLst/>
                <a:gdLst>
                  <a:gd name="T0" fmla="*/ 390 w 410"/>
                  <a:gd name="T1" fmla="*/ 0 h 27"/>
                  <a:gd name="T2" fmla="*/ 397 w 410"/>
                  <a:gd name="T3" fmla="*/ 0 h 27"/>
                  <a:gd name="T4" fmla="*/ 404 w 410"/>
                  <a:gd name="T5" fmla="*/ 2 h 27"/>
                  <a:gd name="T6" fmla="*/ 406 w 410"/>
                  <a:gd name="T7" fmla="*/ 2 h 27"/>
                  <a:gd name="T8" fmla="*/ 410 w 410"/>
                  <a:gd name="T9" fmla="*/ 7 h 27"/>
                  <a:gd name="T10" fmla="*/ 408 w 410"/>
                  <a:gd name="T11" fmla="*/ 9 h 27"/>
                  <a:gd name="T12" fmla="*/ 404 w 410"/>
                  <a:gd name="T13" fmla="*/ 13 h 27"/>
                  <a:gd name="T14" fmla="*/ 397 w 410"/>
                  <a:gd name="T15" fmla="*/ 13 h 27"/>
                  <a:gd name="T16" fmla="*/ 386 w 410"/>
                  <a:gd name="T17" fmla="*/ 13 h 27"/>
                  <a:gd name="T18" fmla="*/ 375 w 410"/>
                  <a:gd name="T19" fmla="*/ 16 h 27"/>
                  <a:gd name="T20" fmla="*/ 364 w 410"/>
                  <a:gd name="T21" fmla="*/ 16 h 27"/>
                  <a:gd name="T22" fmla="*/ 351 w 410"/>
                  <a:gd name="T23" fmla="*/ 16 h 27"/>
                  <a:gd name="T24" fmla="*/ 339 w 410"/>
                  <a:gd name="T25" fmla="*/ 18 h 27"/>
                  <a:gd name="T26" fmla="*/ 328 w 410"/>
                  <a:gd name="T27" fmla="*/ 18 h 27"/>
                  <a:gd name="T28" fmla="*/ 322 w 410"/>
                  <a:gd name="T29" fmla="*/ 18 h 27"/>
                  <a:gd name="T30" fmla="*/ 286 w 410"/>
                  <a:gd name="T31" fmla="*/ 20 h 27"/>
                  <a:gd name="T32" fmla="*/ 251 w 410"/>
                  <a:gd name="T33" fmla="*/ 22 h 27"/>
                  <a:gd name="T34" fmla="*/ 213 w 410"/>
                  <a:gd name="T35" fmla="*/ 22 h 27"/>
                  <a:gd name="T36" fmla="*/ 175 w 410"/>
                  <a:gd name="T37" fmla="*/ 22 h 27"/>
                  <a:gd name="T38" fmla="*/ 140 w 410"/>
                  <a:gd name="T39" fmla="*/ 22 h 27"/>
                  <a:gd name="T40" fmla="*/ 102 w 410"/>
                  <a:gd name="T41" fmla="*/ 22 h 27"/>
                  <a:gd name="T42" fmla="*/ 65 w 410"/>
                  <a:gd name="T43" fmla="*/ 22 h 27"/>
                  <a:gd name="T44" fmla="*/ 31 w 410"/>
                  <a:gd name="T45" fmla="*/ 27 h 27"/>
                  <a:gd name="T46" fmla="*/ 25 w 410"/>
                  <a:gd name="T47" fmla="*/ 24 h 27"/>
                  <a:gd name="T48" fmla="*/ 18 w 410"/>
                  <a:gd name="T49" fmla="*/ 24 h 27"/>
                  <a:gd name="T50" fmla="*/ 14 w 410"/>
                  <a:gd name="T51" fmla="*/ 24 h 27"/>
                  <a:gd name="T52" fmla="*/ 9 w 410"/>
                  <a:gd name="T53" fmla="*/ 24 h 27"/>
                  <a:gd name="T54" fmla="*/ 3 w 410"/>
                  <a:gd name="T55" fmla="*/ 22 h 27"/>
                  <a:gd name="T56" fmla="*/ 0 w 410"/>
                  <a:gd name="T57" fmla="*/ 18 h 27"/>
                  <a:gd name="T58" fmla="*/ 0 w 410"/>
                  <a:gd name="T59" fmla="*/ 13 h 27"/>
                  <a:gd name="T60" fmla="*/ 11 w 410"/>
                  <a:gd name="T61" fmla="*/ 11 h 27"/>
                  <a:gd name="T62" fmla="*/ 31 w 410"/>
                  <a:gd name="T63" fmla="*/ 9 h 27"/>
                  <a:gd name="T64" fmla="*/ 58 w 410"/>
                  <a:gd name="T65" fmla="*/ 9 h 27"/>
                  <a:gd name="T66" fmla="*/ 85 w 410"/>
                  <a:gd name="T67" fmla="*/ 7 h 27"/>
                  <a:gd name="T68" fmla="*/ 111 w 410"/>
                  <a:gd name="T69" fmla="*/ 7 h 27"/>
                  <a:gd name="T70" fmla="*/ 138 w 410"/>
                  <a:gd name="T71" fmla="*/ 7 h 27"/>
                  <a:gd name="T72" fmla="*/ 158 w 410"/>
                  <a:gd name="T73" fmla="*/ 7 h 27"/>
                  <a:gd name="T74" fmla="*/ 187 w 410"/>
                  <a:gd name="T75" fmla="*/ 7 h 27"/>
                  <a:gd name="T76" fmla="*/ 218 w 410"/>
                  <a:gd name="T77" fmla="*/ 7 h 27"/>
                  <a:gd name="T78" fmla="*/ 246 w 410"/>
                  <a:gd name="T79" fmla="*/ 7 h 27"/>
                  <a:gd name="T80" fmla="*/ 277 w 410"/>
                  <a:gd name="T81" fmla="*/ 7 h 27"/>
                  <a:gd name="T82" fmla="*/ 306 w 410"/>
                  <a:gd name="T83" fmla="*/ 5 h 27"/>
                  <a:gd name="T84" fmla="*/ 335 w 410"/>
                  <a:gd name="T85" fmla="*/ 2 h 27"/>
                  <a:gd name="T86" fmla="*/ 362 w 410"/>
                  <a:gd name="T87" fmla="*/ 2 h 27"/>
                  <a:gd name="T88" fmla="*/ 390 w 410"/>
                  <a:gd name="T89" fmla="*/ 0 h 27"/>
                  <a:gd name="T90" fmla="*/ 390 w 410"/>
                  <a:gd name="T91" fmla="*/ 0 h 27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w 410"/>
                  <a:gd name="T139" fmla="*/ 0 h 27"/>
                  <a:gd name="T140" fmla="*/ 410 w 410"/>
                  <a:gd name="T141" fmla="*/ 27 h 27"/>
                </a:gdLst>
                <a:ahLst/>
                <a:cxnLst>
                  <a:cxn ang="T92">
                    <a:pos x="T0" y="T1"/>
                  </a:cxn>
                  <a:cxn ang="T93">
                    <a:pos x="T2" y="T3"/>
                  </a:cxn>
                  <a:cxn ang="T94">
                    <a:pos x="T4" y="T5"/>
                  </a:cxn>
                  <a:cxn ang="T95">
                    <a:pos x="T6" y="T7"/>
                  </a:cxn>
                  <a:cxn ang="T96">
                    <a:pos x="T8" y="T9"/>
                  </a:cxn>
                  <a:cxn ang="T97">
                    <a:pos x="T10" y="T11"/>
                  </a:cxn>
                  <a:cxn ang="T98">
                    <a:pos x="T12" y="T13"/>
                  </a:cxn>
                  <a:cxn ang="T99">
                    <a:pos x="T14" y="T15"/>
                  </a:cxn>
                  <a:cxn ang="T100">
                    <a:pos x="T16" y="T17"/>
                  </a:cxn>
                  <a:cxn ang="T101">
                    <a:pos x="T18" y="T19"/>
                  </a:cxn>
                  <a:cxn ang="T102">
                    <a:pos x="T20" y="T21"/>
                  </a:cxn>
                  <a:cxn ang="T103">
                    <a:pos x="T22" y="T23"/>
                  </a:cxn>
                  <a:cxn ang="T104">
                    <a:pos x="T24" y="T25"/>
                  </a:cxn>
                  <a:cxn ang="T105">
                    <a:pos x="T26" y="T27"/>
                  </a:cxn>
                  <a:cxn ang="T106">
                    <a:pos x="T28" y="T29"/>
                  </a:cxn>
                  <a:cxn ang="T107">
                    <a:pos x="T30" y="T31"/>
                  </a:cxn>
                  <a:cxn ang="T108">
                    <a:pos x="T32" y="T33"/>
                  </a:cxn>
                  <a:cxn ang="T109">
                    <a:pos x="T34" y="T35"/>
                  </a:cxn>
                  <a:cxn ang="T110">
                    <a:pos x="T36" y="T37"/>
                  </a:cxn>
                  <a:cxn ang="T111">
                    <a:pos x="T38" y="T39"/>
                  </a:cxn>
                  <a:cxn ang="T112">
                    <a:pos x="T40" y="T41"/>
                  </a:cxn>
                  <a:cxn ang="T113">
                    <a:pos x="T42" y="T43"/>
                  </a:cxn>
                  <a:cxn ang="T114">
                    <a:pos x="T44" y="T45"/>
                  </a:cxn>
                  <a:cxn ang="T115">
                    <a:pos x="T46" y="T47"/>
                  </a:cxn>
                  <a:cxn ang="T116">
                    <a:pos x="T48" y="T49"/>
                  </a:cxn>
                  <a:cxn ang="T117">
                    <a:pos x="T50" y="T51"/>
                  </a:cxn>
                  <a:cxn ang="T118">
                    <a:pos x="T52" y="T53"/>
                  </a:cxn>
                  <a:cxn ang="T119">
                    <a:pos x="T54" y="T55"/>
                  </a:cxn>
                  <a:cxn ang="T120">
                    <a:pos x="T56" y="T57"/>
                  </a:cxn>
                  <a:cxn ang="T121">
                    <a:pos x="T58" y="T59"/>
                  </a:cxn>
                  <a:cxn ang="T122">
                    <a:pos x="T60" y="T61"/>
                  </a:cxn>
                  <a:cxn ang="T123">
                    <a:pos x="T62" y="T63"/>
                  </a:cxn>
                  <a:cxn ang="T124">
                    <a:pos x="T64" y="T65"/>
                  </a:cxn>
                  <a:cxn ang="T125">
                    <a:pos x="T66" y="T67"/>
                  </a:cxn>
                  <a:cxn ang="T126">
                    <a:pos x="T68" y="T69"/>
                  </a:cxn>
                  <a:cxn ang="T127">
                    <a:pos x="T70" y="T71"/>
                  </a:cxn>
                  <a:cxn ang="T128">
                    <a:pos x="T72" y="T73"/>
                  </a:cxn>
                  <a:cxn ang="T129">
                    <a:pos x="T74" y="T75"/>
                  </a:cxn>
                  <a:cxn ang="T130">
                    <a:pos x="T76" y="T77"/>
                  </a:cxn>
                  <a:cxn ang="T131">
                    <a:pos x="T78" y="T79"/>
                  </a:cxn>
                  <a:cxn ang="T132">
                    <a:pos x="T80" y="T81"/>
                  </a:cxn>
                  <a:cxn ang="T133">
                    <a:pos x="T82" y="T83"/>
                  </a:cxn>
                  <a:cxn ang="T134">
                    <a:pos x="T84" y="T85"/>
                  </a:cxn>
                  <a:cxn ang="T135">
                    <a:pos x="T86" y="T87"/>
                  </a:cxn>
                  <a:cxn ang="T136">
                    <a:pos x="T88" y="T89"/>
                  </a:cxn>
                  <a:cxn ang="T137">
                    <a:pos x="T90" y="T91"/>
                  </a:cxn>
                </a:cxnLst>
                <a:rect l="T138" t="T139" r="T140" b="T141"/>
                <a:pathLst>
                  <a:path w="410" h="27">
                    <a:moveTo>
                      <a:pt x="390" y="0"/>
                    </a:moveTo>
                    <a:lnTo>
                      <a:pt x="397" y="0"/>
                    </a:lnTo>
                    <a:lnTo>
                      <a:pt x="404" y="2"/>
                    </a:lnTo>
                    <a:lnTo>
                      <a:pt x="406" y="2"/>
                    </a:lnTo>
                    <a:lnTo>
                      <a:pt x="410" y="7"/>
                    </a:lnTo>
                    <a:lnTo>
                      <a:pt x="408" y="9"/>
                    </a:lnTo>
                    <a:lnTo>
                      <a:pt x="404" y="13"/>
                    </a:lnTo>
                    <a:lnTo>
                      <a:pt x="397" y="13"/>
                    </a:lnTo>
                    <a:lnTo>
                      <a:pt x="386" y="13"/>
                    </a:lnTo>
                    <a:lnTo>
                      <a:pt x="375" y="16"/>
                    </a:lnTo>
                    <a:lnTo>
                      <a:pt x="364" y="16"/>
                    </a:lnTo>
                    <a:lnTo>
                      <a:pt x="351" y="16"/>
                    </a:lnTo>
                    <a:lnTo>
                      <a:pt x="339" y="18"/>
                    </a:lnTo>
                    <a:lnTo>
                      <a:pt x="328" y="18"/>
                    </a:lnTo>
                    <a:lnTo>
                      <a:pt x="322" y="18"/>
                    </a:lnTo>
                    <a:lnTo>
                      <a:pt x="286" y="20"/>
                    </a:lnTo>
                    <a:lnTo>
                      <a:pt x="251" y="22"/>
                    </a:lnTo>
                    <a:lnTo>
                      <a:pt x="213" y="22"/>
                    </a:lnTo>
                    <a:lnTo>
                      <a:pt x="175" y="22"/>
                    </a:lnTo>
                    <a:lnTo>
                      <a:pt x="140" y="22"/>
                    </a:lnTo>
                    <a:lnTo>
                      <a:pt x="102" y="22"/>
                    </a:lnTo>
                    <a:lnTo>
                      <a:pt x="65" y="22"/>
                    </a:lnTo>
                    <a:lnTo>
                      <a:pt x="31" y="27"/>
                    </a:lnTo>
                    <a:lnTo>
                      <a:pt x="25" y="24"/>
                    </a:lnTo>
                    <a:lnTo>
                      <a:pt x="18" y="24"/>
                    </a:lnTo>
                    <a:lnTo>
                      <a:pt x="14" y="24"/>
                    </a:lnTo>
                    <a:lnTo>
                      <a:pt x="9" y="24"/>
                    </a:lnTo>
                    <a:lnTo>
                      <a:pt x="3" y="22"/>
                    </a:lnTo>
                    <a:lnTo>
                      <a:pt x="0" y="18"/>
                    </a:lnTo>
                    <a:lnTo>
                      <a:pt x="0" y="13"/>
                    </a:lnTo>
                    <a:lnTo>
                      <a:pt x="11" y="11"/>
                    </a:lnTo>
                    <a:lnTo>
                      <a:pt x="31" y="9"/>
                    </a:lnTo>
                    <a:lnTo>
                      <a:pt x="58" y="9"/>
                    </a:lnTo>
                    <a:lnTo>
                      <a:pt x="85" y="7"/>
                    </a:lnTo>
                    <a:lnTo>
                      <a:pt x="111" y="7"/>
                    </a:lnTo>
                    <a:lnTo>
                      <a:pt x="138" y="7"/>
                    </a:lnTo>
                    <a:lnTo>
                      <a:pt x="158" y="7"/>
                    </a:lnTo>
                    <a:lnTo>
                      <a:pt x="187" y="7"/>
                    </a:lnTo>
                    <a:lnTo>
                      <a:pt x="218" y="7"/>
                    </a:lnTo>
                    <a:lnTo>
                      <a:pt x="246" y="7"/>
                    </a:lnTo>
                    <a:lnTo>
                      <a:pt x="277" y="7"/>
                    </a:lnTo>
                    <a:lnTo>
                      <a:pt x="306" y="5"/>
                    </a:lnTo>
                    <a:lnTo>
                      <a:pt x="335" y="2"/>
                    </a:lnTo>
                    <a:lnTo>
                      <a:pt x="362" y="2"/>
                    </a:lnTo>
                    <a:lnTo>
                      <a:pt x="390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29" name="Freeform 31"/>
              <p:cNvSpPr>
                <a:spLocks/>
              </p:cNvSpPr>
              <p:nvPr/>
            </p:nvSpPr>
            <p:spPr bwMode="auto">
              <a:xfrm>
                <a:off x="2791" y="826"/>
                <a:ext cx="242" cy="23"/>
              </a:xfrm>
              <a:custGeom>
                <a:avLst/>
                <a:gdLst>
                  <a:gd name="T0" fmla="*/ 188 w 242"/>
                  <a:gd name="T1" fmla="*/ 0 h 23"/>
                  <a:gd name="T2" fmla="*/ 193 w 242"/>
                  <a:gd name="T3" fmla="*/ 0 h 23"/>
                  <a:gd name="T4" fmla="*/ 199 w 242"/>
                  <a:gd name="T5" fmla="*/ 0 h 23"/>
                  <a:gd name="T6" fmla="*/ 206 w 242"/>
                  <a:gd name="T7" fmla="*/ 0 h 23"/>
                  <a:gd name="T8" fmla="*/ 213 w 242"/>
                  <a:gd name="T9" fmla="*/ 0 h 23"/>
                  <a:gd name="T10" fmla="*/ 219 w 242"/>
                  <a:gd name="T11" fmla="*/ 0 h 23"/>
                  <a:gd name="T12" fmla="*/ 226 w 242"/>
                  <a:gd name="T13" fmla="*/ 0 h 23"/>
                  <a:gd name="T14" fmla="*/ 233 w 242"/>
                  <a:gd name="T15" fmla="*/ 0 h 23"/>
                  <a:gd name="T16" fmla="*/ 239 w 242"/>
                  <a:gd name="T17" fmla="*/ 0 h 23"/>
                  <a:gd name="T18" fmla="*/ 242 w 242"/>
                  <a:gd name="T19" fmla="*/ 5 h 23"/>
                  <a:gd name="T20" fmla="*/ 239 w 242"/>
                  <a:gd name="T21" fmla="*/ 12 h 23"/>
                  <a:gd name="T22" fmla="*/ 230 w 242"/>
                  <a:gd name="T23" fmla="*/ 14 h 23"/>
                  <a:gd name="T24" fmla="*/ 219 w 242"/>
                  <a:gd name="T25" fmla="*/ 16 h 23"/>
                  <a:gd name="T26" fmla="*/ 208 w 242"/>
                  <a:gd name="T27" fmla="*/ 16 h 23"/>
                  <a:gd name="T28" fmla="*/ 197 w 242"/>
                  <a:gd name="T29" fmla="*/ 18 h 23"/>
                  <a:gd name="T30" fmla="*/ 186 w 242"/>
                  <a:gd name="T31" fmla="*/ 18 h 23"/>
                  <a:gd name="T32" fmla="*/ 175 w 242"/>
                  <a:gd name="T33" fmla="*/ 18 h 23"/>
                  <a:gd name="T34" fmla="*/ 162 w 242"/>
                  <a:gd name="T35" fmla="*/ 18 h 23"/>
                  <a:gd name="T36" fmla="*/ 153 w 242"/>
                  <a:gd name="T37" fmla="*/ 18 h 23"/>
                  <a:gd name="T38" fmla="*/ 135 w 242"/>
                  <a:gd name="T39" fmla="*/ 18 h 23"/>
                  <a:gd name="T40" fmla="*/ 117 w 242"/>
                  <a:gd name="T41" fmla="*/ 18 h 23"/>
                  <a:gd name="T42" fmla="*/ 100 w 242"/>
                  <a:gd name="T43" fmla="*/ 18 h 23"/>
                  <a:gd name="T44" fmla="*/ 82 w 242"/>
                  <a:gd name="T45" fmla="*/ 20 h 23"/>
                  <a:gd name="T46" fmla="*/ 62 w 242"/>
                  <a:gd name="T47" fmla="*/ 20 h 23"/>
                  <a:gd name="T48" fmla="*/ 44 w 242"/>
                  <a:gd name="T49" fmla="*/ 20 h 23"/>
                  <a:gd name="T50" fmla="*/ 24 w 242"/>
                  <a:gd name="T51" fmla="*/ 20 h 23"/>
                  <a:gd name="T52" fmla="*/ 9 w 242"/>
                  <a:gd name="T53" fmla="*/ 23 h 23"/>
                  <a:gd name="T54" fmla="*/ 2 w 242"/>
                  <a:gd name="T55" fmla="*/ 18 h 23"/>
                  <a:gd name="T56" fmla="*/ 0 w 242"/>
                  <a:gd name="T57" fmla="*/ 16 h 23"/>
                  <a:gd name="T58" fmla="*/ 0 w 242"/>
                  <a:gd name="T59" fmla="*/ 14 h 23"/>
                  <a:gd name="T60" fmla="*/ 4 w 242"/>
                  <a:gd name="T61" fmla="*/ 9 h 23"/>
                  <a:gd name="T62" fmla="*/ 15 w 242"/>
                  <a:gd name="T63" fmla="*/ 9 h 23"/>
                  <a:gd name="T64" fmla="*/ 27 w 242"/>
                  <a:gd name="T65" fmla="*/ 7 h 23"/>
                  <a:gd name="T66" fmla="*/ 38 w 242"/>
                  <a:gd name="T67" fmla="*/ 7 h 23"/>
                  <a:gd name="T68" fmla="*/ 51 w 242"/>
                  <a:gd name="T69" fmla="*/ 7 h 23"/>
                  <a:gd name="T70" fmla="*/ 60 w 242"/>
                  <a:gd name="T71" fmla="*/ 7 h 23"/>
                  <a:gd name="T72" fmla="*/ 71 w 242"/>
                  <a:gd name="T73" fmla="*/ 7 h 23"/>
                  <a:gd name="T74" fmla="*/ 84 w 242"/>
                  <a:gd name="T75" fmla="*/ 7 h 23"/>
                  <a:gd name="T76" fmla="*/ 95 w 242"/>
                  <a:gd name="T77" fmla="*/ 7 h 23"/>
                  <a:gd name="T78" fmla="*/ 104 w 242"/>
                  <a:gd name="T79" fmla="*/ 5 h 23"/>
                  <a:gd name="T80" fmla="*/ 117 w 242"/>
                  <a:gd name="T81" fmla="*/ 5 h 23"/>
                  <a:gd name="T82" fmla="*/ 129 w 242"/>
                  <a:gd name="T83" fmla="*/ 3 h 23"/>
                  <a:gd name="T84" fmla="*/ 140 w 242"/>
                  <a:gd name="T85" fmla="*/ 3 h 23"/>
                  <a:gd name="T86" fmla="*/ 153 w 242"/>
                  <a:gd name="T87" fmla="*/ 3 h 23"/>
                  <a:gd name="T88" fmla="*/ 164 w 242"/>
                  <a:gd name="T89" fmla="*/ 0 h 23"/>
                  <a:gd name="T90" fmla="*/ 177 w 242"/>
                  <a:gd name="T91" fmla="*/ 0 h 23"/>
                  <a:gd name="T92" fmla="*/ 188 w 242"/>
                  <a:gd name="T93" fmla="*/ 0 h 23"/>
                  <a:gd name="T94" fmla="*/ 188 w 242"/>
                  <a:gd name="T95" fmla="*/ 0 h 23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2"/>
                  <a:gd name="T145" fmla="*/ 0 h 23"/>
                  <a:gd name="T146" fmla="*/ 242 w 242"/>
                  <a:gd name="T147" fmla="*/ 23 h 23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2" h="23">
                    <a:moveTo>
                      <a:pt x="188" y="0"/>
                    </a:moveTo>
                    <a:lnTo>
                      <a:pt x="193" y="0"/>
                    </a:lnTo>
                    <a:lnTo>
                      <a:pt x="199" y="0"/>
                    </a:lnTo>
                    <a:lnTo>
                      <a:pt x="206" y="0"/>
                    </a:lnTo>
                    <a:lnTo>
                      <a:pt x="213" y="0"/>
                    </a:lnTo>
                    <a:lnTo>
                      <a:pt x="219" y="0"/>
                    </a:lnTo>
                    <a:lnTo>
                      <a:pt x="226" y="0"/>
                    </a:lnTo>
                    <a:lnTo>
                      <a:pt x="233" y="0"/>
                    </a:lnTo>
                    <a:lnTo>
                      <a:pt x="239" y="0"/>
                    </a:lnTo>
                    <a:lnTo>
                      <a:pt x="242" y="5"/>
                    </a:lnTo>
                    <a:lnTo>
                      <a:pt x="239" y="12"/>
                    </a:lnTo>
                    <a:lnTo>
                      <a:pt x="230" y="14"/>
                    </a:lnTo>
                    <a:lnTo>
                      <a:pt x="219" y="16"/>
                    </a:lnTo>
                    <a:lnTo>
                      <a:pt x="208" y="16"/>
                    </a:lnTo>
                    <a:lnTo>
                      <a:pt x="197" y="18"/>
                    </a:lnTo>
                    <a:lnTo>
                      <a:pt x="186" y="18"/>
                    </a:lnTo>
                    <a:lnTo>
                      <a:pt x="175" y="18"/>
                    </a:lnTo>
                    <a:lnTo>
                      <a:pt x="162" y="18"/>
                    </a:lnTo>
                    <a:lnTo>
                      <a:pt x="153" y="18"/>
                    </a:lnTo>
                    <a:lnTo>
                      <a:pt x="135" y="18"/>
                    </a:lnTo>
                    <a:lnTo>
                      <a:pt x="117" y="18"/>
                    </a:lnTo>
                    <a:lnTo>
                      <a:pt x="100" y="18"/>
                    </a:lnTo>
                    <a:lnTo>
                      <a:pt x="82" y="20"/>
                    </a:lnTo>
                    <a:lnTo>
                      <a:pt x="62" y="20"/>
                    </a:lnTo>
                    <a:lnTo>
                      <a:pt x="44" y="20"/>
                    </a:lnTo>
                    <a:lnTo>
                      <a:pt x="24" y="20"/>
                    </a:lnTo>
                    <a:lnTo>
                      <a:pt x="9" y="23"/>
                    </a:lnTo>
                    <a:lnTo>
                      <a:pt x="2" y="18"/>
                    </a:lnTo>
                    <a:lnTo>
                      <a:pt x="0" y="16"/>
                    </a:lnTo>
                    <a:lnTo>
                      <a:pt x="0" y="14"/>
                    </a:lnTo>
                    <a:lnTo>
                      <a:pt x="4" y="9"/>
                    </a:lnTo>
                    <a:lnTo>
                      <a:pt x="15" y="9"/>
                    </a:lnTo>
                    <a:lnTo>
                      <a:pt x="27" y="7"/>
                    </a:lnTo>
                    <a:lnTo>
                      <a:pt x="38" y="7"/>
                    </a:lnTo>
                    <a:lnTo>
                      <a:pt x="51" y="7"/>
                    </a:lnTo>
                    <a:lnTo>
                      <a:pt x="60" y="7"/>
                    </a:lnTo>
                    <a:lnTo>
                      <a:pt x="71" y="7"/>
                    </a:lnTo>
                    <a:lnTo>
                      <a:pt x="84" y="7"/>
                    </a:lnTo>
                    <a:lnTo>
                      <a:pt x="95" y="7"/>
                    </a:lnTo>
                    <a:lnTo>
                      <a:pt x="104" y="5"/>
                    </a:lnTo>
                    <a:lnTo>
                      <a:pt x="117" y="5"/>
                    </a:lnTo>
                    <a:lnTo>
                      <a:pt x="129" y="3"/>
                    </a:lnTo>
                    <a:lnTo>
                      <a:pt x="140" y="3"/>
                    </a:lnTo>
                    <a:lnTo>
                      <a:pt x="153" y="3"/>
                    </a:lnTo>
                    <a:lnTo>
                      <a:pt x="164" y="0"/>
                    </a:lnTo>
                    <a:lnTo>
                      <a:pt x="177" y="0"/>
                    </a:lnTo>
                    <a:lnTo>
                      <a:pt x="188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0" name="Freeform 32"/>
              <p:cNvSpPr>
                <a:spLocks/>
              </p:cNvSpPr>
              <p:nvPr/>
            </p:nvSpPr>
            <p:spPr bwMode="auto">
              <a:xfrm>
                <a:off x="2787" y="988"/>
                <a:ext cx="308" cy="25"/>
              </a:xfrm>
              <a:custGeom>
                <a:avLst/>
                <a:gdLst>
                  <a:gd name="T0" fmla="*/ 254 w 308"/>
                  <a:gd name="T1" fmla="*/ 0 h 25"/>
                  <a:gd name="T2" fmla="*/ 257 w 308"/>
                  <a:gd name="T3" fmla="*/ 0 h 25"/>
                  <a:gd name="T4" fmla="*/ 263 w 308"/>
                  <a:gd name="T5" fmla="*/ 0 h 25"/>
                  <a:gd name="T6" fmla="*/ 270 w 308"/>
                  <a:gd name="T7" fmla="*/ 0 h 25"/>
                  <a:gd name="T8" fmla="*/ 279 w 308"/>
                  <a:gd name="T9" fmla="*/ 0 h 25"/>
                  <a:gd name="T10" fmla="*/ 288 w 308"/>
                  <a:gd name="T11" fmla="*/ 0 h 25"/>
                  <a:gd name="T12" fmla="*/ 297 w 308"/>
                  <a:gd name="T13" fmla="*/ 0 h 25"/>
                  <a:gd name="T14" fmla="*/ 303 w 308"/>
                  <a:gd name="T15" fmla="*/ 0 h 25"/>
                  <a:gd name="T16" fmla="*/ 308 w 308"/>
                  <a:gd name="T17" fmla="*/ 2 h 25"/>
                  <a:gd name="T18" fmla="*/ 308 w 308"/>
                  <a:gd name="T19" fmla="*/ 7 h 25"/>
                  <a:gd name="T20" fmla="*/ 303 w 308"/>
                  <a:gd name="T21" fmla="*/ 9 h 25"/>
                  <a:gd name="T22" fmla="*/ 299 w 308"/>
                  <a:gd name="T23" fmla="*/ 11 h 25"/>
                  <a:gd name="T24" fmla="*/ 292 w 308"/>
                  <a:gd name="T25" fmla="*/ 11 h 25"/>
                  <a:gd name="T26" fmla="*/ 288 w 308"/>
                  <a:gd name="T27" fmla="*/ 11 h 25"/>
                  <a:gd name="T28" fmla="*/ 281 w 308"/>
                  <a:gd name="T29" fmla="*/ 14 h 25"/>
                  <a:gd name="T30" fmla="*/ 252 w 308"/>
                  <a:gd name="T31" fmla="*/ 14 h 25"/>
                  <a:gd name="T32" fmla="*/ 219 w 308"/>
                  <a:gd name="T33" fmla="*/ 16 h 25"/>
                  <a:gd name="T34" fmla="*/ 186 w 308"/>
                  <a:gd name="T35" fmla="*/ 16 h 25"/>
                  <a:gd name="T36" fmla="*/ 152 w 308"/>
                  <a:gd name="T37" fmla="*/ 20 h 25"/>
                  <a:gd name="T38" fmla="*/ 117 w 308"/>
                  <a:gd name="T39" fmla="*/ 20 h 25"/>
                  <a:gd name="T40" fmla="*/ 84 w 308"/>
                  <a:gd name="T41" fmla="*/ 20 h 25"/>
                  <a:gd name="T42" fmla="*/ 53 w 308"/>
                  <a:gd name="T43" fmla="*/ 22 h 25"/>
                  <a:gd name="T44" fmla="*/ 24 w 308"/>
                  <a:gd name="T45" fmla="*/ 25 h 25"/>
                  <a:gd name="T46" fmla="*/ 13 w 308"/>
                  <a:gd name="T47" fmla="*/ 22 h 25"/>
                  <a:gd name="T48" fmla="*/ 6 w 308"/>
                  <a:gd name="T49" fmla="*/ 20 h 25"/>
                  <a:gd name="T50" fmla="*/ 2 w 308"/>
                  <a:gd name="T51" fmla="*/ 20 h 25"/>
                  <a:gd name="T52" fmla="*/ 0 w 308"/>
                  <a:gd name="T53" fmla="*/ 20 h 25"/>
                  <a:gd name="T54" fmla="*/ 2 w 308"/>
                  <a:gd name="T55" fmla="*/ 16 h 25"/>
                  <a:gd name="T56" fmla="*/ 8 w 308"/>
                  <a:gd name="T57" fmla="*/ 14 h 25"/>
                  <a:gd name="T58" fmla="*/ 35 w 308"/>
                  <a:gd name="T59" fmla="*/ 9 h 25"/>
                  <a:gd name="T60" fmla="*/ 66 w 308"/>
                  <a:gd name="T61" fmla="*/ 9 h 25"/>
                  <a:gd name="T62" fmla="*/ 99 w 308"/>
                  <a:gd name="T63" fmla="*/ 9 h 25"/>
                  <a:gd name="T64" fmla="*/ 133 w 308"/>
                  <a:gd name="T65" fmla="*/ 7 h 25"/>
                  <a:gd name="T66" fmla="*/ 166 w 308"/>
                  <a:gd name="T67" fmla="*/ 5 h 25"/>
                  <a:gd name="T68" fmla="*/ 197 w 308"/>
                  <a:gd name="T69" fmla="*/ 5 h 25"/>
                  <a:gd name="T70" fmla="*/ 228 w 308"/>
                  <a:gd name="T71" fmla="*/ 2 h 25"/>
                  <a:gd name="T72" fmla="*/ 254 w 308"/>
                  <a:gd name="T73" fmla="*/ 0 h 25"/>
                  <a:gd name="T74" fmla="*/ 254 w 308"/>
                  <a:gd name="T75" fmla="*/ 0 h 25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308"/>
                  <a:gd name="T115" fmla="*/ 0 h 25"/>
                  <a:gd name="T116" fmla="*/ 308 w 308"/>
                  <a:gd name="T117" fmla="*/ 25 h 25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308" h="25">
                    <a:moveTo>
                      <a:pt x="254" y="0"/>
                    </a:moveTo>
                    <a:lnTo>
                      <a:pt x="257" y="0"/>
                    </a:lnTo>
                    <a:lnTo>
                      <a:pt x="263" y="0"/>
                    </a:lnTo>
                    <a:lnTo>
                      <a:pt x="270" y="0"/>
                    </a:lnTo>
                    <a:lnTo>
                      <a:pt x="279" y="0"/>
                    </a:lnTo>
                    <a:lnTo>
                      <a:pt x="288" y="0"/>
                    </a:lnTo>
                    <a:lnTo>
                      <a:pt x="297" y="0"/>
                    </a:lnTo>
                    <a:lnTo>
                      <a:pt x="303" y="0"/>
                    </a:lnTo>
                    <a:lnTo>
                      <a:pt x="308" y="2"/>
                    </a:lnTo>
                    <a:lnTo>
                      <a:pt x="308" y="7"/>
                    </a:lnTo>
                    <a:lnTo>
                      <a:pt x="303" y="9"/>
                    </a:lnTo>
                    <a:lnTo>
                      <a:pt x="299" y="11"/>
                    </a:lnTo>
                    <a:lnTo>
                      <a:pt x="292" y="11"/>
                    </a:lnTo>
                    <a:lnTo>
                      <a:pt x="288" y="11"/>
                    </a:lnTo>
                    <a:lnTo>
                      <a:pt x="281" y="14"/>
                    </a:lnTo>
                    <a:lnTo>
                      <a:pt x="252" y="14"/>
                    </a:lnTo>
                    <a:lnTo>
                      <a:pt x="219" y="16"/>
                    </a:lnTo>
                    <a:lnTo>
                      <a:pt x="186" y="16"/>
                    </a:lnTo>
                    <a:lnTo>
                      <a:pt x="152" y="20"/>
                    </a:lnTo>
                    <a:lnTo>
                      <a:pt x="117" y="20"/>
                    </a:lnTo>
                    <a:lnTo>
                      <a:pt x="84" y="20"/>
                    </a:lnTo>
                    <a:lnTo>
                      <a:pt x="53" y="22"/>
                    </a:lnTo>
                    <a:lnTo>
                      <a:pt x="24" y="25"/>
                    </a:lnTo>
                    <a:lnTo>
                      <a:pt x="13" y="22"/>
                    </a:lnTo>
                    <a:lnTo>
                      <a:pt x="6" y="20"/>
                    </a:lnTo>
                    <a:lnTo>
                      <a:pt x="2" y="20"/>
                    </a:lnTo>
                    <a:lnTo>
                      <a:pt x="0" y="20"/>
                    </a:lnTo>
                    <a:lnTo>
                      <a:pt x="2" y="16"/>
                    </a:lnTo>
                    <a:lnTo>
                      <a:pt x="8" y="14"/>
                    </a:lnTo>
                    <a:lnTo>
                      <a:pt x="35" y="9"/>
                    </a:lnTo>
                    <a:lnTo>
                      <a:pt x="66" y="9"/>
                    </a:lnTo>
                    <a:lnTo>
                      <a:pt x="99" y="9"/>
                    </a:lnTo>
                    <a:lnTo>
                      <a:pt x="133" y="7"/>
                    </a:lnTo>
                    <a:lnTo>
                      <a:pt x="166" y="5"/>
                    </a:lnTo>
                    <a:lnTo>
                      <a:pt x="197" y="5"/>
                    </a:lnTo>
                    <a:lnTo>
                      <a:pt x="228" y="2"/>
                    </a:lnTo>
                    <a:lnTo>
                      <a:pt x="254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1" name="Freeform 33"/>
              <p:cNvSpPr>
                <a:spLocks/>
              </p:cNvSpPr>
              <p:nvPr/>
            </p:nvSpPr>
            <p:spPr bwMode="auto">
              <a:xfrm>
                <a:off x="2762" y="882"/>
                <a:ext cx="310" cy="24"/>
              </a:xfrm>
              <a:custGeom>
                <a:avLst/>
                <a:gdLst>
                  <a:gd name="T0" fmla="*/ 255 w 310"/>
                  <a:gd name="T1" fmla="*/ 2 h 24"/>
                  <a:gd name="T2" fmla="*/ 257 w 310"/>
                  <a:gd name="T3" fmla="*/ 2 h 24"/>
                  <a:gd name="T4" fmla="*/ 264 w 310"/>
                  <a:gd name="T5" fmla="*/ 2 h 24"/>
                  <a:gd name="T6" fmla="*/ 271 w 310"/>
                  <a:gd name="T7" fmla="*/ 0 h 24"/>
                  <a:gd name="T8" fmla="*/ 279 w 310"/>
                  <a:gd name="T9" fmla="*/ 0 h 24"/>
                  <a:gd name="T10" fmla="*/ 288 w 310"/>
                  <a:gd name="T11" fmla="*/ 0 h 24"/>
                  <a:gd name="T12" fmla="*/ 297 w 310"/>
                  <a:gd name="T13" fmla="*/ 0 h 24"/>
                  <a:gd name="T14" fmla="*/ 304 w 310"/>
                  <a:gd name="T15" fmla="*/ 2 h 24"/>
                  <a:gd name="T16" fmla="*/ 308 w 310"/>
                  <a:gd name="T17" fmla="*/ 4 h 24"/>
                  <a:gd name="T18" fmla="*/ 310 w 310"/>
                  <a:gd name="T19" fmla="*/ 6 h 24"/>
                  <a:gd name="T20" fmla="*/ 304 w 310"/>
                  <a:gd name="T21" fmla="*/ 11 h 24"/>
                  <a:gd name="T22" fmla="*/ 299 w 310"/>
                  <a:gd name="T23" fmla="*/ 11 h 24"/>
                  <a:gd name="T24" fmla="*/ 293 w 310"/>
                  <a:gd name="T25" fmla="*/ 13 h 24"/>
                  <a:gd name="T26" fmla="*/ 288 w 310"/>
                  <a:gd name="T27" fmla="*/ 13 h 24"/>
                  <a:gd name="T28" fmla="*/ 282 w 310"/>
                  <a:gd name="T29" fmla="*/ 13 h 24"/>
                  <a:gd name="T30" fmla="*/ 253 w 310"/>
                  <a:gd name="T31" fmla="*/ 15 h 24"/>
                  <a:gd name="T32" fmla="*/ 222 w 310"/>
                  <a:gd name="T33" fmla="*/ 18 h 24"/>
                  <a:gd name="T34" fmla="*/ 186 w 310"/>
                  <a:gd name="T35" fmla="*/ 18 h 24"/>
                  <a:gd name="T36" fmla="*/ 153 w 310"/>
                  <a:gd name="T37" fmla="*/ 20 h 24"/>
                  <a:gd name="T38" fmla="*/ 120 w 310"/>
                  <a:gd name="T39" fmla="*/ 22 h 24"/>
                  <a:gd name="T40" fmla="*/ 87 w 310"/>
                  <a:gd name="T41" fmla="*/ 22 h 24"/>
                  <a:gd name="T42" fmla="*/ 53 w 310"/>
                  <a:gd name="T43" fmla="*/ 24 h 24"/>
                  <a:gd name="T44" fmla="*/ 27 w 310"/>
                  <a:gd name="T45" fmla="*/ 24 h 24"/>
                  <a:gd name="T46" fmla="*/ 16 w 310"/>
                  <a:gd name="T47" fmla="*/ 24 h 24"/>
                  <a:gd name="T48" fmla="*/ 9 w 310"/>
                  <a:gd name="T49" fmla="*/ 22 h 24"/>
                  <a:gd name="T50" fmla="*/ 5 w 310"/>
                  <a:gd name="T51" fmla="*/ 22 h 24"/>
                  <a:gd name="T52" fmla="*/ 2 w 310"/>
                  <a:gd name="T53" fmla="*/ 20 h 24"/>
                  <a:gd name="T54" fmla="*/ 0 w 310"/>
                  <a:gd name="T55" fmla="*/ 18 h 24"/>
                  <a:gd name="T56" fmla="*/ 2 w 310"/>
                  <a:gd name="T57" fmla="*/ 18 h 24"/>
                  <a:gd name="T58" fmla="*/ 5 w 310"/>
                  <a:gd name="T59" fmla="*/ 15 h 24"/>
                  <a:gd name="T60" fmla="*/ 9 w 310"/>
                  <a:gd name="T61" fmla="*/ 13 h 24"/>
                  <a:gd name="T62" fmla="*/ 36 w 310"/>
                  <a:gd name="T63" fmla="*/ 11 h 24"/>
                  <a:gd name="T64" fmla="*/ 67 w 310"/>
                  <a:gd name="T65" fmla="*/ 11 h 24"/>
                  <a:gd name="T66" fmla="*/ 100 w 310"/>
                  <a:gd name="T67" fmla="*/ 9 h 24"/>
                  <a:gd name="T68" fmla="*/ 133 w 310"/>
                  <a:gd name="T69" fmla="*/ 9 h 24"/>
                  <a:gd name="T70" fmla="*/ 166 w 310"/>
                  <a:gd name="T71" fmla="*/ 6 h 24"/>
                  <a:gd name="T72" fmla="*/ 200 w 310"/>
                  <a:gd name="T73" fmla="*/ 6 h 24"/>
                  <a:gd name="T74" fmla="*/ 228 w 310"/>
                  <a:gd name="T75" fmla="*/ 4 h 24"/>
                  <a:gd name="T76" fmla="*/ 255 w 310"/>
                  <a:gd name="T77" fmla="*/ 2 h 24"/>
                  <a:gd name="T78" fmla="*/ 255 w 310"/>
                  <a:gd name="T79" fmla="*/ 2 h 24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310"/>
                  <a:gd name="T121" fmla="*/ 0 h 24"/>
                  <a:gd name="T122" fmla="*/ 310 w 310"/>
                  <a:gd name="T123" fmla="*/ 24 h 24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310" h="24">
                    <a:moveTo>
                      <a:pt x="255" y="2"/>
                    </a:moveTo>
                    <a:lnTo>
                      <a:pt x="257" y="2"/>
                    </a:lnTo>
                    <a:lnTo>
                      <a:pt x="264" y="2"/>
                    </a:lnTo>
                    <a:lnTo>
                      <a:pt x="271" y="0"/>
                    </a:lnTo>
                    <a:lnTo>
                      <a:pt x="279" y="0"/>
                    </a:lnTo>
                    <a:lnTo>
                      <a:pt x="288" y="0"/>
                    </a:lnTo>
                    <a:lnTo>
                      <a:pt x="297" y="0"/>
                    </a:lnTo>
                    <a:lnTo>
                      <a:pt x="304" y="2"/>
                    </a:lnTo>
                    <a:lnTo>
                      <a:pt x="308" y="4"/>
                    </a:lnTo>
                    <a:lnTo>
                      <a:pt x="310" y="6"/>
                    </a:lnTo>
                    <a:lnTo>
                      <a:pt x="304" y="11"/>
                    </a:lnTo>
                    <a:lnTo>
                      <a:pt x="299" y="11"/>
                    </a:lnTo>
                    <a:lnTo>
                      <a:pt x="293" y="13"/>
                    </a:lnTo>
                    <a:lnTo>
                      <a:pt x="288" y="13"/>
                    </a:lnTo>
                    <a:lnTo>
                      <a:pt x="282" y="13"/>
                    </a:lnTo>
                    <a:lnTo>
                      <a:pt x="253" y="15"/>
                    </a:lnTo>
                    <a:lnTo>
                      <a:pt x="222" y="18"/>
                    </a:lnTo>
                    <a:lnTo>
                      <a:pt x="186" y="18"/>
                    </a:lnTo>
                    <a:lnTo>
                      <a:pt x="153" y="20"/>
                    </a:lnTo>
                    <a:lnTo>
                      <a:pt x="120" y="22"/>
                    </a:lnTo>
                    <a:lnTo>
                      <a:pt x="87" y="22"/>
                    </a:lnTo>
                    <a:lnTo>
                      <a:pt x="53" y="24"/>
                    </a:lnTo>
                    <a:lnTo>
                      <a:pt x="27" y="24"/>
                    </a:lnTo>
                    <a:lnTo>
                      <a:pt x="16" y="24"/>
                    </a:lnTo>
                    <a:lnTo>
                      <a:pt x="9" y="22"/>
                    </a:lnTo>
                    <a:lnTo>
                      <a:pt x="5" y="22"/>
                    </a:lnTo>
                    <a:lnTo>
                      <a:pt x="2" y="20"/>
                    </a:lnTo>
                    <a:lnTo>
                      <a:pt x="0" y="18"/>
                    </a:lnTo>
                    <a:lnTo>
                      <a:pt x="2" y="18"/>
                    </a:lnTo>
                    <a:lnTo>
                      <a:pt x="5" y="15"/>
                    </a:lnTo>
                    <a:lnTo>
                      <a:pt x="9" y="13"/>
                    </a:lnTo>
                    <a:lnTo>
                      <a:pt x="36" y="11"/>
                    </a:lnTo>
                    <a:lnTo>
                      <a:pt x="67" y="11"/>
                    </a:lnTo>
                    <a:lnTo>
                      <a:pt x="100" y="9"/>
                    </a:lnTo>
                    <a:lnTo>
                      <a:pt x="133" y="9"/>
                    </a:lnTo>
                    <a:lnTo>
                      <a:pt x="166" y="6"/>
                    </a:lnTo>
                    <a:lnTo>
                      <a:pt x="200" y="6"/>
                    </a:lnTo>
                    <a:lnTo>
                      <a:pt x="228" y="4"/>
                    </a:lnTo>
                    <a:lnTo>
                      <a:pt x="255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2" name="Freeform 34"/>
              <p:cNvSpPr>
                <a:spLocks/>
              </p:cNvSpPr>
              <p:nvPr/>
            </p:nvSpPr>
            <p:spPr bwMode="auto">
              <a:xfrm>
                <a:off x="2775" y="1148"/>
                <a:ext cx="242" cy="20"/>
              </a:xfrm>
              <a:custGeom>
                <a:avLst/>
                <a:gdLst>
                  <a:gd name="T0" fmla="*/ 189 w 242"/>
                  <a:gd name="T1" fmla="*/ 0 h 20"/>
                  <a:gd name="T2" fmla="*/ 193 w 242"/>
                  <a:gd name="T3" fmla="*/ 0 h 20"/>
                  <a:gd name="T4" fmla="*/ 198 w 242"/>
                  <a:gd name="T5" fmla="*/ 0 h 20"/>
                  <a:gd name="T6" fmla="*/ 204 w 242"/>
                  <a:gd name="T7" fmla="*/ 0 h 20"/>
                  <a:gd name="T8" fmla="*/ 213 w 242"/>
                  <a:gd name="T9" fmla="*/ 0 h 20"/>
                  <a:gd name="T10" fmla="*/ 220 w 242"/>
                  <a:gd name="T11" fmla="*/ 0 h 20"/>
                  <a:gd name="T12" fmla="*/ 227 w 242"/>
                  <a:gd name="T13" fmla="*/ 0 h 20"/>
                  <a:gd name="T14" fmla="*/ 233 w 242"/>
                  <a:gd name="T15" fmla="*/ 0 h 20"/>
                  <a:gd name="T16" fmla="*/ 240 w 242"/>
                  <a:gd name="T17" fmla="*/ 0 h 20"/>
                  <a:gd name="T18" fmla="*/ 242 w 242"/>
                  <a:gd name="T19" fmla="*/ 2 h 20"/>
                  <a:gd name="T20" fmla="*/ 240 w 242"/>
                  <a:gd name="T21" fmla="*/ 9 h 20"/>
                  <a:gd name="T22" fmla="*/ 231 w 242"/>
                  <a:gd name="T23" fmla="*/ 11 h 20"/>
                  <a:gd name="T24" fmla="*/ 220 w 242"/>
                  <a:gd name="T25" fmla="*/ 13 h 20"/>
                  <a:gd name="T26" fmla="*/ 209 w 242"/>
                  <a:gd name="T27" fmla="*/ 13 h 20"/>
                  <a:gd name="T28" fmla="*/ 198 w 242"/>
                  <a:gd name="T29" fmla="*/ 15 h 20"/>
                  <a:gd name="T30" fmla="*/ 184 w 242"/>
                  <a:gd name="T31" fmla="*/ 15 h 20"/>
                  <a:gd name="T32" fmla="*/ 173 w 242"/>
                  <a:gd name="T33" fmla="*/ 15 h 20"/>
                  <a:gd name="T34" fmla="*/ 162 w 242"/>
                  <a:gd name="T35" fmla="*/ 15 h 20"/>
                  <a:gd name="T36" fmla="*/ 153 w 242"/>
                  <a:gd name="T37" fmla="*/ 15 h 20"/>
                  <a:gd name="T38" fmla="*/ 136 w 242"/>
                  <a:gd name="T39" fmla="*/ 15 h 20"/>
                  <a:gd name="T40" fmla="*/ 118 w 242"/>
                  <a:gd name="T41" fmla="*/ 15 h 20"/>
                  <a:gd name="T42" fmla="*/ 100 w 242"/>
                  <a:gd name="T43" fmla="*/ 15 h 20"/>
                  <a:gd name="T44" fmla="*/ 80 w 242"/>
                  <a:gd name="T45" fmla="*/ 17 h 20"/>
                  <a:gd name="T46" fmla="*/ 63 w 242"/>
                  <a:gd name="T47" fmla="*/ 17 h 20"/>
                  <a:gd name="T48" fmla="*/ 43 w 242"/>
                  <a:gd name="T49" fmla="*/ 17 h 20"/>
                  <a:gd name="T50" fmla="*/ 25 w 242"/>
                  <a:gd name="T51" fmla="*/ 17 h 20"/>
                  <a:gd name="T52" fmla="*/ 9 w 242"/>
                  <a:gd name="T53" fmla="*/ 20 h 20"/>
                  <a:gd name="T54" fmla="*/ 3 w 242"/>
                  <a:gd name="T55" fmla="*/ 17 h 20"/>
                  <a:gd name="T56" fmla="*/ 0 w 242"/>
                  <a:gd name="T57" fmla="*/ 15 h 20"/>
                  <a:gd name="T58" fmla="*/ 0 w 242"/>
                  <a:gd name="T59" fmla="*/ 11 h 20"/>
                  <a:gd name="T60" fmla="*/ 5 w 242"/>
                  <a:gd name="T61" fmla="*/ 9 h 20"/>
                  <a:gd name="T62" fmla="*/ 16 w 242"/>
                  <a:gd name="T63" fmla="*/ 6 h 20"/>
                  <a:gd name="T64" fmla="*/ 27 w 242"/>
                  <a:gd name="T65" fmla="*/ 6 h 20"/>
                  <a:gd name="T66" fmla="*/ 38 w 242"/>
                  <a:gd name="T67" fmla="*/ 6 h 20"/>
                  <a:gd name="T68" fmla="*/ 49 w 242"/>
                  <a:gd name="T69" fmla="*/ 6 h 20"/>
                  <a:gd name="T70" fmla="*/ 60 w 242"/>
                  <a:gd name="T71" fmla="*/ 4 h 20"/>
                  <a:gd name="T72" fmla="*/ 71 w 242"/>
                  <a:gd name="T73" fmla="*/ 4 h 20"/>
                  <a:gd name="T74" fmla="*/ 82 w 242"/>
                  <a:gd name="T75" fmla="*/ 4 h 20"/>
                  <a:gd name="T76" fmla="*/ 94 w 242"/>
                  <a:gd name="T77" fmla="*/ 4 h 20"/>
                  <a:gd name="T78" fmla="*/ 105 w 242"/>
                  <a:gd name="T79" fmla="*/ 4 h 20"/>
                  <a:gd name="T80" fmla="*/ 116 w 242"/>
                  <a:gd name="T81" fmla="*/ 4 h 20"/>
                  <a:gd name="T82" fmla="*/ 127 w 242"/>
                  <a:gd name="T83" fmla="*/ 2 h 20"/>
                  <a:gd name="T84" fmla="*/ 140 w 242"/>
                  <a:gd name="T85" fmla="*/ 2 h 20"/>
                  <a:gd name="T86" fmla="*/ 151 w 242"/>
                  <a:gd name="T87" fmla="*/ 2 h 20"/>
                  <a:gd name="T88" fmla="*/ 164 w 242"/>
                  <a:gd name="T89" fmla="*/ 0 h 20"/>
                  <a:gd name="T90" fmla="*/ 176 w 242"/>
                  <a:gd name="T91" fmla="*/ 0 h 20"/>
                  <a:gd name="T92" fmla="*/ 189 w 242"/>
                  <a:gd name="T93" fmla="*/ 0 h 20"/>
                  <a:gd name="T94" fmla="*/ 189 w 242"/>
                  <a:gd name="T95" fmla="*/ 0 h 20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2"/>
                  <a:gd name="T145" fmla="*/ 0 h 20"/>
                  <a:gd name="T146" fmla="*/ 242 w 242"/>
                  <a:gd name="T147" fmla="*/ 20 h 20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2" h="20">
                    <a:moveTo>
                      <a:pt x="189" y="0"/>
                    </a:moveTo>
                    <a:lnTo>
                      <a:pt x="193" y="0"/>
                    </a:lnTo>
                    <a:lnTo>
                      <a:pt x="198" y="0"/>
                    </a:lnTo>
                    <a:lnTo>
                      <a:pt x="204" y="0"/>
                    </a:lnTo>
                    <a:lnTo>
                      <a:pt x="213" y="0"/>
                    </a:lnTo>
                    <a:lnTo>
                      <a:pt x="220" y="0"/>
                    </a:lnTo>
                    <a:lnTo>
                      <a:pt x="227" y="0"/>
                    </a:lnTo>
                    <a:lnTo>
                      <a:pt x="233" y="0"/>
                    </a:lnTo>
                    <a:lnTo>
                      <a:pt x="240" y="0"/>
                    </a:lnTo>
                    <a:lnTo>
                      <a:pt x="242" y="2"/>
                    </a:lnTo>
                    <a:lnTo>
                      <a:pt x="240" y="9"/>
                    </a:lnTo>
                    <a:lnTo>
                      <a:pt x="231" y="11"/>
                    </a:lnTo>
                    <a:lnTo>
                      <a:pt x="220" y="13"/>
                    </a:lnTo>
                    <a:lnTo>
                      <a:pt x="209" y="13"/>
                    </a:lnTo>
                    <a:lnTo>
                      <a:pt x="198" y="15"/>
                    </a:lnTo>
                    <a:lnTo>
                      <a:pt x="184" y="15"/>
                    </a:lnTo>
                    <a:lnTo>
                      <a:pt x="173" y="15"/>
                    </a:lnTo>
                    <a:lnTo>
                      <a:pt x="162" y="15"/>
                    </a:lnTo>
                    <a:lnTo>
                      <a:pt x="153" y="15"/>
                    </a:lnTo>
                    <a:lnTo>
                      <a:pt x="136" y="15"/>
                    </a:lnTo>
                    <a:lnTo>
                      <a:pt x="118" y="15"/>
                    </a:lnTo>
                    <a:lnTo>
                      <a:pt x="100" y="15"/>
                    </a:lnTo>
                    <a:lnTo>
                      <a:pt x="80" y="17"/>
                    </a:lnTo>
                    <a:lnTo>
                      <a:pt x="63" y="17"/>
                    </a:lnTo>
                    <a:lnTo>
                      <a:pt x="43" y="17"/>
                    </a:lnTo>
                    <a:lnTo>
                      <a:pt x="25" y="17"/>
                    </a:lnTo>
                    <a:lnTo>
                      <a:pt x="9" y="20"/>
                    </a:lnTo>
                    <a:lnTo>
                      <a:pt x="3" y="17"/>
                    </a:lnTo>
                    <a:lnTo>
                      <a:pt x="0" y="15"/>
                    </a:lnTo>
                    <a:lnTo>
                      <a:pt x="0" y="11"/>
                    </a:lnTo>
                    <a:lnTo>
                      <a:pt x="5" y="9"/>
                    </a:lnTo>
                    <a:lnTo>
                      <a:pt x="16" y="6"/>
                    </a:lnTo>
                    <a:lnTo>
                      <a:pt x="27" y="6"/>
                    </a:lnTo>
                    <a:lnTo>
                      <a:pt x="38" y="6"/>
                    </a:lnTo>
                    <a:lnTo>
                      <a:pt x="49" y="6"/>
                    </a:lnTo>
                    <a:lnTo>
                      <a:pt x="60" y="4"/>
                    </a:lnTo>
                    <a:lnTo>
                      <a:pt x="71" y="4"/>
                    </a:lnTo>
                    <a:lnTo>
                      <a:pt x="82" y="4"/>
                    </a:lnTo>
                    <a:lnTo>
                      <a:pt x="94" y="4"/>
                    </a:lnTo>
                    <a:lnTo>
                      <a:pt x="105" y="4"/>
                    </a:lnTo>
                    <a:lnTo>
                      <a:pt x="116" y="4"/>
                    </a:lnTo>
                    <a:lnTo>
                      <a:pt x="127" y="2"/>
                    </a:lnTo>
                    <a:lnTo>
                      <a:pt x="140" y="2"/>
                    </a:lnTo>
                    <a:lnTo>
                      <a:pt x="151" y="2"/>
                    </a:lnTo>
                    <a:lnTo>
                      <a:pt x="164" y="0"/>
                    </a:lnTo>
                    <a:lnTo>
                      <a:pt x="176" y="0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3" name="Freeform 35"/>
              <p:cNvSpPr>
                <a:spLocks/>
              </p:cNvSpPr>
              <p:nvPr/>
            </p:nvSpPr>
            <p:spPr bwMode="auto">
              <a:xfrm>
                <a:off x="2736" y="1250"/>
                <a:ext cx="243" cy="20"/>
              </a:xfrm>
              <a:custGeom>
                <a:avLst/>
                <a:gdLst>
                  <a:gd name="T0" fmla="*/ 190 w 243"/>
                  <a:gd name="T1" fmla="*/ 2 h 20"/>
                  <a:gd name="T2" fmla="*/ 192 w 243"/>
                  <a:gd name="T3" fmla="*/ 0 h 20"/>
                  <a:gd name="T4" fmla="*/ 199 w 243"/>
                  <a:gd name="T5" fmla="*/ 0 h 20"/>
                  <a:gd name="T6" fmla="*/ 206 w 243"/>
                  <a:gd name="T7" fmla="*/ 0 h 20"/>
                  <a:gd name="T8" fmla="*/ 212 w 243"/>
                  <a:gd name="T9" fmla="*/ 0 h 20"/>
                  <a:gd name="T10" fmla="*/ 219 w 243"/>
                  <a:gd name="T11" fmla="*/ 0 h 20"/>
                  <a:gd name="T12" fmla="*/ 228 w 243"/>
                  <a:gd name="T13" fmla="*/ 0 h 20"/>
                  <a:gd name="T14" fmla="*/ 232 w 243"/>
                  <a:gd name="T15" fmla="*/ 0 h 20"/>
                  <a:gd name="T16" fmla="*/ 239 w 243"/>
                  <a:gd name="T17" fmla="*/ 2 h 20"/>
                  <a:gd name="T18" fmla="*/ 241 w 243"/>
                  <a:gd name="T19" fmla="*/ 2 h 20"/>
                  <a:gd name="T20" fmla="*/ 243 w 243"/>
                  <a:gd name="T21" fmla="*/ 2 h 20"/>
                  <a:gd name="T22" fmla="*/ 241 w 243"/>
                  <a:gd name="T23" fmla="*/ 6 h 20"/>
                  <a:gd name="T24" fmla="*/ 241 w 243"/>
                  <a:gd name="T25" fmla="*/ 9 h 20"/>
                  <a:gd name="T26" fmla="*/ 232 w 243"/>
                  <a:gd name="T27" fmla="*/ 11 h 20"/>
                  <a:gd name="T28" fmla="*/ 221 w 243"/>
                  <a:gd name="T29" fmla="*/ 13 h 20"/>
                  <a:gd name="T30" fmla="*/ 210 w 243"/>
                  <a:gd name="T31" fmla="*/ 15 h 20"/>
                  <a:gd name="T32" fmla="*/ 199 w 243"/>
                  <a:gd name="T33" fmla="*/ 15 h 20"/>
                  <a:gd name="T34" fmla="*/ 188 w 243"/>
                  <a:gd name="T35" fmla="*/ 15 h 20"/>
                  <a:gd name="T36" fmla="*/ 175 w 243"/>
                  <a:gd name="T37" fmla="*/ 15 h 20"/>
                  <a:gd name="T38" fmla="*/ 164 w 243"/>
                  <a:gd name="T39" fmla="*/ 15 h 20"/>
                  <a:gd name="T40" fmla="*/ 153 w 243"/>
                  <a:gd name="T41" fmla="*/ 17 h 20"/>
                  <a:gd name="T42" fmla="*/ 135 w 243"/>
                  <a:gd name="T43" fmla="*/ 17 h 20"/>
                  <a:gd name="T44" fmla="*/ 117 w 243"/>
                  <a:gd name="T45" fmla="*/ 17 h 20"/>
                  <a:gd name="T46" fmla="*/ 99 w 243"/>
                  <a:gd name="T47" fmla="*/ 17 h 20"/>
                  <a:gd name="T48" fmla="*/ 82 w 243"/>
                  <a:gd name="T49" fmla="*/ 17 h 20"/>
                  <a:gd name="T50" fmla="*/ 64 w 243"/>
                  <a:gd name="T51" fmla="*/ 17 h 20"/>
                  <a:gd name="T52" fmla="*/ 44 w 243"/>
                  <a:gd name="T53" fmla="*/ 17 h 20"/>
                  <a:gd name="T54" fmla="*/ 26 w 243"/>
                  <a:gd name="T55" fmla="*/ 17 h 20"/>
                  <a:gd name="T56" fmla="*/ 11 w 243"/>
                  <a:gd name="T57" fmla="*/ 20 h 20"/>
                  <a:gd name="T58" fmla="*/ 4 w 243"/>
                  <a:gd name="T59" fmla="*/ 17 h 20"/>
                  <a:gd name="T60" fmla="*/ 0 w 243"/>
                  <a:gd name="T61" fmla="*/ 15 h 20"/>
                  <a:gd name="T62" fmla="*/ 0 w 243"/>
                  <a:gd name="T63" fmla="*/ 11 h 20"/>
                  <a:gd name="T64" fmla="*/ 6 w 243"/>
                  <a:gd name="T65" fmla="*/ 6 h 20"/>
                  <a:gd name="T66" fmla="*/ 17 w 243"/>
                  <a:gd name="T67" fmla="*/ 6 h 20"/>
                  <a:gd name="T68" fmla="*/ 28 w 243"/>
                  <a:gd name="T69" fmla="*/ 4 h 20"/>
                  <a:gd name="T70" fmla="*/ 39 w 243"/>
                  <a:gd name="T71" fmla="*/ 4 h 20"/>
                  <a:gd name="T72" fmla="*/ 51 w 243"/>
                  <a:gd name="T73" fmla="*/ 4 h 20"/>
                  <a:gd name="T74" fmla="*/ 62 w 243"/>
                  <a:gd name="T75" fmla="*/ 4 h 20"/>
                  <a:gd name="T76" fmla="*/ 73 w 243"/>
                  <a:gd name="T77" fmla="*/ 4 h 20"/>
                  <a:gd name="T78" fmla="*/ 84 w 243"/>
                  <a:gd name="T79" fmla="*/ 4 h 20"/>
                  <a:gd name="T80" fmla="*/ 95 w 243"/>
                  <a:gd name="T81" fmla="*/ 4 h 20"/>
                  <a:gd name="T82" fmla="*/ 106 w 243"/>
                  <a:gd name="T83" fmla="*/ 2 h 20"/>
                  <a:gd name="T84" fmla="*/ 117 w 243"/>
                  <a:gd name="T85" fmla="*/ 2 h 20"/>
                  <a:gd name="T86" fmla="*/ 128 w 243"/>
                  <a:gd name="T87" fmla="*/ 2 h 20"/>
                  <a:gd name="T88" fmla="*/ 141 w 243"/>
                  <a:gd name="T89" fmla="*/ 2 h 20"/>
                  <a:gd name="T90" fmla="*/ 153 w 243"/>
                  <a:gd name="T91" fmla="*/ 2 h 20"/>
                  <a:gd name="T92" fmla="*/ 166 w 243"/>
                  <a:gd name="T93" fmla="*/ 2 h 20"/>
                  <a:gd name="T94" fmla="*/ 177 w 243"/>
                  <a:gd name="T95" fmla="*/ 2 h 20"/>
                  <a:gd name="T96" fmla="*/ 190 w 243"/>
                  <a:gd name="T97" fmla="*/ 2 h 20"/>
                  <a:gd name="T98" fmla="*/ 190 w 243"/>
                  <a:gd name="T99" fmla="*/ 2 h 20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43"/>
                  <a:gd name="T151" fmla="*/ 0 h 20"/>
                  <a:gd name="T152" fmla="*/ 243 w 243"/>
                  <a:gd name="T153" fmla="*/ 20 h 20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43" h="20">
                    <a:moveTo>
                      <a:pt x="190" y="2"/>
                    </a:moveTo>
                    <a:lnTo>
                      <a:pt x="192" y="0"/>
                    </a:lnTo>
                    <a:lnTo>
                      <a:pt x="199" y="0"/>
                    </a:lnTo>
                    <a:lnTo>
                      <a:pt x="206" y="0"/>
                    </a:lnTo>
                    <a:lnTo>
                      <a:pt x="212" y="0"/>
                    </a:lnTo>
                    <a:lnTo>
                      <a:pt x="219" y="0"/>
                    </a:lnTo>
                    <a:lnTo>
                      <a:pt x="228" y="0"/>
                    </a:lnTo>
                    <a:lnTo>
                      <a:pt x="232" y="0"/>
                    </a:lnTo>
                    <a:lnTo>
                      <a:pt x="239" y="2"/>
                    </a:lnTo>
                    <a:lnTo>
                      <a:pt x="241" y="2"/>
                    </a:lnTo>
                    <a:lnTo>
                      <a:pt x="243" y="2"/>
                    </a:lnTo>
                    <a:lnTo>
                      <a:pt x="241" y="6"/>
                    </a:lnTo>
                    <a:lnTo>
                      <a:pt x="241" y="9"/>
                    </a:lnTo>
                    <a:lnTo>
                      <a:pt x="232" y="11"/>
                    </a:lnTo>
                    <a:lnTo>
                      <a:pt x="221" y="13"/>
                    </a:lnTo>
                    <a:lnTo>
                      <a:pt x="210" y="15"/>
                    </a:lnTo>
                    <a:lnTo>
                      <a:pt x="199" y="15"/>
                    </a:lnTo>
                    <a:lnTo>
                      <a:pt x="188" y="15"/>
                    </a:lnTo>
                    <a:lnTo>
                      <a:pt x="175" y="15"/>
                    </a:lnTo>
                    <a:lnTo>
                      <a:pt x="164" y="15"/>
                    </a:lnTo>
                    <a:lnTo>
                      <a:pt x="153" y="17"/>
                    </a:lnTo>
                    <a:lnTo>
                      <a:pt x="135" y="17"/>
                    </a:lnTo>
                    <a:lnTo>
                      <a:pt x="117" y="17"/>
                    </a:lnTo>
                    <a:lnTo>
                      <a:pt x="99" y="17"/>
                    </a:lnTo>
                    <a:lnTo>
                      <a:pt x="82" y="17"/>
                    </a:lnTo>
                    <a:lnTo>
                      <a:pt x="64" y="17"/>
                    </a:lnTo>
                    <a:lnTo>
                      <a:pt x="44" y="17"/>
                    </a:lnTo>
                    <a:lnTo>
                      <a:pt x="26" y="17"/>
                    </a:lnTo>
                    <a:lnTo>
                      <a:pt x="11" y="20"/>
                    </a:lnTo>
                    <a:lnTo>
                      <a:pt x="4" y="17"/>
                    </a:lnTo>
                    <a:lnTo>
                      <a:pt x="0" y="15"/>
                    </a:lnTo>
                    <a:lnTo>
                      <a:pt x="0" y="11"/>
                    </a:lnTo>
                    <a:lnTo>
                      <a:pt x="6" y="6"/>
                    </a:lnTo>
                    <a:lnTo>
                      <a:pt x="17" y="6"/>
                    </a:lnTo>
                    <a:lnTo>
                      <a:pt x="28" y="4"/>
                    </a:lnTo>
                    <a:lnTo>
                      <a:pt x="39" y="4"/>
                    </a:lnTo>
                    <a:lnTo>
                      <a:pt x="51" y="4"/>
                    </a:lnTo>
                    <a:lnTo>
                      <a:pt x="62" y="4"/>
                    </a:lnTo>
                    <a:lnTo>
                      <a:pt x="73" y="4"/>
                    </a:lnTo>
                    <a:lnTo>
                      <a:pt x="84" y="4"/>
                    </a:lnTo>
                    <a:lnTo>
                      <a:pt x="95" y="4"/>
                    </a:lnTo>
                    <a:lnTo>
                      <a:pt x="106" y="2"/>
                    </a:lnTo>
                    <a:lnTo>
                      <a:pt x="117" y="2"/>
                    </a:lnTo>
                    <a:lnTo>
                      <a:pt x="128" y="2"/>
                    </a:lnTo>
                    <a:lnTo>
                      <a:pt x="141" y="2"/>
                    </a:lnTo>
                    <a:lnTo>
                      <a:pt x="153" y="2"/>
                    </a:lnTo>
                    <a:lnTo>
                      <a:pt x="166" y="2"/>
                    </a:lnTo>
                    <a:lnTo>
                      <a:pt x="177" y="2"/>
                    </a:lnTo>
                    <a:lnTo>
                      <a:pt x="190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4" name="Freeform 36"/>
              <p:cNvSpPr>
                <a:spLocks/>
              </p:cNvSpPr>
              <p:nvPr/>
            </p:nvSpPr>
            <p:spPr bwMode="auto">
              <a:xfrm>
                <a:off x="2829" y="1112"/>
                <a:ext cx="317" cy="25"/>
              </a:xfrm>
              <a:custGeom>
                <a:avLst/>
                <a:gdLst>
                  <a:gd name="T0" fmla="*/ 303 w 317"/>
                  <a:gd name="T1" fmla="*/ 0 h 25"/>
                  <a:gd name="T2" fmla="*/ 308 w 317"/>
                  <a:gd name="T3" fmla="*/ 0 h 25"/>
                  <a:gd name="T4" fmla="*/ 312 w 317"/>
                  <a:gd name="T5" fmla="*/ 3 h 25"/>
                  <a:gd name="T6" fmla="*/ 314 w 317"/>
                  <a:gd name="T7" fmla="*/ 5 h 25"/>
                  <a:gd name="T8" fmla="*/ 317 w 317"/>
                  <a:gd name="T9" fmla="*/ 7 h 25"/>
                  <a:gd name="T10" fmla="*/ 317 w 317"/>
                  <a:gd name="T11" fmla="*/ 11 h 25"/>
                  <a:gd name="T12" fmla="*/ 312 w 317"/>
                  <a:gd name="T13" fmla="*/ 14 h 25"/>
                  <a:gd name="T14" fmla="*/ 308 w 317"/>
                  <a:gd name="T15" fmla="*/ 16 h 25"/>
                  <a:gd name="T16" fmla="*/ 299 w 317"/>
                  <a:gd name="T17" fmla="*/ 16 h 25"/>
                  <a:gd name="T18" fmla="*/ 290 w 317"/>
                  <a:gd name="T19" fmla="*/ 16 h 25"/>
                  <a:gd name="T20" fmla="*/ 281 w 317"/>
                  <a:gd name="T21" fmla="*/ 18 h 25"/>
                  <a:gd name="T22" fmla="*/ 270 w 317"/>
                  <a:gd name="T23" fmla="*/ 18 h 25"/>
                  <a:gd name="T24" fmla="*/ 263 w 317"/>
                  <a:gd name="T25" fmla="*/ 20 h 25"/>
                  <a:gd name="T26" fmla="*/ 255 w 317"/>
                  <a:gd name="T27" fmla="*/ 20 h 25"/>
                  <a:gd name="T28" fmla="*/ 250 w 317"/>
                  <a:gd name="T29" fmla="*/ 20 h 25"/>
                  <a:gd name="T30" fmla="*/ 221 w 317"/>
                  <a:gd name="T31" fmla="*/ 22 h 25"/>
                  <a:gd name="T32" fmla="*/ 192 w 317"/>
                  <a:gd name="T33" fmla="*/ 22 h 25"/>
                  <a:gd name="T34" fmla="*/ 164 w 317"/>
                  <a:gd name="T35" fmla="*/ 22 h 25"/>
                  <a:gd name="T36" fmla="*/ 135 w 317"/>
                  <a:gd name="T37" fmla="*/ 25 h 25"/>
                  <a:gd name="T38" fmla="*/ 106 w 317"/>
                  <a:gd name="T39" fmla="*/ 22 h 25"/>
                  <a:gd name="T40" fmla="*/ 77 w 317"/>
                  <a:gd name="T41" fmla="*/ 22 h 25"/>
                  <a:gd name="T42" fmla="*/ 51 w 317"/>
                  <a:gd name="T43" fmla="*/ 25 h 25"/>
                  <a:gd name="T44" fmla="*/ 24 w 317"/>
                  <a:gd name="T45" fmla="*/ 25 h 25"/>
                  <a:gd name="T46" fmla="*/ 20 w 317"/>
                  <a:gd name="T47" fmla="*/ 25 h 25"/>
                  <a:gd name="T48" fmla="*/ 13 w 317"/>
                  <a:gd name="T49" fmla="*/ 25 h 25"/>
                  <a:gd name="T50" fmla="*/ 9 w 317"/>
                  <a:gd name="T51" fmla="*/ 25 h 25"/>
                  <a:gd name="T52" fmla="*/ 6 w 317"/>
                  <a:gd name="T53" fmla="*/ 25 h 25"/>
                  <a:gd name="T54" fmla="*/ 0 w 317"/>
                  <a:gd name="T55" fmla="*/ 22 h 25"/>
                  <a:gd name="T56" fmla="*/ 0 w 317"/>
                  <a:gd name="T57" fmla="*/ 20 h 25"/>
                  <a:gd name="T58" fmla="*/ 0 w 317"/>
                  <a:gd name="T59" fmla="*/ 16 h 25"/>
                  <a:gd name="T60" fmla="*/ 9 w 317"/>
                  <a:gd name="T61" fmla="*/ 11 h 25"/>
                  <a:gd name="T62" fmla="*/ 24 w 317"/>
                  <a:gd name="T63" fmla="*/ 9 h 25"/>
                  <a:gd name="T64" fmla="*/ 44 w 317"/>
                  <a:gd name="T65" fmla="*/ 9 h 25"/>
                  <a:gd name="T66" fmla="*/ 66 w 317"/>
                  <a:gd name="T67" fmla="*/ 7 h 25"/>
                  <a:gd name="T68" fmla="*/ 88 w 317"/>
                  <a:gd name="T69" fmla="*/ 9 h 25"/>
                  <a:gd name="T70" fmla="*/ 106 w 317"/>
                  <a:gd name="T71" fmla="*/ 9 h 25"/>
                  <a:gd name="T72" fmla="*/ 124 w 317"/>
                  <a:gd name="T73" fmla="*/ 9 h 25"/>
                  <a:gd name="T74" fmla="*/ 144 w 317"/>
                  <a:gd name="T75" fmla="*/ 9 h 25"/>
                  <a:gd name="T76" fmla="*/ 168 w 317"/>
                  <a:gd name="T77" fmla="*/ 9 h 25"/>
                  <a:gd name="T78" fmla="*/ 190 w 317"/>
                  <a:gd name="T79" fmla="*/ 7 h 25"/>
                  <a:gd name="T80" fmla="*/ 212 w 317"/>
                  <a:gd name="T81" fmla="*/ 7 h 25"/>
                  <a:gd name="T82" fmla="*/ 235 w 317"/>
                  <a:gd name="T83" fmla="*/ 7 h 25"/>
                  <a:gd name="T84" fmla="*/ 259 w 317"/>
                  <a:gd name="T85" fmla="*/ 5 h 25"/>
                  <a:gd name="T86" fmla="*/ 279 w 317"/>
                  <a:gd name="T87" fmla="*/ 3 h 25"/>
                  <a:gd name="T88" fmla="*/ 303 w 317"/>
                  <a:gd name="T89" fmla="*/ 0 h 25"/>
                  <a:gd name="T90" fmla="*/ 303 w 317"/>
                  <a:gd name="T91" fmla="*/ 0 h 25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w 317"/>
                  <a:gd name="T139" fmla="*/ 0 h 25"/>
                  <a:gd name="T140" fmla="*/ 317 w 317"/>
                  <a:gd name="T141" fmla="*/ 25 h 25"/>
                </a:gdLst>
                <a:ahLst/>
                <a:cxnLst>
                  <a:cxn ang="T92">
                    <a:pos x="T0" y="T1"/>
                  </a:cxn>
                  <a:cxn ang="T93">
                    <a:pos x="T2" y="T3"/>
                  </a:cxn>
                  <a:cxn ang="T94">
                    <a:pos x="T4" y="T5"/>
                  </a:cxn>
                  <a:cxn ang="T95">
                    <a:pos x="T6" y="T7"/>
                  </a:cxn>
                  <a:cxn ang="T96">
                    <a:pos x="T8" y="T9"/>
                  </a:cxn>
                  <a:cxn ang="T97">
                    <a:pos x="T10" y="T11"/>
                  </a:cxn>
                  <a:cxn ang="T98">
                    <a:pos x="T12" y="T13"/>
                  </a:cxn>
                  <a:cxn ang="T99">
                    <a:pos x="T14" y="T15"/>
                  </a:cxn>
                  <a:cxn ang="T100">
                    <a:pos x="T16" y="T17"/>
                  </a:cxn>
                  <a:cxn ang="T101">
                    <a:pos x="T18" y="T19"/>
                  </a:cxn>
                  <a:cxn ang="T102">
                    <a:pos x="T20" y="T21"/>
                  </a:cxn>
                  <a:cxn ang="T103">
                    <a:pos x="T22" y="T23"/>
                  </a:cxn>
                  <a:cxn ang="T104">
                    <a:pos x="T24" y="T25"/>
                  </a:cxn>
                  <a:cxn ang="T105">
                    <a:pos x="T26" y="T27"/>
                  </a:cxn>
                  <a:cxn ang="T106">
                    <a:pos x="T28" y="T29"/>
                  </a:cxn>
                  <a:cxn ang="T107">
                    <a:pos x="T30" y="T31"/>
                  </a:cxn>
                  <a:cxn ang="T108">
                    <a:pos x="T32" y="T33"/>
                  </a:cxn>
                  <a:cxn ang="T109">
                    <a:pos x="T34" y="T35"/>
                  </a:cxn>
                  <a:cxn ang="T110">
                    <a:pos x="T36" y="T37"/>
                  </a:cxn>
                  <a:cxn ang="T111">
                    <a:pos x="T38" y="T39"/>
                  </a:cxn>
                  <a:cxn ang="T112">
                    <a:pos x="T40" y="T41"/>
                  </a:cxn>
                  <a:cxn ang="T113">
                    <a:pos x="T42" y="T43"/>
                  </a:cxn>
                  <a:cxn ang="T114">
                    <a:pos x="T44" y="T45"/>
                  </a:cxn>
                  <a:cxn ang="T115">
                    <a:pos x="T46" y="T47"/>
                  </a:cxn>
                  <a:cxn ang="T116">
                    <a:pos x="T48" y="T49"/>
                  </a:cxn>
                  <a:cxn ang="T117">
                    <a:pos x="T50" y="T51"/>
                  </a:cxn>
                  <a:cxn ang="T118">
                    <a:pos x="T52" y="T53"/>
                  </a:cxn>
                  <a:cxn ang="T119">
                    <a:pos x="T54" y="T55"/>
                  </a:cxn>
                  <a:cxn ang="T120">
                    <a:pos x="T56" y="T57"/>
                  </a:cxn>
                  <a:cxn ang="T121">
                    <a:pos x="T58" y="T59"/>
                  </a:cxn>
                  <a:cxn ang="T122">
                    <a:pos x="T60" y="T61"/>
                  </a:cxn>
                  <a:cxn ang="T123">
                    <a:pos x="T62" y="T63"/>
                  </a:cxn>
                  <a:cxn ang="T124">
                    <a:pos x="T64" y="T65"/>
                  </a:cxn>
                  <a:cxn ang="T125">
                    <a:pos x="T66" y="T67"/>
                  </a:cxn>
                  <a:cxn ang="T126">
                    <a:pos x="T68" y="T69"/>
                  </a:cxn>
                  <a:cxn ang="T127">
                    <a:pos x="T70" y="T71"/>
                  </a:cxn>
                  <a:cxn ang="T128">
                    <a:pos x="T72" y="T73"/>
                  </a:cxn>
                  <a:cxn ang="T129">
                    <a:pos x="T74" y="T75"/>
                  </a:cxn>
                  <a:cxn ang="T130">
                    <a:pos x="T76" y="T77"/>
                  </a:cxn>
                  <a:cxn ang="T131">
                    <a:pos x="T78" y="T79"/>
                  </a:cxn>
                  <a:cxn ang="T132">
                    <a:pos x="T80" y="T81"/>
                  </a:cxn>
                  <a:cxn ang="T133">
                    <a:pos x="T82" y="T83"/>
                  </a:cxn>
                  <a:cxn ang="T134">
                    <a:pos x="T84" y="T85"/>
                  </a:cxn>
                  <a:cxn ang="T135">
                    <a:pos x="T86" y="T87"/>
                  </a:cxn>
                  <a:cxn ang="T136">
                    <a:pos x="T88" y="T89"/>
                  </a:cxn>
                  <a:cxn ang="T137">
                    <a:pos x="T90" y="T91"/>
                  </a:cxn>
                </a:cxnLst>
                <a:rect l="T138" t="T139" r="T140" b="T141"/>
                <a:pathLst>
                  <a:path w="317" h="25">
                    <a:moveTo>
                      <a:pt x="303" y="0"/>
                    </a:moveTo>
                    <a:lnTo>
                      <a:pt x="308" y="0"/>
                    </a:lnTo>
                    <a:lnTo>
                      <a:pt x="312" y="3"/>
                    </a:lnTo>
                    <a:lnTo>
                      <a:pt x="314" y="5"/>
                    </a:lnTo>
                    <a:lnTo>
                      <a:pt x="317" y="7"/>
                    </a:lnTo>
                    <a:lnTo>
                      <a:pt x="317" y="11"/>
                    </a:lnTo>
                    <a:lnTo>
                      <a:pt x="312" y="14"/>
                    </a:lnTo>
                    <a:lnTo>
                      <a:pt x="308" y="16"/>
                    </a:lnTo>
                    <a:lnTo>
                      <a:pt x="299" y="16"/>
                    </a:lnTo>
                    <a:lnTo>
                      <a:pt x="290" y="16"/>
                    </a:lnTo>
                    <a:lnTo>
                      <a:pt x="281" y="18"/>
                    </a:lnTo>
                    <a:lnTo>
                      <a:pt x="270" y="18"/>
                    </a:lnTo>
                    <a:lnTo>
                      <a:pt x="263" y="20"/>
                    </a:lnTo>
                    <a:lnTo>
                      <a:pt x="255" y="20"/>
                    </a:lnTo>
                    <a:lnTo>
                      <a:pt x="250" y="20"/>
                    </a:lnTo>
                    <a:lnTo>
                      <a:pt x="221" y="22"/>
                    </a:lnTo>
                    <a:lnTo>
                      <a:pt x="192" y="22"/>
                    </a:lnTo>
                    <a:lnTo>
                      <a:pt x="164" y="22"/>
                    </a:lnTo>
                    <a:lnTo>
                      <a:pt x="135" y="25"/>
                    </a:lnTo>
                    <a:lnTo>
                      <a:pt x="106" y="22"/>
                    </a:lnTo>
                    <a:lnTo>
                      <a:pt x="77" y="22"/>
                    </a:lnTo>
                    <a:lnTo>
                      <a:pt x="51" y="25"/>
                    </a:lnTo>
                    <a:lnTo>
                      <a:pt x="24" y="25"/>
                    </a:lnTo>
                    <a:lnTo>
                      <a:pt x="20" y="25"/>
                    </a:lnTo>
                    <a:lnTo>
                      <a:pt x="13" y="25"/>
                    </a:lnTo>
                    <a:lnTo>
                      <a:pt x="9" y="25"/>
                    </a:lnTo>
                    <a:lnTo>
                      <a:pt x="6" y="25"/>
                    </a:lnTo>
                    <a:lnTo>
                      <a:pt x="0" y="22"/>
                    </a:lnTo>
                    <a:lnTo>
                      <a:pt x="0" y="20"/>
                    </a:lnTo>
                    <a:lnTo>
                      <a:pt x="0" y="16"/>
                    </a:lnTo>
                    <a:lnTo>
                      <a:pt x="9" y="11"/>
                    </a:lnTo>
                    <a:lnTo>
                      <a:pt x="24" y="9"/>
                    </a:lnTo>
                    <a:lnTo>
                      <a:pt x="44" y="9"/>
                    </a:lnTo>
                    <a:lnTo>
                      <a:pt x="66" y="7"/>
                    </a:lnTo>
                    <a:lnTo>
                      <a:pt x="88" y="9"/>
                    </a:lnTo>
                    <a:lnTo>
                      <a:pt x="106" y="9"/>
                    </a:lnTo>
                    <a:lnTo>
                      <a:pt x="124" y="9"/>
                    </a:lnTo>
                    <a:lnTo>
                      <a:pt x="144" y="9"/>
                    </a:lnTo>
                    <a:lnTo>
                      <a:pt x="168" y="9"/>
                    </a:lnTo>
                    <a:lnTo>
                      <a:pt x="190" y="7"/>
                    </a:lnTo>
                    <a:lnTo>
                      <a:pt x="212" y="7"/>
                    </a:lnTo>
                    <a:lnTo>
                      <a:pt x="235" y="7"/>
                    </a:lnTo>
                    <a:lnTo>
                      <a:pt x="259" y="5"/>
                    </a:lnTo>
                    <a:lnTo>
                      <a:pt x="279" y="3"/>
                    </a:lnTo>
                    <a:lnTo>
                      <a:pt x="303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5" name="Freeform 37"/>
              <p:cNvSpPr>
                <a:spLocks/>
              </p:cNvSpPr>
              <p:nvPr/>
            </p:nvSpPr>
            <p:spPr bwMode="auto">
              <a:xfrm>
                <a:off x="2711" y="1205"/>
                <a:ext cx="452" cy="25"/>
              </a:xfrm>
              <a:custGeom>
                <a:avLst/>
                <a:gdLst>
                  <a:gd name="T0" fmla="*/ 373 w 452"/>
                  <a:gd name="T1" fmla="*/ 3 h 25"/>
                  <a:gd name="T2" fmla="*/ 377 w 452"/>
                  <a:gd name="T3" fmla="*/ 3 h 25"/>
                  <a:gd name="T4" fmla="*/ 384 w 452"/>
                  <a:gd name="T5" fmla="*/ 3 h 25"/>
                  <a:gd name="T6" fmla="*/ 397 w 452"/>
                  <a:gd name="T7" fmla="*/ 0 h 25"/>
                  <a:gd name="T8" fmla="*/ 408 w 452"/>
                  <a:gd name="T9" fmla="*/ 0 h 25"/>
                  <a:gd name="T10" fmla="*/ 421 w 452"/>
                  <a:gd name="T11" fmla="*/ 0 h 25"/>
                  <a:gd name="T12" fmla="*/ 435 w 452"/>
                  <a:gd name="T13" fmla="*/ 0 h 25"/>
                  <a:gd name="T14" fmla="*/ 443 w 452"/>
                  <a:gd name="T15" fmla="*/ 0 h 25"/>
                  <a:gd name="T16" fmla="*/ 450 w 452"/>
                  <a:gd name="T17" fmla="*/ 3 h 25"/>
                  <a:gd name="T18" fmla="*/ 452 w 452"/>
                  <a:gd name="T19" fmla="*/ 5 h 25"/>
                  <a:gd name="T20" fmla="*/ 452 w 452"/>
                  <a:gd name="T21" fmla="*/ 7 h 25"/>
                  <a:gd name="T22" fmla="*/ 448 w 452"/>
                  <a:gd name="T23" fmla="*/ 9 h 25"/>
                  <a:gd name="T24" fmla="*/ 443 w 452"/>
                  <a:gd name="T25" fmla="*/ 11 h 25"/>
                  <a:gd name="T26" fmla="*/ 437 w 452"/>
                  <a:gd name="T27" fmla="*/ 11 h 25"/>
                  <a:gd name="T28" fmla="*/ 428 w 452"/>
                  <a:gd name="T29" fmla="*/ 14 h 25"/>
                  <a:gd name="T30" fmla="*/ 419 w 452"/>
                  <a:gd name="T31" fmla="*/ 14 h 25"/>
                  <a:gd name="T32" fmla="*/ 410 w 452"/>
                  <a:gd name="T33" fmla="*/ 14 h 25"/>
                  <a:gd name="T34" fmla="*/ 368 w 452"/>
                  <a:gd name="T35" fmla="*/ 14 h 25"/>
                  <a:gd name="T36" fmla="*/ 322 w 452"/>
                  <a:gd name="T37" fmla="*/ 16 h 25"/>
                  <a:gd name="T38" fmla="*/ 273 w 452"/>
                  <a:gd name="T39" fmla="*/ 18 h 25"/>
                  <a:gd name="T40" fmla="*/ 224 w 452"/>
                  <a:gd name="T41" fmla="*/ 20 h 25"/>
                  <a:gd name="T42" fmla="*/ 173 w 452"/>
                  <a:gd name="T43" fmla="*/ 20 h 25"/>
                  <a:gd name="T44" fmla="*/ 127 w 452"/>
                  <a:gd name="T45" fmla="*/ 23 h 25"/>
                  <a:gd name="T46" fmla="*/ 80 w 452"/>
                  <a:gd name="T47" fmla="*/ 23 h 25"/>
                  <a:gd name="T48" fmla="*/ 38 w 452"/>
                  <a:gd name="T49" fmla="*/ 25 h 25"/>
                  <a:gd name="T50" fmla="*/ 22 w 452"/>
                  <a:gd name="T51" fmla="*/ 23 h 25"/>
                  <a:gd name="T52" fmla="*/ 13 w 452"/>
                  <a:gd name="T53" fmla="*/ 23 h 25"/>
                  <a:gd name="T54" fmla="*/ 5 w 452"/>
                  <a:gd name="T55" fmla="*/ 20 h 25"/>
                  <a:gd name="T56" fmla="*/ 2 w 452"/>
                  <a:gd name="T57" fmla="*/ 20 h 25"/>
                  <a:gd name="T58" fmla="*/ 0 w 452"/>
                  <a:gd name="T59" fmla="*/ 18 h 25"/>
                  <a:gd name="T60" fmla="*/ 2 w 452"/>
                  <a:gd name="T61" fmla="*/ 16 h 25"/>
                  <a:gd name="T62" fmla="*/ 7 w 452"/>
                  <a:gd name="T63" fmla="*/ 14 h 25"/>
                  <a:gd name="T64" fmla="*/ 16 w 452"/>
                  <a:gd name="T65" fmla="*/ 14 h 25"/>
                  <a:gd name="T66" fmla="*/ 53 w 452"/>
                  <a:gd name="T67" fmla="*/ 11 h 25"/>
                  <a:gd name="T68" fmla="*/ 98 w 452"/>
                  <a:gd name="T69" fmla="*/ 9 h 25"/>
                  <a:gd name="T70" fmla="*/ 144 w 452"/>
                  <a:gd name="T71" fmla="*/ 9 h 25"/>
                  <a:gd name="T72" fmla="*/ 195 w 452"/>
                  <a:gd name="T73" fmla="*/ 7 h 25"/>
                  <a:gd name="T74" fmla="*/ 242 w 452"/>
                  <a:gd name="T75" fmla="*/ 5 h 25"/>
                  <a:gd name="T76" fmla="*/ 291 w 452"/>
                  <a:gd name="T77" fmla="*/ 5 h 25"/>
                  <a:gd name="T78" fmla="*/ 333 w 452"/>
                  <a:gd name="T79" fmla="*/ 3 h 25"/>
                  <a:gd name="T80" fmla="*/ 373 w 452"/>
                  <a:gd name="T81" fmla="*/ 3 h 25"/>
                  <a:gd name="T82" fmla="*/ 373 w 452"/>
                  <a:gd name="T83" fmla="*/ 3 h 25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452"/>
                  <a:gd name="T127" fmla="*/ 0 h 25"/>
                  <a:gd name="T128" fmla="*/ 452 w 452"/>
                  <a:gd name="T129" fmla="*/ 25 h 25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452" h="25">
                    <a:moveTo>
                      <a:pt x="373" y="3"/>
                    </a:moveTo>
                    <a:lnTo>
                      <a:pt x="377" y="3"/>
                    </a:lnTo>
                    <a:lnTo>
                      <a:pt x="384" y="3"/>
                    </a:lnTo>
                    <a:lnTo>
                      <a:pt x="397" y="0"/>
                    </a:lnTo>
                    <a:lnTo>
                      <a:pt x="408" y="0"/>
                    </a:lnTo>
                    <a:lnTo>
                      <a:pt x="421" y="0"/>
                    </a:lnTo>
                    <a:lnTo>
                      <a:pt x="435" y="0"/>
                    </a:lnTo>
                    <a:lnTo>
                      <a:pt x="443" y="0"/>
                    </a:lnTo>
                    <a:lnTo>
                      <a:pt x="450" y="3"/>
                    </a:lnTo>
                    <a:lnTo>
                      <a:pt x="452" y="5"/>
                    </a:lnTo>
                    <a:lnTo>
                      <a:pt x="452" y="7"/>
                    </a:lnTo>
                    <a:lnTo>
                      <a:pt x="448" y="9"/>
                    </a:lnTo>
                    <a:lnTo>
                      <a:pt x="443" y="11"/>
                    </a:lnTo>
                    <a:lnTo>
                      <a:pt x="437" y="11"/>
                    </a:lnTo>
                    <a:lnTo>
                      <a:pt x="428" y="14"/>
                    </a:lnTo>
                    <a:lnTo>
                      <a:pt x="419" y="14"/>
                    </a:lnTo>
                    <a:lnTo>
                      <a:pt x="410" y="14"/>
                    </a:lnTo>
                    <a:lnTo>
                      <a:pt x="368" y="14"/>
                    </a:lnTo>
                    <a:lnTo>
                      <a:pt x="322" y="16"/>
                    </a:lnTo>
                    <a:lnTo>
                      <a:pt x="273" y="18"/>
                    </a:lnTo>
                    <a:lnTo>
                      <a:pt x="224" y="20"/>
                    </a:lnTo>
                    <a:lnTo>
                      <a:pt x="173" y="20"/>
                    </a:lnTo>
                    <a:lnTo>
                      <a:pt x="127" y="23"/>
                    </a:lnTo>
                    <a:lnTo>
                      <a:pt x="80" y="23"/>
                    </a:lnTo>
                    <a:lnTo>
                      <a:pt x="38" y="25"/>
                    </a:lnTo>
                    <a:lnTo>
                      <a:pt x="22" y="23"/>
                    </a:lnTo>
                    <a:lnTo>
                      <a:pt x="13" y="23"/>
                    </a:lnTo>
                    <a:lnTo>
                      <a:pt x="5" y="20"/>
                    </a:lnTo>
                    <a:lnTo>
                      <a:pt x="2" y="20"/>
                    </a:lnTo>
                    <a:lnTo>
                      <a:pt x="0" y="18"/>
                    </a:lnTo>
                    <a:lnTo>
                      <a:pt x="2" y="16"/>
                    </a:lnTo>
                    <a:lnTo>
                      <a:pt x="7" y="14"/>
                    </a:lnTo>
                    <a:lnTo>
                      <a:pt x="16" y="14"/>
                    </a:lnTo>
                    <a:lnTo>
                      <a:pt x="53" y="11"/>
                    </a:lnTo>
                    <a:lnTo>
                      <a:pt x="98" y="9"/>
                    </a:lnTo>
                    <a:lnTo>
                      <a:pt x="144" y="9"/>
                    </a:lnTo>
                    <a:lnTo>
                      <a:pt x="195" y="7"/>
                    </a:lnTo>
                    <a:lnTo>
                      <a:pt x="242" y="5"/>
                    </a:lnTo>
                    <a:lnTo>
                      <a:pt x="291" y="5"/>
                    </a:lnTo>
                    <a:lnTo>
                      <a:pt x="333" y="3"/>
                    </a:lnTo>
                    <a:lnTo>
                      <a:pt x="373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6" name="Freeform 38"/>
              <p:cNvSpPr>
                <a:spLocks/>
              </p:cNvSpPr>
              <p:nvPr/>
            </p:nvSpPr>
            <p:spPr bwMode="auto">
              <a:xfrm>
                <a:off x="2787" y="911"/>
                <a:ext cx="241" cy="20"/>
              </a:xfrm>
              <a:custGeom>
                <a:avLst/>
                <a:gdLst>
                  <a:gd name="T0" fmla="*/ 186 w 241"/>
                  <a:gd name="T1" fmla="*/ 2 h 20"/>
                  <a:gd name="T2" fmla="*/ 190 w 241"/>
                  <a:gd name="T3" fmla="*/ 0 h 20"/>
                  <a:gd name="T4" fmla="*/ 197 w 241"/>
                  <a:gd name="T5" fmla="*/ 0 h 20"/>
                  <a:gd name="T6" fmla="*/ 203 w 241"/>
                  <a:gd name="T7" fmla="*/ 0 h 20"/>
                  <a:gd name="T8" fmla="*/ 212 w 241"/>
                  <a:gd name="T9" fmla="*/ 0 h 20"/>
                  <a:gd name="T10" fmla="*/ 219 w 241"/>
                  <a:gd name="T11" fmla="*/ 0 h 20"/>
                  <a:gd name="T12" fmla="*/ 226 w 241"/>
                  <a:gd name="T13" fmla="*/ 0 h 20"/>
                  <a:gd name="T14" fmla="*/ 232 w 241"/>
                  <a:gd name="T15" fmla="*/ 0 h 20"/>
                  <a:gd name="T16" fmla="*/ 239 w 241"/>
                  <a:gd name="T17" fmla="*/ 2 h 20"/>
                  <a:gd name="T18" fmla="*/ 241 w 241"/>
                  <a:gd name="T19" fmla="*/ 4 h 20"/>
                  <a:gd name="T20" fmla="*/ 239 w 241"/>
                  <a:gd name="T21" fmla="*/ 9 h 20"/>
                  <a:gd name="T22" fmla="*/ 230 w 241"/>
                  <a:gd name="T23" fmla="*/ 11 h 20"/>
                  <a:gd name="T24" fmla="*/ 219 w 241"/>
                  <a:gd name="T25" fmla="*/ 13 h 20"/>
                  <a:gd name="T26" fmla="*/ 208 w 241"/>
                  <a:gd name="T27" fmla="*/ 15 h 20"/>
                  <a:gd name="T28" fmla="*/ 197 w 241"/>
                  <a:gd name="T29" fmla="*/ 15 h 20"/>
                  <a:gd name="T30" fmla="*/ 186 w 241"/>
                  <a:gd name="T31" fmla="*/ 15 h 20"/>
                  <a:gd name="T32" fmla="*/ 172 w 241"/>
                  <a:gd name="T33" fmla="*/ 15 h 20"/>
                  <a:gd name="T34" fmla="*/ 161 w 241"/>
                  <a:gd name="T35" fmla="*/ 15 h 20"/>
                  <a:gd name="T36" fmla="*/ 150 w 241"/>
                  <a:gd name="T37" fmla="*/ 17 h 20"/>
                  <a:gd name="T38" fmla="*/ 133 w 241"/>
                  <a:gd name="T39" fmla="*/ 17 h 20"/>
                  <a:gd name="T40" fmla="*/ 115 w 241"/>
                  <a:gd name="T41" fmla="*/ 17 h 20"/>
                  <a:gd name="T42" fmla="*/ 97 w 241"/>
                  <a:gd name="T43" fmla="*/ 17 h 20"/>
                  <a:gd name="T44" fmla="*/ 79 w 241"/>
                  <a:gd name="T45" fmla="*/ 17 h 20"/>
                  <a:gd name="T46" fmla="*/ 62 w 241"/>
                  <a:gd name="T47" fmla="*/ 17 h 20"/>
                  <a:gd name="T48" fmla="*/ 42 w 241"/>
                  <a:gd name="T49" fmla="*/ 17 h 20"/>
                  <a:gd name="T50" fmla="*/ 24 w 241"/>
                  <a:gd name="T51" fmla="*/ 17 h 20"/>
                  <a:gd name="T52" fmla="*/ 8 w 241"/>
                  <a:gd name="T53" fmla="*/ 20 h 20"/>
                  <a:gd name="T54" fmla="*/ 2 w 241"/>
                  <a:gd name="T55" fmla="*/ 17 h 20"/>
                  <a:gd name="T56" fmla="*/ 0 w 241"/>
                  <a:gd name="T57" fmla="*/ 15 h 20"/>
                  <a:gd name="T58" fmla="*/ 0 w 241"/>
                  <a:gd name="T59" fmla="*/ 11 h 20"/>
                  <a:gd name="T60" fmla="*/ 4 w 241"/>
                  <a:gd name="T61" fmla="*/ 9 h 20"/>
                  <a:gd name="T62" fmla="*/ 15 w 241"/>
                  <a:gd name="T63" fmla="*/ 6 h 20"/>
                  <a:gd name="T64" fmla="*/ 26 w 241"/>
                  <a:gd name="T65" fmla="*/ 6 h 20"/>
                  <a:gd name="T66" fmla="*/ 37 w 241"/>
                  <a:gd name="T67" fmla="*/ 4 h 20"/>
                  <a:gd name="T68" fmla="*/ 48 w 241"/>
                  <a:gd name="T69" fmla="*/ 4 h 20"/>
                  <a:gd name="T70" fmla="*/ 59 w 241"/>
                  <a:gd name="T71" fmla="*/ 4 h 20"/>
                  <a:gd name="T72" fmla="*/ 70 w 241"/>
                  <a:gd name="T73" fmla="*/ 4 h 20"/>
                  <a:gd name="T74" fmla="*/ 82 w 241"/>
                  <a:gd name="T75" fmla="*/ 4 h 20"/>
                  <a:gd name="T76" fmla="*/ 93 w 241"/>
                  <a:gd name="T77" fmla="*/ 6 h 20"/>
                  <a:gd name="T78" fmla="*/ 104 w 241"/>
                  <a:gd name="T79" fmla="*/ 4 h 20"/>
                  <a:gd name="T80" fmla="*/ 115 w 241"/>
                  <a:gd name="T81" fmla="*/ 4 h 20"/>
                  <a:gd name="T82" fmla="*/ 128 w 241"/>
                  <a:gd name="T83" fmla="*/ 2 h 20"/>
                  <a:gd name="T84" fmla="*/ 139 w 241"/>
                  <a:gd name="T85" fmla="*/ 2 h 20"/>
                  <a:gd name="T86" fmla="*/ 150 w 241"/>
                  <a:gd name="T87" fmla="*/ 2 h 20"/>
                  <a:gd name="T88" fmla="*/ 164 w 241"/>
                  <a:gd name="T89" fmla="*/ 2 h 20"/>
                  <a:gd name="T90" fmla="*/ 175 w 241"/>
                  <a:gd name="T91" fmla="*/ 2 h 20"/>
                  <a:gd name="T92" fmla="*/ 186 w 241"/>
                  <a:gd name="T93" fmla="*/ 2 h 20"/>
                  <a:gd name="T94" fmla="*/ 186 w 241"/>
                  <a:gd name="T95" fmla="*/ 2 h 20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1"/>
                  <a:gd name="T145" fmla="*/ 0 h 20"/>
                  <a:gd name="T146" fmla="*/ 241 w 241"/>
                  <a:gd name="T147" fmla="*/ 20 h 20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1" h="20">
                    <a:moveTo>
                      <a:pt x="186" y="2"/>
                    </a:moveTo>
                    <a:lnTo>
                      <a:pt x="190" y="0"/>
                    </a:lnTo>
                    <a:lnTo>
                      <a:pt x="197" y="0"/>
                    </a:lnTo>
                    <a:lnTo>
                      <a:pt x="203" y="0"/>
                    </a:lnTo>
                    <a:lnTo>
                      <a:pt x="212" y="0"/>
                    </a:lnTo>
                    <a:lnTo>
                      <a:pt x="219" y="0"/>
                    </a:lnTo>
                    <a:lnTo>
                      <a:pt x="226" y="0"/>
                    </a:lnTo>
                    <a:lnTo>
                      <a:pt x="232" y="0"/>
                    </a:lnTo>
                    <a:lnTo>
                      <a:pt x="239" y="2"/>
                    </a:lnTo>
                    <a:lnTo>
                      <a:pt x="241" y="4"/>
                    </a:lnTo>
                    <a:lnTo>
                      <a:pt x="239" y="9"/>
                    </a:lnTo>
                    <a:lnTo>
                      <a:pt x="230" y="11"/>
                    </a:lnTo>
                    <a:lnTo>
                      <a:pt x="219" y="13"/>
                    </a:lnTo>
                    <a:lnTo>
                      <a:pt x="208" y="15"/>
                    </a:lnTo>
                    <a:lnTo>
                      <a:pt x="197" y="15"/>
                    </a:lnTo>
                    <a:lnTo>
                      <a:pt x="186" y="15"/>
                    </a:lnTo>
                    <a:lnTo>
                      <a:pt x="172" y="15"/>
                    </a:lnTo>
                    <a:lnTo>
                      <a:pt x="161" y="15"/>
                    </a:lnTo>
                    <a:lnTo>
                      <a:pt x="150" y="17"/>
                    </a:lnTo>
                    <a:lnTo>
                      <a:pt x="133" y="17"/>
                    </a:lnTo>
                    <a:lnTo>
                      <a:pt x="115" y="17"/>
                    </a:lnTo>
                    <a:lnTo>
                      <a:pt x="97" y="17"/>
                    </a:lnTo>
                    <a:lnTo>
                      <a:pt x="79" y="17"/>
                    </a:lnTo>
                    <a:lnTo>
                      <a:pt x="62" y="17"/>
                    </a:lnTo>
                    <a:lnTo>
                      <a:pt x="42" y="17"/>
                    </a:lnTo>
                    <a:lnTo>
                      <a:pt x="24" y="17"/>
                    </a:lnTo>
                    <a:lnTo>
                      <a:pt x="8" y="20"/>
                    </a:lnTo>
                    <a:lnTo>
                      <a:pt x="2" y="17"/>
                    </a:lnTo>
                    <a:lnTo>
                      <a:pt x="0" y="15"/>
                    </a:lnTo>
                    <a:lnTo>
                      <a:pt x="0" y="11"/>
                    </a:lnTo>
                    <a:lnTo>
                      <a:pt x="4" y="9"/>
                    </a:lnTo>
                    <a:lnTo>
                      <a:pt x="15" y="6"/>
                    </a:lnTo>
                    <a:lnTo>
                      <a:pt x="26" y="6"/>
                    </a:lnTo>
                    <a:lnTo>
                      <a:pt x="37" y="4"/>
                    </a:lnTo>
                    <a:lnTo>
                      <a:pt x="48" y="4"/>
                    </a:lnTo>
                    <a:lnTo>
                      <a:pt x="59" y="4"/>
                    </a:lnTo>
                    <a:lnTo>
                      <a:pt x="70" y="4"/>
                    </a:lnTo>
                    <a:lnTo>
                      <a:pt x="82" y="4"/>
                    </a:lnTo>
                    <a:lnTo>
                      <a:pt x="93" y="6"/>
                    </a:lnTo>
                    <a:lnTo>
                      <a:pt x="104" y="4"/>
                    </a:lnTo>
                    <a:lnTo>
                      <a:pt x="115" y="4"/>
                    </a:lnTo>
                    <a:lnTo>
                      <a:pt x="128" y="2"/>
                    </a:lnTo>
                    <a:lnTo>
                      <a:pt x="139" y="2"/>
                    </a:lnTo>
                    <a:lnTo>
                      <a:pt x="150" y="2"/>
                    </a:lnTo>
                    <a:lnTo>
                      <a:pt x="164" y="2"/>
                    </a:lnTo>
                    <a:lnTo>
                      <a:pt x="175" y="2"/>
                    </a:lnTo>
                    <a:lnTo>
                      <a:pt x="186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7" name="Freeform 39"/>
              <p:cNvSpPr>
                <a:spLocks/>
              </p:cNvSpPr>
              <p:nvPr/>
            </p:nvSpPr>
            <p:spPr bwMode="auto">
              <a:xfrm>
                <a:off x="2982" y="1531"/>
                <a:ext cx="117" cy="16"/>
              </a:xfrm>
              <a:custGeom>
                <a:avLst/>
                <a:gdLst>
                  <a:gd name="T0" fmla="*/ 33 w 117"/>
                  <a:gd name="T1" fmla="*/ 2 h 16"/>
                  <a:gd name="T2" fmla="*/ 39 w 117"/>
                  <a:gd name="T3" fmla="*/ 2 h 16"/>
                  <a:gd name="T4" fmla="*/ 51 w 117"/>
                  <a:gd name="T5" fmla="*/ 2 h 16"/>
                  <a:gd name="T6" fmla="*/ 59 w 117"/>
                  <a:gd name="T7" fmla="*/ 0 h 16"/>
                  <a:gd name="T8" fmla="*/ 73 w 117"/>
                  <a:gd name="T9" fmla="*/ 0 h 16"/>
                  <a:gd name="T10" fmla="*/ 82 w 117"/>
                  <a:gd name="T11" fmla="*/ 0 h 16"/>
                  <a:gd name="T12" fmla="*/ 93 w 117"/>
                  <a:gd name="T13" fmla="*/ 0 h 16"/>
                  <a:gd name="T14" fmla="*/ 102 w 117"/>
                  <a:gd name="T15" fmla="*/ 0 h 16"/>
                  <a:gd name="T16" fmla="*/ 110 w 117"/>
                  <a:gd name="T17" fmla="*/ 2 h 16"/>
                  <a:gd name="T18" fmla="*/ 117 w 117"/>
                  <a:gd name="T19" fmla="*/ 4 h 16"/>
                  <a:gd name="T20" fmla="*/ 115 w 117"/>
                  <a:gd name="T21" fmla="*/ 11 h 16"/>
                  <a:gd name="T22" fmla="*/ 99 w 117"/>
                  <a:gd name="T23" fmla="*/ 11 h 16"/>
                  <a:gd name="T24" fmla="*/ 86 w 117"/>
                  <a:gd name="T25" fmla="*/ 13 h 16"/>
                  <a:gd name="T26" fmla="*/ 73 w 117"/>
                  <a:gd name="T27" fmla="*/ 13 h 16"/>
                  <a:gd name="T28" fmla="*/ 59 w 117"/>
                  <a:gd name="T29" fmla="*/ 13 h 16"/>
                  <a:gd name="T30" fmla="*/ 44 w 117"/>
                  <a:gd name="T31" fmla="*/ 13 h 16"/>
                  <a:gd name="T32" fmla="*/ 31 w 117"/>
                  <a:gd name="T33" fmla="*/ 13 h 16"/>
                  <a:gd name="T34" fmla="*/ 15 w 117"/>
                  <a:gd name="T35" fmla="*/ 13 h 16"/>
                  <a:gd name="T36" fmla="*/ 2 w 117"/>
                  <a:gd name="T37" fmla="*/ 16 h 16"/>
                  <a:gd name="T38" fmla="*/ 0 w 117"/>
                  <a:gd name="T39" fmla="*/ 11 h 16"/>
                  <a:gd name="T40" fmla="*/ 2 w 117"/>
                  <a:gd name="T41" fmla="*/ 7 h 16"/>
                  <a:gd name="T42" fmla="*/ 2 w 117"/>
                  <a:gd name="T43" fmla="*/ 4 h 16"/>
                  <a:gd name="T44" fmla="*/ 6 w 117"/>
                  <a:gd name="T45" fmla="*/ 4 h 16"/>
                  <a:gd name="T46" fmla="*/ 11 w 117"/>
                  <a:gd name="T47" fmla="*/ 2 h 16"/>
                  <a:gd name="T48" fmla="*/ 17 w 117"/>
                  <a:gd name="T49" fmla="*/ 2 h 16"/>
                  <a:gd name="T50" fmla="*/ 22 w 117"/>
                  <a:gd name="T51" fmla="*/ 2 h 16"/>
                  <a:gd name="T52" fmla="*/ 26 w 117"/>
                  <a:gd name="T53" fmla="*/ 2 h 16"/>
                  <a:gd name="T54" fmla="*/ 31 w 117"/>
                  <a:gd name="T55" fmla="*/ 2 h 16"/>
                  <a:gd name="T56" fmla="*/ 33 w 117"/>
                  <a:gd name="T57" fmla="*/ 2 h 16"/>
                  <a:gd name="T58" fmla="*/ 33 w 117"/>
                  <a:gd name="T59" fmla="*/ 2 h 1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w 117"/>
                  <a:gd name="T91" fmla="*/ 0 h 16"/>
                  <a:gd name="T92" fmla="*/ 117 w 117"/>
                  <a:gd name="T93" fmla="*/ 16 h 16"/>
                </a:gdLst>
                <a:ahLst/>
                <a:cxnLst>
                  <a:cxn ang="T60">
                    <a:pos x="T0" y="T1"/>
                  </a:cxn>
                  <a:cxn ang="T61">
                    <a:pos x="T2" y="T3"/>
                  </a:cxn>
                  <a:cxn ang="T62">
                    <a:pos x="T4" y="T5"/>
                  </a:cxn>
                  <a:cxn ang="T63">
                    <a:pos x="T6" y="T7"/>
                  </a:cxn>
                  <a:cxn ang="T64">
                    <a:pos x="T8" y="T9"/>
                  </a:cxn>
                  <a:cxn ang="T65">
                    <a:pos x="T10" y="T11"/>
                  </a:cxn>
                  <a:cxn ang="T66">
                    <a:pos x="T12" y="T13"/>
                  </a:cxn>
                  <a:cxn ang="T67">
                    <a:pos x="T14" y="T15"/>
                  </a:cxn>
                  <a:cxn ang="T68">
                    <a:pos x="T16" y="T17"/>
                  </a:cxn>
                  <a:cxn ang="T69">
                    <a:pos x="T18" y="T19"/>
                  </a:cxn>
                  <a:cxn ang="T70">
                    <a:pos x="T20" y="T21"/>
                  </a:cxn>
                  <a:cxn ang="T71">
                    <a:pos x="T22" y="T23"/>
                  </a:cxn>
                  <a:cxn ang="T72">
                    <a:pos x="T24" y="T25"/>
                  </a:cxn>
                  <a:cxn ang="T73">
                    <a:pos x="T26" y="T27"/>
                  </a:cxn>
                  <a:cxn ang="T74">
                    <a:pos x="T28" y="T29"/>
                  </a:cxn>
                  <a:cxn ang="T75">
                    <a:pos x="T30" y="T31"/>
                  </a:cxn>
                  <a:cxn ang="T76">
                    <a:pos x="T32" y="T33"/>
                  </a:cxn>
                  <a:cxn ang="T77">
                    <a:pos x="T34" y="T35"/>
                  </a:cxn>
                  <a:cxn ang="T78">
                    <a:pos x="T36" y="T37"/>
                  </a:cxn>
                  <a:cxn ang="T79">
                    <a:pos x="T38" y="T39"/>
                  </a:cxn>
                  <a:cxn ang="T80">
                    <a:pos x="T40" y="T41"/>
                  </a:cxn>
                  <a:cxn ang="T81">
                    <a:pos x="T42" y="T43"/>
                  </a:cxn>
                  <a:cxn ang="T82">
                    <a:pos x="T44" y="T45"/>
                  </a:cxn>
                  <a:cxn ang="T83">
                    <a:pos x="T46" y="T47"/>
                  </a:cxn>
                  <a:cxn ang="T84">
                    <a:pos x="T48" y="T49"/>
                  </a:cxn>
                  <a:cxn ang="T85">
                    <a:pos x="T50" y="T51"/>
                  </a:cxn>
                  <a:cxn ang="T86">
                    <a:pos x="T52" y="T53"/>
                  </a:cxn>
                  <a:cxn ang="T87">
                    <a:pos x="T54" y="T55"/>
                  </a:cxn>
                  <a:cxn ang="T88">
                    <a:pos x="T56" y="T57"/>
                  </a:cxn>
                  <a:cxn ang="T89">
                    <a:pos x="T58" y="T59"/>
                  </a:cxn>
                </a:cxnLst>
                <a:rect l="T90" t="T91" r="T92" b="T93"/>
                <a:pathLst>
                  <a:path w="117" h="16">
                    <a:moveTo>
                      <a:pt x="33" y="2"/>
                    </a:moveTo>
                    <a:lnTo>
                      <a:pt x="39" y="2"/>
                    </a:lnTo>
                    <a:lnTo>
                      <a:pt x="51" y="2"/>
                    </a:lnTo>
                    <a:lnTo>
                      <a:pt x="59" y="0"/>
                    </a:lnTo>
                    <a:lnTo>
                      <a:pt x="73" y="0"/>
                    </a:lnTo>
                    <a:lnTo>
                      <a:pt x="82" y="0"/>
                    </a:lnTo>
                    <a:lnTo>
                      <a:pt x="93" y="0"/>
                    </a:lnTo>
                    <a:lnTo>
                      <a:pt x="102" y="0"/>
                    </a:lnTo>
                    <a:lnTo>
                      <a:pt x="110" y="2"/>
                    </a:lnTo>
                    <a:lnTo>
                      <a:pt x="117" y="4"/>
                    </a:lnTo>
                    <a:lnTo>
                      <a:pt x="115" y="11"/>
                    </a:lnTo>
                    <a:lnTo>
                      <a:pt x="99" y="11"/>
                    </a:lnTo>
                    <a:lnTo>
                      <a:pt x="86" y="13"/>
                    </a:lnTo>
                    <a:lnTo>
                      <a:pt x="73" y="13"/>
                    </a:lnTo>
                    <a:lnTo>
                      <a:pt x="59" y="13"/>
                    </a:lnTo>
                    <a:lnTo>
                      <a:pt x="44" y="13"/>
                    </a:lnTo>
                    <a:lnTo>
                      <a:pt x="31" y="13"/>
                    </a:lnTo>
                    <a:lnTo>
                      <a:pt x="15" y="13"/>
                    </a:lnTo>
                    <a:lnTo>
                      <a:pt x="2" y="16"/>
                    </a:lnTo>
                    <a:lnTo>
                      <a:pt x="0" y="11"/>
                    </a:lnTo>
                    <a:lnTo>
                      <a:pt x="2" y="7"/>
                    </a:lnTo>
                    <a:lnTo>
                      <a:pt x="2" y="4"/>
                    </a:lnTo>
                    <a:lnTo>
                      <a:pt x="6" y="4"/>
                    </a:lnTo>
                    <a:lnTo>
                      <a:pt x="11" y="2"/>
                    </a:lnTo>
                    <a:lnTo>
                      <a:pt x="17" y="2"/>
                    </a:lnTo>
                    <a:lnTo>
                      <a:pt x="22" y="2"/>
                    </a:lnTo>
                    <a:lnTo>
                      <a:pt x="26" y="2"/>
                    </a:lnTo>
                    <a:lnTo>
                      <a:pt x="31" y="2"/>
                    </a:lnTo>
                    <a:lnTo>
                      <a:pt x="33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8" name="Freeform 40"/>
              <p:cNvSpPr>
                <a:spLocks/>
              </p:cNvSpPr>
              <p:nvPr/>
            </p:nvSpPr>
            <p:spPr bwMode="auto">
              <a:xfrm>
                <a:off x="2667" y="1746"/>
                <a:ext cx="494" cy="15"/>
              </a:xfrm>
              <a:custGeom>
                <a:avLst/>
                <a:gdLst>
                  <a:gd name="T0" fmla="*/ 310 w 494"/>
                  <a:gd name="T1" fmla="*/ 0 h 15"/>
                  <a:gd name="T2" fmla="*/ 326 w 494"/>
                  <a:gd name="T3" fmla="*/ 0 h 15"/>
                  <a:gd name="T4" fmla="*/ 346 w 494"/>
                  <a:gd name="T5" fmla="*/ 0 h 15"/>
                  <a:gd name="T6" fmla="*/ 366 w 494"/>
                  <a:gd name="T7" fmla="*/ 0 h 15"/>
                  <a:gd name="T8" fmla="*/ 388 w 494"/>
                  <a:gd name="T9" fmla="*/ 0 h 15"/>
                  <a:gd name="T10" fmla="*/ 408 w 494"/>
                  <a:gd name="T11" fmla="*/ 0 h 15"/>
                  <a:gd name="T12" fmla="*/ 428 w 494"/>
                  <a:gd name="T13" fmla="*/ 0 h 15"/>
                  <a:gd name="T14" fmla="*/ 445 w 494"/>
                  <a:gd name="T15" fmla="*/ 0 h 15"/>
                  <a:gd name="T16" fmla="*/ 463 w 494"/>
                  <a:gd name="T17" fmla="*/ 0 h 15"/>
                  <a:gd name="T18" fmla="*/ 472 w 494"/>
                  <a:gd name="T19" fmla="*/ 0 h 15"/>
                  <a:gd name="T20" fmla="*/ 481 w 494"/>
                  <a:gd name="T21" fmla="*/ 0 h 15"/>
                  <a:gd name="T22" fmla="*/ 487 w 494"/>
                  <a:gd name="T23" fmla="*/ 0 h 15"/>
                  <a:gd name="T24" fmla="*/ 492 w 494"/>
                  <a:gd name="T25" fmla="*/ 2 h 15"/>
                  <a:gd name="T26" fmla="*/ 494 w 494"/>
                  <a:gd name="T27" fmla="*/ 2 h 15"/>
                  <a:gd name="T28" fmla="*/ 494 w 494"/>
                  <a:gd name="T29" fmla="*/ 4 h 15"/>
                  <a:gd name="T30" fmla="*/ 494 w 494"/>
                  <a:gd name="T31" fmla="*/ 7 h 15"/>
                  <a:gd name="T32" fmla="*/ 490 w 494"/>
                  <a:gd name="T33" fmla="*/ 9 h 15"/>
                  <a:gd name="T34" fmla="*/ 450 w 494"/>
                  <a:gd name="T35" fmla="*/ 11 h 15"/>
                  <a:gd name="T36" fmla="*/ 410 w 494"/>
                  <a:gd name="T37" fmla="*/ 13 h 15"/>
                  <a:gd name="T38" fmla="*/ 368 w 494"/>
                  <a:gd name="T39" fmla="*/ 13 h 15"/>
                  <a:gd name="T40" fmla="*/ 326 w 494"/>
                  <a:gd name="T41" fmla="*/ 13 h 15"/>
                  <a:gd name="T42" fmla="*/ 281 w 494"/>
                  <a:gd name="T43" fmla="*/ 13 h 15"/>
                  <a:gd name="T44" fmla="*/ 239 w 494"/>
                  <a:gd name="T45" fmla="*/ 13 h 15"/>
                  <a:gd name="T46" fmla="*/ 197 w 494"/>
                  <a:gd name="T47" fmla="*/ 13 h 15"/>
                  <a:gd name="T48" fmla="*/ 155 w 494"/>
                  <a:gd name="T49" fmla="*/ 15 h 15"/>
                  <a:gd name="T50" fmla="*/ 139 w 494"/>
                  <a:gd name="T51" fmla="*/ 15 h 15"/>
                  <a:gd name="T52" fmla="*/ 122 w 494"/>
                  <a:gd name="T53" fmla="*/ 15 h 15"/>
                  <a:gd name="T54" fmla="*/ 104 w 494"/>
                  <a:gd name="T55" fmla="*/ 15 h 15"/>
                  <a:gd name="T56" fmla="*/ 86 w 494"/>
                  <a:gd name="T57" fmla="*/ 15 h 15"/>
                  <a:gd name="T58" fmla="*/ 69 w 494"/>
                  <a:gd name="T59" fmla="*/ 15 h 15"/>
                  <a:gd name="T60" fmla="*/ 51 w 494"/>
                  <a:gd name="T61" fmla="*/ 15 h 15"/>
                  <a:gd name="T62" fmla="*/ 33 w 494"/>
                  <a:gd name="T63" fmla="*/ 15 h 15"/>
                  <a:gd name="T64" fmla="*/ 20 w 494"/>
                  <a:gd name="T65" fmla="*/ 15 h 15"/>
                  <a:gd name="T66" fmla="*/ 11 w 494"/>
                  <a:gd name="T67" fmla="*/ 13 h 15"/>
                  <a:gd name="T68" fmla="*/ 6 w 494"/>
                  <a:gd name="T69" fmla="*/ 13 h 15"/>
                  <a:gd name="T70" fmla="*/ 2 w 494"/>
                  <a:gd name="T71" fmla="*/ 11 h 15"/>
                  <a:gd name="T72" fmla="*/ 2 w 494"/>
                  <a:gd name="T73" fmla="*/ 9 h 15"/>
                  <a:gd name="T74" fmla="*/ 0 w 494"/>
                  <a:gd name="T75" fmla="*/ 7 h 15"/>
                  <a:gd name="T76" fmla="*/ 2 w 494"/>
                  <a:gd name="T77" fmla="*/ 4 h 15"/>
                  <a:gd name="T78" fmla="*/ 4 w 494"/>
                  <a:gd name="T79" fmla="*/ 2 h 15"/>
                  <a:gd name="T80" fmla="*/ 11 w 494"/>
                  <a:gd name="T81" fmla="*/ 2 h 15"/>
                  <a:gd name="T82" fmla="*/ 31 w 494"/>
                  <a:gd name="T83" fmla="*/ 2 h 15"/>
                  <a:gd name="T84" fmla="*/ 55 w 494"/>
                  <a:gd name="T85" fmla="*/ 2 h 15"/>
                  <a:gd name="T86" fmla="*/ 80 w 494"/>
                  <a:gd name="T87" fmla="*/ 2 h 15"/>
                  <a:gd name="T88" fmla="*/ 108 w 494"/>
                  <a:gd name="T89" fmla="*/ 2 h 15"/>
                  <a:gd name="T90" fmla="*/ 133 w 494"/>
                  <a:gd name="T91" fmla="*/ 2 h 15"/>
                  <a:gd name="T92" fmla="*/ 157 w 494"/>
                  <a:gd name="T93" fmla="*/ 2 h 15"/>
                  <a:gd name="T94" fmla="*/ 179 w 494"/>
                  <a:gd name="T95" fmla="*/ 2 h 15"/>
                  <a:gd name="T96" fmla="*/ 197 w 494"/>
                  <a:gd name="T97" fmla="*/ 2 h 15"/>
                  <a:gd name="T98" fmla="*/ 213 w 494"/>
                  <a:gd name="T99" fmla="*/ 2 h 15"/>
                  <a:gd name="T100" fmla="*/ 228 w 494"/>
                  <a:gd name="T101" fmla="*/ 2 h 15"/>
                  <a:gd name="T102" fmla="*/ 241 w 494"/>
                  <a:gd name="T103" fmla="*/ 2 h 15"/>
                  <a:gd name="T104" fmla="*/ 257 w 494"/>
                  <a:gd name="T105" fmla="*/ 2 h 15"/>
                  <a:gd name="T106" fmla="*/ 270 w 494"/>
                  <a:gd name="T107" fmla="*/ 0 h 15"/>
                  <a:gd name="T108" fmla="*/ 284 w 494"/>
                  <a:gd name="T109" fmla="*/ 0 h 15"/>
                  <a:gd name="T110" fmla="*/ 297 w 494"/>
                  <a:gd name="T111" fmla="*/ 0 h 15"/>
                  <a:gd name="T112" fmla="*/ 310 w 494"/>
                  <a:gd name="T113" fmla="*/ 0 h 15"/>
                  <a:gd name="T114" fmla="*/ 310 w 494"/>
                  <a:gd name="T115" fmla="*/ 0 h 15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494"/>
                  <a:gd name="T175" fmla="*/ 0 h 15"/>
                  <a:gd name="T176" fmla="*/ 494 w 494"/>
                  <a:gd name="T177" fmla="*/ 15 h 15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494" h="15">
                    <a:moveTo>
                      <a:pt x="310" y="0"/>
                    </a:moveTo>
                    <a:lnTo>
                      <a:pt x="326" y="0"/>
                    </a:lnTo>
                    <a:lnTo>
                      <a:pt x="346" y="0"/>
                    </a:lnTo>
                    <a:lnTo>
                      <a:pt x="366" y="0"/>
                    </a:lnTo>
                    <a:lnTo>
                      <a:pt x="388" y="0"/>
                    </a:lnTo>
                    <a:lnTo>
                      <a:pt x="408" y="0"/>
                    </a:lnTo>
                    <a:lnTo>
                      <a:pt x="428" y="0"/>
                    </a:lnTo>
                    <a:lnTo>
                      <a:pt x="445" y="0"/>
                    </a:lnTo>
                    <a:lnTo>
                      <a:pt x="463" y="0"/>
                    </a:lnTo>
                    <a:lnTo>
                      <a:pt x="472" y="0"/>
                    </a:lnTo>
                    <a:lnTo>
                      <a:pt x="481" y="0"/>
                    </a:lnTo>
                    <a:lnTo>
                      <a:pt x="487" y="0"/>
                    </a:lnTo>
                    <a:lnTo>
                      <a:pt x="492" y="2"/>
                    </a:lnTo>
                    <a:lnTo>
                      <a:pt x="494" y="2"/>
                    </a:lnTo>
                    <a:lnTo>
                      <a:pt x="494" y="4"/>
                    </a:lnTo>
                    <a:lnTo>
                      <a:pt x="494" y="7"/>
                    </a:lnTo>
                    <a:lnTo>
                      <a:pt x="490" y="9"/>
                    </a:lnTo>
                    <a:lnTo>
                      <a:pt x="450" y="11"/>
                    </a:lnTo>
                    <a:lnTo>
                      <a:pt x="410" y="13"/>
                    </a:lnTo>
                    <a:lnTo>
                      <a:pt x="368" y="13"/>
                    </a:lnTo>
                    <a:lnTo>
                      <a:pt x="326" y="13"/>
                    </a:lnTo>
                    <a:lnTo>
                      <a:pt x="281" y="13"/>
                    </a:lnTo>
                    <a:lnTo>
                      <a:pt x="239" y="13"/>
                    </a:lnTo>
                    <a:lnTo>
                      <a:pt x="197" y="13"/>
                    </a:lnTo>
                    <a:lnTo>
                      <a:pt x="155" y="15"/>
                    </a:lnTo>
                    <a:lnTo>
                      <a:pt x="139" y="15"/>
                    </a:lnTo>
                    <a:lnTo>
                      <a:pt x="122" y="15"/>
                    </a:lnTo>
                    <a:lnTo>
                      <a:pt x="104" y="15"/>
                    </a:lnTo>
                    <a:lnTo>
                      <a:pt x="86" y="15"/>
                    </a:lnTo>
                    <a:lnTo>
                      <a:pt x="69" y="15"/>
                    </a:lnTo>
                    <a:lnTo>
                      <a:pt x="51" y="15"/>
                    </a:lnTo>
                    <a:lnTo>
                      <a:pt x="33" y="15"/>
                    </a:lnTo>
                    <a:lnTo>
                      <a:pt x="20" y="15"/>
                    </a:lnTo>
                    <a:lnTo>
                      <a:pt x="11" y="13"/>
                    </a:lnTo>
                    <a:lnTo>
                      <a:pt x="6" y="13"/>
                    </a:lnTo>
                    <a:lnTo>
                      <a:pt x="2" y="11"/>
                    </a:lnTo>
                    <a:lnTo>
                      <a:pt x="2" y="9"/>
                    </a:lnTo>
                    <a:lnTo>
                      <a:pt x="0" y="7"/>
                    </a:lnTo>
                    <a:lnTo>
                      <a:pt x="2" y="4"/>
                    </a:lnTo>
                    <a:lnTo>
                      <a:pt x="4" y="2"/>
                    </a:lnTo>
                    <a:lnTo>
                      <a:pt x="11" y="2"/>
                    </a:lnTo>
                    <a:lnTo>
                      <a:pt x="31" y="2"/>
                    </a:lnTo>
                    <a:lnTo>
                      <a:pt x="55" y="2"/>
                    </a:lnTo>
                    <a:lnTo>
                      <a:pt x="80" y="2"/>
                    </a:lnTo>
                    <a:lnTo>
                      <a:pt x="108" y="2"/>
                    </a:lnTo>
                    <a:lnTo>
                      <a:pt x="133" y="2"/>
                    </a:lnTo>
                    <a:lnTo>
                      <a:pt x="157" y="2"/>
                    </a:lnTo>
                    <a:lnTo>
                      <a:pt x="179" y="2"/>
                    </a:lnTo>
                    <a:lnTo>
                      <a:pt x="197" y="2"/>
                    </a:lnTo>
                    <a:lnTo>
                      <a:pt x="213" y="2"/>
                    </a:lnTo>
                    <a:lnTo>
                      <a:pt x="228" y="2"/>
                    </a:lnTo>
                    <a:lnTo>
                      <a:pt x="241" y="2"/>
                    </a:lnTo>
                    <a:lnTo>
                      <a:pt x="257" y="2"/>
                    </a:lnTo>
                    <a:lnTo>
                      <a:pt x="270" y="0"/>
                    </a:lnTo>
                    <a:lnTo>
                      <a:pt x="284" y="0"/>
                    </a:lnTo>
                    <a:lnTo>
                      <a:pt x="297" y="0"/>
                    </a:lnTo>
                    <a:lnTo>
                      <a:pt x="310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9" name="Freeform 41"/>
              <p:cNvSpPr>
                <a:spLocks/>
              </p:cNvSpPr>
              <p:nvPr/>
            </p:nvSpPr>
            <p:spPr bwMode="auto">
              <a:xfrm>
                <a:off x="2689" y="1338"/>
                <a:ext cx="242" cy="22"/>
              </a:xfrm>
              <a:custGeom>
                <a:avLst/>
                <a:gdLst>
                  <a:gd name="T0" fmla="*/ 188 w 242"/>
                  <a:gd name="T1" fmla="*/ 0 h 22"/>
                  <a:gd name="T2" fmla="*/ 193 w 242"/>
                  <a:gd name="T3" fmla="*/ 0 h 22"/>
                  <a:gd name="T4" fmla="*/ 197 w 242"/>
                  <a:gd name="T5" fmla="*/ 0 h 22"/>
                  <a:gd name="T6" fmla="*/ 204 w 242"/>
                  <a:gd name="T7" fmla="*/ 0 h 22"/>
                  <a:gd name="T8" fmla="*/ 213 w 242"/>
                  <a:gd name="T9" fmla="*/ 0 h 22"/>
                  <a:gd name="T10" fmla="*/ 219 w 242"/>
                  <a:gd name="T11" fmla="*/ 0 h 22"/>
                  <a:gd name="T12" fmla="*/ 226 w 242"/>
                  <a:gd name="T13" fmla="*/ 0 h 22"/>
                  <a:gd name="T14" fmla="*/ 233 w 242"/>
                  <a:gd name="T15" fmla="*/ 0 h 22"/>
                  <a:gd name="T16" fmla="*/ 239 w 242"/>
                  <a:gd name="T17" fmla="*/ 0 h 22"/>
                  <a:gd name="T18" fmla="*/ 242 w 242"/>
                  <a:gd name="T19" fmla="*/ 5 h 22"/>
                  <a:gd name="T20" fmla="*/ 239 w 242"/>
                  <a:gd name="T21" fmla="*/ 11 h 22"/>
                  <a:gd name="T22" fmla="*/ 231 w 242"/>
                  <a:gd name="T23" fmla="*/ 14 h 22"/>
                  <a:gd name="T24" fmla="*/ 219 w 242"/>
                  <a:gd name="T25" fmla="*/ 14 h 22"/>
                  <a:gd name="T26" fmla="*/ 208 w 242"/>
                  <a:gd name="T27" fmla="*/ 16 h 22"/>
                  <a:gd name="T28" fmla="*/ 197 w 242"/>
                  <a:gd name="T29" fmla="*/ 16 h 22"/>
                  <a:gd name="T30" fmla="*/ 186 w 242"/>
                  <a:gd name="T31" fmla="*/ 16 h 22"/>
                  <a:gd name="T32" fmla="*/ 173 w 242"/>
                  <a:gd name="T33" fmla="*/ 16 h 22"/>
                  <a:gd name="T34" fmla="*/ 162 w 242"/>
                  <a:gd name="T35" fmla="*/ 16 h 22"/>
                  <a:gd name="T36" fmla="*/ 151 w 242"/>
                  <a:gd name="T37" fmla="*/ 18 h 22"/>
                  <a:gd name="T38" fmla="*/ 133 w 242"/>
                  <a:gd name="T39" fmla="*/ 18 h 22"/>
                  <a:gd name="T40" fmla="*/ 117 w 242"/>
                  <a:gd name="T41" fmla="*/ 18 h 22"/>
                  <a:gd name="T42" fmla="*/ 100 w 242"/>
                  <a:gd name="T43" fmla="*/ 18 h 22"/>
                  <a:gd name="T44" fmla="*/ 80 w 242"/>
                  <a:gd name="T45" fmla="*/ 18 h 22"/>
                  <a:gd name="T46" fmla="*/ 62 w 242"/>
                  <a:gd name="T47" fmla="*/ 18 h 22"/>
                  <a:gd name="T48" fmla="*/ 42 w 242"/>
                  <a:gd name="T49" fmla="*/ 20 h 22"/>
                  <a:gd name="T50" fmla="*/ 24 w 242"/>
                  <a:gd name="T51" fmla="*/ 20 h 22"/>
                  <a:gd name="T52" fmla="*/ 9 w 242"/>
                  <a:gd name="T53" fmla="*/ 22 h 22"/>
                  <a:gd name="T54" fmla="*/ 2 w 242"/>
                  <a:gd name="T55" fmla="*/ 20 h 22"/>
                  <a:gd name="T56" fmla="*/ 0 w 242"/>
                  <a:gd name="T57" fmla="*/ 16 h 22"/>
                  <a:gd name="T58" fmla="*/ 0 w 242"/>
                  <a:gd name="T59" fmla="*/ 14 h 22"/>
                  <a:gd name="T60" fmla="*/ 4 w 242"/>
                  <a:gd name="T61" fmla="*/ 9 h 22"/>
                  <a:gd name="T62" fmla="*/ 16 w 242"/>
                  <a:gd name="T63" fmla="*/ 7 h 22"/>
                  <a:gd name="T64" fmla="*/ 27 w 242"/>
                  <a:gd name="T65" fmla="*/ 7 h 22"/>
                  <a:gd name="T66" fmla="*/ 38 w 242"/>
                  <a:gd name="T67" fmla="*/ 7 h 22"/>
                  <a:gd name="T68" fmla="*/ 49 w 242"/>
                  <a:gd name="T69" fmla="*/ 7 h 22"/>
                  <a:gd name="T70" fmla="*/ 60 w 242"/>
                  <a:gd name="T71" fmla="*/ 7 h 22"/>
                  <a:gd name="T72" fmla="*/ 71 w 242"/>
                  <a:gd name="T73" fmla="*/ 7 h 22"/>
                  <a:gd name="T74" fmla="*/ 82 w 242"/>
                  <a:gd name="T75" fmla="*/ 7 h 22"/>
                  <a:gd name="T76" fmla="*/ 93 w 242"/>
                  <a:gd name="T77" fmla="*/ 7 h 22"/>
                  <a:gd name="T78" fmla="*/ 104 w 242"/>
                  <a:gd name="T79" fmla="*/ 5 h 22"/>
                  <a:gd name="T80" fmla="*/ 115 w 242"/>
                  <a:gd name="T81" fmla="*/ 5 h 22"/>
                  <a:gd name="T82" fmla="*/ 126 w 242"/>
                  <a:gd name="T83" fmla="*/ 3 h 22"/>
                  <a:gd name="T84" fmla="*/ 140 w 242"/>
                  <a:gd name="T85" fmla="*/ 3 h 22"/>
                  <a:gd name="T86" fmla="*/ 151 w 242"/>
                  <a:gd name="T87" fmla="*/ 3 h 22"/>
                  <a:gd name="T88" fmla="*/ 164 w 242"/>
                  <a:gd name="T89" fmla="*/ 0 h 22"/>
                  <a:gd name="T90" fmla="*/ 175 w 242"/>
                  <a:gd name="T91" fmla="*/ 0 h 22"/>
                  <a:gd name="T92" fmla="*/ 188 w 242"/>
                  <a:gd name="T93" fmla="*/ 0 h 22"/>
                  <a:gd name="T94" fmla="*/ 188 w 242"/>
                  <a:gd name="T95" fmla="*/ 0 h 22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2"/>
                  <a:gd name="T145" fmla="*/ 0 h 22"/>
                  <a:gd name="T146" fmla="*/ 242 w 242"/>
                  <a:gd name="T147" fmla="*/ 22 h 22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2" h="22">
                    <a:moveTo>
                      <a:pt x="188" y="0"/>
                    </a:moveTo>
                    <a:lnTo>
                      <a:pt x="193" y="0"/>
                    </a:lnTo>
                    <a:lnTo>
                      <a:pt x="197" y="0"/>
                    </a:lnTo>
                    <a:lnTo>
                      <a:pt x="204" y="0"/>
                    </a:lnTo>
                    <a:lnTo>
                      <a:pt x="213" y="0"/>
                    </a:lnTo>
                    <a:lnTo>
                      <a:pt x="219" y="0"/>
                    </a:lnTo>
                    <a:lnTo>
                      <a:pt x="226" y="0"/>
                    </a:lnTo>
                    <a:lnTo>
                      <a:pt x="233" y="0"/>
                    </a:lnTo>
                    <a:lnTo>
                      <a:pt x="239" y="0"/>
                    </a:lnTo>
                    <a:lnTo>
                      <a:pt x="242" y="5"/>
                    </a:lnTo>
                    <a:lnTo>
                      <a:pt x="239" y="11"/>
                    </a:lnTo>
                    <a:lnTo>
                      <a:pt x="231" y="14"/>
                    </a:lnTo>
                    <a:lnTo>
                      <a:pt x="219" y="14"/>
                    </a:lnTo>
                    <a:lnTo>
                      <a:pt x="208" y="16"/>
                    </a:lnTo>
                    <a:lnTo>
                      <a:pt x="197" y="16"/>
                    </a:lnTo>
                    <a:lnTo>
                      <a:pt x="186" y="16"/>
                    </a:lnTo>
                    <a:lnTo>
                      <a:pt x="173" y="16"/>
                    </a:lnTo>
                    <a:lnTo>
                      <a:pt x="162" y="16"/>
                    </a:lnTo>
                    <a:lnTo>
                      <a:pt x="151" y="18"/>
                    </a:lnTo>
                    <a:lnTo>
                      <a:pt x="133" y="18"/>
                    </a:lnTo>
                    <a:lnTo>
                      <a:pt x="117" y="18"/>
                    </a:lnTo>
                    <a:lnTo>
                      <a:pt x="100" y="18"/>
                    </a:lnTo>
                    <a:lnTo>
                      <a:pt x="80" y="18"/>
                    </a:lnTo>
                    <a:lnTo>
                      <a:pt x="62" y="18"/>
                    </a:lnTo>
                    <a:lnTo>
                      <a:pt x="42" y="20"/>
                    </a:lnTo>
                    <a:lnTo>
                      <a:pt x="24" y="20"/>
                    </a:lnTo>
                    <a:lnTo>
                      <a:pt x="9" y="22"/>
                    </a:lnTo>
                    <a:lnTo>
                      <a:pt x="2" y="20"/>
                    </a:lnTo>
                    <a:lnTo>
                      <a:pt x="0" y="16"/>
                    </a:lnTo>
                    <a:lnTo>
                      <a:pt x="0" y="14"/>
                    </a:lnTo>
                    <a:lnTo>
                      <a:pt x="4" y="9"/>
                    </a:lnTo>
                    <a:lnTo>
                      <a:pt x="16" y="7"/>
                    </a:lnTo>
                    <a:lnTo>
                      <a:pt x="27" y="7"/>
                    </a:lnTo>
                    <a:lnTo>
                      <a:pt x="38" y="7"/>
                    </a:lnTo>
                    <a:lnTo>
                      <a:pt x="49" y="7"/>
                    </a:lnTo>
                    <a:lnTo>
                      <a:pt x="60" y="7"/>
                    </a:lnTo>
                    <a:lnTo>
                      <a:pt x="71" y="7"/>
                    </a:lnTo>
                    <a:lnTo>
                      <a:pt x="82" y="7"/>
                    </a:lnTo>
                    <a:lnTo>
                      <a:pt x="93" y="7"/>
                    </a:lnTo>
                    <a:lnTo>
                      <a:pt x="104" y="5"/>
                    </a:lnTo>
                    <a:lnTo>
                      <a:pt x="115" y="5"/>
                    </a:lnTo>
                    <a:lnTo>
                      <a:pt x="126" y="3"/>
                    </a:lnTo>
                    <a:lnTo>
                      <a:pt x="140" y="3"/>
                    </a:lnTo>
                    <a:lnTo>
                      <a:pt x="151" y="3"/>
                    </a:lnTo>
                    <a:lnTo>
                      <a:pt x="164" y="0"/>
                    </a:lnTo>
                    <a:lnTo>
                      <a:pt x="175" y="0"/>
                    </a:lnTo>
                    <a:lnTo>
                      <a:pt x="188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0" name="Freeform 42"/>
              <p:cNvSpPr>
                <a:spLocks/>
              </p:cNvSpPr>
              <p:nvPr/>
            </p:nvSpPr>
            <p:spPr bwMode="auto">
              <a:xfrm>
                <a:off x="2979" y="1334"/>
                <a:ext cx="169" cy="20"/>
              </a:xfrm>
              <a:custGeom>
                <a:avLst/>
                <a:gdLst>
                  <a:gd name="T0" fmla="*/ 131 w 169"/>
                  <a:gd name="T1" fmla="*/ 2 h 20"/>
                  <a:gd name="T2" fmla="*/ 133 w 169"/>
                  <a:gd name="T3" fmla="*/ 0 h 20"/>
                  <a:gd name="T4" fmla="*/ 138 w 169"/>
                  <a:gd name="T5" fmla="*/ 0 h 20"/>
                  <a:gd name="T6" fmla="*/ 142 w 169"/>
                  <a:gd name="T7" fmla="*/ 0 h 20"/>
                  <a:gd name="T8" fmla="*/ 149 w 169"/>
                  <a:gd name="T9" fmla="*/ 0 h 20"/>
                  <a:gd name="T10" fmla="*/ 153 w 169"/>
                  <a:gd name="T11" fmla="*/ 0 h 20"/>
                  <a:gd name="T12" fmla="*/ 158 w 169"/>
                  <a:gd name="T13" fmla="*/ 0 h 20"/>
                  <a:gd name="T14" fmla="*/ 162 w 169"/>
                  <a:gd name="T15" fmla="*/ 0 h 20"/>
                  <a:gd name="T16" fmla="*/ 167 w 169"/>
                  <a:gd name="T17" fmla="*/ 2 h 20"/>
                  <a:gd name="T18" fmla="*/ 169 w 169"/>
                  <a:gd name="T19" fmla="*/ 2 h 20"/>
                  <a:gd name="T20" fmla="*/ 167 w 169"/>
                  <a:gd name="T21" fmla="*/ 9 h 20"/>
                  <a:gd name="T22" fmla="*/ 160 w 169"/>
                  <a:gd name="T23" fmla="*/ 11 h 20"/>
                  <a:gd name="T24" fmla="*/ 153 w 169"/>
                  <a:gd name="T25" fmla="*/ 13 h 20"/>
                  <a:gd name="T26" fmla="*/ 144 w 169"/>
                  <a:gd name="T27" fmla="*/ 13 h 20"/>
                  <a:gd name="T28" fmla="*/ 138 w 169"/>
                  <a:gd name="T29" fmla="*/ 13 h 20"/>
                  <a:gd name="T30" fmla="*/ 129 w 169"/>
                  <a:gd name="T31" fmla="*/ 13 h 20"/>
                  <a:gd name="T32" fmla="*/ 120 w 169"/>
                  <a:gd name="T33" fmla="*/ 13 h 20"/>
                  <a:gd name="T34" fmla="*/ 113 w 169"/>
                  <a:gd name="T35" fmla="*/ 13 h 20"/>
                  <a:gd name="T36" fmla="*/ 107 w 169"/>
                  <a:gd name="T37" fmla="*/ 15 h 20"/>
                  <a:gd name="T38" fmla="*/ 93 w 169"/>
                  <a:gd name="T39" fmla="*/ 15 h 20"/>
                  <a:gd name="T40" fmla="*/ 82 w 169"/>
                  <a:gd name="T41" fmla="*/ 15 h 20"/>
                  <a:gd name="T42" fmla="*/ 69 w 169"/>
                  <a:gd name="T43" fmla="*/ 15 h 20"/>
                  <a:gd name="T44" fmla="*/ 58 w 169"/>
                  <a:gd name="T45" fmla="*/ 18 h 20"/>
                  <a:gd name="T46" fmla="*/ 45 w 169"/>
                  <a:gd name="T47" fmla="*/ 18 h 20"/>
                  <a:gd name="T48" fmla="*/ 31 w 169"/>
                  <a:gd name="T49" fmla="*/ 18 h 20"/>
                  <a:gd name="T50" fmla="*/ 18 w 169"/>
                  <a:gd name="T51" fmla="*/ 18 h 20"/>
                  <a:gd name="T52" fmla="*/ 7 w 169"/>
                  <a:gd name="T53" fmla="*/ 20 h 20"/>
                  <a:gd name="T54" fmla="*/ 0 w 169"/>
                  <a:gd name="T55" fmla="*/ 15 h 20"/>
                  <a:gd name="T56" fmla="*/ 5 w 169"/>
                  <a:gd name="T57" fmla="*/ 7 h 20"/>
                  <a:gd name="T58" fmla="*/ 11 w 169"/>
                  <a:gd name="T59" fmla="*/ 4 h 20"/>
                  <a:gd name="T60" fmla="*/ 18 w 169"/>
                  <a:gd name="T61" fmla="*/ 4 h 20"/>
                  <a:gd name="T62" fmla="*/ 27 w 169"/>
                  <a:gd name="T63" fmla="*/ 4 h 20"/>
                  <a:gd name="T64" fmla="*/ 34 w 169"/>
                  <a:gd name="T65" fmla="*/ 4 h 20"/>
                  <a:gd name="T66" fmla="*/ 42 w 169"/>
                  <a:gd name="T67" fmla="*/ 4 h 20"/>
                  <a:gd name="T68" fmla="*/ 51 w 169"/>
                  <a:gd name="T69" fmla="*/ 4 h 20"/>
                  <a:gd name="T70" fmla="*/ 58 w 169"/>
                  <a:gd name="T71" fmla="*/ 4 h 20"/>
                  <a:gd name="T72" fmla="*/ 67 w 169"/>
                  <a:gd name="T73" fmla="*/ 4 h 20"/>
                  <a:gd name="T74" fmla="*/ 74 w 169"/>
                  <a:gd name="T75" fmla="*/ 2 h 20"/>
                  <a:gd name="T76" fmla="*/ 82 w 169"/>
                  <a:gd name="T77" fmla="*/ 2 h 20"/>
                  <a:gd name="T78" fmla="*/ 89 w 169"/>
                  <a:gd name="T79" fmla="*/ 2 h 20"/>
                  <a:gd name="T80" fmla="*/ 98 w 169"/>
                  <a:gd name="T81" fmla="*/ 2 h 20"/>
                  <a:gd name="T82" fmla="*/ 107 w 169"/>
                  <a:gd name="T83" fmla="*/ 2 h 20"/>
                  <a:gd name="T84" fmla="*/ 113 w 169"/>
                  <a:gd name="T85" fmla="*/ 2 h 20"/>
                  <a:gd name="T86" fmla="*/ 122 w 169"/>
                  <a:gd name="T87" fmla="*/ 2 h 20"/>
                  <a:gd name="T88" fmla="*/ 131 w 169"/>
                  <a:gd name="T89" fmla="*/ 2 h 20"/>
                  <a:gd name="T90" fmla="*/ 131 w 169"/>
                  <a:gd name="T91" fmla="*/ 2 h 20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w 169"/>
                  <a:gd name="T139" fmla="*/ 0 h 20"/>
                  <a:gd name="T140" fmla="*/ 169 w 169"/>
                  <a:gd name="T141" fmla="*/ 20 h 20"/>
                </a:gdLst>
                <a:ahLst/>
                <a:cxnLst>
                  <a:cxn ang="T92">
                    <a:pos x="T0" y="T1"/>
                  </a:cxn>
                  <a:cxn ang="T93">
                    <a:pos x="T2" y="T3"/>
                  </a:cxn>
                  <a:cxn ang="T94">
                    <a:pos x="T4" y="T5"/>
                  </a:cxn>
                  <a:cxn ang="T95">
                    <a:pos x="T6" y="T7"/>
                  </a:cxn>
                  <a:cxn ang="T96">
                    <a:pos x="T8" y="T9"/>
                  </a:cxn>
                  <a:cxn ang="T97">
                    <a:pos x="T10" y="T11"/>
                  </a:cxn>
                  <a:cxn ang="T98">
                    <a:pos x="T12" y="T13"/>
                  </a:cxn>
                  <a:cxn ang="T99">
                    <a:pos x="T14" y="T15"/>
                  </a:cxn>
                  <a:cxn ang="T100">
                    <a:pos x="T16" y="T17"/>
                  </a:cxn>
                  <a:cxn ang="T101">
                    <a:pos x="T18" y="T19"/>
                  </a:cxn>
                  <a:cxn ang="T102">
                    <a:pos x="T20" y="T21"/>
                  </a:cxn>
                  <a:cxn ang="T103">
                    <a:pos x="T22" y="T23"/>
                  </a:cxn>
                  <a:cxn ang="T104">
                    <a:pos x="T24" y="T25"/>
                  </a:cxn>
                  <a:cxn ang="T105">
                    <a:pos x="T26" y="T27"/>
                  </a:cxn>
                  <a:cxn ang="T106">
                    <a:pos x="T28" y="T29"/>
                  </a:cxn>
                  <a:cxn ang="T107">
                    <a:pos x="T30" y="T31"/>
                  </a:cxn>
                  <a:cxn ang="T108">
                    <a:pos x="T32" y="T33"/>
                  </a:cxn>
                  <a:cxn ang="T109">
                    <a:pos x="T34" y="T35"/>
                  </a:cxn>
                  <a:cxn ang="T110">
                    <a:pos x="T36" y="T37"/>
                  </a:cxn>
                  <a:cxn ang="T111">
                    <a:pos x="T38" y="T39"/>
                  </a:cxn>
                  <a:cxn ang="T112">
                    <a:pos x="T40" y="T41"/>
                  </a:cxn>
                  <a:cxn ang="T113">
                    <a:pos x="T42" y="T43"/>
                  </a:cxn>
                  <a:cxn ang="T114">
                    <a:pos x="T44" y="T45"/>
                  </a:cxn>
                  <a:cxn ang="T115">
                    <a:pos x="T46" y="T47"/>
                  </a:cxn>
                  <a:cxn ang="T116">
                    <a:pos x="T48" y="T49"/>
                  </a:cxn>
                  <a:cxn ang="T117">
                    <a:pos x="T50" y="T51"/>
                  </a:cxn>
                  <a:cxn ang="T118">
                    <a:pos x="T52" y="T53"/>
                  </a:cxn>
                  <a:cxn ang="T119">
                    <a:pos x="T54" y="T55"/>
                  </a:cxn>
                  <a:cxn ang="T120">
                    <a:pos x="T56" y="T57"/>
                  </a:cxn>
                  <a:cxn ang="T121">
                    <a:pos x="T58" y="T59"/>
                  </a:cxn>
                  <a:cxn ang="T122">
                    <a:pos x="T60" y="T61"/>
                  </a:cxn>
                  <a:cxn ang="T123">
                    <a:pos x="T62" y="T63"/>
                  </a:cxn>
                  <a:cxn ang="T124">
                    <a:pos x="T64" y="T65"/>
                  </a:cxn>
                  <a:cxn ang="T125">
                    <a:pos x="T66" y="T67"/>
                  </a:cxn>
                  <a:cxn ang="T126">
                    <a:pos x="T68" y="T69"/>
                  </a:cxn>
                  <a:cxn ang="T127">
                    <a:pos x="T70" y="T71"/>
                  </a:cxn>
                  <a:cxn ang="T128">
                    <a:pos x="T72" y="T73"/>
                  </a:cxn>
                  <a:cxn ang="T129">
                    <a:pos x="T74" y="T75"/>
                  </a:cxn>
                  <a:cxn ang="T130">
                    <a:pos x="T76" y="T77"/>
                  </a:cxn>
                  <a:cxn ang="T131">
                    <a:pos x="T78" y="T79"/>
                  </a:cxn>
                  <a:cxn ang="T132">
                    <a:pos x="T80" y="T81"/>
                  </a:cxn>
                  <a:cxn ang="T133">
                    <a:pos x="T82" y="T83"/>
                  </a:cxn>
                  <a:cxn ang="T134">
                    <a:pos x="T84" y="T85"/>
                  </a:cxn>
                  <a:cxn ang="T135">
                    <a:pos x="T86" y="T87"/>
                  </a:cxn>
                  <a:cxn ang="T136">
                    <a:pos x="T88" y="T89"/>
                  </a:cxn>
                  <a:cxn ang="T137">
                    <a:pos x="T90" y="T91"/>
                  </a:cxn>
                </a:cxnLst>
                <a:rect l="T138" t="T139" r="T140" b="T141"/>
                <a:pathLst>
                  <a:path w="169" h="20">
                    <a:moveTo>
                      <a:pt x="131" y="2"/>
                    </a:moveTo>
                    <a:lnTo>
                      <a:pt x="133" y="0"/>
                    </a:lnTo>
                    <a:lnTo>
                      <a:pt x="138" y="0"/>
                    </a:lnTo>
                    <a:lnTo>
                      <a:pt x="142" y="0"/>
                    </a:lnTo>
                    <a:lnTo>
                      <a:pt x="149" y="0"/>
                    </a:lnTo>
                    <a:lnTo>
                      <a:pt x="153" y="0"/>
                    </a:lnTo>
                    <a:lnTo>
                      <a:pt x="158" y="0"/>
                    </a:lnTo>
                    <a:lnTo>
                      <a:pt x="162" y="0"/>
                    </a:lnTo>
                    <a:lnTo>
                      <a:pt x="167" y="2"/>
                    </a:lnTo>
                    <a:lnTo>
                      <a:pt x="169" y="2"/>
                    </a:lnTo>
                    <a:lnTo>
                      <a:pt x="167" y="9"/>
                    </a:lnTo>
                    <a:lnTo>
                      <a:pt x="160" y="11"/>
                    </a:lnTo>
                    <a:lnTo>
                      <a:pt x="153" y="13"/>
                    </a:lnTo>
                    <a:lnTo>
                      <a:pt x="144" y="13"/>
                    </a:lnTo>
                    <a:lnTo>
                      <a:pt x="138" y="13"/>
                    </a:lnTo>
                    <a:lnTo>
                      <a:pt x="129" y="13"/>
                    </a:lnTo>
                    <a:lnTo>
                      <a:pt x="120" y="13"/>
                    </a:lnTo>
                    <a:lnTo>
                      <a:pt x="113" y="13"/>
                    </a:lnTo>
                    <a:lnTo>
                      <a:pt x="107" y="15"/>
                    </a:lnTo>
                    <a:lnTo>
                      <a:pt x="93" y="15"/>
                    </a:lnTo>
                    <a:lnTo>
                      <a:pt x="82" y="15"/>
                    </a:lnTo>
                    <a:lnTo>
                      <a:pt x="69" y="15"/>
                    </a:lnTo>
                    <a:lnTo>
                      <a:pt x="58" y="18"/>
                    </a:lnTo>
                    <a:lnTo>
                      <a:pt x="45" y="18"/>
                    </a:lnTo>
                    <a:lnTo>
                      <a:pt x="31" y="18"/>
                    </a:lnTo>
                    <a:lnTo>
                      <a:pt x="18" y="18"/>
                    </a:lnTo>
                    <a:lnTo>
                      <a:pt x="7" y="20"/>
                    </a:lnTo>
                    <a:lnTo>
                      <a:pt x="0" y="15"/>
                    </a:lnTo>
                    <a:lnTo>
                      <a:pt x="5" y="7"/>
                    </a:lnTo>
                    <a:lnTo>
                      <a:pt x="11" y="4"/>
                    </a:lnTo>
                    <a:lnTo>
                      <a:pt x="18" y="4"/>
                    </a:lnTo>
                    <a:lnTo>
                      <a:pt x="27" y="4"/>
                    </a:lnTo>
                    <a:lnTo>
                      <a:pt x="34" y="4"/>
                    </a:lnTo>
                    <a:lnTo>
                      <a:pt x="42" y="4"/>
                    </a:lnTo>
                    <a:lnTo>
                      <a:pt x="51" y="4"/>
                    </a:lnTo>
                    <a:lnTo>
                      <a:pt x="58" y="4"/>
                    </a:lnTo>
                    <a:lnTo>
                      <a:pt x="67" y="4"/>
                    </a:lnTo>
                    <a:lnTo>
                      <a:pt x="74" y="2"/>
                    </a:lnTo>
                    <a:lnTo>
                      <a:pt x="82" y="2"/>
                    </a:lnTo>
                    <a:lnTo>
                      <a:pt x="89" y="2"/>
                    </a:lnTo>
                    <a:lnTo>
                      <a:pt x="98" y="2"/>
                    </a:lnTo>
                    <a:lnTo>
                      <a:pt x="107" y="2"/>
                    </a:lnTo>
                    <a:lnTo>
                      <a:pt x="113" y="2"/>
                    </a:lnTo>
                    <a:lnTo>
                      <a:pt x="122" y="2"/>
                    </a:lnTo>
                    <a:lnTo>
                      <a:pt x="131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1" name="Freeform 43"/>
              <p:cNvSpPr>
                <a:spLocks/>
              </p:cNvSpPr>
              <p:nvPr/>
            </p:nvSpPr>
            <p:spPr bwMode="auto">
              <a:xfrm>
                <a:off x="2804" y="802"/>
                <a:ext cx="209" cy="20"/>
              </a:xfrm>
              <a:custGeom>
                <a:avLst/>
                <a:gdLst>
                  <a:gd name="T0" fmla="*/ 131 w 209"/>
                  <a:gd name="T1" fmla="*/ 5 h 20"/>
                  <a:gd name="T2" fmla="*/ 138 w 209"/>
                  <a:gd name="T3" fmla="*/ 2 h 20"/>
                  <a:gd name="T4" fmla="*/ 147 w 209"/>
                  <a:gd name="T5" fmla="*/ 2 h 20"/>
                  <a:gd name="T6" fmla="*/ 153 w 209"/>
                  <a:gd name="T7" fmla="*/ 2 h 20"/>
                  <a:gd name="T8" fmla="*/ 164 w 209"/>
                  <a:gd name="T9" fmla="*/ 2 h 20"/>
                  <a:gd name="T10" fmla="*/ 171 w 209"/>
                  <a:gd name="T11" fmla="*/ 0 h 20"/>
                  <a:gd name="T12" fmla="*/ 180 w 209"/>
                  <a:gd name="T13" fmla="*/ 0 h 20"/>
                  <a:gd name="T14" fmla="*/ 189 w 209"/>
                  <a:gd name="T15" fmla="*/ 0 h 20"/>
                  <a:gd name="T16" fmla="*/ 195 w 209"/>
                  <a:gd name="T17" fmla="*/ 2 h 20"/>
                  <a:gd name="T18" fmla="*/ 202 w 209"/>
                  <a:gd name="T19" fmla="*/ 2 h 20"/>
                  <a:gd name="T20" fmla="*/ 206 w 209"/>
                  <a:gd name="T21" fmla="*/ 5 h 20"/>
                  <a:gd name="T22" fmla="*/ 209 w 209"/>
                  <a:gd name="T23" fmla="*/ 9 h 20"/>
                  <a:gd name="T24" fmla="*/ 204 w 209"/>
                  <a:gd name="T25" fmla="*/ 13 h 20"/>
                  <a:gd name="T26" fmla="*/ 189 w 209"/>
                  <a:gd name="T27" fmla="*/ 13 h 20"/>
                  <a:gd name="T28" fmla="*/ 173 w 209"/>
                  <a:gd name="T29" fmla="*/ 16 h 20"/>
                  <a:gd name="T30" fmla="*/ 153 w 209"/>
                  <a:gd name="T31" fmla="*/ 16 h 20"/>
                  <a:gd name="T32" fmla="*/ 135 w 209"/>
                  <a:gd name="T33" fmla="*/ 18 h 20"/>
                  <a:gd name="T34" fmla="*/ 118 w 209"/>
                  <a:gd name="T35" fmla="*/ 18 h 20"/>
                  <a:gd name="T36" fmla="*/ 100 w 209"/>
                  <a:gd name="T37" fmla="*/ 18 h 20"/>
                  <a:gd name="T38" fmla="*/ 82 w 209"/>
                  <a:gd name="T39" fmla="*/ 18 h 20"/>
                  <a:gd name="T40" fmla="*/ 65 w 209"/>
                  <a:gd name="T41" fmla="*/ 20 h 20"/>
                  <a:gd name="T42" fmla="*/ 58 w 209"/>
                  <a:gd name="T43" fmla="*/ 20 h 20"/>
                  <a:gd name="T44" fmla="*/ 51 w 209"/>
                  <a:gd name="T45" fmla="*/ 20 h 20"/>
                  <a:gd name="T46" fmla="*/ 42 w 209"/>
                  <a:gd name="T47" fmla="*/ 20 h 20"/>
                  <a:gd name="T48" fmla="*/ 36 w 209"/>
                  <a:gd name="T49" fmla="*/ 20 h 20"/>
                  <a:gd name="T50" fmla="*/ 29 w 209"/>
                  <a:gd name="T51" fmla="*/ 18 h 20"/>
                  <a:gd name="T52" fmla="*/ 20 w 209"/>
                  <a:gd name="T53" fmla="*/ 18 h 20"/>
                  <a:gd name="T54" fmla="*/ 11 w 209"/>
                  <a:gd name="T55" fmla="*/ 18 h 20"/>
                  <a:gd name="T56" fmla="*/ 7 w 209"/>
                  <a:gd name="T57" fmla="*/ 20 h 20"/>
                  <a:gd name="T58" fmla="*/ 0 w 209"/>
                  <a:gd name="T59" fmla="*/ 16 h 20"/>
                  <a:gd name="T60" fmla="*/ 0 w 209"/>
                  <a:gd name="T61" fmla="*/ 11 h 20"/>
                  <a:gd name="T62" fmla="*/ 0 w 209"/>
                  <a:gd name="T63" fmla="*/ 9 h 20"/>
                  <a:gd name="T64" fmla="*/ 5 w 209"/>
                  <a:gd name="T65" fmla="*/ 7 h 20"/>
                  <a:gd name="T66" fmla="*/ 11 w 209"/>
                  <a:gd name="T67" fmla="*/ 5 h 20"/>
                  <a:gd name="T68" fmla="*/ 22 w 209"/>
                  <a:gd name="T69" fmla="*/ 5 h 20"/>
                  <a:gd name="T70" fmla="*/ 34 w 209"/>
                  <a:gd name="T71" fmla="*/ 5 h 20"/>
                  <a:gd name="T72" fmla="*/ 45 w 209"/>
                  <a:gd name="T73" fmla="*/ 5 h 20"/>
                  <a:gd name="T74" fmla="*/ 53 w 209"/>
                  <a:gd name="T75" fmla="*/ 5 h 20"/>
                  <a:gd name="T76" fmla="*/ 65 w 209"/>
                  <a:gd name="T77" fmla="*/ 5 h 20"/>
                  <a:gd name="T78" fmla="*/ 73 w 209"/>
                  <a:gd name="T79" fmla="*/ 5 h 20"/>
                  <a:gd name="T80" fmla="*/ 82 w 209"/>
                  <a:gd name="T81" fmla="*/ 5 h 20"/>
                  <a:gd name="T82" fmla="*/ 89 w 209"/>
                  <a:gd name="T83" fmla="*/ 5 h 20"/>
                  <a:gd name="T84" fmla="*/ 96 w 209"/>
                  <a:gd name="T85" fmla="*/ 5 h 20"/>
                  <a:gd name="T86" fmla="*/ 102 w 209"/>
                  <a:gd name="T87" fmla="*/ 5 h 20"/>
                  <a:gd name="T88" fmla="*/ 107 w 209"/>
                  <a:gd name="T89" fmla="*/ 5 h 20"/>
                  <a:gd name="T90" fmla="*/ 113 w 209"/>
                  <a:gd name="T91" fmla="*/ 5 h 20"/>
                  <a:gd name="T92" fmla="*/ 120 w 209"/>
                  <a:gd name="T93" fmla="*/ 5 h 20"/>
                  <a:gd name="T94" fmla="*/ 124 w 209"/>
                  <a:gd name="T95" fmla="*/ 5 h 20"/>
                  <a:gd name="T96" fmla="*/ 131 w 209"/>
                  <a:gd name="T97" fmla="*/ 5 h 20"/>
                  <a:gd name="T98" fmla="*/ 131 w 209"/>
                  <a:gd name="T99" fmla="*/ 5 h 20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09"/>
                  <a:gd name="T151" fmla="*/ 0 h 20"/>
                  <a:gd name="T152" fmla="*/ 209 w 209"/>
                  <a:gd name="T153" fmla="*/ 20 h 20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09" h="20">
                    <a:moveTo>
                      <a:pt x="131" y="5"/>
                    </a:moveTo>
                    <a:lnTo>
                      <a:pt x="138" y="2"/>
                    </a:lnTo>
                    <a:lnTo>
                      <a:pt x="147" y="2"/>
                    </a:lnTo>
                    <a:lnTo>
                      <a:pt x="153" y="2"/>
                    </a:lnTo>
                    <a:lnTo>
                      <a:pt x="164" y="2"/>
                    </a:lnTo>
                    <a:lnTo>
                      <a:pt x="171" y="0"/>
                    </a:lnTo>
                    <a:lnTo>
                      <a:pt x="180" y="0"/>
                    </a:lnTo>
                    <a:lnTo>
                      <a:pt x="189" y="0"/>
                    </a:lnTo>
                    <a:lnTo>
                      <a:pt x="195" y="2"/>
                    </a:lnTo>
                    <a:lnTo>
                      <a:pt x="202" y="2"/>
                    </a:lnTo>
                    <a:lnTo>
                      <a:pt x="206" y="5"/>
                    </a:lnTo>
                    <a:lnTo>
                      <a:pt x="209" y="9"/>
                    </a:lnTo>
                    <a:lnTo>
                      <a:pt x="204" y="13"/>
                    </a:lnTo>
                    <a:lnTo>
                      <a:pt x="189" y="13"/>
                    </a:lnTo>
                    <a:lnTo>
                      <a:pt x="173" y="16"/>
                    </a:lnTo>
                    <a:lnTo>
                      <a:pt x="153" y="16"/>
                    </a:lnTo>
                    <a:lnTo>
                      <a:pt x="135" y="18"/>
                    </a:lnTo>
                    <a:lnTo>
                      <a:pt x="118" y="18"/>
                    </a:lnTo>
                    <a:lnTo>
                      <a:pt x="100" y="18"/>
                    </a:lnTo>
                    <a:lnTo>
                      <a:pt x="82" y="18"/>
                    </a:lnTo>
                    <a:lnTo>
                      <a:pt x="65" y="20"/>
                    </a:lnTo>
                    <a:lnTo>
                      <a:pt x="58" y="20"/>
                    </a:lnTo>
                    <a:lnTo>
                      <a:pt x="51" y="20"/>
                    </a:lnTo>
                    <a:lnTo>
                      <a:pt x="42" y="20"/>
                    </a:lnTo>
                    <a:lnTo>
                      <a:pt x="36" y="20"/>
                    </a:lnTo>
                    <a:lnTo>
                      <a:pt x="29" y="18"/>
                    </a:lnTo>
                    <a:lnTo>
                      <a:pt x="20" y="18"/>
                    </a:lnTo>
                    <a:lnTo>
                      <a:pt x="11" y="18"/>
                    </a:lnTo>
                    <a:lnTo>
                      <a:pt x="7" y="20"/>
                    </a:lnTo>
                    <a:lnTo>
                      <a:pt x="0" y="16"/>
                    </a:lnTo>
                    <a:lnTo>
                      <a:pt x="0" y="11"/>
                    </a:lnTo>
                    <a:lnTo>
                      <a:pt x="0" y="9"/>
                    </a:lnTo>
                    <a:lnTo>
                      <a:pt x="5" y="7"/>
                    </a:lnTo>
                    <a:lnTo>
                      <a:pt x="11" y="5"/>
                    </a:lnTo>
                    <a:lnTo>
                      <a:pt x="22" y="5"/>
                    </a:lnTo>
                    <a:lnTo>
                      <a:pt x="34" y="5"/>
                    </a:lnTo>
                    <a:lnTo>
                      <a:pt x="45" y="5"/>
                    </a:lnTo>
                    <a:lnTo>
                      <a:pt x="53" y="5"/>
                    </a:lnTo>
                    <a:lnTo>
                      <a:pt x="65" y="5"/>
                    </a:lnTo>
                    <a:lnTo>
                      <a:pt x="73" y="5"/>
                    </a:lnTo>
                    <a:lnTo>
                      <a:pt x="82" y="5"/>
                    </a:lnTo>
                    <a:lnTo>
                      <a:pt x="89" y="5"/>
                    </a:lnTo>
                    <a:lnTo>
                      <a:pt x="96" y="5"/>
                    </a:lnTo>
                    <a:lnTo>
                      <a:pt x="102" y="5"/>
                    </a:lnTo>
                    <a:lnTo>
                      <a:pt x="107" y="5"/>
                    </a:lnTo>
                    <a:lnTo>
                      <a:pt x="113" y="5"/>
                    </a:lnTo>
                    <a:lnTo>
                      <a:pt x="120" y="5"/>
                    </a:lnTo>
                    <a:lnTo>
                      <a:pt x="124" y="5"/>
                    </a:lnTo>
                    <a:lnTo>
                      <a:pt x="131" y="5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2" name="Freeform 44"/>
              <p:cNvSpPr>
                <a:spLocks/>
              </p:cNvSpPr>
              <p:nvPr/>
            </p:nvSpPr>
            <p:spPr bwMode="auto">
              <a:xfrm>
                <a:off x="2680" y="1376"/>
                <a:ext cx="483" cy="18"/>
              </a:xfrm>
              <a:custGeom>
                <a:avLst/>
                <a:gdLst>
                  <a:gd name="T0" fmla="*/ 304 w 483"/>
                  <a:gd name="T1" fmla="*/ 2 h 18"/>
                  <a:gd name="T2" fmla="*/ 319 w 483"/>
                  <a:gd name="T3" fmla="*/ 0 h 18"/>
                  <a:gd name="T4" fmla="*/ 337 w 483"/>
                  <a:gd name="T5" fmla="*/ 0 h 18"/>
                  <a:gd name="T6" fmla="*/ 359 w 483"/>
                  <a:gd name="T7" fmla="*/ 0 h 18"/>
                  <a:gd name="T8" fmla="*/ 379 w 483"/>
                  <a:gd name="T9" fmla="*/ 0 h 18"/>
                  <a:gd name="T10" fmla="*/ 399 w 483"/>
                  <a:gd name="T11" fmla="*/ 0 h 18"/>
                  <a:gd name="T12" fmla="*/ 419 w 483"/>
                  <a:gd name="T13" fmla="*/ 0 h 18"/>
                  <a:gd name="T14" fmla="*/ 437 w 483"/>
                  <a:gd name="T15" fmla="*/ 0 h 18"/>
                  <a:gd name="T16" fmla="*/ 452 w 483"/>
                  <a:gd name="T17" fmla="*/ 2 h 18"/>
                  <a:gd name="T18" fmla="*/ 461 w 483"/>
                  <a:gd name="T19" fmla="*/ 2 h 18"/>
                  <a:gd name="T20" fmla="*/ 470 w 483"/>
                  <a:gd name="T21" fmla="*/ 2 h 18"/>
                  <a:gd name="T22" fmla="*/ 477 w 483"/>
                  <a:gd name="T23" fmla="*/ 2 h 18"/>
                  <a:gd name="T24" fmla="*/ 481 w 483"/>
                  <a:gd name="T25" fmla="*/ 4 h 18"/>
                  <a:gd name="T26" fmla="*/ 483 w 483"/>
                  <a:gd name="T27" fmla="*/ 4 h 18"/>
                  <a:gd name="T28" fmla="*/ 483 w 483"/>
                  <a:gd name="T29" fmla="*/ 7 h 18"/>
                  <a:gd name="T30" fmla="*/ 481 w 483"/>
                  <a:gd name="T31" fmla="*/ 9 h 18"/>
                  <a:gd name="T32" fmla="*/ 477 w 483"/>
                  <a:gd name="T33" fmla="*/ 13 h 18"/>
                  <a:gd name="T34" fmla="*/ 439 w 483"/>
                  <a:gd name="T35" fmla="*/ 13 h 18"/>
                  <a:gd name="T36" fmla="*/ 399 w 483"/>
                  <a:gd name="T37" fmla="*/ 13 h 18"/>
                  <a:gd name="T38" fmla="*/ 359 w 483"/>
                  <a:gd name="T39" fmla="*/ 13 h 18"/>
                  <a:gd name="T40" fmla="*/ 319 w 483"/>
                  <a:gd name="T41" fmla="*/ 15 h 18"/>
                  <a:gd name="T42" fmla="*/ 277 w 483"/>
                  <a:gd name="T43" fmla="*/ 15 h 18"/>
                  <a:gd name="T44" fmla="*/ 235 w 483"/>
                  <a:gd name="T45" fmla="*/ 15 h 18"/>
                  <a:gd name="T46" fmla="*/ 195 w 483"/>
                  <a:gd name="T47" fmla="*/ 15 h 18"/>
                  <a:gd name="T48" fmla="*/ 153 w 483"/>
                  <a:gd name="T49" fmla="*/ 18 h 18"/>
                  <a:gd name="T50" fmla="*/ 138 w 483"/>
                  <a:gd name="T51" fmla="*/ 18 h 18"/>
                  <a:gd name="T52" fmla="*/ 122 w 483"/>
                  <a:gd name="T53" fmla="*/ 18 h 18"/>
                  <a:gd name="T54" fmla="*/ 104 w 483"/>
                  <a:gd name="T55" fmla="*/ 18 h 18"/>
                  <a:gd name="T56" fmla="*/ 87 w 483"/>
                  <a:gd name="T57" fmla="*/ 18 h 18"/>
                  <a:gd name="T58" fmla="*/ 69 w 483"/>
                  <a:gd name="T59" fmla="*/ 18 h 18"/>
                  <a:gd name="T60" fmla="*/ 51 w 483"/>
                  <a:gd name="T61" fmla="*/ 18 h 18"/>
                  <a:gd name="T62" fmla="*/ 33 w 483"/>
                  <a:gd name="T63" fmla="*/ 18 h 18"/>
                  <a:gd name="T64" fmla="*/ 22 w 483"/>
                  <a:gd name="T65" fmla="*/ 18 h 18"/>
                  <a:gd name="T66" fmla="*/ 13 w 483"/>
                  <a:gd name="T67" fmla="*/ 15 h 18"/>
                  <a:gd name="T68" fmla="*/ 7 w 483"/>
                  <a:gd name="T69" fmla="*/ 13 h 18"/>
                  <a:gd name="T70" fmla="*/ 5 w 483"/>
                  <a:gd name="T71" fmla="*/ 13 h 18"/>
                  <a:gd name="T72" fmla="*/ 2 w 483"/>
                  <a:gd name="T73" fmla="*/ 11 h 18"/>
                  <a:gd name="T74" fmla="*/ 0 w 483"/>
                  <a:gd name="T75" fmla="*/ 9 h 18"/>
                  <a:gd name="T76" fmla="*/ 2 w 483"/>
                  <a:gd name="T77" fmla="*/ 7 h 18"/>
                  <a:gd name="T78" fmla="*/ 5 w 483"/>
                  <a:gd name="T79" fmla="*/ 4 h 18"/>
                  <a:gd name="T80" fmla="*/ 11 w 483"/>
                  <a:gd name="T81" fmla="*/ 4 h 18"/>
                  <a:gd name="T82" fmla="*/ 31 w 483"/>
                  <a:gd name="T83" fmla="*/ 4 h 18"/>
                  <a:gd name="T84" fmla="*/ 56 w 483"/>
                  <a:gd name="T85" fmla="*/ 4 h 18"/>
                  <a:gd name="T86" fmla="*/ 80 w 483"/>
                  <a:gd name="T87" fmla="*/ 4 h 18"/>
                  <a:gd name="T88" fmla="*/ 107 w 483"/>
                  <a:gd name="T89" fmla="*/ 4 h 18"/>
                  <a:gd name="T90" fmla="*/ 131 w 483"/>
                  <a:gd name="T91" fmla="*/ 4 h 18"/>
                  <a:gd name="T92" fmla="*/ 155 w 483"/>
                  <a:gd name="T93" fmla="*/ 4 h 18"/>
                  <a:gd name="T94" fmla="*/ 175 w 483"/>
                  <a:gd name="T95" fmla="*/ 4 h 18"/>
                  <a:gd name="T96" fmla="*/ 195 w 483"/>
                  <a:gd name="T97" fmla="*/ 4 h 18"/>
                  <a:gd name="T98" fmla="*/ 209 w 483"/>
                  <a:gd name="T99" fmla="*/ 4 h 18"/>
                  <a:gd name="T100" fmla="*/ 222 w 483"/>
                  <a:gd name="T101" fmla="*/ 4 h 18"/>
                  <a:gd name="T102" fmla="*/ 237 w 483"/>
                  <a:gd name="T103" fmla="*/ 2 h 18"/>
                  <a:gd name="T104" fmla="*/ 251 w 483"/>
                  <a:gd name="T105" fmla="*/ 2 h 18"/>
                  <a:gd name="T106" fmla="*/ 264 w 483"/>
                  <a:gd name="T107" fmla="*/ 2 h 18"/>
                  <a:gd name="T108" fmla="*/ 277 w 483"/>
                  <a:gd name="T109" fmla="*/ 2 h 18"/>
                  <a:gd name="T110" fmla="*/ 291 w 483"/>
                  <a:gd name="T111" fmla="*/ 2 h 18"/>
                  <a:gd name="T112" fmla="*/ 304 w 483"/>
                  <a:gd name="T113" fmla="*/ 2 h 18"/>
                  <a:gd name="T114" fmla="*/ 304 w 483"/>
                  <a:gd name="T115" fmla="*/ 2 h 18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483"/>
                  <a:gd name="T175" fmla="*/ 0 h 18"/>
                  <a:gd name="T176" fmla="*/ 483 w 483"/>
                  <a:gd name="T177" fmla="*/ 18 h 18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483" h="18">
                    <a:moveTo>
                      <a:pt x="304" y="2"/>
                    </a:moveTo>
                    <a:lnTo>
                      <a:pt x="319" y="0"/>
                    </a:lnTo>
                    <a:lnTo>
                      <a:pt x="337" y="0"/>
                    </a:lnTo>
                    <a:lnTo>
                      <a:pt x="359" y="0"/>
                    </a:lnTo>
                    <a:lnTo>
                      <a:pt x="379" y="0"/>
                    </a:lnTo>
                    <a:lnTo>
                      <a:pt x="399" y="0"/>
                    </a:lnTo>
                    <a:lnTo>
                      <a:pt x="419" y="0"/>
                    </a:lnTo>
                    <a:lnTo>
                      <a:pt x="437" y="0"/>
                    </a:lnTo>
                    <a:lnTo>
                      <a:pt x="452" y="2"/>
                    </a:lnTo>
                    <a:lnTo>
                      <a:pt x="461" y="2"/>
                    </a:lnTo>
                    <a:lnTo>
                      <a:pt x="470" y="2"/>
                    </a:lnTo>
                    <a:lnTo>
                      <a:pt x="477" y="2"/>
                    </a:lnTo>
                    <a:lnTo>
                      <a:pt x="481" y="4"/>
                    </a:lnTo>
                    <a:lnTo>
                      <a:pt x="483" y="4"/>
                    </a:lnTo>
                    <a:lnTo>
                      <a:pt x="483" y="7"/>
                    </a:lnTo>
                    <a:lnTo>
                      <a:pt x="481" y="9"/>
                    </a:lnTo>
                    <a:lnTo>
                      <a:pt x="477" y="13"/>
                    </a:lnTo>
                    <a:lnTo>
                      <a:pt x="439" y="13"/>
                    </a:lnTo>
                    <a:lnTo>
                      <a:pt x="399" y="13"/>
                    </a:lnTo>
                    <a:lnTo>
                      <a:pt x="359" y="13"/>
                    </a:lnTo>
                    <a:lnTo>
                      <a:pt x="319" y="15"/>
                    </a:lnTo>
                    <a:lnTo>
                      <a:pt x="277" y="15"/>
                    </a:lnTo>
                    <a:lnTo>
                      <a:pt x="235" y="15"/>
                    </a:lnTo>
                    <a:lnTo>
                      <a:pt x="195" y="15"/>
                    </a:lnTo>
                    <a:lnTo>
                      <a:pt x="153" y="18"/>
                    </a:lnTo>
                    <a:lnTo>
                      <a:pt x="138" y="18"/>
                    </a:lnTo>
                    <a:lnTo>
                      <a:pt x="122" y="18"/>
                    </a:lnTo>
                    <a:lnTo>
                      <a:pt x="104" y="18"/>
                    </a:lnTo>
                    <a:lnTo>
                      <a:pt x="87" y="18"/>
                    </a:lnTo>
                    <a:lnTo>
                      <a:pt x="69" y="18"/>
                    </a:lnTo>
                    <a:lnTo>
                      <a:pt x="51" y="18"/>
                    </a:lnTo>
                    <a:lnTo>
                      <a:pt x="33" y="18"/>
                    </a:lnTo>
                    <a:lnTo>
                      <a:pt x="22" y="18"/>
                    </a:lnTo>
                    <a:lnTo>
                      <a:pt x="13" y="15"/>
                    </a:lnTo>
                    <a:lnTo>
                      <a:pt x="7" y="13"/>
                    </a:lnTo>
                    <a:lnTo>
                      <a:pt x="5" y="13"/>
                    </a:lnTo>
                    <a:lnTo>
                      <a:pt x="2" y="11"/>
                    </a:lnTo>
                    <a:lnTo>
                      <a:pt x="0" y="9"/>
                    </a:lnTo>
                    <a:lnTo>
                      <a:pt x="2" y="7"/>
                    </a:lnTo>
                    <a:lnTo>
                      <a:pt x="5" y="4"/>
                    </a:lnTo>
                    <a:lnTo>
                      <a:pt x="11" y="4"/>
                    </a:lnTo>
                    <a:lnTo>
                      <a:pt x="31" y="4"/>
                    </a:lnTo>
                    <a:lnTo>
                      <a:pt x="56" y="4"/>
                    </a:lnTo>
                    <a:lnTo>
                      <a:pt x="80" y="4"/>
                    </a:lnTo>
                    <a:lnTo>
                      <a:pt x="107" y="4"/>
                    </a:lnTo>
                    <a:lnTo>
                      <a:pt x="131" y="4"/>
                    </a:lnTo>
                    <a:lnTo>
                      <a:pt x="155" y="4"/>
                    </a:lnTo>
                    <a:lnTo>
                      <a:pt x="175" y="4"/>
                    </a:lnTo>
                    <a:lnTo>
                      <a:pt x="195" y="4"/>
                    </a:lnTo>
                    <a:lnTo>
                      <a:pt x="209" y="4"/>
                    </a:lnTo>
                    <a:lnTo>
                      <a:pt x="222" y="4"/>
                    </a:lnTo>
                    <a:lnTo>
                      <a:pt x="237" y="2"/>
                    </a:lnTo>
                    <a:lnTo>
                      <a:pt x="251" y="2"/>
                    </a:lnTo>
                    <a:lnTo>
                      <a:pt x="264" y="2"/>
                    </a:lnTo>
                    <a:lnTo>
                      <a:pt x="277" y="2"/>
                    </a:lnTo>
                    <a:lnTo>
                      <a:pt x="291" y="2"/>
                    </a:lnTo>
                    <a:lnTo>
                      <a:pt x="304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3" name="Freeform 45"/>
              <p:cNvSpPr>
                <a:spLocks/>
              </p:cNvSpPr>
              <p:nvPr/>
            </p:nvSpPr>
            <p:spPr bwMode="auto">
              <a:xfrm>
                <a:off x="2669" y="1489"/>
                <a:ext cx="508" cy="22"/>
              </a:xfrm>
              <a:custGeom>
                <a:avLst/>
                <a:gdLst>
                  <a:gd name="T0" fmla="*/ 319 w 508"/>
                  <a:gd name="T1" fmla="*/ 2 h 22"/>
                  <a:gd name="T2" fmla="*/ 337 w 508"/>
                  <a:gd name="T3" fmla="*/ 2 h 22"/>
                  <a:gd name="T4" fmla="*/ 355 w 508"/>
                  <a:gd name="T5" fmla="*/ 2 h 22"/>
                  <a:gd name="T6" fmla="*/ 375 w 508"/>
                  <a:gd name="T7" fmla="*/ 0 h 22"/>
                  <a:gd name="T8" fmla="*/ 397 w 508"/>
                  <a:gd name="T9" fmla="*/ 0 h 22"/>
                  <a:gd name="T10" fmla="*/ 419 w 508"/>
                  <a:gd name="T11" fmla="*/ 0 h 22"/>
                  <a:gd name="T12" fmla="*/ 439 w 508"/>
                  <a:gd name="T13" fmla="*/ 0 h 22"/>
                  <a:gd name="T14" fmla="*/ 459 w 508"/>
                  <a:gd name="T15" fmla="*/ 0 h 22"/>
                  <a:gd name="T16" fmla="*/ 477 w 508"/>
                  <a:gd name="T17" fmla="*/ 0 h 22"/>
                  <a:gd name="T18" fmla="*/ 485 w 508"/>
                  <a:gd name="T19" fmla="*/ 0 h 22"/>
                  <a:gd name="T20" fmla="*/ 492 w 508"/>
                  <a:gd name="T21" fmla="*/ 2 h 22"/>
                  <a:gd name="T22" fmla="*/ 499 w 508"/>
                  <a:gd name="T23" fmla="*/ 2 h 22"/>
                  <a:gd name="T24" fmla="*/ 503 w 508"/>
                  <a:gd name="T25" fmla="*/ 4 h 22"/>
                  <a:gd name="T26" fmla="*/ 508 w 508"/>
                  <a:gd name="T27" fmla="*/ 7 h 22"/>
                  <a:gd name="T28" fmla="*/ 508 w 508"/>
                  <a:gd name="T29" fmla="*/ 7 h 22"/>
                  <a:gd name="T30" fmla="*/ 505 w 508"/>
                  <a:gd name="T31" fmla="*/ 11 h 22"/>
                  <a:gd name="T32" fmla="*/ 501 w 508"/>
                  <a:gd name="T33" fmla="*/ 13 h 22"/>
                  <a:gd name="T34" fmla="*/ 461 w 508"/>
                  <a:gd name="T35" fmla="*/ 15 h 22"/>
                  <a:gd name="T36" fmla="*/ 421 w 508"/>
                  <a:gd name="T37" fmla="*/ 18 h 22"/>
                  <a:gd name="T38" fmla="*/ 377 w 508"/>
                  <a:gd name="T39" fmla="*/ 18 h 22"/>
                  <a:gd name="T40" fmla="*/ 335 w 508"/>
                  <a:gd name="T41" fmla="*/ 18 h 22"/>
                  <a:gd name="T42" fmla="*/ 290 w 508"/>
                  <a:gd name="T43" fmla="*/ 18 h 22"/>
                  <a:gd name="T44" fmla="*/ 246 w 508"/>
                  <a:gd name="T45" fmla="*/ 18 h 22"/>
                  <a:gd name="T46" fmla="*/ 204 w 508"/>
                  <a:gd name="T47" fmla="*/ 18 h 22"/>
                  <a:gd name="T48" fmla="*/ 162 w 508"/>
                  <a:gd name="T49" fmla="*/ 22 h 22"/>
                  <a:gd name="T50" fmla="*/ 144 w 508"/>
                  <a:gd name="T51" fmla="*/ 22 h 22"/>
                  <a:gd name="T52" fmla="*/ 126 w 508"/>
                  <a:gd name="T53" fmla="*/ 22 h 22"/>
                  <a:gd name="T54" fmla="*/ 109 w 508"/>
                  <a:gd name="T55" fmla="*/ 20 h 22"/>
                  <a:gd name="T56" fmla="*/ 91 w 508"/>
                  <a:gd name="T57" fmla="*/ 20 h 22"/>
                  <a:gd name="T58" fmla="*/ 71 w 508"/>
                  <a:gd name="T59" fmla="*/ 20 h 22"/>
                  <a:gd name="T60" fmla="*/ 53 w 508"/>
                  <a:gd name="T61" fmla="*/ 20 h 22"/>
                  <a:gd name="T62" fmla="*/ 36 w 508"/>
                  <a:gd name="T63" fmla="*/ 20 h 22"/>
                  <a:gd name="T64" fmla="*/ 22 w 508"/>
                  <a:gd name="T65" fmla="*/ 20 h 22"/>
                  <a:gd name="T66" fmla="*/ 13 w 508"/>
                  <a:gd name="T67" fmla="*/ 18 h 22"/>
                  <a:gd name="T68" fmla="*/ 9 w 508"/>
                  <a:gd name="T69" fmla="*/ 15 h 22"/>
                  <a:gd name="T70" fmla="*/ 4 w 508"/>
                  <a:gd name="T71" fmla="*/ 13 h 22"/>
                  <a:gd name="T72" fmla="*/ 2 w 508"/>
                  <a:gd name="T73" fmla="*/ 11 h 22"/>
                  <a:gd name="T74" fmla="*/ 0 w 508"/>
                  <a:gd name="T75" fmla="*/ 9 h 22"/>
                  <a:gd name="T76" fmla="*/ 2 w 508"/>
                  <a:gd name="T77" fmla="*/ 7 h 22"/>
                  <a:gd name="T78" fmla="*/ 4 w 508"/>
                  <a:gd name="T79" fmla="*/ 7 h 22"/>
                  <a:gd name="T80" fmla="*/ 11 w 508"/>
                  <a:gd name="T81" fmla="*/ 7 h 22"/>
                  <a:gd name="T82" fmla="*/ 31 w 508"/>
                  <a:gd name="T83" fmla="*/ 2 h 22"/>
                  <a:gd name="T84" fmla="*/ 58 w 508"/>
                  <a:gd name="T85" fmla="*/ 2 h 22"/>
                  <a:gd name="T86" fmla="*/ 82 w 508"/>
                  <a:gd name="T87" fmla="*/ 2 h 22"/>
                  <a:gd name="T88" fmla="*/ 111 w 508"/>
                  <a:gd name="T89" fmla="*/ 4 h 22"/>
                  <a:gd name="T90" fmla="*/ 137 w 508"/>
                  <a:gd name="T91" fmla="*/ 4 h 22"/>
                  <a:gd name="T92" fmla="*/ 162 w 508"/>
                  <a:gd name="T93" fmla="*/ 4 h 22"/>
                  <a:gd name="T94" fmla="*/ 184 w 508"/>
                  <a:gd name="T95" fmla="*/ 4 h 22"/>
                  <a:gd name="T96" fmla="*/ 204 w 508"/>
                  <a:gd name="T97" fmla="*/ 7 h 22"/>
                  <a:gd name="T98" fmla="*/ 217 w 508"/>
                  <a:gd name="T99" fmla="*/ 4 h 22"/>
                  <a:gd name="T100" fmla="*/ 233 w 508"/>
                  <a:gd name="T101" fmla="*/ 4 h 22"/>
                  <a:gd name="T102" fmla="*/ 248 w 508"/>
                  <a:gd name="T103" fmla="*/ 2 h 22"/>
                  <a:gd name="T104" fmla="*/ 264 w 508"/>
                  <a:gd name="T105" fmla="*/ 2 h 22"/>
                  <a:gd name="T106" fmla="*/ 277 w 508"/>
                  <a:gd name="T107" fmla="*/ 2 h 22"/>
                  <a:gd name="T108" fmla="*/ 293 w 508"/>
                  <a:gd name="T109" fmla="*/ 2 h 22"/>
                  <a:gd name="T110" fmla="*/ 306 w 508"/>
                  <a:gd name="T111" fmla="*/ 2 h 22"/>
                  <a:gd name="T112" fmla="*/ 319 w 508"/>
                  <a:gd name="T113" fmla="*/ 2 h 22"/>
                  <a:gd name="T114" fmla="*/ 319 w 508"/>
                  <a:gd name="T115" fmla="*/ 2 h 22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508"/>
                  <a:gd name="T175" fmla="*/ 0 h 22"/>
                  <a:gd name="T176" fmla="*/ 508 w 508"/>
                  <a:gd name="T177" fmla="*/ 22 h 22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508" h="22">
                    <a:moveTo>
                      <a:pt x="319" y="2"/>
                    </a:moveTo>
                    <a:lnTo>
                      <a:pt x="337" y="2"/>
                    </a:lnTo>
                    <a:lnTo>
                      <a:pt x="355" y="2"/>
                    </a:lnTo>
                    <a:lnTo>
                      <a:pt x="375" y="0"/>
                    </a:lnTo>
                    <a:lnTo>
                      <a:pt x="397" y="0"/>
                    </a:lnTo>
                    <a:lnTo>
                      <a:pt x="419" y="0"/>
                    </a:lnTo>
                    <a:lnTo>
                      <a:pt x="439" y="0"/>
                    </a:lnTo>
                    <a:lnTo>
                      <a:pt x="459" y="0"/>
                    </a:lnTo>
                    <a:lnTo>
                      <a:pt x="477" y="0"/>
                    </a:lnTo>
                    <a:lnTo>
                      <a:pt x="485" y="0"/>
                    </a:lnTo>
                    <a:lnTo>
                      <a:pt x="492" y="2"/>
                    </a:lnTo>
                    <a:lnTo>
                      <a:pt x="499" y="2"/>
                    </a:lnTo>
                    <a:lnTo>
                      <a:pt x="503" y="4"/>
                    </a:lnTo>
                    <a:lnTo>
                      <a:pt x="508" y="7"/>
                    </a:lnTo>
                    <a:lnTo>
                      <a:pt x="505" y="11"/>
                    </a:lnTo>
                    <a:lnTo>
                      <a:pt x="501" y="13"/>
                    </a:lnTo>
                    <a:lnTo>
                      <a:pt x="461" y="15"/>
                    </a:lnTo>
                    <a:lnTo>
                      <a:pt x="421" y="18"/>
                    </a:lnTo>
                    <a:lnTo>
                      <a:pt x="377" y="18"/>
                    </a:lnTo>
                    <a:lnTo>
                      <a:pt x="335" y="18"/>
                    </a:lnTo>
                    <a:lnTo>
                      <a:pt x="290" y="18"/>
                    </a:lnTo>
                    <a:lnTo>
                      <a:pt x="246" y="18"/>
                    </a:lnTo>
                    <a:lnTo>
                      <a:pt x="204" y="18"/>
                    </a:lnTo>
                    <a:lnTo>
                      <a:pt x="162" y="22"/>
                    </a:lnTo>
                    <a:lnTo>
                      <a:pt x="144" y="22"/>
                    </a:lnTo>
                    <a:lnTo>
                      <a:pt x="126" y="22"/>
                    </a:lnTo>
                    <a:lnTo>
                      <a:pt x="109" y="20"/>
                    </a:lnTo>
                    <a:lnTo>
                      <a:pt x="91" y="20"/>
                    </a:lnTo>
                    <a:lnTo>
                      <a:pt x="71" y="20"/>
                    </a:lnTo>
                    <a:lnTo>
                      <a:pt x="53" y="20"/>
                    </a:lnTo>
                    <a:lnTo>
                      <a:pt x="36" y="20"/>
                    </a:lnTo>
                    <a:lnTo>
                      <a:pt x="22" y="20"/>
                    </a:lnTo>
                    <a:lnTo>
                      <a:pt x="13" y="18"/>
                    </a:lnTo>
                    <a:lnTo>
                      <a:pt x="9" y="15"/>
                    </a:lnTo>
                    <a:lnTo>
                      <a:pt x="4" y="13"/>
                    </a:lnTo>
                    <a:lnTo>
                      <a:pt x="2" y="11"/>
                    </a:lnTo>
                    <a:lnTo>
                      <a:pt x="0" y="9"/>
                    </a:lnTo>
                    <a:lnTo>
                      <a:pt x="2" y="7"/>
                    </a:lnTo>
                    <a:lnTo>
                      <a:pt x="4" y="7"/>
                    </a:lnTo>
                    <a:lnTo>
                      <a:pt x="11" y="7"/>
                    </a:lnTo>
                    <a:lnTo>
                      <a:pt x="31" y="2"/>
                    </a:lnTo>
                    <a:lnTo>
                      <a:pt x="58" y="2"/>
                    </a:lnTo>
                    <a:lnTo>
                      <a:pt x="82" y="2"/>
                    </a:lnTo>
                    <a:lnTo>
                      <a:pt x="111" y="4"/>
                    </a:lnTo>
                    <a:lnTo>
                      <a:pt x="137" y="4"/>
                    </a:lnTo>
                    <a:lnTo>
                      <a:pt x="162" y="4"/>
                    </a:lnTo>
                    <a:lnTo>
                      <a:pt x="184" y="4"/>
                    </a:lnTo>
                    <a:lnTo>
                      <a:pt x="204" y="7"/>
                    </a:lnTo>
                    <a:lnTo>
                      <a:pt x="217" y="4"/>
                    </a:lnTo>
                    <a:lnTo>
                      <a:pt x="233" y="4"/>
                    </a:lnTo>
                    <a:lnTo>
                      <a:pt x="248" y="2"/>
                    </a:lnTo>
                    <a:lnTo>
                      <a:pt x="264" y="2"/>
                    </a:lnTo>
                    <a:lnTo>
                      <a:pt x="277" y="2"/>
                    </a:lnTo>
                    <a:lnTo>
                      <a:pt x="293" y="2"/>
                    </a:lnTo>
                    <a:lnTo>
                      <a:pt x="306" y="2"/>
                    </a:lnTo>
                    <a:lnTo>
                      <a:pt x="319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4" name="Freeform 46"/>
              <p:cNvSpPr>
                <a:spLocks/>
              </p:cNvSpPr>
              <p:nvPr/>
            </p:nvSpPr>
            <p:spPr bwMode="auto">
              <a:xfrm>
                <a:off x="2724" y="1535"/>
                <a:ext cx="244" cy="23"/>
              </a:xfrm>
              <a:custGeom>
                <a:avLst/>
                <a:gdLst>
                  <a:gd name="T0" fmla="*/ 191 w 244"/>
                  <a:gd name="T1" fmla="*/ 3 h 23"/>
                  <a:gd name="T2" fmla="*/ 193 w 244"/>
                  <a:gd name="T3" fmla="*/ 0 h 23"/>
                  <a:gd name="T4" fmla="*/ 200 w 244"/>
                  <a:gd name="T5" fmla="*/ 0 h 23"/>
                  <a:gd name="T6" fmla="*/ 207 w 244"/>
                  <a:gd name="T7" fmla="*/ 0 h 23"/>
                  <a:gd name="T8" fmla="*/ 213 w 244"/>
                  <a:gd name="T9" fmla="*/ 0 h 23"/>
                  <a:gd name="T10" fmla="*/ 220 w 244"/>
                  <a:gd name="T11" fmla="*/ 0 h 23"/>
                  <a:gd name="T12" fmla="*/ 229 w 244"/>
                  <a:gd name="T13" fmla="*/ 0 h 23"/>
                  <a:gd name="T14" fmla="*/ 233 w 244"/>
                  <a:gd name="T15" fmla="*/ 0 h 23"/>
                  <a:gd name="T16" fmla="*/ 240 w 244"/>
                  <a:gd name="T17" fmla="*/ 3 h 23"/>
                  <a:gd name="T18" fmla="*/ 242 w 244"/>
                  <a:gd name="T19" fmla="*/ 3 h 23"/>
                  <a:gd name="T20" fmla="*/ 244 w 244"/>
                  <a:gd name="T21" fmla="*/ 5 h 23"/>
                  <a:gd name="T22" fmla="*/ 242 w 244"/>
                  <a:gd name="T23" fmla="*/ 7 h 23"/>
                  <a:gd name="T24" fmla="*/ 242 w 244"/>
                  <a:gd name="T25" fmla="*/ 12 h 23"/>
                  <a:gd name="T26" fmla="*/ 231 w 244"/>
                  <a:gd name="T27" fmla="*/ 14 h 23"/>
                  <a:gd name="T28" fmla="*/ 222 w 244"/>
                  <a:gd name="T29" fmla="*/ 14 h 23"/>
                  <a:gd name="T30" fmla="*/ 211 w 244"/>
                  <a:gd name="T31" fmla="*/ 16 h 23"/>
                  <a:gd name="T32" fmla="*/ 200 w 244"/>
                  <a:gd name="T33" fmla="*/ 16 h 23"/>
                  <a:gd name="T34" fmla="*/ 187 w 244"/>
                  <a:gd name="T35" fmla="*/ 16 h 23"/>
                  <a:gd name="T36" fmla="*/ 176 w 244"/>
                  <a:gd name="T37" fmla="*/ 16 h 23"/>
                  <a:gd name="T38" fmla="*/ 165 w 244"/>
                  <a:gd name="T39" fmla="*/ 16 h 23"/>
                  <a:gd name="T40" fmla="*/ 153 w 244"/>
                  <a:gd name="T41" fmla="*/ 18 h 23"/>
                  <a:gd name="T42" fmla="*/ 136 w 244"/>
                  <a:gd name="T43" fmla="*/ 18 h 23"/>
                  <a:gd name="T44" fmla="*/ 118 w 244"/>
                  <a:gd name="T45" fmla="*/ 18 h 23"/>
                  <a:gd name="T46" fmla="*/ 100 w 244"/>
                  <a:gd name="T47" fmla="*/ 18 h 23"/>
                  <a:gd name="T48" fmla="*/ 82 w 244"/>
                  <a:gd name="T49" fmla="*/ 18 h 23"/>
                  <a:gd name="T50" fmla="*/ 65 w 244"/>
                  <a:gd name="T51" fmla="*/ 18 h 23"/>
                  <a:gd name="T52" fmla="*/ 45 w 244"/>
                  <a:gd name="T53" fmla="*/ 18 h 23"/>
                  <a:gd name="T54" fmla="*/ 27 w 244"/>
                  <a:gd name="T55" fmla="*/ 20 h 23"/>
                  <a:gd name="T56" fmla="*/ 12 w 244"/>
                  <a:gd name="T57" fmla="*/ 23 h 23"/>
                  <a:gd name="T58" fmla="*/ 5 w 244"/>
                  <a:gd name="T59" fmla="*/ 20 h 23"/>
                  <a:gd name="T60" fmla="*/ 0 w 244"/>
                  <a:gd name="T61" fmla="*/ 16 h 23"/>
                  <a:gd name="T62" fmla="*/ 0 w 244"/>
                  <a:gd name="T63" fmla="*/ 12 h 23"/>
                  <a:gd name="T64" fmla="*/ 5 w 244"/>
                  <a:gd name="T65" fmla="*/ 9 h 23"/>
                  <a:gd name="T66" fmla="*/ 18 w 244"/>
                  <a:gd name="T67" fmla="*/ 7 h 23"/>
                  <a:gd name="T68" fmla="*/ 29 w 244"/>
                  <a:gd name="T69" fmla="*/ 7 h 23"/>
                  <a:gd name="T70" fmla="*/ 40 w 244"/>
                  <a:gd name="T71" fmla="*/ 7 h 23"/>
                  <a:gd name="T72" fmla="*/ 51 w 244"/>
                  <a:gd name="T73" fmla="*/ 7 h 23"/>
                  <a:gd name="T74" fmla="*/ 63 w 244"/>
                  <a:gd name="T75" fmla="*/ 7 h 23"/>
                  <a:gd name="T76" fmla="*/ 74 w 244"/>
                  <a:gd name="T77" fmla="*/ 7 h 23"/>
                  <a:gd name="T78" fmla="*/ 85 w 244"/>
                  <a:gd name="T79" fmla="*/ 7 h 23"/>
                  <a:gd name="T80" fmla="*/ 96 w 244"/>
                  <a:gd name="T81" fmla="*/ 7 h 23"/>
                  <a:gd name="T82" fmla="*/ 105 w 244"/>
                  <a:gd name="T83" fmla="*/ 5 h 23"/>
                  <a:gd name="T84" fmla="*/ 118 w 244"/>
                  <a:gd name="T85" fmla="*/ 5 h 23"/>
                  <a:gd name="T86" fmla="*/ 129 w 244"/>
                  <a:gd name="T87" fmla="*/ 5 h 23"/>
                  <a:gd name="T88" fmla="*/ 142 w 244"/>
                  <a:gd name="T89" fmla="*/ 5 h 23"/>
                  <a:gd name="T90" fmla="*/ 153 w 244"/>
                  <a:gd name="T91" fmla="*/ 3 h 23"/>
                  <a:gd name="T92" fmla="*/ 167 w 244"/>
                  <a:gd name="T93" fmla="*/ 3 h 23"/>
                  <a:gd name="T94" fmla="*/ 178 w 244"/>
                  <a:gd name="T95" fmla="*/ 3 h 23"/>
                  <a:gd name="T96" fmla="*/ 191 w 244"/>
                  <a:gd name="T97" fmla="*/ 3 h 23"/>
                  <a:gd name="T98" fmla="*/ 191 w 244"/>
                  <a:gd name="T99" fmla="*/ 3 h 23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44"/>
                  <a:gd name="T151" fmla="*/ 0 h 23"/>
                  <a:gd name="T152" fmla="*/ 244 w 244"/>
                  <a:gd name="T153" fmla="*/ 23 h 23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44" h="23">
                    <a:moveTo>
                      <a:pt x="191" y="3"/>
                    </a:moveTo>
                    <a:lnTo>
                      <a:pt x="193" y="0"/>
                    </a:lnTo>
                    <a:lnTo>
                      <a:pt x="200" y="0"/>
                    </a:lnTo>
                    <a:lnTo>
                      <a:pt x="207" y="0"/>
                    </a:lnTo>
                    <a:lnTo>
                      <a:pt x="213" y="0"/>
                    </a:lnTo>
                    <a:lnTo>
                      <a:pt x="220" y="0"/>
                    </a:lnTo>
                    <a:lnTo>
                      <a:pt x="229" y="0"/>
                    </a:lnTo>
                    <a:lnTo>
                      <a:pt x="233" y="0"/>
                    </a:lnTo>
                    <a:lnTo>
                      <a:pt x="240" y="3"/>
                    </a:lnTo>
                    <a:lnTo>
                      <a:pt x="242" y="3"/>
                    </a:lnTo>
                    <a:lnTo>
                      <a:pt x="244" y="5"/>
                    </a:lnTo>
                    <a:lnTo>
                      <a:pt x="242" y="7"/>
                    </a:lnTo>
                    <a:lnTo>
                      <a:pt x="242" y="12"/>
                    </a:lnTo>
                    <a:lnTo>
                      <a:pt x="231" y="14"/>
                    </a:lnTo>
                    <a:lnTo>
                      <a:pt x="222" y="14"/>
                    </a:lnTo>
                    <a:lnTo>
                      <a:pt x="211" y="16"/>
                    </a:lnTo>
                    <a:lnTo>
                      <a:pt x="200" y="16"/>
                    </a:lnTo>
                    <a:lnTo>
                      <a:pt x="187" y="16"/>
                    </a:lnTo>
                    <a:lnTo>
                      <a:pt x="176" y="16"/>
                    </a:lnTo>
                    <a:lnTo>
                      <a:pt x="165" y="16"/>
                    </a:lnTo>
                    <a:lnTo>
                      <a:pt x="153" y="18"/>
                    </a:lnTo>
                    <a:lnTo>
                      <a:pt x="136" y="18"/>
                    </a:lnTo>
                    <a:lnTo>
                      <a:pt x="118" y="18"/>
                    </a:lnTo>
                    <a:lnTo>
                      <a:pt x="100" y="18"/>
                    </a:lnTo>
                    <a:lnTo>
                      <a:pt x="82" y="18"/>
                    </a:lnTo>
                    <a:lnTo>
                      <a:pt x="65" y="18"/>
                    </a:lnTo>
                    <a:lnTo>
                      <a:pt x="45" y="18"/>
                    </a:lnTo>
                    <a:lnTo>
                      <a:pt x="27" y="20"/>
                    </a:lnTo>
                    <a:lnTo>
                      <a:pt x="12" y="23"/>
                    </a:lnTo>
                    <a:lnTo>
                      <a:pt x="5" y="20"/>
                    </a:lnTo>
                    <a:lnTo>
                      <a:pt x="0" y="16"/>
                    </a:lnTo>
                    <a:lnTo>
                      <a:pt x="0" y="12"/>
                    </a:lnTo>
                    <a:lnTo>
                      <a:pt x="5" y="9"/>
                    </a:lnTo>
                    <a:lnTo>
                      <a:pt x="18" y="7"/>
                    </a:lnTo>
                    <a:lnTo>
                      <a:pt x="29" y="7"/>
                    </a:lnTo>
                    <a:lnTo>
                      <a:pt x="40" y="7"/>
                    </a:lnTo>
                    <a:lnTo>
                      <a:pt x="51" y="7"/>
                    </a:lnTo>
                    <a:lnTo>
                      <a:pt x="63" y="7"/>
                    </a:lnTo>
                    <a:lnTo>
                      <a:pt x="74" y="7"/>
                    </a:lnTo>
                    <a:lnTo>
                      <a:pt x="85" y="7"/>
                    </a:lnTo>
                    <a:lnTo>
                      <a:pt x="96" y="7"/>
                    </a:lnTo>
                    <a:lnTo>
                      <a:pt x="105" y="5"/>
                    </a:lnTo>
                    <a:lnTo>
                      <a:pt x="118" y="5"/>
                    </a:lnTo>
                    <a:lnTo>
                      <a:pt x="129" y="5"/>
                    </a:lnTo>
                    <a:lnTo>
                      <a:pt x="142" y="5"/>
                    </a:lnTo>
                    <a:lnTo>
                      <a:pt x="153" y="3"/>
                    </a:lnTo>
                    <a:lnTo>
                      <a:pt x="167" y="3"/>
                    </a:lnTo>
                    <a:lnTo>
                      <a:pt x="178" y="3"/>
                    </a:lnTo>
                    <a:lnTo>
                      <a:pt x="191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5" name="Freeform 47"/>
              <p:cNvSpPr>
                <a:spLocks/>
              </p:cNvSpPr>
              <p:nvPr/>
            </p:nvSpPr>
            <p:spPr bwMode="auto">
              <a:xfrm>
                <a:off x="3017" y="1245"/>
                <a:ext cx="118" cy="20"/>
              </a:xfrm>
              <a:custGeom>
                <a:avLst/>
                <a:gdLst>
                  <a:gd name="T0" fmla="*/ 33 w 118"/>
                  <a:gd name="T1" fmla="*/ 2 h 20"/>
                  <a:gd name="T2" fmla="*/ 42 w 118"/>
                  <a:gd name="T3" fmla="*/ 2 h 20"/>
                  <a:gd name="T4" fmla="*/ 51 w 118"/>
                  <a:gd name="T5" fmla="*/ 0 h 20"/>
                  <a:gd name="T6" fmla="*/ 62 w 118"/>
                  <a:gd name="T7" fmla="*/ 0 h 20"/>
                  <a:gd name="T8" fmla="*/ 73 w 118"/>
                  <a:gd name="T9" fmla="*/ 0 h 20"/>
                  <a:gd name="T10" fmla="*/ 82 w 118"/>
                  <a:gd name="T11" fmla="*/ 0 h 20"/>
                  <a:gd name="T12" fmla="*/ 93 w 118"/>
                  <a:gd name="T13" fmla="*/ 0 h 20"/>
                  <a:gd name="T14" fmla="*/ 102 w 118"/>
                  <a:gd name="T15" fmla="*/ 0 h 20"/>
                  <a:gd name="T16" fmla="*/ 111 w 118"/>
                  <a:gd name="T17" fmla="*/ 0 h 20"/>
                  <a:gd name="T18" fmla="*/ 118 w 118"/>
                  <a:gd name="T19" fmla="*/ 5 h 20"/>
                  <a:gd name="T20" fmla="*/ 115 w 118"/>
                  <a:gd name="T21" fmla="*/ 11 h 20"/>
                  <a:gd name="T22" fmla="*/ 100 w 118"/>
                  <a:gd name="T23" fmla="*/ 14 h 20"/>
                  <a:gd name="T24" fmla="*/ 87 w 118"/>
                  <a:gd name="T25" fmla="*/ 16 h 20"/>
                  <a:gd name="T26" fmla="*/ 73 w 118"/>
                  <a:gd name="T27" fmla="*/ 16 h 20"/>
                  <a:gd name="T28" fmla="*/ 60 w 118"/>
                  <a:gd name="T29" fmla="*/ 16 h 20"/>
                  <a:gd name="T30" fmla="*/ 44 w 118"/>
                  <a:gd name="T31" fmla="*/ 16 h 20"/>
                  <a:gd name="T32" fmla="*/ 31 w 118"/>
                  <a:gd name="T33" fmla="*/ 16 h 20"/>
                  <a:gd name="T34" fmla="*/ 16 w 118"/>
                  <a:gd name="T35" fmla="*/ 18 h 20"/>
                  <a:gd name="T36" fmla="*/ 4 w 118"/>
                  <a:gd name="T37" fmla="*/ 20 h 20"/>
                  <a:gd name="T38" fmla="*/ 0 w 118"/>
                  <a:gd name="T39" fmla="*/ 14 h 20"/>
                  <a:gd name="T40" fmla="*/ 2 w 118"/>
                  <a:gd name="T41" fmla="*/ 9 h 20"/>
                  <a:gd name="T42" fmla="*/ 4 w 118"/>
                  <a:gd name="T43" fmla="*/ 7 h 20"/>
                  <a:gd name="T44" fmla="*/ 9 w 118"/>
                  <a:gd name="T45" fmla="*/ 5 h 20"/>
                  <a:gd name="T46" fmla="*/ 13 w 118"/>
                  <a:gd name="T47" fmla="*/ 2 h 20"/>
                  <a:gd name="T48" fmla="*/ 18 w 118"/>
                  <a:gd name="T49" fmla="*/ 2 h 20"/>
                  <a:gd name="T50" fmla="*/ 22 w 118"/>
                  <a:gd name="T51" fmla="*/ 2 h 20"/>
                  <a:gd name="T52" fmla="*/ 27 w 118"/>
                  <a:gd name="T53" fmla="*/ 2 h 20"/>
                  <a:gd name="T54" fmla="*/ 31 w 118"/>
                  <a:gd name="T55" fmla="*/ 2 h 20"/>
                  <a:gd name="T56" fmla="*/ 33 w 118"/>
                  <a:gd name="T57" fmla="*/ 2 h 20"/>
                  <a:gd name="T58" fmla="*/ 33 w 118"/>
                  <a:gd name="T59" fmla="*/ 2 h 20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w 118"/>
                  <a:gd name="T91" fmla="*/ 0 h 20"/>
                  <a:gd name="T92" fmla="*/ 118 w 118"/>
                  <a:gd name="T93" fmla="*/ 20 h 20"/>
                </a:gdLst>
                <a:ahLst/>
                <a:cxnLst>
                  <a:cxn ang="T60">
                    <a:pos x="T0" y="T1"/>
                  </a:cxn>
                  <a:cxn ang="T61">
                    <a:pos x="T2" y="T3"/>
                  </a:cxn>
                  <a:cxn ang="T62">
                    <a:pos x="T4" y="T5"/>
                  </a:cxn>
                  <a:cxn ang="T63">
                    <a:pos x="T6" y="T7"/>
                  </a:cxn>
                  <a:cxn ang="T64">
                    <a:pos x="T8" y="T9"/>
                  </a:cxn>
                  <a:cxn ang="T65">
                    <a:pos x="T10" y="T11"/>
                  </a:cxn>
                  <a:cxn ang="T66">
                    <a:pos x="T12" y="T13"/>
                  </a:cxn>
                  <a:cxn ang="T67">
                    <a:pos x="T14" y="T15"/>
                  </a:cxn>
                  <a:cxn ang="T68">
                    <a:pos x="T16" y="T17"/>
                  </a:cxn>
                  <a:cxn ang="T69">
                    <a:pos x="T18" y="T19"/>
                  </a:cxn>
                  <a:cxn ang="T70">
                    <a:pos x="T20" y="T21"/>
                  </a:cxn>
                  <a:cxn ang="T71">
                    <a:pos x="T22" y="T23"/>
                  </a:cxn>
                  <a:cxn ang="T72">
                    <a:pos x="T24" y="T25"/>
                  </a:cxn>
                  <a:cxn ang="T73">
                    <a:pos x="T26" y="T27"/>
                  </a:cxn>
                  <a:cxn ang="T74">
                    <a:pos x="T28" y="T29"/>
                  </a:cxn>
                  <a:cxn ang="T75">
                    <a:pos x="T30" y="T31"/>
                  </a:cxn>
                  <a:cxn ang="T76">
                    <a:pos x="T32" y="T33"/>
                  </a:cxn>
                  <a:cxn ang="T77">
                    <a:pos x="T34" y="T35"/>
                  </a:cxn>
                  <a:cxn ang="T78">
                    <a:pos x="T36" y="T37"/>
                  </a:cxn>
                  <a:cxn ang="T79">
                    <a:pos x="T38" y="T39"/>
                  </a:cxn>
                  <a:cxn ang="T80">
                    <a:pos x="T40" y="T41"/>
                  </a:cxn>
                  <a:cxn ang="T81">
                    <a:pos x="T42" y="T43"/>
                  </a:cxn>
                  <a:cxn ang="T82">
                    <a:pos x="T44" y="T45"/>
                  </a:cxn>
                  <a:cxn ang="T83">
                    <a:pos x="T46" y="T47"/>
                  </a:cxn>
                  <a:cxn ang="T84">
                    <a:pos x="T48" y="T49"/>
                  </a:cxn>
                  <a:cxn ang="T85">
                    <a:pos x="T50" y="T51"/>
                  </a:cxn>
                  <a:cxn ang="T86">
                    <a:pos x="T52" y="T53"/>
                  </a:cxn>
                  <a:cxn ang="T87">
                    <a:pos x="T54" y="T55"/>
                  </a:cxn>
                  <a:cxn ang="T88">
                    <a:pos x="T56" y="T57"/>
                  </a:cxn>
                  <a:cxn ang="T89">
                    <a:pos x="T58" y="T59"/>
                  </a:cxn>
                </a:cxnLst>
                <a:rect l="T90" t="T91" r="T92" b="T93"/>
                <a:pathLst>
                  <a:path w="118" h="20">
                    <a:moveTo>
                      <a:pt x="33" y="2"/>
                    </a:moveTo>
                    <a:lnTo>
                      <a:pt x="42" y="2"/>
                    </a:lnTo>
                    <a:lnTo>
                      <a:pt x="51" y="0"/>
                    </a:lnTo>
                    <a:lnTo>
                      <a:pt x="62" y="0"/>
                    </a:lnTo>
                    <a:lnTo>
                      <a:pt x="73" y="0"/>
                    </a:lnTo>
                    <a:lnTo>
                      <a:pt x="82" y="0"/>
                    </a:lnTo>
                    <a:lnTo>
                      <a:pt x="93" y="0"/>
                    </a:lnTo>
                    <a:lnTo>
                      <a:pt x="102" y="0"/>
                    </a:lnTo>
                    <a:lnTo>
                      <a:pt x="111" y="0"/>
                    </a:lnTo>
                    <a:lnTo>
                      <a:pt x="118" y="5"/>
                    </a:lnTo>
                    <a:lnTo>
                      <a:pt x="115" y="11"/>
                    </a:lnTo>
                    <a:lnTo>
                      <a:pt x="100" y="14"/>
                    </a:lnTo>
                    <a:lnTo>
                      <a:pt x="87" y="16"/>
                    </a:lnTo>
                    <a:lnTo>
                      <a:pt x="73" y="16"/>
                    </a:lnTo>
                    <a:lnTo>
                      <a:pt x="60" y="16"/>
                    </a:lnTo>
                    <a:lnTo>
                      <a:pt x="44" y="16"/>
                    </a:lnTo>
                    <a:lnTo>
                      <a:pt x="31" y="16"/>
                    </a:lnTo>
                    <a:lnTo>
                      <a:pt x="16" y="18"/>
                    </a:lnTo>
                    <a:lnTo>
                      <a:pt x="4" y="20"/>
                    </a:lnTo>
                    <a:lnTo>
                      <a:pt x="0" y="14"/>
                    </a:lnTo>
                    <a:lnTo>
                      <a:pt x="2" y="9"/>
                    </a:lnTo>
                    <a:lnTo>
                      <a:pt x="4" y="7"/>
                    </a:lnTo>
                    <a:lnTo>
                      <a:pt x="9" y="5"/>
                    </a:lnTo>
                    <a:lnTo>
                      <a:pt x="13" y="2"/>
                    </a:lnTo>
                    <a:lnTo>
                      <a:pt x="18" y="2"/>
                    </a:lnTo>
                    <a:lnTo>
                      <a:pt x="22" y="2"/>
                    </a:lnTo>
                    <a:lnTo>
                      <a:pt x="27" y="2"/>
                    </a:lnTo>
                    <a:lnTo>
                      <a:pt x="31" y="2"/>
                    </a:lnTo>
                    <a:lnTo>
                      <a:pt x="33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6" name="Freeform 48"/>
              <p:cNvSpPr>
                <a:spLocks/>
              </p:cNvSpPr>
              <p:nvPr/>
            </p:nvSpPr>
            <p:spPr bwMode="auto">
              <a:xfrm>
                <a:off x="2629" y="1586"/>
                <a:ext cx="211" cy="18"/>
              </a:xfrm>
              <a:custGeom>
                <a:avLst/>
                <a:gdLst>
                  <a:gd name="T0" fmla="*/ 131 w 211"/>
                  <a:gd name="T1" fmla="*/ 3 h 18"/>
                  <a:gd name="T2" fmla="*/ 138 w 211"/>
                  <a:gd name="T3" fmla="*/ 0 h 18"/>
                  <a:gd name="T4" fmla="*/ 146 w 211"/>
                  <a:gd name="T5" fmla="*/ 0 h 18"/>
                  <a:gd name="T6" fmla="*/ 155 w 211"/>
                  <a:gd name="T7" fmla="*/ 0 h 18"/>
                  <a:gd name="T8" fmla="*/ 164 w 211"/>
                  <a:gd name="T9" fmla="*/ 0 h 18"/>
                  <a:gd name="T10" fmla="*/ 171 w 211"/>
                  <a:gd name="T11" fmla="*/ 0 h 18"/>
                  <a:gd name="T12" fmla="*/ 180 w 211"/>
                  <a:gd name="T13" fmla="*/ 0 h 18"/>
                  <a:gd name="T14" fmla="*/ 189 w 211"/>
                  <a:gd name="T15" fmla="*/ 0 h 18"/>
                  <a:gd name="T16" fmla="*/ 195 w 211"/>
                  <a:gd name="T17" fmla="*/ 3 h 18"/>
                  <a:gd name="T18" fmla="*/ 204 w 211"/>
                  <a:gd name="T19" fmla="*/ 3 h 18"/>
                  <a:gd name="T20" fmla="*/ 209 w 211"/>
                  <a:gd name="T21" fmla="*/ 5 h 18"/>
                  <a:gd name="T22" fmla="*/ 211 w 211"/>
                  <a:gd name="T23" fmla="*/ 7 h 18"/>
                  <a:gd name="T24" fmla="*/ 209 w 211"/>
                  <a:gd name="T25" fmla="*/ 12 h 18"/>
                  <a:gd name="T26" fmla="*/ 191 w 211"/>
                  <a:gd name="T27" fmla="*/ 14 h 18"/>
                  <a:gd name="T28" fmla="*/ 173 w 211"/>
                  <a:gd name="T29" fmla="*/ 16 h 18"/>
                  <a:gd name="T30" fmla="*/ 155 w 211"/>
                  <a:gd name="T31" fmla="*/ 16 h 18"/>
                  <a:gd name="T32" fmla="*/ 138 w 211"/>
                  <a:gd name="T33" fmla="*/ 16 h 18"/>
                  <a:gd name="T34" fmla="*/ 120 w 211"/>
                  <a:gd name="T35" fmla="*/ 16 h 18"/>
                  <a:gd name="T36" fmla="*/ 100 w 211"/>
                  <a:gd name="T37" fmla="*/ 16 h 18"/>
                  <a:gd name="T38" fmla="*/ 82 w 211"/>
                  <a:gd name="T39" fmla="*/ 16 h 18"/>
                  <a:gd name="T40" fmla="*/ 67 w 211"/>
                  <a:gd name="T41" fmla="*/ 18 h 18"/>
                  <a:gd name="T42" fmla="*/ 58 w 211"/>
                  <a:gd name="T43" fmla="*/ 18 h 18"/>
                  <a:gd name="T44" fmla="*/ 51 w 211"/>
                  <a:gd name="T45" fmla="*/ 18 h 18"/>
                  <a:gd name="T46" fmla="*/ 44 w 211"/>
                  <a:gd name="T47" fmla="*/ 18 h 18"/>
                  <a:gd name="T48" fmla="*/ 36 w 211"/>
                  <a:gd name="T49" fmla="*/ 18 h 18"/>
                  <a:gd name="T50" fmla="*/ 29 w 211"/>
                  <a:gd name="T51" fmla="*/ 18 h 18"/>
                  <a:gd name="T52" fmla="*/ 20 w 211"/>
                  <a:gd name="T53" fmla="*/ 18 h 18"/>
                  <a:gd name="T54" fmla="*/ 13 w 211"/>
                  <a:gd name="T55" fmla="*/ 18 h 18"/>
                  <a:gd name="T56" fmla="*/ 7 w 211"/>
                  <a:gd name="T57" fmla="*/ 18 h 18"/>
                  <a:gd name="T58" fmla="*/ 2 w 211"/>
                  <a:gd name="T59" fmla="*/ 14 h 18"/>
                  <a:gd name="T60" fmla="*/ 0 w 211"/>
                  <a:gd name="T61" fmla="*/ 12 h 18"/>
                  <a:gd name="T62" fmla="*/ 0 w 211"/>
                  <a:gd name="T63" fmla="*/ 7 h 18"/>
                  <a:gd name="T64" fmla="*/ 5 w 211"/>
                  <a:gd name="T65" fmla="*/ 7 h 18"/>
                  <a:gd name="T66" fmla="*/ 13 w 211"/>
                  <a:gd name="T67" fmla="*/ 5 h 18"/>
                  <a:gd name="T68" fmla="*/ 22 w 211"/>
                  <a:gd name="T69" fmla="*/ 5 h 18"/>
                  <a:gd name="T70" fmla="*/ 33 w 211"/>
                  <a:gd name="T71" fmla="*/ 5 h 18"/>
                  <a:gd name="T72" fmla="*/ 44 w 211"/>
                  <a:gd name="T73" fmla="*/ 5 h 18"/>
                  <a:gd name="T74" fmla="*/ 56 w 211"/>
                  <a:gd name="T75" fmla="*/ 5 h 18"/>
                  <a:gd name="T76" fmla="*/ 67 w 211"/>
                  <a:gd name="T77" fmla="*/ 5 h 18"/>
                  <a:gd name="T78" fmla="*/ 76 w 211"/>
                  <a:gd name="T79" fmla="*/ 5 h 18"/>
                  <a:gd name="T80" fmla="*/ 84 w 211"/>
                  <a:gd name="T81" fmla="*/ 5 h 18"/>
                  <a:gd name="T82" fmla="*/ 89 w 211"/>
                  <a:gd name="T83" fmla="*/ 5 h 18"/>
                  <a:gd name="T84" fmla="*/ 95 w 211"/>
                  <a:gd name="T85" fmla="*/ 3 h 18"/>
                  <a:gd name="T86" fmla="*/ 102 w 211"/>
                  <a:gd name="T87" fmla="*/ 3 h 18"/>
                  <a:gd name="T88" fmla="*/ 109 w 211"/>
                  <a:gd name="T89" fmla="*/ 3 h 18"/>
                  <a:gd name="T90" fmla="*/ 113 w 211"/>
                  <a:gd name="T91" fmla="*/ 3 h 18"/>
                  <a:gd name="T92" fmla="*/ 120 w 211"/>
                  <a:gd name="T93" fmla="*/ 3 h 18"/>
                  <a:gd name="T94" fmla="*/ 127 w 211"/>
                  <a:gd name="T95" fmla="*/ 3 h 18"/>
                  <a:gd name="T96" fmla="*/ 131 w 211"/>
                  <a:gd name="T97" fmla="*/ 3 h 18"/>
                  <a:gd name="T98" fmla="*/ 131 w 211"/>
                  <a:gd name="T99" fmla="*/ 3 h 18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11"/>
                  <a:gd name="T151" fmla="*/ 0 h 18"/>
                  <a:gd name="T152" fmla="*/ 211 w 211"/>
                  <a:gd name="T153" fmla="*/ 18 h 18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11" h="18">
                    <a:moveTo>
                      <a:pt x="131" y="3"/>
                    </a:moveTo>
                    <a:lnTo>
                      <a:pt x="138" y="0"/>
                    </a:lnTo>
                    <a:lnTo>
                      <a:pt x="146" y="0"/>
                    </a:lnTo>
                    <a:lnTo>
                      <a:pt x="155" y="0"/>
                    </a:lnTo>
                    <a:lnTo>
                      <a:pt x="164" y="0"/>
                    </a:lnTo>
                    <a:lnTo>
                      <a:pt x="171" y="0"/>
                    </a:lnTo>
                    <a:lnTo>
                      <a:pt x="180" y="0"/>
                    </a:lnTo>
                    <a:lnTo>
                      <a:pt x="189" y="0"/>
                    </a:lnTo>
                    <a:lnTo>
                      <a:pt x="195" y="3"/>
                    </a:lnTo>
                    <a:lnTo>
                      <a:pt x="204" y="3"/>
                    </a:lnTo>
                    <a:lnTo>
                      <a:pt x="209" y="5"/>
                    </a:lnTo>
                    <a:lnTo>
                      <a:pt x="211" y="7"/>
                    </a:lnTo>
                    <a:lnTo>
                      <a:pt x="209" y="12"/>
                    </a:lnTo>
                    <a:lnTo>
                      <a:pt x="191" y="14"/>
                    </a:lnTo>
                    <a:lnTo>
                      <a:pt x="173" y="16"/>
                    </a:lnTo>
                    <a:lnTo>
                      <a:pt x="155" y="16"/>
                    </a:lnTo>
                    <a:lnTo>
                      <a:pt x="138" y="16"/>
                    </a:lnTo>
                    <a:lnTo>
                      <a:pt x="120" y="16"/>
                    </a:lnTo>
                    <a:lnTo>
                      <a:pt x="100" y="16"/>
                    </a:lnTo>
                    <a:lnTo>
                      <a:pt x="82" y="16"/>
                    </a:lnTo>
                    <a:lnTo>
                      <a:pt x="67" y="18"/>
                    </a:lnTo>
                    <a:lnTo>
                      <a:pt x="58" y="18"/>
                    </a:lnTo>
                    <a:lnTo>
                      <a:pt x="51" y="18"/>
                    </a:lnTo>
                    <a:lnTo>
                      <a:pt x="44" y="18"/>
                    </a:lnTo>
                    <a:lnTo>
                      <a:pt x="36" y="18"/>
                    </a:lnTo>
                    <a:lnTo>
                      <a:pt x="29" y="18"/>
                    </a:lnTo>
                    <a:lnTo>
                      <a:pt x="20" y="18"/>
                    </a:lnTo>
                    <a:lnTo>
                      <a:pt x="13" y="18"/>
                    </a:lnTo>
                    <a:lnTo>
                      <a:pt x="7" y="18"/>
                    </a:lnTo>
                    <a:lnTo>
                      <a:pt x="2" y="14"/>
                    </a:lnTo>
                    <a:lnTo>
                      <a:pt x="0" y="12"/>
                    </a:lnTo>
                    <a:lnTo>
                      <a:pt x="0" y="7"/>
                    </a:lnTo>
                    <a:lnTo>
                      <a:pt x="5" y="7"/>
                    </a:lnTo>
                    <a:lnTo>
                      <a:pt x="13" y="5"/>
                    </a:lnTo>
                    <a:lnTo>
                      <a:pt x="22" y="5"/>
                    </a:lnTo>
                    <a:lnTo>
                      <a:pt x="33" y="5"/>
                    </a:lnTo>
                    <a:lnTo>
                      <a:pt x="44" y="5"/>
                    </a:lnTo>
                    <a:lnTo>
                      <a:pt x="56" y="5"/>
                    </a:lnTo>
                    <a:lnTo>
                      <a:pt x="67" y="5"/>
                    </a:lnTo>
                    <a:lnTo>
                      <a:pt x="76" y="5"/>
                    </a:lnTo>
                    <a:lnTo>
                      <a:pt x="84" y="5"/>
                    </a:lnTo>
                    <a:lnTo>
                      <a:pt x="89" y="5"/>
                    </a:lnTo>
                    <a:lnTo>
                      <a:pt x="95" y="3"/>
                    </a:lnTo>
                    <a:lnTo>
                      <a:pt x="102" y="3"/>
                    </a:lnTo>
                    <a:lnTo>
                      <a:pt x="109" y="3"/>
                    </a:lnTo>
                    <a:lnTo>
                      <a:pt x="113" y="3"/>
                    </a:lnTo>
                    <a:lnTo>
                      <a:pt x="120" y="3"/>
                    </a:lnTo>
                    <a:lnTo>
                      <a:pt x="127" y="3"/>
                    </a:lnTo>
                    <a:lnTo>
                      <a:pt x="131" y="3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7" name="Freeform 49"/>
              <p:cNvSpPr>
                <a:spLocks/>
              </p:cNvSpPr>
              <p:nvPr/>
            </p:nvSpPr>
            <p:spPr bwMode="auto">
              <a:xfrm>
                <a:off x="2882" y="1582"/>
                <a:ext cx="264" cy="18"/>
              </a:xfrm>
              <a:custGeom>
                <a:avLst/>
                <a:gdLst>
                  <a:gd name="T0" fmla="*/ 166 w 264"/>
                  <a:gd name="T1" fmla="*/ 0 h 18"/>
                  <a:gd name="T2" fmla="*/ 175 w 264"/>
                  <a:gd name="T3" fmla="*/ 0 h 18"/>
                  <a:gd name="T4" fmla="*/ 184 w 264"/>
                  <a:gd name="T5" fmla="*/ 0 h 18"/>
                  <a:gd name="T6" fmla="*/ 195 w 264"/>
                  <a:gd name="T7" fmla="*/ 0 h 18"/>
                  <a:gd name="T8" fmla="*/ 206 w 264"/>
                  <a:gd name="T9" fmla="*/ 0 h 18"/>
                  <a:gd name="T10" fmla="*/ 217 w 264"/>
                  <a:gd name="T11" fmla="*/ 0 h 18"/>
                  <a:gd name="T12" fmla="*/ 228 w 264"/>
                  <a:gd name="T13" fmla="*/ 0 h 18"/>
                  <a:gd name="T14" fmla="*/ 237 w 264"/>
                  <a:gd name="T15" fmla="*/ 0 h 18"/>
                  <a:gd name="T16" fmla="*/ 248 w 264"/>
                  <a:gd name="T17" fmla="*/ 0 h 18"/>
                  <a:gd name="T18" fmla="*/ 253 w 264"/>
                  <a:gd name="T19" fmla="*/ 0 h 18"/>
                  <a:gd name="T20" fmla="*/ 257 w 264"/>
                  <a:gd name="T21" fmla="*/ 2 h 18"/>
                  <a:gd name="T22" fmla="*/ 259 w 264"/>
                  <a:gd name="T23" fmla="*/ 2 h 18"/>
                  <a:gd name="T24" fmla="*/ 264 w 264"/>
                  <a:gd name="T25" fmla="*/ 4 h 18"/>
                  <a:gd name="T26" fmla="*/ 264 w 264"/>
                  <a:gd name="T27" fmla="*/ 7 h 18"/>
                  <a:gd name="T28" fmla="*/ 261 w 264"/>
                  <a:gd name="T29" fmla="*/ 11 h 18"/>
                  <a:gd name="T30" fmla="*/ 239 w 264"/>
                  <a:gd name="T31" fmla="*/ 13 h 18"/>
                  <a:gd name="T32" fmla="*/ 217 w 264"/>
                  <a:gd name="T33" fmla="*/ 13 h 18"/>
                  <a:gd name="T34" fmla="*/ 195 w 264"/>
                  <a:gd name="T35" fmla="*/ 13 h 18"/>
                  <a:gd name="T36" fmla="*/ 173 w 264"/>
                  <a:gd name="T37" fmla="*/ 16 h 18"/>
                  <a:gd name="T38" fmla="*/ 151 w 264"/>
                  <a:gd name="T39" fmla="*/ 16 h 18"/>
                  <a:gd name="T40" fmla="*/ 128 w 264"/>
                  <a:gd name="T41" fmla="*/ 16 h 18"/>
                  <a:gd name="T42" fmla="*/ 104 w 264"/>
                  <a:gd name="T43" fmla="*/ 16 h 18"/>
                  <a:gd name="T44" fmla="*/ 84 w 264"/>
                  <a:gd name="T45" fmla="*/ 18 h 18"/>
                  <a:gd name="T46" fmla="*/ 75 w 264"/>
                  <a:gd name="T47" fmla="*/ 18 h 18"/>
                  <a:gd name="T48" fmla="*/ 66 w 264"/>
                  <a:gd name="T49" fmla="*/ 18 h 18"/>
                  <a:gd name="T50" fmla="*/ 55 w 264"/>
                  <a:gd name="T51" fmla="*/ 18 h 18"/>
                  <a:gd name="T52" fmla="*/ 46 w 264"/>
                  <a:gd name="T53" fmla="*/ 18 h 18"/>
                  <a:gd name="T54" fmla="*/ 35 w 264"/>
                  <a:gd name="T55" fmla="*/ 18 h 18"/>
                  <a:gd name="T56" fmla="*/ 26 w 264"/>
                  <a:gd name="T57" fmla="*/ 18 h 18"/>
                  <a:gd name="T58" fmla="*/ 18 w 264"/>
                  <a:gd name="T59" fmla="*/ 18 h 18"/>
                  <a:gd name="T60" fmla="*/ 11 w 264"/>
                  <a:gd name="T61" fmla="*/ 18 h 18"/>
                  <a:gd name="T62" fmla="*/ 7 w 264"/>
                  <a:gd name="T63" fmla="*/ 16 h 18"/>
                  <a:gd name="T64" fmla="*/ 2 w 264"/>
                  <a:gd name="T65" fmla="*/ 13 h 18"/>
                  <a:gd name="T66" fmla="*/ 0 w 264"/>
                  <a:gd name="T67" fmla="*/ 11 h 18"/>
                  <a:gd name="T68" fmla="*/ 0 w 264"/>
                  <a:gd name="T69" fmla="*/ 11 h 18"/>
                  <a:gd name="T70" fmla="*/ 0 w 264"/>
                  <a:gd name="T71" fmla="*/ 7 h 18"/>
                  <a:gd name="T72" fmla="*/ 4 w 264"/>
                  <a:gd name="T73" fmla="*/ 7 h 18"/>
                  <a:gd name="T74" fmla="*/ 15 w 264"/>
                  <a:gd name="T75" fmla="*/ 4 h 18"/>
                  <a:gd name="T76" fmla="*/ 29 w 264"/>
                  <a:gd name="T77" fmla="*/ 4 h 18"/>
                  <a:gd name="T78" fmla="*/ 42 w 264"/>
                  <a:gd name="T79" fmla="*/ 4 h 18"/>
                  <a:gd name="T80" fmla="*/ 57 w 264"/>
                  <a:gd name="T81" fmla="*/ 4 h 18"/>
                  <a:gd name="T82" fmla="*/ 71 w 264"/>
                  <a:gd name="T83" fmla="*/ 4 h 18"/>
                  <a:gd name="T84" fmla="*/ 84 w 264"/>
                  <a:gd name="T85" fmla="*/ 4 h 18"/>
                  <a:gd name="T86" fmla="*/ 95 w 264"/>
                  <a:gd name="T87" fmla="*/ 4 h 18"/>
                  <a:gd name="T88" fmla="*/ 104 w 264"/>
                  <a:gd name="T89" fmla="*/ 4 h 18"/>
                  <a:gd name="T90" fmla="*/ 113 w 264"/>
                  <a:gd name="T91" fmla="*/ 4 h 18"/>
                  <a:gd name="T92" fmla="*/ 120 w 264"/>
                  <a:gd name="T93" fmla="*/ 2 h 18"/>
                  <a:gd name="T94" fmla="*/ 128 w 264"/>
                  <a:gd name="T95" fmla="*/ 2 h 18"/>
                  <a:gd name="T96" fmla="*/ 137 w 264"/>
                  <a:gd name="T97" fmla="*/ 2 h 18"/>
                  <a:gd name="T98" fmla="*/ 144 w 264"/>
                  <a:gd name="T99" fmla="*/ 0 h 18"/>
                  <a:gd name="T100" fmla="*/ 151 w 264"/>
                  <a:gd name="T101" fmla="*/ 0 h 18"/>
                  <a:gd name="T102" fmla="*/ 159 w 264"/>
                  <a:gd name="T103" fmla="*/ 0 h 18"/>
                  <a:gd name="T104" fmla="*/ 166 w 264"/>
                  <a:gd name="T105" fmla="*/ 0 h 18"/>
                  <a:gd name="T106" fmla="*/ 166 w 264"/>
                  <a:gd name="T107" fmla="*/ 0 h 18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264"/>
                  <a:gd name="T163" fmla="*/ 0 h 18"/>
                  <a:gd name="T164" fmla="*/ 264 w 264"/>
                  <a:gd name="T165" fmla="*/ 18 h 18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264" h="18">
                    <a:moveTo>
                      <a:pt x="166" y="0"/>
                    </a:moveTo>
                    <a:lnTo>
                      <a:pt x="175" y="0"/>
                    </a:lnTo>
                    <a:lnTo>
                      <a:pt x="184" y="0"/>
                    </a:lnTo>
                    <a:lnTo>
                      <a:pt x="195" y="0"/>
                    </a:lnTo>
                    <a:lnTo>
                      <a:pt x="206" y="0"/>
                    </a:lnTo>
                    <a:lnTo>
                      <a:pt x="217" y="0"/>
                    </a:lnTo>
                    <a:lnTo>
                      <a:pt x="228" y="0"/>
                    </a:lnTo>
                    <a:lnTo>
                      <a:pt x="237" y="0"/>
                    </a:lnTo>
                    <a:lnTo>
                      <a:pt x="248" y="0"/>
                    </a:lnTo>
                    <a:lnTo>
                      <a:pt x="253" y="0"/>
                    </a:lnTo>
                    <a:lnTo>
                      <a:pt x="257" y="2"/>
                    </a:lnTo>
                    <a:lnTo>
                      <a:pt x="259" y="2"/>
                    </a:lnTo>
                    <a:lnTo>
                      <a:pt x="264" y="4"/>
                    </a:lnTo>
                    <a:lnTo>
                      <a:pt x="264" y="7"/>
                    </a:lnTo>
                    <a:lnTo>
                      <a:pt x="261" y="11"/>
                    </a:lnTo>
                    <a:lnTo>
                      <a:pt x="239" y="13"/>
                    </a:lnTo>
                    <a:lnTo>
                      <a:pt x="217" y="13"/>
                    </a:lnTo>
                    <a:lnTo>
                      <a:pt x="195" y="13"/>
                    </a:lnTo>
                    <a:lnTo>
                      <a:pt x="173" y="16"/>
                    </a:lnTo>
                    <a:lnTo>
                      <a:pt x="151" y="16"/>
                    </a:lnTo>
                    <a:lnTo>
                      <a:pt x="128" y="16"/>
                    </a:lnTo>
                    <a:lnTo>
                      <a:pt x="104" y="16"/>
                    </a:lnTo>
                    <a:lnTo>
                      <a:pt x="84" y="18"/>
                    </a:lnTo>
                    <a:lnTo>
                      <a:pt x="75" y="18"/>
                    </a:lnTo>
                    <a:lnTo>
                      <a:pt x="66" y="18"/>
                    </a:lnTo>
                    <a:lnTo>
                      <a:pt x="55" y="18"/>
                    </a:lnTo>
                    <a:lnTo>
                      <a:pt x="46" y="18"/>
                    </a:lnTo>
                    <a:lnTo>
                      <a:pt x="35" y="18"/>
                    </a:lnTo>
                    <a:lnTo>
                      <a:pt x="26" y="18"/>
                    </a:lnTo>
                    <a:lnTo>
                      <a:pt x="18" y="18"/>
                    </a:lnTo>
                    <a:lnTo>
                      <a:pt x="11" y="18"/>
                    </a:lnTo>
                    <a:lnTo>
                      <a:pt x="7" y="16"/>
                    </a:lnTo>
                    <a:lnTo>
                      <a:pt x="2" y="13"/>
                    </a:lnTo>
                    <a:lnTo>
                      <a:pt x="0" y="11"/>
                    </a:lnTo>
                    <a:lnTo>
                      <a:pt x="0" y="7"/>
                    </a:lnTo>
                    <a:lnTo>
                      <a:pt x="4" y="7"/>
                    </a:lnTo>
                    <a:lnTo>
                      <a:pt x="15" y="4"/>
                    </a:lnTo>
                    <a:lnTo>
                      <a:pt x="29" y="4"/>
                    </a:lnTo>
                    <a:lnTo>
                      <a:pt x="42" y="4"/>
                    </a:lnTo>
                    <a:lnTo>
                      <a:pt x="57" y="4"/>
                    </a:lnTo>
                    <a:lnTo>
                      <a:pt x="71" y="4"/>
                    </a:lnTo>
                    <a:lnTo>
                      <a:pt x="84" y="4"/>
                    </a:lnTo>
                    <a:lnTo>
                      <a:pt x="95" y="4"/>
                    </a:lnTo>
                    <a:lnTo>
                      <a:pt x="104" y="4"/>
                    </a:lnTo>
                    <a:lnTo>
                      <a:pt x="113" y="4"/>
                    </a:lnTo>
                    <a:lnTo>
                      <a:pt x="120" y="2"/>
                    </a:lnTo>
                    <a:lnTo>
                      <a:pt x="128" y="2"/>
                    </a:lnTo>
                    <a:lnTo>
                      <a:pt x="137" y="2"/>
                    </a:lnTo>
                    <a:lnTo>
                      <a:pt x="144" y="0"/>
                    </a:lnTo>
                    <a:lnTo>
                      <a:pt x="151" y="0"/>
                    </a:lnTo>
                    <a:lnTo>
                      <a:pt x="159" y="0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8" name="Freeform 50"/>
              <p:cNvSpPr>
                <a:spLocks/>
              </p:cNvSpPr>
              <p:nvPr/>
            </p:nvSpPr>
            <p:spPr bwMode="auto">
              <a:xfrm>
                <a:off x="2685" y="1642"/>
                <a:ext cx="494" cy="18"/>
              </a:xfrm>
              <a:custGeom>
                <a:avLst/>
                <a:gdLst>
                  <a:gd name="T0" fmla="*/ 312 w 494"/>
                  <a:gd name="T1" fmla="*/ 2 h 18"/>
                  <a:gd name="T2" fmla="*/ 328 w 494"/>
                  <a:gd name="T3" fmla="*/ 2 h 18"/>
                  <a:gd name="T4" fmla="*/ 345 w 494"/>
                  <a:gd name="T5" fmla="*/ 2 h 18"/>
                  <a:gd name="T6" fmla="*/ 365 w 494"/>
                  <a:gd name="T7" fmla="*/ 0 h 18"/>
                  <a:gd name="T8" fmla="*/ 387 w 494"/>
                  <a:gd name="T9" fmla="*/ 0 h 18"/>
                  <a:gd name="T10" fmla="*/ 407 w 494"/>
                  <a:gd name="T11" fmla="*/ 0 h 18"/>
                  <a:gd name="T12" fmla="*/ 427 w 494"/>
                  <a:gd name="T13" fmla="*/ 0 h 18"/>
                  <a:gd name="T14" fmla="*/ 447 w 494"/>
                  <a:gd name="T15" fmla="*/ 0 h 18"/>
                  <a:gd name="T16" fmla="*/ 465 w 494"/>
                  <a:gd name="T17" fmla="*/ 2 h 18"/>
                  <a:gd name="T18" fmla="*/ 472 w 494"/>
                  <a:gd name="T19" fmla="*/ 2 h 18"/>
                  <a:gd name="T20" fmla="*/ 481 w 494"/>
                  <a:gd name="T21" fmla="*/ 2 h 18"/>
                  <a:gd name="T22" fmla="*/ 487 w 494"/>
                  <a:gd name="T23" fmla="*/ 2 h 18"/>
                  <a:gd name="T24" fmla="*/ 492 w 494"/>
                  <a:gd name="T25" fmla="*/ 4 h 18"/>
                  <a:gd name="T26" fmla="*/ 494 w 494"/>
                  <a:gd name="T27" fmla="*/ 4 h 18"/>
                  <a:gd name="T28" fmla="*/ 494 w 494"/>
                  <a:gd name="T29" fmla="*/ 6 h 18"/>
                  <a:gd name="T30" fmla="*/ 494 w 494"/>
                  <a:gd name="T31" fmla="*/ 9 h 18"/>
                  <a:gd name="T32" fmla="*/ 487 w 494"/>
                  <a:gd name="T33" fmla="*/ 11 h 18"/>
                  <a:gd name="T34" fmla="*/ 450 w 494"/>
                  <a:gd name="T35" fmla="*/ 13 h 18"/>
                  <a:gd name="T36" fmla="*/ 410 w 494"/>
                  <a:gd name="T37" fmla="*/ 15 h 18"/>
                  <a:gd name="T38" fmla="*/ 368 w 494"/>
                  <a:gd name="T39" fmla="*/ 15 h 18"/>
                  <a:gd name="T40" fmla="*/ 325 w 494"/>
                  <a:gd name="T41" fmla="*/ 15 h 18"/>
                  <a:gd name="T42" fmla="*/ 283 w 494"/>
                  <a:gd name="T43" fmla="*/ 15 h 18"/>
                  <a:gd name="T44" fmla="*/ 241 w 494"/>
                  <a:gd name="T45" fmla="*/ 15 h 18"/>
                  <a:gd name="T46" fmla="*/ 197 w 494"/>
                  <a:gd name="T47" fmla="*/ 15 h 18"/>
                  <a:gd name="T48" fmla="*/ 157 w 494"/>
                  <a:gd name="T49" fmla="*/ 18 h 18"/>
                  <a:gd name="T50" fmla="*/ 141 w 494"/>
                  <a:gd name="T51" fmla="*/ 18 h 18"/>
                  <a:gd name="T52" fmla="*/ 124 w 494"/>
                  <a:gd name="T53" fmla="*/ 18 h 18"/>
                  <a:gd name="T54" fmla="*/ 106 w 494"/>
                  <a:gd name="T55" fmla="*/ 18 h 18"/>
                  <a:gd name="T56" fmla="*/ 88 w 494"/>
                  <a:gd name="T57" fmla="*/ 18 h 18"/>
                  <a:gd name="T58" fmla="*/ 68 w 494"/>
                  <a:gd name="T59" fmla="*/ 18 h 18"/>
                  <a:gd name="T60" fmla="*/ 51 w 494"/>
                  <a:gd name="T61" fmla="*/ 18 h 18"/>
                  <a:gd name="T62" fmla="*/ 35 w 494"/>
                  <a:gd name="T63" fmla="*/ 18 h 18"/>
                  <a:gd name="T64" fmla="*/ 22 w 494"/>
                  <a:gd name="T65" fmla="*/ 18 h 18"/>
                  <a:gd name="T66" fmla="*/ 13 w 494"/>
                  <a:gd name="T67" fmla="*/ 15 h 18"/>
                  <a:gd name="T68" fmla="*/ 6 w 494"/>
                  <a:gd name="T69" fmla="*/ 15 h 18"/>
                  <a:gd name="T70" fmla="*/ 2 w 494"/>
                  <a:gd name="T71" fmla="*/ 13 h 18"/>
                  <a:gd name="T72" fmla="*/ 0 w 494"/>
                  <a:gd name="T73" fmla="*/ 11 h 18"/>
                  <a:gd name="T74" fmla="*/ 0 w 494"/>
                  <a:gd name="T75" fmla="*/ 9 h 18"/>
                  <a:gd name="T76" fmla="*/ 2 w 494"/>
                  <a:gd name="T77" fmla="*/ 6 h 18"/>
                  <a:gd name="T78" fmla="*/ 4 w 494"/>
                  <a:gd name="T79" fmla="*/ 6 h 18"/>
                  <a:gd name="T80" fmla="*/ 11 w 494"/>
                  <a:gd name="T81" fmla="*/ 6 h 18"/>
                  <a:gd name="T82" fmla="*/ 31 w 494"/>
                  <a:gd name="T83" fmla="*/ 2 h 18"/>
                  <a:gd name="T84" fmla="*/ 55 w 494"/>
                  <a:gd name="T85" fmla="*/ 2 h 18"/>
                  <a:gd name="T86" fmla="*/ 79 w 494"/>
                  <a:gd name="T87" fmla="*/ 2 h 18"/>
                  <a:gd name="T88" fmla="*/ 106 w 494"/>
                  <a:gd name="T89" fmla="*/ 2 h 18"/>
                  <a:gd name="T90" fmla="*/ 133 w 494"/>
                  <a:gd name="T91" fmla="*/ 2 h 18"/>
                  <a:gd name="T92" fmla="*/ 157 w 494"/>
                  <a:gd name="T93" fmla="*/ 4 h 18"/>
                  <a:gd name="T94" fmla="*/ 179 w 494"/>
                  <a:gd name="T95" fmla="*/ 4 h 18"/>
                  <a:gd name="T96" fmla="*/ 197 w 494"/>
                  <a:gd name="T97" fmla="*/ 4 h 18"/>
                  <a:gd name="T98" fmla="*/ 212 w 494"/>
                  <a:gd name="T99" fmla="*/ 2 h 18"/>
                  <a:gd name="T100" fmla="*/ 228 w 494"/>
                  <a:gd name="T101" fmla="*/ 2 h 18"/>
                  <a:gd name="T102" fmla="*/ 241 w 494"/>
                  <a:gd name="T103" fmla="*/ 2 h 18"/>
                  <a:gd name="T104" fmla="*/ 257 w 494"/>
                  <a:gd name="T105" fmla="*/ 2 h 18"/>
                  <a:gd name="T106" fmla="*/ 270 w 494"/>
                  <a:gd name="T107" fmla="*/ 2 h 18"/>
                  <a:gd name="T108" fmla="*/ 283 w 494"/>
                  <a:gd name="T109" fmla="*/ 2 h 18"/>
                  <a:gd name="T110" fmla="*/ 297 w 494"/>
                  <a:gd name="T111" fmla="*/ 2 h 18"/>
                  <a:gd name="T112" fmla="*/ 312 w 494"/>
                  <a:gd name="T113" fmla="*/ 2 h 18"/>
                  <a:gd name="T114" fmla="*/ 312 w 494"/>
                  <a:gd name="T115" fmla="*/ 2 h 18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494"/>
                  <a:gd name="T175" fmla="*/ 0 h 18"/>
                  <a:gd name="T176" fmla="*/ 494 w 494"/>
                  <a:gd name="T177" fmla="*/ 18 h 18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494" h="18">
                    <a:moveTo>
                      <a:pt x="312" y="2"/>
                    </a:moveTo>
                    <a:lnTo>
                      <a:pt x="328" y="2"/>
                    </a:lnTo>
                    <a:lnTo>
                      <a:pt x="345" y="2"/>
                    </a:lnTo>
                    <a:lnTo>
                      <a:pt x="365" y="0"/>
                    </a:lnTo>
                    <a:lnTo>
                      <a:pt x="387" y="0"/>
                    </a:lnTo>
                    <a:lnTo>
                      <a:pt x="407" y="0"/>
                    </a:lnTo>
                    <a:lnTo>
                      <a:pt x="427" y="0"/>
                    </a:lnTo>
                    <a:lnTo>
                      <a:pt x="447" y="0"/>
                    </a:lnTo>
                    <a:lnTo>
                      <a:pt x="465" y="2"/>
                    </a:lnTo>
                    <a:lnTo>
                      <a:pt x="472" y="2"/>
                    </a:lnTo>
                    <a:lnTo>
                      <a:pt x="481" y="2"/>
                    </a:lnTo>
                    <a:lnTo>
                      <a:pt x="487" y="2"/>
                    </a:lnTo>
                    <a:lnTo>
                      <a:pt x="492" y="4"/>
                    </a:lnTo>
                    <a:lnTo>
                      <a:pt x="494" y="4"/>
                    </a:lnTo>
                    <a:lnTo>
                      <a:pt x="494" y="6"/>
                    </a:lnTo>
                    <a:lnTo>
                      <a:pt x="494" y="9"/>
                    </a:lnTo>
                    <a:lnTo>
                      <a:pt x="487" y="11"/>
                    </a:lnTo>
                    <a:lnTo>
                      <a:pt x="450" y="13"/>
                    </a:lnTo>
                    <a:lnTo>
                      <a:pt x="410" y="15"/>
                    </a:lnTo>
                    <a:lnTo>
                      <a:pt x="368" y="15"/>
                    </a:lnTo>
                    <a:lnTo>
                      <a:pt x="325" y="15"/>
                    </a:lnTo>
                    <a:lnTo>
                      <a:pt x="283" y="15"/>
                    </a:lnTo>
                    <a:lnTo>
                      <a:pt x="241" y="15"/>
                    </a:lnTo>
                    <a:lnTo>
                      <a:pt x="197" y="15"/>
                    </a:lnTo>
                    <a:lnTo>
                      <a:pt x="157" y="18"/>
                    </a:lnTo>
                    <a:lnTo>
                      <a:pt x="141" y="18"/>
                    </a:lnTo>
                    <a:lnTo>
                      <a:pt x="124" y="18"/>
                    </a:lnTo>
                    <a:lnTo>
                      <a:pt x="106" y="18"/>
                    </a:lnTo>
                    <a:lnTo>
                      <a:pt x="88" y="18"/>
                    </a:lnTo>
                    <a:lnTo>
                      <a:pt x="68" y="18"/>
                    </a:lnTo>
                    <a:lnTo>
                      <a:pt x="51" y="18"/>
                    </a:lnTo>
                    <a:lnTo>
                      <a:pt x="35" y="18"/>
                    </a:lnTo>
                    <a:lnTo>
                      <a:pt x="22" y="18"/>
                    </a:lnTo>
                    <a:lnTo>
                      <a:pt x="13" y="15"/>
                    </a:lnTo>
                    <a:lnTo>
                      <a:pt x="6" y="15"/>
                    </a:lnTo>
                    <a:lnTo>
                      <a:pt x="2" y="13"/>
                    </a:lnTo>
                    <a:lnTo>
                      <a:pt x="0" y="11"/>
                    </a:lnTo>
                    <a:lnTo>
                      <a:pt x="0" y="9"/>
                    </a:lnTo>
                    <a:lnTo>
                      <a:pt x="2" y="6"/>
                    </a:lnTo>
                    <a:lnTo>
                      <a:pt x="4" y="6"/>
                    </a:lnTo>
                    <a:lnTo>
                      <a:pt x="11" y="6"/>
                    </a:lnTo>
                    <a:lnTo>
                      <a:pt x="31" y="2"/>
                    </a:lnTo>
                    <a:lnTo>
                      <a:pt x="55" y="2"/>
                    </a:lnTo>
                    <a:lnTo>
                      <a:pt x="79" y="2"/>
                    </a:lnTo>
                    <a:lnTo>
                      <a:pt x="106" y="2"/>
                    </a:lnTo>
                    <a:lnTo>
                      <a:pt x="133" y="2"/>
                    </a:lnTo>
                    <a:lnTo>
                      <a:pt x="157" y="4"/>
                    </a:lnTo>
                    <a:lnTo>
                      <a:pt x="179" y="4"/>
                    </a:lnTo>
                    <a:lnTo>
                      <a:pt x="197" y="4"/>
                    </a:lnTo>
                    <a:lnTo>
                      <a:pt x="212" y="2"/>
                    </a:lnTo>
                    <a:lnTo>
                      <a:pt x="228" y="2"/>
                    </a:lnTo>
                    <a:lnTo>
                      <a:pt x="241" y="2"/>
                    </a:lnTo>
                    <a:lnTo>
                      <a:pt x="257" y="2"/>
                    </a:lnTo>
                    <a:lnTo>
                      <a:pt x="270" y="2"/>
                    </a:lnTo>
                    <a:lnTo>
                      <a:pt x="283" y="2"/>
                    </a:lnTo>
                    <a:lnTo>
                      <a:pt x="297" y="2"/>
                    </a:lnTo>
                    <a:lnTo>
                      <a:pt x="312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49" name="Freeform 51"/>
              <p:cNvSpPr>
                <a:spLocks/>
              </p:cNvSpPr>
              <p:nvPr/>
            </p:nvSpPr>
            <p:spPr bwMode="auto">
              <a:xfrm>
                <a:off x="2678" y="1688"/>
                <a:ext cx="494" cy="23"/>
              </a:xfrm>
              <a:custGeom>
                <a:avLst/>
                <a:gdLst>
                  <a:gd name="T0" fmla="*/ 483 w 494"/>
                  <a:gd name="T1" fmla="*/ 0 h 23"/>
                  <a:gd name="T2" fmla="*/ 490 w 494"/>
                  <a:gd name="T3" fmla="*/ 0 h 23"/>
                  <a:gd name="T4" fmla="*/ 494 w 494"/>
                  <a:gd name="T5" fmla="*/ 3 h 23"/>
                  <a:gd name="T6" fmla="*/ 492 w 494"/>
                  <a:gd name="T7" fmla="*/ 7 h 23"/>
                  <a:gd name="T8" fmla="*/ 490 w 494"/>
                  <a:gd name="T9" fmla="*/ 14 h 23"/>
                  <a:gd name="T10" fmla="*/ 465 w 494"/>
                  <a:gd name="T11" fmla="*/ 14 h 23"/>
                  <a:gd name="T12" fmla="*/ 441 w 494"/>
                  <a:gd name="T13" fmla="*/ 14 h 23"/>
                  <a:gd name="T14" fmla="*/ 419 w 494"/>
                  <a:gd name="T15" fmla="*/ 16 h 23"/>
                  <a:gd name="T16" fmla="*/ 397 w 494"/>
                  <a:gd name="T17" fmla="*/ 18 h 23"/>
                  <a:gd name="T18" fmla="*/ 372 w 494"/>
                  <a:gd name="T19" fmla="*/ 18 h 23"/>
                  <a:gd name="T20" fmla="*/ 348 w 494"/>
                  <a:gd name="T21" fmla="*/ 20 h 23"/>
                  <a:gd name="T22" fmla="*/ 321 w 494"/>
                  <a:gd name="T23" fmla="*/ 20 h 23"/>
                  <a:gd name="T24" fmla="*/ 295 w 494"/>
                  <a:gd name="T25" fmla="*/ 20 h 23"/>
                  <a:gd name="T26" fmla="*/ 275 w 494"/>
                  <a:gd name="T27" fmla="*/ 20 h 23"/>
                  <a:gd name="T28" fmla="*/ 255 w 494"/>
                  <a:gd name="T29" fmla="*/ 20 h 23"/>
                  <a:gd name="T30" fmla="*/ 235 w 494"/>
                  <a:gd name="T31" fmla="*/ 20 h 23"/>
                  <a:gd name="T32" fmla="*/ 215 w 494"/>
                  <a:gd name="T33" fmla="*/ 20 h 23"/>
                  <a:gd name="T34" fmla="*/ 195 w 494"/>
                  <a:gd name="T35" fmla="*/ 20 h 23"/>
                  <a:gd name="T36" fmla="*/ 175 w 494"/>
                  <a:gd name="T37" fmla="*/ 23 h 23"/>
                  <a:gd name="T38" fmla="*/ 151 w 494"/>
                  <a:gd name="T39" fmla="*/ 23 h 23"/>
                  <a:gd name="T40" fmla="*/ 128 w 494"/>
                  <a:gd name="T41" fmla="*/ 23 h 23"/>
                  <a:gd name="T42" fmla="*/ 113 w 494"/>
                  <a:gd name="T43" fmla="*/ 23 h 23"/>
                  <a:gd name="T44" fmla="*/ 97 w 494"/>
                  <a:gd name="T45" fmla="*/ 23 h 23"/>
                  <a:gd name="T46" fmla="*/ 82 w 494"/>
                  <a:gd name="T47" fmla="*/ 23 h 23"/>
                  <a:gd name="T48" fmla="*/ 69 w 494"/>
                  <a:gd name="T49" fmla="*/ 23 h 23"/>
                  <a:gd name="T50" fmla="*/ 51 w 494"/>
                  <a:gd name="T51" fmla="*/ 23 h 23"/>
                  <a:gd name="T52" fmla="*/ 38 w 494"/>
                  <a:gd name="T53" fmla="*/ 23 h 23"/>
                  <a:gd name="T54" fmla="*/ 22 w 494"/>
                  <a:gd name="T55" fmla="*/ 23 h 23"/>
                  <a:gd name="T56" fmla="*/ 7 w 494"/>
                  <a:gd name="T57" fmla="*/ 23 h 23"/>
                  <a:gd name="T58" fmla="*/ 0 w 494"/>
                  <a:gd name="T59" fmla="*/ 16 h 23"/>
                  <a:gd name="T60" fmla="*/ 4 w 494"/>
                  <a:gd name="T61" fmla="*/ 11 h 23"/>
                  <a:gd name="T62" fmla="*/ 15 w 494"/>
                  <a:gd name="T63" fmla="*/ 9 h 23"/>
                  <a:gd name="T64" fmla="*/ 33 w 494"/>
                  <a:gd name="T65" fmla="*/ 7 h 23"/>
                  <a:gd name="T66" fmla="*/ 51 w 494"/>
                  <a:gd name="T67" fmla="*/ 7 h 23"/>
                  <a:gd name="T68" fmla="*/ 71 w 494"/>
                  <a:gd name="T69" fmla="*/ 7 h 23"/>
                  <a:gd name="T70" fmla="*/ 89 w 494"/>
                  <a:gd name="T71" fmla="*/ 7 h 23"/>
                  <a:gd name="T72" fmla="*/ 104 w 494"/>
                  <a:gd name="T73" fmla="*/ 7 h 23"/>
                  <a:gd name="T74" fmla="*/ 131 w 494"/>
                  <a:gd name="T75" fmla="*/ 7 h 23"/>
                  <a:gd name="T76" fmla="*/ 157 w 494"/>
                  <a:gd name="T77" fmla="*/ 7 h 23"/>
                  <a:gd name="T78" fmla="*/ 184 w 494"/>
                  <a:gd name="T79" fmla="*/ 7 h 23"/>
                  <a:gd name="T80" fmla="*/ 211 w 494"/>
                  <a:gd name="T81" fmla="*/ 7 h 23"/>
                  <a:gd name="T82" fmla="*/ 237 w 494"/>
                  <a:gd name="T83" fmla="*/ 7 h 23"/>
                  <a:gd name="T84" fmla="*/ 264 w 494"/>
                  <a:gd name="T85" fmla="*/ 7 h 23"/>
                  <a:gd name="T86" fmla="*/ 290 w 494"/>
                  <a:gd name="T87" fmla="*/ 7 h 23"/>
                  <a:gd name="T88" fmla="*/ 319 w 494"/>
                  <a:gd name="T89" fmla="*/ 7 h 23"/>
                  <a:gd name="T90" fmla="*/ 337 w 494"/>
                  <a:gd name="T91" fmla="*/ 7 h 23"/>
                  <a:gd name="T92" fmla="*/ 357 w 494"/>
                  <a:gd name="T93" fmla="*/ 7 h 23"/>
                  <a:gd name="T94" fmla="*/ 377 w 494"/>
                  <a:gd name="T95" fmla="*/ 5 h 23"/>
                  <a:gd name="T96" fmla="*/ 397 w 494"/>
                  <a:gd name="T97" fmla="*/ 5 h 23"/>
                  <a:gd name="T98" fmla="*/ 417 w 494"/>
                  <a:gd name="T99" fmla="*/ 3 h 23"/>
                  <a:gd name="T100" fmla="*/ 437 w 494"/>
                  <a:gd name="T101" fmla="*/ 3 h 23"/>
                  <a:gd name="T102" fmla="*/ 459 w 494"/>
                  <a:gd name="T103" fmla="*/ 0 h 23"/>
                  <a:gd name="T104" fmla="*/ 483 w 494"/>
                  <a:gd name="T105" fmla="*/ 0 h 23"/>
                  <a:gd name="T106" fmla="*/ 483 w 494"/>
                  <a:gd name="T107" fmla="*/ 0 h 23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494"/>
                  <a:gd name="T163" fmla="*/ 0 h 23"/>
                  <a:gd name="T164" fmla="*/ 494 w 494"/>
                  <a:gd name="T165" fmla="*/ 23 h 23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494" h="23">
                    <a:moveTo>
                      <a:pt x="483" y="0"/>
                    </a:moveTo>
                    <a:lnTo>
                      <a:pt x="490" y="0"/>
                    </a:lnTo>
                    <a:lnTo>
                      <a:pt x="494" y="3"/>
                    </a:lnTo>
                    <a:lnTo>
                      <a:pt x="492" y="7"/>
                    </a:lnTo>
                    <a:lnTo>
                      <a:pt x="490" y="14"/>
                    </a:lnTo>
                    <a:lnTo>
                      <a:pt x="465" y="14"/>
                    </a:lnTo>
                    <a:lnTo>
                      <a:pt x="441" y="14"/>
                    </a:lnTo>
                    <a:lnTo>
                      <a:pt x="419" y="16"/>
                    </a:lnTo>
                    <a:lnTo>
                      <a:pt x="397" y="18"/>
                    </a:lnTo>
                    <a:lnTo>
                      <a:pt x="372" y="18"/>
                    </a:lnTo>
                    <a:lnTo>
                      <a:pt x="348" y="20"/>
                    </a:lnTo>
                    <a:lnTo>
                      <a:pt x="321" y="20"/>
                    </a:lnTo>
                    <a:lnTo>
                      <a:pt x="295" y="20"/>
                    </a:lnTo>
                    <a:lnTo>
                      <a:pt x="275" y="20"/>
                    </a:lnTo>
                    <a:lnTo>
                      <a:pt x="255" y="20"/>
                    </a:lnTo>
                    <a:lnTo>
                      <a:pt x="235" y="20"/>
                    </a:lnTo>
                    <a:lnTo>
                      <a:pt x="215" y="20"/>
                    </a:lnTo>
                    <a:lnTo>
                      <a:pt x="195" y="20"/>
                    </a:lnTo>
                    <a:lnTo>
                      <a:pt x="175" y="23"/>
                    </a:lnTo>
                    <a:lnTo>
                      <a:pt x="151" y="23"/>
                    </a:lnTo>
                    <a:lnTo>
                      <a:pt x="128" y="23"/>
                    </a:lnTo>
                    <a:lnTo>
                      <a:pt x="113" y="23"/>
                    </a:lnTo>
                    <a:lnTo>
                      <a:pt x="97" y="23"/>
                    </a:lnTo>
                    <a:lnTo>
                      <a:pt x="82" y="23"/>
                    </a:lnTo>
                    <a:lnTo>
                      <a:pt x="69" y="23"/>
                    </a:lnTo>
                    <a:lnTo>
                      <a:pt x="51" y="23"/>
                    </a:lnTo>
                    <a:lnTo>
                      <a:pt x="38" y="23"/>
                    </a:lnTo>
                    <a:lnTo>
                      <a:pt x="22" y="23"/>
                    </a:lnTo>
                    <a:lnTo>
                      <a:pt x="7" y="23"/>
                    </a:lnTo>
                    <a:lnTo>
                      <a:pt x="0" y="16"/>
                    </a:lnTo>
                    <a:lnTo>
                      <a:pt x="4" y="11"/>
                    </a:lnTo>
                    <a:lnTo>
                      <a:pt x="15" y="9"/>
                    </a:lnTo>
                    <a:lnTo>
                      <a:pt x="33" y="7"/>
                    </a:lnTo>
                    <a:lnTo>
                      <a:pt x="51" y="7"/>
                    </a:lnTo>
                    <a:lnTo>
                      <a:pt x="71" y="7"/>
                    </a:lnTo>
                    <a:lnTo>
                      <a:pt x="89" y="7"/>
                    </a:lnTo>
                    <a:lnTo>
                      <a:pt x="104" y="7"/>
                    </a:lnTo>
                    <a:lnTo>
                      <a:pt x="131" y="7"/>
                    </a:lnTo>
                    <a:lnTo>
                      <a:pt x="157" y="7"/>
                    </a:lnTo>
                    <a:lnTo>
                      <a:pt x="184" y="7"/>
                    </a:lnTo>
                    <a:lnTo>
                      <a:pt x="211" y="7"/>
                    </a:lnTo>
                    <a:lnTo>
                      <a:pt x="237" y="7"/>
                    </a:lnTo>
                    <a:lnTo>
                      <a:pt x="264" y="7"/>
                    </a:lnTo>
                    <a:lnTo>
                      <a:pt x="290" y="7"/>
                    </a:lnTo>
                    <a:lnTo>
                      <a:pt x="319" y="7"/>
                    </a:lnTo>
                    <a:lnTo>
                      <a:pt x="337" y="7"/>
                    </a:lnTo>
                    <a:lnTo>
                      <a:pt x="357" y="7"/>
                    </a:lnTo>
                    <a:lnTo>
                      <a:pt x="377" y="5"/>
                    </a:lnTo>
                    <a:lnTo>
                      <a:pt x="397" y="5"/>
                    </a:lnTo>
                    <a:lnTo>
                      <a:pt x="417" y="3"/>
                    </a:lnTo>
                    <a:lnTo>
                      <a:pt x="437" y="3"/>
                    </a:lnTo>
                    <a:lnTo>
                      <a:pt x="459" y="0"/>
                    </a:lnTo>
                    <a:lnTo>
                      <a:pt x="483" y="0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50" name="Freeform 52"/>
              <p:cNvSpPr>
                <a:spLocks/>
              </p:cNvSpPr>
              <p:nvPr/>
            </p:nvSpPr>
            <p:spPr bwMode="auto">
              <a:xfrm>
                <a:off x="2673" y="1294"/>
                <a:ext cx="497" cy="18"/>
              </a:xfrm>
              <a:custGeom>
                <a:avLst/>
                <a:gdLst>
                  <a:gd name="T0" fmla="*/ 311 w 497"/>
                  <a:gd name="T1" fmla="*/ 2 h 18"/>
                  <a:gd name="T2" fmla="*/ 326 w 497"/>
                  <a:gd name="T3" fmla="*/ 0 h 18"/>
                  <a:gd name="T4" fmla="*/ 346 w 497"/>
                  <a:gd name="T5" fmla="*/ 0 h 18"/>
                  <a:gd name="T6" fmla="*/ 366 w 497"/>
                  <a:gd name="T7" fmla="*/ 0 h 18"/>
                  <a:gd name="T8" fmla="*/ 388 w 497"/>
                  <a:gd name="T9" fmla="*/ 0 h 18"/>
                  <a:gd name="T10" fmla="*/ 408 w 497"/>
                  <a:gd name="T11" fmla="*/ 0 h 18"/>
                  <a:gd name="T12" fmla="*/ 428 w 497"/>
                  <a:gd name="T13" fmla="*/ 0 h 18"/>
                  <a:gd name="T14" fmla="*/ 448 w 497"/>
                  <a:gd name="T15" fmla="*/ 0 h 18"/>
                  <a:gd name="T16" fmla="*/ 466 w 497"/>
                  <a:gd name="T17" fmla="*/ 0 h 18"/>
                  <a:gd name="T18" fmla="*/ 473 w 497"/>
                  <a:gd name="T19" fmla="*/ 0 h 18"/>
                  <a:gd name="T20" fmla="*/ 481 w 497"/>
                  <a:gd name="T21" fmla="*/ 0 h 18"/>
                  <a:gd name="T22" fmla="*/ 488 w 497"/>
                  <a:gd name="T23" fmla="*/ 2 h 18"/>
                  <a:gd name="T24" fmla="*/ 493 w 497"/>
                  <a:gd name="T25" fmla="*/ 4 h 18"/>
                  <a:gd name="T26" fmla="*/ 495 w 497"/>
                  <a:gd name="T27" fmla="*/ 4 h 18"/>
                  <a:gd name="T28" fmla="*/ 497 w 497"/>
                  <a:gd name="T29" fmla="*/ 7 h 18"/>
                  <a:gd name="T30" fmla="*/ 493 w 497"/>
                  <a:gd name="T31" fmla="*/ 7 h 18"/>
                  <a:gd name="T32" fmla="*/ 490 w 497"/>
                  <a:gd name="T33" fmla="*/ 11 h 18"/>
                  <a:gd name="T34" fmla="*/ 450 w 497"/>
                  <a:gd name="T35" fmla="*/ 11 h 18"/>
                  <a:gd name="T36" fmla="*/ 411 w 497"/>
                  <a:gd name="T37" fmla="*/ 13 h 18"/>
                  <a:gd name="T38" fmla="*/ 368 w 497"/>
                  <a:gd name="T39" fmla="*/ 13 h 18"/>
                  <a:gd name="T40" fmla="*/ 329 w 497"/>
                  <a:gd name="T41" fmla="*/ 13 h 18"/>
                  <a:gd name="T42" fmla="*/ 284 w 497"/>
                  <a:gd name="T43" fmla="*/ 13 h 18"/>
                  <a:gd name="T44" fmla="*/ 242 w 497"/>
                  <a:gd name="T45" fmla="*/ 15 h 18"/>
                  <a:gd name="T46" fmla="*/ 198 w 497"/>
                  <a:gd name="T47" fmla="*/ 15 h 18"/>
                  <a:gd name="T48" fmla="*/ 158 w 497"/>
                  <a:gd name="T49" fmla="*/ 18 h 18"/>
                  <a:gd name="T50" fmla="*/ 142 w 497"/>
                  <a:gd name="T51" fmla="*/ 18 h 18"/>
                  <a:gd name="T52" fmla="*/ 125 w 497"/>
                  <a:gd name="T53" fmla="*/ 18 h 18"/>
                  <a:gd name="T54" fmla="*/ 107 w 497"/>
                  <a:gd name="T55" fmla="*/ 18 h 18"/>
                  <a:gd name="T56" fmla="*/ 89 w 497"/>
                  <a:gd name="T57" fmla="*/ 18 h 18"/>
                  <a:gd name="T58" fmla="*/ 69 w 497"/>
                  <a:gd name="T59" fmla="*/ 15 h 18"/>
                  <a:gd name="T60" fmla="*/ 51 w 497"/>
                  <a:gd name="T61" fmla="*/ 15 h 18"/>
                  <a:gd name="T62" fmla="*/ 36 w 497"/>
                  <a:gd name="T63" fmla="*/ 15 h 18"/>
                  <a:gd name="T64" fmla="*/ 23 w 497"/>
                  <a:gd name="T65" fmla="*/ 15 h 18"/>
                  <a:gd name="T66" fmla="*/ 14 w 497"/>
                  <a:gd name="T67" fmla="*/ 15 h 18"/>
                  <a:gd name="T68" fmla="*/ 7 w 497"/>
                  <a:gd name="T69" fmla="*/ 13 h 18"/>
                  <a:gd name="T70" fmla="*/ 3 w 497"/>
                  <a:gd name="T71" fmla="*/ 11 h 18"/>
                  <a:gd name="T72" fmla="*/ 0 w 497"/>
                  <a:gd name="T73" fmla="*/ 11 h 18"/>
                  <a:gd name="T74" fmla="*/ 0 w 497"/>
                  <a:gd name="T75" fmla="*/ 7 h 18"/>
                  <a:gd name="T76" fmla="*/ 3 w 497"/>
                  <a:gd name="T77" fmla="*/ 7 h 18"/>
                  <a:gd name="T78" fmla="*/ 5 w 497"/>
                  <a:gd name="T79" fmla="*/ 4 h 18"/>
                  <a:gd name="T80" fmla="*/ 12 w 497"/>
                  <a:gd name="T81" fmla="*/ 4 h 18"/>
                  <a:gd name="T82" fmla="*/ 32 w 497"/>
                  <a:gd name="T83" fmla="*/ 2 h 18"/>
                  <a:gd name="T84" fmla="*/ 56 w 497"/>
                  <a:gd name="T85" fmla="*/ 2 h 18"/>
                  <a:gd name="T86" fmla="*/ 80 w 497"/>
                  <a:gd name="T87" fmla="*/ 2 h 18"/>
                  <a:gd name="T88" fmla="*/ 107 w 497"/>
                  <a:gd name="T89" fmla="*/ 2 h 18"/>
                  <a:gd name="T90" fmla="*/ 133 w 497"/>
                  <a:gd name="T91" fmla="*/ 2 h 18"/>
                  <a:gd name="T92" fmla="*/ 158 w 497"/>
                  <a:gd name="T93" fmla="*/ 4 h 18"/>
                  <a:gd name="T94" fmla="*/ 180 w 497"/>
                  <a:gd name="T95" fmla="*/ 4 h 18"/>
                  <a:gd name="T96" fmla="*/ 198 w 497"/>
                  <a:gd name="T97" fmla="*/ 4 h 18"/>
                  <a:gd name="T98" fmla="*/ 213 w 497"/>
                  <a:gd name="T99" fmla="*/ 2 h 18"/>
                  <a:gd name="T100" fmla="*/ 229 w 497"/>
                  <a:gd name="T101" fmla="*/ 2 h 18"/>
                  <a:gd name="T102" fmla="*/ 242 w 497"/>
                  <a:gd name="T103" fmla="*/ 2 h 18"/>
                  <a:gd name="T104" fmla="*/ 258 w 497"/>
                  <a:gd name="T105" fmla="*/ 2 h 18"/>
                  <a:gd name="T106" fmla="*/ 271 w 497"/>
                  <a:gd name="T107" fmla="*/ 2 h 18"/>
                  <a:gd name="T108" fmla="*/ 284 w 497"/>
                  <a:gd name="T109" fmla="*/ 2 h 18"/>
                  <a:gd name="T110" fmla="*/ 298 w 497"/>
                  <a:gd name="T111" fmla="*/ 2 h 18"/>
                  <a:gd name="T112" fmla="*/ 311 w 497"/>
                  <a:gd name="T113" fmla="*/ 2 h 18"/>
                  <a:gd name="T114" fmla="*/ 311 w 497"/>
                  <a:gd name="T115" fmla="*/ 2 h 18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497"/>
                  <a:gd name="T175" fmla="*/ 0 h 18"/>
                  <a:gd name="T176" fmla="*/ 497 w 497"/>
                  <a:gd name="T177" fmla="*/ 18 h 18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497" h="18">
                    <a:moveTo>
                      <a:pt x="311" y="2"/>
                    </a:moveTo>
                    <a:lnTo>
                      <a:pt x="326" y="0"/>
                    </a:lnTo>
                    <a:lnTo>
                      <a:pt x="346" y="0"/>
                    </a:lnTo>
                    <a:lnTo>
                      <a:pt x="366" y="0"/>
                    </a:lnTo>
                    <a:lnTo>
                      <a:pt x="388" y="0"/>
                    </a:lnTo>
                    <a:lnTo>
                      <a:pt x="408" y="0"/>
                    </a:lnTo>
                    <a:lnTo>
                      <a:pt x="428" y="0"/>
                    </a:lnTo>
                    <a:lnTo>
                      <a:pt x="448" y="0"/>
                    </a:lnTo>
                    <a:lnTo>
                      <a:pt x="466" y="0"/>
                    </a:lnTo>
                    <a:lnTo>
                      <a:pt x="473" y="0"/>
                    </a:lnTo>
                    <a:lnTo>
                      <a:pt x="481" y="0"/>
                    </a:lnTo>
                    <a:lnTo>
                      <a:pt x="488" y="2"/>
                    </a:lnTo>
                    <a:lnTo>
                      <a:pt x="493" y="4"/>
                    </a:lnTo>
                    <a:lnTo>
                      <a:pt x="495" y="4"/>
                    </a:lnTo>
                    <a:lnTo>
                      <a:pt x="497" y="7"/>
                    </a:lnTo>
                    <a:lnTo>
                      <a:pt x="493" y="7"/>
                    </a:lnTo>
                    <a:lnTo>
                      <a:pt x="490" y="11"/>
                    </a:lnTo>
                    <a:lnTo>
                      <a:pt x="450" y="11"/>
                    </a:lnTo>
                    <a:lnTo>
                      <a:pt x="411" y="13"/>
                    </a:lnTo>
                    <a:lnTo>
                      <a:pt x="368" y="13"/>
                    </a:lnTo>
                    <a:lnTo>
                      <a:pt x="329" y="13"/>
                    </a:lnTo>
                    <a:lnTo>
                      <a:pt x="284" y="13"/>
                    </a:lnTo>
                    <a:lnTo>
                      <a:pt x="242" y="15"/>
                    </a:lnTo>
                    <a:lnTo>
                      <a:pt x="198" y="15"/>
                    </a:lnTo>
                    <a:lnTo>
                      <a:pt x="158" y="18"/>
                    </a:lnTo>
                    <a:lnTo>
                      <a:pt x="142" y="18"/>
                    </a:lnTo>
                    <a:lnTo>
                      <a:pt x="125" y="18"/>
                    </a:lnTo>
                    <a:lnTo>
                      <a:pt x="107" y="18"/>
                    </a:lnTo>
                    <a:lnTo>
                      <a:pt x="89" y="18"/>
                    </a:lnTo>
                    <a:lnTo>
                      <a:pt x="69" y="15"/>
                    </a:lnTo>
                    <a:lnTo>
                      <a:pt x="51" y="15"/>
                    </a:lnTo>
                    <a:lnTo>
                      <a:pt x="36" y="15"/>
                    </a:lnTo>
                    <a:lnTo>
                      <a:pt x="23" y="15"/>
                    </a:lnTo>
                    <a:lnTo>
                      <a:pt x="14" y="15"/>
                    </a:lnTo>
                    <a:lnTo>
                      <a:pt x="7" y="13"/>
                    </a:lnTo>
                    <a:lnTo>
                      <a:pt x="3" y="11"/>
                    </a:lnTo>
                    <a:lnTo>
                      <a:pt x="0" y="11"/>
                    </a:lnTo>
                    <a:lnTo>
                      <a:pt x="0" y="7"/>
                    </a:lnTo>
                    <a:lnTo>
                      <a:pt x="3" y="7"/>
                    </a:lnTo>
                    <a:lnTo>
                      <a:pt x="5" y="4"/>
                    </a:lnTo>
                    <a:lnTo>
                      <a:pt x="12" y="4"/>
                    </a:lnTo>
                    <a:lnTo>
                      <a:pt x="32" y="2"/>
                    </a:lnTo>
                    <a:lnTo>
                      <a:pt x="56" y="2"/>
                    </a:lnTo>
                    <a:lnTo>
                      <a:pt x="80" y="2"/>
                    </a:lnTo>
                    <a:lnTo>
                      <a:pt x="107" y="2"/>
                    </a:lnTo>
                    <a:lnTo>
                      <a:pt x="133" y="2"/>
                    </a:lnTo>
                    <a:lnTo>
                      <a:pt x="158" y="4"/>
                    </a:lnTo>
                    <a:lnTo>
                      <a:pt x="180" y="4"/>
                    </a:lnTo>
                    <a:lnTo>
                      <a:pt x="198" y="4"/>
                    </a:lnTo>
                    <a:lnTo>
                      <a:pt x="213" y="2"/>
                    </a:lnTo>
                    <a:lnTo>
                      <a:pt x="229" y="2"/>
                    </a:lnTo>
                    <a:lnTo>
                      <a:pt x="242" y="2"/>
                    </a:lnTo>
                    <a:lnTo>
                      <a:pt x="258" y="2"/>
                    </a:lnTo>
                    <a:lnTo>
                      <a:pt x="271" y="2"/>
                    </a:lnTo>
                    <a:lnTo>
                      <a:pt x="284" y="2"/>
                    </a:lnTo>
                    <a:lnTo>
                      <a:pt x="298" y="2"/>
                    </a:lnTo>
                    <a:lnTo>
                      <a:pt x="311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51" name="Freeform 53"/>
              <p:cNvSpPr>
                <a:spLocks/>
              </p:cNvSpPr>
              <p:nvPr/>
            </p:nvSpPr>
            <p:spPr bwMode="auto">
              <a:xfrm>
                <a:off x="2920" y="1788"/>
                <a:ext cx="243" cy="22"/>
              </a:xfrm>
              <a:custGeom>
                <a:avLst/>
                <a:gdLst>
                  <a:gd name="T0" fmla="*/ 188 w 243"/>
                  <a:gd name="T1" fmla="*/ 2 h 22"/>
                  <a:gd name="T2" fmla="*/ 192 w 243"/>
                  <a:gd name="T3" fmla="*/ 0 h 22"/>
                  <a:gd name="T4" fmla="*/ 199 w 243"/>
                  <a:gd name="T5" fmla="*/ 0 h 22"/>
                  <a:gd name="T6" fmla="*/ 206 w 243"/>
                  <a:gd name="T7" fmla="*/ 0 h 22"/>
                  <a:gd name="T8" fmla="*/ 212 w 243"/>
                  <a:gd name="T9" fmla="*/ 0 h 22"/>
                  <a:gd name="T10" fmla="*/ 221 w 243"/>
                  <a:gd name="T11" fmla="*/ 0 h 22"/>
                  <a:gd name="T12" fmla="*/ 228 w 243"/>
                  <a:gd name="T13" fmla="*/ 0 h 22"/>
                  <a:gd name="T14" fmla="*/ 232 w 243"/>
                  <a:gd name="T15" fmla="*/ 0 h 22"/>
                  <a:gd name="T16" fmla="*/ 239 w 243"/>
                  <a:gd name="T17" fmla="*/ 2 h 22"/>
                  <a:gd name="T18" fmla="*/ 243 w 243"/>
                  <a:gd name="T19" fmla="*/ 5 h 22"/>
                  <a:gd name="T20" fmla="*/ 239 w 243"/>
                  <a:gd name="T21" fmla="*/ 11 h 22"/>
                  <a:gd name="T22" fmla="*/ 230 w 243"/>
                  <a:gd name="T23" fmla="*/ 13 h 22"/>
                  <a:gd name="T24" fmla="*/ 219 w 243"/>
                  <a:gd name="T25" fmla="*/ 16 h 22"/>
                  <a:gd name="T26" fmla="*/ 208 w 243"/>
                  <a:gd name="T27" fmla="*/ 16 h 22"/>
                  <a:gd name="T28" fmla="*/ 197 w 243"/>
                  <a:gd name="T29" fmla="*/ 16 h 22"/>
                  <a:gd name="T30" fmla="*/ 186 w 243"/>
                  <a:gd name="T31" fmla="*/ 16 h 22"/>
                  <a:gd name="T32" fmla="*/ 175 w 243"/>
                  <a:gd name="T33" fmla="*/ 16 h 22"/>
                  <a:gd name="T34" fmla="*/ 164 w 243"/>
                  <a:gd name="T35" fmla="*/ 16 h 22"/>
                  <a:gd name="T36" fmla="*/ 152 w 243"/>
                  <a:gd name="T37" fmla="*/ 18 h 22"/>
                  <a:gd name="T38" fmla="*/ 135 w 243"/>
                  <a:gd name="T39" fmla="*/ 18 h 22"/>
                  <a:gd name="T40" fmla="*/ 117 w 243"/>
                  <a:gd name="T41" fmla="*/ 18 h 22"/>
                  <a:gd name="T42" fmla="*/ 99 w 243"/>
                  <a:gd name="T43" fmla="*/ 18 h 22"/>
                  <a:gd name="T44" fmla="*/ 82 w 243"/>
                  <a:gd name="T45" fmla="*/ 20 h 22"/>
                  <a:gd name="T46" fmla="*/ 62 w 243"/>
                  <a:gd name="T47" fmla="*/ 20 h 22"/>
                  <a:gd name="T48" fmla="*/ 44 w 243"/>
                  <a:gd name="T49" fmla="*/ 20 h 22"/>
                  <a:gd name="T50" fmla="*/ 26 w 243"/>
                  <a:gd name="T51" fmla="*/ 20 h 22"/>
                  <a:gd name="T52" fmla="*/ 8 w 243"/>
                  <a:gd name="T53" fmla="*/ 22 h 22"/>
                  <a:gd name="T54" fmla="*/ 2 w 243"/>
                  <a:gd name="T55" fmla="*/ 20 h 22"/>
                  <a:gd name="T56" fmla="*/ 0 w 243"/>
                  <a:gd name="T57" fmla="*/ 16 h 22"/>
                  <a:gd name="T58" fmla="*/ 0 w 243"/>
                  <a:gd name="T59" fmla="*/ 13 h 22"/>
                  <a:gd name="T60" fmla="*/ 6 w 243"/>
                  <a:gd name="T61" fmla="*/ 9 h 22"/>
                  <a:gd name="T62" fmla="*/ 15 w 243"/>
                  <a:gd name="T63" fmla="*/ 9 h 22"/>
                  <a:gd name="T64" fmla="*/ 28 w 243"/>
                  <a:gd name="T65" fmla="*/ 7 h 22"/>
                  <a:gd name="T66" fmla="*/ 37 w 243"/>
                  <a:gd name="T67" fmla="*/ 7 h 22"/>
                  <a:gd name="T68" fmla="*/ 48 w 243"/>
                  <a:gd name="T69" fmla="*/ 7 h 22"/>
                  <a:gd name="T70" fmla="*/ 59 w 243"/>
                  <a:gd name="T71" fmla="*/ 7 h 22"/>
                  <a:gd name="T72" fmla="*/ 70 w 243"/>
                  <a:gd name="T73" fmla="*/ 7 h 22"/>
                  <a:gd name="T74" fmla="*/ 82 w 243"/>
                  <a:gd name="T75" fmla="*/ 7 h 22"/>
                  <a:gd name="T76" fmla="*/ 95 w 243"/>
                  <a:gd name="T77" fmla="*/ 7 h 22"/>
                  <a:gd name="T78" fmla="*/ 106 w 243"/>
                  <a:gd name="T79" fmla="*/ 5 h 22"/>
                  <a:gd name="T80" fmla="*/ 117 w 243"/>
                  <a:gd name="T81" fmla="*/ 5 h 22"/>
                  <a:gd name="T82" fmla="*/ 128 w 243"/>
                  <a:gd name="T83" fmla="*/ 2 h 22"/>
                  <a:gd name="T84" fmla="*/ 141 w 243"/>
                  <a:gd name="T85" fmla="*/ 2 h 22"/>
                  <a:gd name="T86" fmla="*/ 152 w 243"/>
                  <a:gd name="T87" fmla="*/ 2 h 22"/>
                  <a:gd name="T88" fmla="*/ 164 w 243"/>
                  <a:gd name="T89" fmla="*/ 2 h 22"/>
                  <a:gd name="T90" fmla="*/ 175 w 243"/>
                  <a:gd name="T91" fmla="*/ 2 h 22"/>
                  <a:gd name="T92" fmla="*/ 188 w 243"/>
                  <a:gd name="T93" fmla="*/ 2 h 22"/>
                  <a:gd name="T94" fmla="*/ 188 w 243"/>
                  <a:gd name="T95" fmla="*/ 2 h 22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43"/>
                  <a:gd name="T145" fmla="*/ 0 h 22"/>
                  <a:gd name="T146" fmla="*/ 243 w 243"/>
                  <a:gd name="T147" fmla="*/ 22 h 22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43" h="22">
                    <a:moveTo>
                      <a:pt x="188" y="2"/>
                    </a:moveTo>
                    <a:lnTo>
                      <a:pt x="192" y="0"/>
                    </a:lnTo>
                    <a:lnTo>
                      <a:pt x="199" y="0"/>
                    </a:lnTo>
                    <a:lnTo>
                      <a:pt x="206" y="0"/>
                    </a:lnTo>
                    <a:lnTo>
                      <a:pt x="212" y="0"/>
                    </a:lnTo>
                    <a:lnTo>
                      <a:pt x="221" y="0"/>
                    </a:lnTo>
                    <a:lnTo>
                      <a:pt x="228" y="0"/>
                    </a:lnTo>
                    <a:lnTo>
                      <a:pt x="232" y="0"/>
                    </a:lnTo>
                    <a:lnTo>
                      <a:pt x="239" y="2"/>
                    </a:lnTo>
                    <a:lnTo>
                      <a:pt x="243" y="5"/>
                    </a:lnTo>
                    <a:lnTo>
                      <a:pt x="239" y="11"/>
                    </a:lnTo>
                    <a:lnTo>
                      <a:pt x="230" y="13"/>
                    </a:lnTo>
                    <a:lnTo>
                      <a:pt x="219" y="16"/>
                    </a:lnTo>
                    <a:lnTo>
                      <a:pt x="208" y="16"/>
                    </a:lnTo>
                    <a:lnTo>
                      <a:pt x="197" y="16"/>
                    </a:lnTo>
                    <a:lnTo>
                      <a:pt x="186" y="16"/>
                    </a:lnTo>
                    <a:lnTo>
                      <a:pt x="175" y="16"/>
                    </a:lnTo>
                    <a:lnTo>
                      <a:pt x="164" y="16"/>
                    </a:lnTo>
                    <a:lnTo>
                      <a:pt x="152" y="18"/>
                    </a:lnTo>
                    <a:lnTo>
                      <a:pt x="135" y="18"/>
                    </a:lnTo>
                    <a:lnTo>
                      <a:pt x="117" y="18"/>
                    </a:lnTo>
                    <a:lnTo>
                      <a:pt x="99" y="18"/>
                    </a:lnTo>
                    <a:lnTo>
                      <a:pt x="82" y="20"/>
                    </a:lnTo>
                    <a:lnTo>
                      <a:pt x="62" y="20"/>
                    </a:lnTo>
                    <a:lnTo>
                      <a:pt x="44" y="20"/>
                    </a:lnTo>
                    <a:lnTo>
                      <a:pt x="26" y="20"/>
                    </a:lnTo>
                    <a:lnTo>
                      <a:pt x="8" y="22"/>
                    </a:lnTo>
                    <a:lnTo>
                      <a:pt x="2" y="20"/>
                    </a:lnTo>
                    <a:lnTo>
                      <a:pt x="0" y="16"/>
                    </a:lnTo>
                    <a:lnTo>
                      <a:pt x="0" y="13"/>
                    </a:lnTo>
                    <a:lnTo>
                      <a:pt x="6" y="9"/>
                    </a:lnTo>
                    <a:lnTo>
                      <a:pt x="15" y="9"/>
                    </a:lnTo>
                    <a:lnTo>
                      <a:pt x="28" y="7"/>
                    </a:lnTo>
                    <a:lnTo>
                      <a:pt x="37" y="7"/>
                    </a:lnTo>
                    <a:lnTo>
                      <a:pt x="48" y="7"/>
                    </a:lnTo>
                    <a:lnTo>
                      <a:pt x="59" y="7"/>
                    </a:lnTo>
                    <a:lnTo>
                      <a:pt x="70" y="7"/>
                    </a:lnTo>
                    <a:lnTo>
                      <a:pt x="82" y="7"/>
                    </a:lnTo>
                    <a:lnTo>
                      <a:pt x="95" y="7"/>
                    </a:lnTo>
                    <a:lnTo>
                      <a:pt x="106" y="5"/>
                    </a:lnTo>
                    <a:lnTo>
                      <a:pt x="117" y="5"/>
                    </a:lnTo>
                    <a:lnTo>
                      <a:pt x="128" y="2"/>
                    </a:lnTo>
                    <a:lnTo>
                      <a:pt x="141" y="2"/>
                    </a:lnTo>
                    <a:lnTo>
                      <a:pt x="152" y="2"/>
                    </a:lnTo>
                    <a:lnTo>
                      <a:pt x="164" y="2"/>
                    </a:lnTo>
                    <a:lnTo>
                      <a:pt x="175" y="2"/>
                    </a:lnTo>
                    <a:lnTo>
                      <a:pt x="188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52" name="Freeform 54"/>
              <p:cNvSpPr>
                <a:spLocks/>
              </p:cNvSpPr>
              <p:nvPr/>
            </p:nvSpPr>
            <p:spPr bwMode="auto">
              <a:xfrm>
                <a:off x="2718" y="1799"/>
                <a:ext cx="151" cy="18"/>
              </a:xfrm>
              <a:custGeom>
                <a:avLst/>
                <a:gdLst>
                  <a:gd name="T0" fmla="*/ 42 w 151"/>
                  <a:gd name="T1" fmla="*/ 2 h 18"/>
                  <a:gd name="T2" fmla="*/ 53 w 151"/>
                  <a:gd name="T3" fmla="*/ 2 h 18"/>
                  <a:gd name="T4" fmla="*/ 64 w 151"/>
                  <a:gd name="T5" fmla="*/ 2 h 18"/>
                  <a:gd name="T6" fmla="*/ 77 w 151"/>
                  <a:gd name="T7" fmla="*/ 2 h 18"/>
                  <a:gd name="T8" fmla="*/ 93 w 151"/>
                  <a:gd name="T9" fmla="*/ 2 h 18"/>
                  <a:gd name="T10" fmla="*/ 106 w 151"/>
                  <a:gd name="T11" fmla="*/ 0 h 18"/>
                  <a:gd name="T12" fmla="*/ 120 w 151"/>
                  <a:gd name="T13" fmla="*/ 0 h 18"/>
                  <a:gd name="T14" fmla="*/ 133 w 151"/>
                  <a:gd name="T15" fmla="*/ 0 h 18"/>
                  <a:gd name="T16" fmla="*/ 144 w 151"/>
                  <a:gd name="T17" fmla="*/ 2 h 18"/>
                  <a:gd name="T18" fmla="*/ 148 w 151"/>
                  <a:gd name="T19" fmla="*/ 2 h 18"/>
                  <a:gd name="T20" fmla="*/ 151 w 151"/>
                  <a:gd name="T21" fmla="*/ 5 h 18"/>
                  <a:gd name="T22" fmla="*/ 148 w 151"/>
                  <a:gd name="T23" fmla="*/ 7 h 18"/>
                  <a:gd name="T24" fmla="*/ 146 w 151"/>
                  <a:gd name="T25" fmla="*/ 11 h 18"/>
                  <a:gd name="T26" fmla="*/ 128 w 151"/>
                  <a:gd name="T27" fmla="*/ 13 h 18"/>
                  <a:gd name="T28" fmla="*/ 111 w 151"/>
                  <a:gd name="T29" fmla="*/ 13 h 18"/>
                  <a:gd name="T30" fmla="*/ 93 w 151"/>
                  <a:gd name="T31" fmla="*/ 13 h 18"/>
                  <a:gd name="T32" fmla="*/ 75 w 151"/>
                  <a:gd name="T33" fmla="*/ 16 h 18"/>
                  <a:gd name="T34" fmla="*/ 57 w 151"/>
                  <a:gd name="T35" fmla="*/ 16 h 18"/>
                  <a:gd name="T36" fmla="*/ 40 w 151"/>
                  <a:gd name="T37" fmla="*/ 16 h 18"/>
                  <a:gd name="T38" fmla="*/ 22 w 151"/>
                  <a:gd name="T39" fmla="*/ 16 h 18"/>
                  <a:gd name="T40" fmla="*/ 6 w 151"/>
                  <a:gd name="T41" fmla="*/ 18 h 18"/>
                  <a:gd name="T42" fmla="*/ 0 w 151"/>
                  <a:gd name="T43" fmla="*/ 13 h 18"/>
                  <a:gd name="T44" fmla="*/ 0 w 151"/>
                  <a:gd name="T45" fmla="*/ 11 h 18"/>
                  <a:gd name="T46" fmla="*/ 0 w 151"/>
                  <a:gd name="T47" fmla="*/ 9 h 18"/>
                  <a:gd name="T48" fmla="*/ 2 w 151"/>
                  <a:gd name="T49" fmla="*/ 9 h 18"/>
                  <a:gd name="T50" fmla="*/ 4 w 151"/>
                  <a:gd name="T51" fmla="*/ 7 h 18"/>
                  <a:gd name="T52" fmla="*/ 9 w 151"/>
                  <a:gd name="T53" fmla="*/ 5 h 18"/>
                  <a:gd name="T54" fmla="*/ 15 w 151"/>
                  <a:gd name="T55" fmla="*/ 5 h 18"/>
                  <a:gd name="T56" fmla="*/ 22 w 151"/>
                  <a:gd name="T57" fmla="*/ 5 h 18"/>
                  <a:gd name="T58" fmla="*/ 29 w 151"/>
                  <a:gd name="T59" fmla="*/ 2 h 18"/>
                  <a:gd name="T60" fmla="*/ 33 w 151"/>
                  <a:gd name="T61" fmla="*/ 2 h 18"/>
                  <a:gd name="T62" fmla="*/ 38 w 151"/>
                  <a:gd name="T63" fmla="*/ 2 h 18"/>
                  <a:gd name="T64" fmla="*/ 42 w 151"/>
                  <a:gd name="T65" fmla="*/ 2 h 18"/>
                  <a:gd name="T66" fmla="*/ 42 w 151"/>
                  <a:gd name="T67" fmla="*/ 2 h 18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151"/>
                  <a:gd name="T103" fmla="*/ 0 h 18"/>
                  <a:gd name="T104" fmla="*/ 151 w 151"/>
                  <a:gd name="T105" fmla="*/ 18 h 18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151" h="18">
                    <a:moveTo>
                      <a:pt x="42" y="2"/>
                    </a:moveTo>
                    <a:lnTo>
                      <a:pt x="53" y="2"/>
                    </a:lnTo>
                    <a:lnTo>
                      <a:pt x="64" y="2"/>
                    </a:lnTo>
                    <a:lnTo>
                      <a:pt x="77" y="2"/>
                    </a:lnTo>
                    <a:lnTo>
                      <a:pt x="93" y="2"/>
                    </a:lnTo>
                    <a:lnTo>
                      <a:pt x="106" y="0"/>
                    </a:lnTo>
                    <a:lnTo>
                      <a:pt x="120" y="0"/>
                    </a:lnTo>
                    <a:lnTo>
                      <a:pt x="133" y="0"/>
                    </a:lnTo>
                    <a:lnTo>
                      <a:pt x="144" y="2"/>
                    </a:lnTo>
                    <a:lnTo>
                      <a:pt x="148" y="2"/>
                    </a:lnTo>
                    <a:lnTo>
                      <a:pt x="151" y="5"/>
                    </a:lnTo>
                    <a:lnTo>
                      <a:pt x="148" y="7"/>
                    </a:lnTo>
                    <a:lnTo>
                      <a:pt x="146" y="11"/>
                    </a:lnTo>
                    <a:lnTo>
                      <a:pt x="128" y="13"/>
                    </a:lnTo>
                    <a:lnTo>
                      <a:pt x="111" y="13"/>
                    </a:lnTo>
                    <a:lnTo>
                      <a:pt x="93" y="13"/>
                    </a:lnTo>
                    <a:lnTo>
                      <a:pt x="75" y="16"/>
                    </a:lnTo>
                    <a:lnTo>
                      <a:pt x="57" y="16"/>
                    </a:lnTo>
                    <a:lnTo>
                      <a:pt x="40" y="16"/>
                    </a:lnTo>
                    <a:lnTo>
                      <a:pt x="22" y="16"/>
                    </a:lnTo>
                    <a:lnTo>
                      <a:pt x="6" y="18"/>
                    </a:lnTo>
                    <a:lnTo>
                      <a:pt x="0" y="13"/>
                    </a:lnTo>
                    <a:lnTo>
                      <a:pt x="0" y="11"/>
                    </a:lnTo>
                    <a:lnTo>
                      <a:pt x="0" y="9"/>
                    </a:lnTo>
                    <a:lnTo>
                      <a:pt x="2" y="9"/>
                    </a:lnTo>
                    <a:lnTo>
                      <a:pt x="4" y="7"/>
                    </a:lnTo>
                    <a:lnTo>
                      <a:pt x="9" y="5"/>
                    </a:lnTo>
                    <a:lnTo>
                      <a:pt x="15" y="5"/>
                    </a:lnTo>
                    <a:lnTo>
                      <a:pt x="22" y="5"/>
                    </a:lnTo>
                    <a:lnTo>
                      <a:pt x="29" y="2"/>
                    </a:lnTo>
                    <a:lnTo>
                      <a:pt x="33" y="2"/>
                    </a:lnTo>
                    <a:lnTo>
                      <a:pt x="38" y="2"/>
                    </a:lnTo>
                    <a:lnTo>
                      <a:pt x="42" y="2"/>
                    </a:lnTo>
                    <a:close/>
                  </a:path>
                </a:pathLst>
              </a:custGeom>
              <a:solidFill>
                <a:srgbClr val="FFFF85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44471" name="Text Box 55"/>
          <p:cNvSpPr txBox="1">
            <a:spLocks noChangeArrowheads="1"/>
          </p:cNvSpPr>
          <p:nvPr/>
        </p:nvSpPr>
        <p:spPr bwMode="auto">
          <a:xfrm>
            <a:off x="649288" y="3287713"/>
            <a:ext cx="5068887" cy="279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buFontTx/>
              <a:buAutoNum type="alphaLcParenR"/>
              <a:defRPr/>
            </a:pPr>
            <a:r>
              <a:rPr lang="en-US" sz="2400" b="1"/>
              <a:t> </a:t>
            </a:r>
            <a:r>
              <a:rPr lang="en-US" sz="2400" b="1">
                <a:solidFill>
                  <a:schemeClr val="tx2"/>
                </a:solidFill>
              </a:rPr>
              <a:t>the Moon is very large</a:t>
            </a:r>
          </a:p>
          <a:p>
            <a:pPr marL="342900" indent="-342900">
              <a:buFontTx/>
              <a:buAutoNum type="alphaLcParenR"/>
              <a:defRPr/>
            </a:pPr>
            <a:r>
              <a:rPr lang="en-US" sz="2400" b="1">
                <a:solidFill>
                  <a:schemeClr val="tx2"/>
                </a:solidFill>
              </a:rPr>
              <a:t>atmospheric conditions are just right</a:t>
            </a:r>
          </a:p>
          <a:p>
            <a:pPr marL="342900" indent="-342900">
              <a:buFontTx/>
              <a:buAutoNum type="alphaLcParenR"/>
              <a:defRPr/>
            </a:pPr>
            <a:r>
              <a:rPr lang="en-US" sz="2400" b="1">
                <a:solidFill>
                  <a:schemeClr val="tx2"/>
                </a:solidFill>
              </a:rPr>
              <a:t>the ocean is calm</a:t>
            </a:r>
          </a:p>
          <a:p>
            <a:pPr marL="342900" indent="-342900">
              <a:buFontTx/>
              <a:buAutoNum type="alphaLcParenR"/>
              <a:defRPr/>
            </a:pPr>
            <a:r>
              <a:rPr lang="en-US" sz="2400" b="1">
                <a:solidFill>
                  <a:schemeClr val="tx2"/>
                </a:solidFill>
              </a:rPr>
              <a:t>the ocean is wavy</a:t>
            </a:r>
          </a:p>
          <a:p>
            <a:pPr marL="342900" indent="-342900">
              <a:buFontTx/>
              <a:buAutoNum type="alphaLcParenR"/>
              <a:defRPr/>
            </a:pPr>
            <a:r>
              <a:rPr lang="en-US" sz="2400" b="1">
                <a:solidFill>
                  <a:schemeClr val="tx2"/>
                </a:solidFill>
              </a:rPr>
              <a:t>motion of the Moon</a:t>
            </a:r>
            <a:endParaRPr lang="en-US" sz="24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400" b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223.13.10</a:t>
            </a:r>
          </a:p>
        </p:txBody>
      </p:sp>
      <p:sp>
        <p:nvSpPr>
          <p:cNvPr id="443395" name="Rectangle 3"/>
          <p:cNvSpPr>
            <a:spLocks noGrp="1" noChangeArrowheads="1"/>
          </p:cNvSpPr>
          <p:nvPr>
            <p:ph idx="1"/>
          </p:nvPr>
        </p:nvSpPr>
        <p:spPr>
          <a:xfrm>
            <a:off x="355600" y="1339850"/>
            <a:ext cx="4224338" cy="4525963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FontTx/>
              <a:buNone/>
              <a:defRPr/>
            </a:pPr>
            <a:r>
              <a:rPr lang="en-US" sz="2000" b="1">
                <a:effectLst>
                  <a:outerShdw blurRad="38100" dist="38100" dir="2700000" algn="tl">
                    <a:srgbClr val="C0C0C0"/>
                  </a:outerShdw>
                </a:effectLst>
              </a:rPr>
              <a:t>You hold a hand mirror </a:t>
            </a:r>
            <a:r>
              <a:rPr lang="en-US" sz="20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0.5 m</a:t>
            </a:r>
            <a:r>
              <a:rPr lang="en-US" sz="2000" b="1">
                <a:effectLst>
                  <a:outerShdw blurRad="38100" dist="38100" dir="2700000" algn="tl">
                    <a:srgbClr val="C0C0C0"/>
                  </a:outerShdw>
                </a:effectLst>
              </a:rPr>
              <a:t>   in front of you and look at your reflection in a full-length mirror </a:t>
            </a:r>
            <a:r>
              <a:rPr lang="en-US" sz="20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1 m</a:t>
            </a:r>
            <a:r>
              <a:rPr lang="en-US" sz="2000" b="1">
                <a:effectLst>
                  <a:outerShdw blurRad="38100" dist="38100" dir="2700000" algn="tl">
                    <a:srgbClr val="C0C0C0"/>
                  </a:outerShdw>
                </a:effectLst>
              </a:rPr>
              <a:t> behind you.    </a:t>
            </a:r>
            <a:r>
              <a:rPr lang="en-US" sz="20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How far in back of the big mirror do you see the image of your face?</a:t>
            </a:r>
            <a:r>
              <a:rPr lang="en-US" sz="2000" b="1"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</a:p>
          <a:p>
            <a:pPr eaLnBrk="1" hangingPunct="1">
              <a:lnSpc>
                <a:spcPct val="80000"/>
              </a:lnSpc>
              <a:defRPr/>
            </a:pPr>
            <a:endParaRPr lang="en-US" sz="2000" b="1">
              <a:solidFill>
                <a:schemeClr val="tx2"/>
              </a:solidFill>
            </a:endParaRPr>
          </a:p>
          <a:p>
            <a:pPr marL="762000" lvl="1" indent="-304800" eaLnBrk="1" hangingPunct="1">
              <a:lnSpc>
                <a:spcPct val="80000"/>
              </a:lnSpc>
              <a:buFontTx/>
              <a:buAutoNum type="alphaLcParenR"/>
              <a:defRPr/>
            </a:pPr>
            <a:r>
              <a:rPr lang="en-US" sz="2000" b="1">
                <a:solidFill>
                  <a:schemeClr val="tx2"/>
                </a:solidFill>
              </a:rPr>
              <a:t>0.5 m</a:t>
            </a:r>
          </a:p>
          <a:p>
            <a:pPr marL="762000" lvl="1" indent="-304800" eaLnBrk="1" hangingPunct="1">
              <a:lnSpc>
                <a:spcPct val="80000"/>
              </a:lnSpc>
              <a:buFontTx/>
              <a:buAutoNum type="alphaLcParenR"/>
              <a:defRPr/>
            </a:pPr>
            <a:r>
              <a:rPr lang="en-US" sz="2000" b="1">
                <a:solidFill>
                  <a:schemeClr val="tx2"/>
                </a:solidFill>
              </a:rPr>
              <a:t>1.0 m </a:t>
            </a:r>
          </a:p>
          <a:p>
            <a:pPr marL="762000" lvl="1" indent="-304800" eaLnBrk="1" hangingPunct="1">
              <a:lnSpc>
                <a:spcPct val="80000"/>
              </a:lnSpc>
              <a:buFontTx/>
              <a:buAutoNum type="alphaLcParenR"/>
              <a:defRPr/>
            </a:pPr>
            <a:r>
              <a:rPr lang="en-US" sz="2000" b="1">
                <a:solidFill>
                  <a:schemeClr val="tx2"/>
                </a:solidFill>
              </a:rPr>
              <a:t>1.5 m</a:t>
            </a:r>
          </a:p>
          <a:p>
            <a:pPr marL="762000" lvl="1" indent="-304800" eaLnBrk="1" hangingPunct="1">
              <a:lnSpc>
                <a:spcPct val="80000"/>
              </a:lnSpc>
              <a:buFontTx/>
              <a:buAutoNum type="alphaLcParenR"/>
              <a:defRPr/>
            </a:pPr>
            <a:r>
              <a:rPr lang="en-US" sz="2000" b="1">
                <a:solidFill>
                  <a:schemeClr val="tx2"/>
                </a:solidFill>
              </a:rPr>
              <a:t>2.0 m</a:t>
            </a:r>
          </a:p>
          <a:p>
            <a:pPr marL="762000" lvl="1" indent="-304800" eaLnBrk="1" hangingPunct="1">
              <a:lnSpc>
                <a:spcPct val="80000"/>
              </a:lnSpc>
              <a:buFontTx/>
              <a:buAutoNum type="alphaLcParenR"/>
              <a:defRPr/>
            </a:pPr>
            <a:r>
              <a:rPr lang="en-US" sz="2000" b="1">
                <a:solidFill>
                  <a:schemeClr val="tx2"/>
                </a:solidFill>
              </a:rPr>
              <a:t>2.5 m</a:t>
            </a:r>
            <a:endParaRPr lang="en-US" sz="20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80000"/>
              </a:lnSpc>
              <a:defRPr/>
            </a:pPr>
            <a:endParaRPr lang="en-US" sz="2400"/>
          </a:p>
        </p:txBody>
      </p:sp>
      <p:sp>
        <p:nvSpPr>
          <p:cNvPr id="122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A4EF262-061D-45F6-88C8-74DD670CA05D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981575" y="1423988"/>
            <a:ext cx="3541713" cy="2835275"/>
            <a:chOff x="1026" y="800"/>
            <a:chExt cx="2342" cy="1852"/>
          </a:xfrm>
        </p:grpSpPr>
        <p:graphicFrame>
          <p:nvGraphicFramePr>
            <p:cNvPr id="12290" name="Object 5"/>
            <p:cNvGraphicFramePr>
              <a:graphicFrameLocks noChangeAspect="1"/>
            </p:cNvGraphicFramePr>
            <p:nvPr/>
          </p:nvGraphicFramePr>
          <p:xfrm>
            <a:off x="1026" y="800"/>
            <a:ext cx="930" cy="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2" imgW="2287080" imgH="2021400" progId="">
                    <p:embed/>
                  </p:oleObj>
                </mc:Choice>
                <mc:Fallback>
                  <p:oleObj name="Clip" r:id="rId2" imgW="2287080" imgH="2021400" progId="">
                    <p:embed/>
                    <p:pic>
                      <p:nvPicPr>
                        <p:cNvPr id="12290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35461"/>
                        <a:stretch>
                          <a:fillRect/>
                        </a:stretch>
                      </p:blipFill>
                      <p:spPr bwMode="auto">
                        <a:xfrm>
                          <a:off x="1026" y="800"/>
                          <a:ext cx="930" cy="1850"/>
                        </a:xfrm>
                        <a:prstGeom prst="rect">
                          <a:avLst/>
                        </a:prstGeom>
                        <a:solidFill>
                          <a:schemeClr val="hlink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297" name="Rectangle 6"/>
            <p:cNvSpPr>
              <a:spLocks noChangeArrowheads="1"/>
            </p:cNvSpPr>
            <p:nvPr/>
          </p:nvSpPr>
          <p:spPr bwMode="auto">
            <a:xfrm>
              <a:off x="1934" y="801"/>
              <a:ext cx="1366" cy="1850"/>
            </a:xfrm>
            <a:prstGeom prst="rect">
              <a:avLst/>
            </a:prstGeom>
            <a:solidFill>
              <a:schemeClr val="hlink"/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graphicFrame>
          <p:nvGraphicFramePr>
            <p:cNvPr id="12291" name="Object 7"/>
            <p:cNvGraphicFramePr>
              <a:graphicFrameLocks noChangeAspect="1"/>
            </p:cNvGraphicFramePr>
            <p:nvPr/>
          </p:nvGraphicFramePr>
          <p:xfrm>
            <a:off x="2361" y="802"/>
            <a:ext cx="1007" cy="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4" imgW="1599480" imgH="2287080" progId="">
                    <p:embed/>
                  </p:oleObj>
                </mc:Choice>
                <mc:Fallback>
                  <p:oleObj name="Clip" r:id="rId4" imgW="1599480" imgH="2287080" progId="">
                    <p:embed/>
                    <p:pic>
                      <p:nvPicPr>
                        <p:cNvPr id="12291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61" y="802"/>
                          <a:ext cx="1007" cy="1850"/>
                        </a:xfrm>
                        <a:prstGeom prst="rect">
                          <a:avLst/>
                        </a:prstGeom>
                        <a:solidFill>
                          <a:schemeClr val="hlink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296" name="Text Box 8"/>
          <p:cNvSpPr txBox="1">
            <a:spLocks noChangeArrowheads="1"/>
          </p:cNvSpPr>
          <p:nvPr/>
        </p:nvSpPr>
        <p:spPr bwMode="auto">
          <a:xfrm>
            <a:off x="6483350" y="6146800"/>
            <a:ext cx="361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89554" cy="4525963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dirty="0"/>
              <a:t>The image of the man’s face in the small mirror will be half a meter away. How far away from the large mirror will the image of this image be?</a:t>
            </a:r>
          </a:p>
          <a:p>
            <a:pPr marL="514350" indent="-514350">
              <a:buAutoNum type="alphaLcParenR"/>
            </a:pPr>
            <a:r>
              <a:rPr lang="en-US" dirty="0"/>
              <a:t>Half a meter</a:t>
            </a:r>
          </a:p>
          <a:p>
            <a:pPr marL="514350" indent="-514350">
              <a:buAutoNum type="alphaLcParenR"/>
            </a:pPr>
            <a:r>
              <a:rPr lang="en-US" dirty="0"/>
              <a:t>A meter</a:t>
            </a:r>
          </a:p>
          <a:p>
            <a:pPr marL="514350" indent="-514350">
              <a:buAutoNum type="alphaLcParenR"/>
            </a:pPr>
            <a:r>
              <a:rPr lang="en-US" dirty="0"/>
              <a:t>1.5 meters</a:t>
            </a:r>
          </a:p>
          <a:p>
            <a:pPr marL="514350" indent="-514350">
              <a:buAutoNum type="alphaLcParenR"/>
            </a:pPr>
            <a:r>
              <a:rPr lang="en-US" dirty="0"/>
              <a:t>2 meters</a:t>
            </a:r>
          </a:p>
          <a:p>
            <a:pPr marL="514350" indent="-514350">
              <a:buAutoNum type="alphaLcParenR"/>
            </a:pPr>
            <a:r>
              <a:rPr lang="en-US" dirty="0"/>
              <a:t>What are you talking about?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  <p:pic>
        <p:nvPicPr>
          <p:cNvPr id="25180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0507" y="2113613"/>
            <a:ext cx="2827893" cy="28046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981200"/>
            <a:ext cx="6709035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35.3.8</a:t>
            </a:r>
          </a:p>
        </p:txBody>
      </p:sp>
      <p:sp>
        <p:nvSpPr>
          <p:cNvPr id="152580" name="Rectangle 3"/>
          <p:cNvSpPr>
            <a:spLocks noGrp="1" noChangeArrowheads="1"/>
          </p:cNvSpPr>
          <p:nvPr>
            <p:ph idx="1"/>
          </p:nvPr>
        </p:nvSpPr>
        <p:spPr>
          <a:xfrm>
            <a:off x="327025" y="1382713"/>
            <a:ext cx="4759325" cy="5003800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400"/>
              <a:t>I have light emitted from a point source as shown. What would the wave front’s look like?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Lines converging on the point source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Lines leaving the point source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Concentric circles centered on the point source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Concentric spheres centered on the point source</a:t>
            </a:r>
          </a:p>
        </p:txBody>
      </p:sp>
      <p:sp>
        <p:nvSpPr>
          <p:cNvPr id="152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33E467-9952-4AFC-98DB-4FDBDEECF295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52581" name="Oval 4"/>
          <p:cNvSpPr>
            <a:spLocks noChangeArrowheads="1"/>
          </p:cNvSpPr>
          <p:nvPr/>
        </p:nvSpPr>
        <p:spPr bwMode="auto">
          <a:xfrm>
            <a:off x="6951663" y="3395663"/>
            <a:ext cx="173037" cy="203200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5927725" y="2046288"/>
            <a:ext cx="2200275" cy="2967037"/>
            <a:chOff x="3734" y="1289"/>
            <a:chExt cx="1386" cy="1869"/>
          </a:xfrm>
        </p:grpSpPr>
        <p:sp>
          <p:nvSpPr>
            <p:cNvPr id="152598" name="Line 7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99" name="Line 5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 rot="1843958">
            <a:off x="5962650" y="2009775"/>
            <a:ext cx="2200275" cy="2967038"/>
            <a:chOff x="3734" y="1289"/>
            <a:chExt cx="1386" cy="1869"/>
          </a:xfrm>
        </p:grpSpPr>
        <p:sp>
          <p:nvSpPr>
            <p:cNvPr id="152596" name="Line 10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97" name="Line 11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 rot="4037769">
            <a:off x="5941219" y="2002632"/>
            <a:ext cx="2200275" cy="2967037"/>
            <a:chOff x="3734" y="1289"/>
            <a:chExt cx="1386" cy="1869"/>
          </a:xfrm>
        </p:grpSpPr>
        <p:sp>
          <p:nvSpPr>
            <p:cNvPr id="152594" name="Line 13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95" name="Line 14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15"/>
          <p:cNvGrpSpPr>
            <a:grpSpLocks/>
          </p:cNvGrpSpPr>
          <p:nvPr/>
        </p:nvGrpSpPr>
        <p:grpSpPr bwMode="auto">
          <a:xfrm rot="5400000">
            <a:off x="5950744" y="2028032"/>
            <a:ext cx="2200275" cy="2967037"/>
            <a:chOff x="3734" y="1289"/>
            <a:chExt cx="1386" cy="1869"/>
          </a:xfrm>
        </p:grpSpPr>
        <p:sp>
          <p:nvSpPr>
            <p:cNvPr id="152592" name="Line 16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93" name="Line 17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18"/>
          <p:cNvGrpSpPr>
            <a:grpSpLocks/>
          </p:cNvGrpSpPr>
          <p:nvPr/>
        </p:nvGrpSpPr>
        <p:grpSpPr bwMode="auto">
          <a:xfrm rot="9323548">
            <a:off x="5965825" y="2011363"/>
            <a:ext cx="2200275" cy="2967037"/>
            <a:chOff x="3734" y="1289"/>
            <a:chExt cx="1386" cy="1869"/>
          </a:xfrm>
        </p:grpSpPr>
        <p:sp>
          <p:nvSpPr>
            <p:cNvPr id="152590" name="Line 19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91" name="Line 20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1"/>
          <p:cNvGrpSpPr>
            <a:grpSpLocks/>
          </p:cNvGrpSpPr>
          <p:nvPr/>
        </p:nvGrpSpPr>
        <p:grpSpPr bwMode="auto">
          <a:xfrm rot="7229236">
            <a:off x="5926931" y="2002632"/>
            <a:ext cx="2200275" cy="2967038"/>
            <a:chOff x="3734" y="1289"/>
            <a:chExt cx="1386" cy="1869"/>
          </a:xfrm>
        </p:grpSpPr>
        <p:sp>
          <p:nvSpPr>
            <p:cNvPr id="152588" name="Line 22"/>
            <p:cNvSpPr>
              <a:spLocks noChangeShapeType="1"/>
            </p:cNvSpPr>
            <p:nvPr/>
          </p:nvSpPr>
          <p:spPr bwMode="auto">
            <a:xfrm rot="10800000" flipV="1">
              <a:off x="3734" y="2308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89" name="Line 23"/>
            <p:cNvSpPr>
              <a:spLocks noChangeShapeType="1"/>
            </p:cNvSpPr>
            <p:nvPr/>
          </p:nvSpPr>
          <p:spPr bwMode="auto">
            <a:xfrm flipV="1">
              <a:off x="4489" y="1289"/>
              <a:ext cx="631" cy="850"/>
            </a:xfrm>
            <a:prstGeom prst="line">
              <a:avLst/>
            </a:prstGeom>
            <a:noFill/>
            <a:ln w="38100">
              <a:solidFill>
                <a:srgbClr val="FF66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1148</TotalTime>
  <Words>1053</Words>
  <Application>Microsoft Office PowerPoint</Application>
  <PresentationFormat>On-screen Show (4:3)</PresentationFormat>
  <Paragraphs>178</Paragraphs>
  <Slides>44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Aptos</vt:lpstr>
      <vt:lpstr>Arial</vt:lpstr>
      <vt:lpstr>Calibri</vt:lpstr>
      <vt:lpstr>Symbol</vt:lpstr>
      <vt:lpstr>Times New Roman</vt:lpstr>
      <vt:lpstr>Office Theme</vt:lpstr>
      <vt:lpstr>Clip</vt:lpstr>
      <vt:lpstr>Lecture 13</vt:lpstr>
      <vt:lpstr>Question 223.13.0.6</vt:lpstr>
      <vt:lpstr>PowerPoint Presentation</vt:lpstr>
      <vt:lpstr>Question 223.13.0.5</vt:lpstr>
      <vt:lpstr>Question 223.13.0.7</vt:lpstr>
      <vt:lpstr>Question 223.13.1</vt:lpstr>
      <vt:lpstr>PowerPoint Presentation</vt:lpstr>
      <vt:lpstr>Question 223.13.1.5</vt:lpstr>
      <vt:lpstr>Question 223.13.2</vt:lpstr>
      <vt:lpstr>PowerPoint Presentation</vt:lpstr>
      <vt:lpstr>PowerPoint Presentation</vt:lpstr>
      <vt:lpstr>PowerPoint Presentation</vt:lpstr>
      <vt:lpstr>PowerPoint Presentation</vt:lpstr>
      <vt:lpstr>Question 123.13.3</vt:lpstr>
      <vt:lpstr>Question 223.13.4</vt:lpstr>
      <vt:lpstr>PowerPoint Presentation</vt:lpstr>
      <vt:lpstr>Question 9.1</vt:lpstr>
      <vt:lpstr>PowerPoint Presentation</vt:lpstr>
      <vt:lpstr>Question 223.13.5</vt:lpstr>
      <vt:lpstr>PowerPoint Presentation</vt:lpstr>
      <vt:lpstr>Question 35.3.6</vt:lpstr>
      <vt:lpstr>PowerPoint Presentation</vt:lpstr>
      <vt:lpstr>Question 9.2</vt:lpstr>
      <vt:lpstr>Question 223.13.6</vt:lpstr>
      <vt:lpstr>PowerPoint Presentation</vt:lpstr>
      <vt:lpstr>Retroreflection</vt:lpstr>
      <vt:lpstr>Retroreflection</vt:lpstr>
      <vt:lpstr>Question 223.13.7</vt:lpstr>
      <vt:lpstr>PowerPoint Presentation</vt:lpstr>
      <vt:lpstr>Retroreflectors</vt:lpstr>
      <vt:lpstr>Apollo Retro-reflectors</vt:lpstr>
      <vt:lpstr>Try it at Home</vt:lpstr>
      <vt:lpstr>Micro Mirror Arrays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223.13.9</vt:lpstr>
      <vt:lpstr>Question 223.13.10</vt:lpstr>
      <vt:lpstr>Question 223.13.11</vt:lpstr>
      <vt:lpstr>PowerPoint Presentation</vt:lpstr>
      <vt:lpstr>Question 35.3.8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10</cp:revision>
  <dcterms:created xsi:type="dcterms:W3CDTF">2011-10-01T16:15:59Z</dcterms:created>
  <dcterms:modified xsi:type="dcterms:W3CDTF">2025-12-01T23:53:29Z</dcterms:modified>
</cp:coreProperties>
</file>