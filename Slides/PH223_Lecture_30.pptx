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359" r:id="rId2"/>
    <p:sldId id="360" r:id="rId3"/>
    <p:sldId id="262" r:id="rId4"/>
    <p:sldId id="263" r:id="rId5"/>
    <p:sldId id="264" r:id="rId6"/>
    <p:sldId id="267" r:id="rId7"/>
    <p:sldId id="268" r:id="rId8"/>
    <p:sldId id="269" r:id="rId9"/>
    <p:sldId id="270" r:id="rId10"/>
    <p:sldId id="271" r:id="rId11"/>
    <p:sldId id="273" r:id="rId12"/>
    <p:sldId id="274" r:id="rId13"/>
    <p:sldId id="275" r:id="rId14"/>
    <p:sldId id="276" r:id="rId15"/>
    <p:sldId id="277" r:id="rId16"/>
    <p:sldId id="278" r:id="rId17"/>
    <p:sldId id="357" r:id="rId18"/>
    <p:sldId id="279" r:id="rId19"/>
    <p:sldId id="283" r:id="rId20"/>
    <p:sldId id="284" r:id="rId21"/>
    <p:sldId id="285" r:id="rId22"/>
    <p:sldId id="286" r:id="rId23"/>
    <p:sldId id="356" r:id="rId24"/>
    <p:sldId id="287" r:id="rId25"/>
    <p:sldId id="288" r:id="rId26"/>
    <p:sldId id="289" r:id="rId27"/>
    <p:sldId id="290" r:id="rId28"/>
    <p:sldId id="291" r:id="rId29"/>
    <p:sldId id="293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5" r:id="rId38"/>
    <p:sldId id="307" r:id="rId39"/>
    <p:sldId id="308" r:id="rId40"/>
    <p:sldId id="358" r:id="rId41"/>
    <p:sldId id="309" r:id="rId42"/>
    <p:sldId id="310" r:id="rId43"/>
    <p:sldId id="311" r:id="rId44"/>
    <p:sldId id="312" r:id="rId45"/>
    <p:sldId id="313" r:id="rId46"/>
    <p:sldId id="315" r:id="rId47"/>
    <p:sldId id="316" r:id="rId48"/>
    <p:sldId id="317" r:id="rId49"/>
    <p:sldId id="318" r:id="rId50"/>
    <p:sldId id="319" r:id="rId51"/>
    <p:sldId id="320" r:id="rId52"/>
    <p:sldId id="322" r:id="rId53"/>
    <p:sldId id="323" r:id="rId54"/>
    <p:sldId id="324" r:id="rId55"/>
    <p:sldId id="325" r:id="rId56"/>
    <p:sldId id="326" r:id="rId57"/>
    <p:sldId id="327" r:id="rId58"/>
    <p:sldId id="328" r:id="rId5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650E2B-AEEC-4870-B082-28407BEED874}" v="6" dt="2025-11-03T22:58:27.1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162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 sldOrd">
      <pc:chgData name="Lines, Todd" userId="afaf7c3a-e8aa-4568-882a-02ad8f9e19b0" providerId="ADAL" clId="{5FF5AC1B-ABA9-43D7-A1E3-2D92732CD6E2}" dt="2025-11-03T23:29:23.482" v="48"/>
      <pc:docMkLst>
        <pc:docMk/>
      </pc:docMkLst>
      <pc:sldChg chg="ord">
        <pc:chgData name="Lines, Todd" userId="afaf7c3a-e8aa-4568-882a-02ad8f9e19b0" providerId="ADAL" clId="{5FF5AC1B-ABA9-43D7-A1E3-2D92732CD6E2}" dt="2025-11-03T23:29:23.482" v="48"/>
        <pc:sldMkLst>
          <pc:docMk/>
          <pc:sldMk cId="2667725608" sldId="358"/>
        </pc:sldMkLst>
      </pc:sldChg>
      <pc:sldChg chg="new">
        <pc:chgData name="Lines, Todd" userId="afaf7c3a-e8aa-4568-882a-02ad8f9e19b0" providerId="ADAL" clId="{5FF5AC1B-ABA9-43D7-A1E3-2D92732CD6E2}" dt="2025-11-03T22:56:08.386" v="0" actId="680"/>
        <pc:sldMkLst>
          <pc:docMk/>
          <pc:sldMk cId="855751369" sldId="359"/>
        </pc:sldMkLst>
      </pc:sldChg>
      <pc:sldChg chg="addSp delSp modSp new mod">
        <pc:chgData name="Lines, Todd" userId="afaf7c3a-e8aa-4568-882a-02ad8f9e19b0" providerId="ADAL" clId="{5FF5AC1B-ABA9-43D7-A1E3-2D92732CD6E2}" dt="2025-11-03T22:58:31.053" v="44" actId="21"/>
        <pc:sldMkLst>
          <pc:docMk/>
          <pc:sldMk cId="3507693576" sldId="360"/>
        </pc:sldMkLst>
        <pc:spChg chg="del">
          <ac:chgData name="Lines, Todd" userId="afaf7c3a-e8aa-4568-882a-02ad8f9e19b0" providerId="ADAL" clId="{5FF5AC1B-ABA9-43D7-A1E3-2D92732CD6E2}" dt="2025-11-03T22:56:17.726" v="3" actId="478"/>
          <ac:spMkLst>
            <pc:docMk/>
            <pc:sldMk cId="3507693576" sldId="360"/>
            <ac:spMk id="2" creationId="{A388CD2B-DD9F-0896-8147-9EE183D384B5}"/>
          </ac:spMkLst>
        </pc:spChg>
        <pc:spChg chg="del">
          <ac:chgData name="Lines, Todd" userId="afaf7c3a-e8aa-4568-882a-02ad8f9e19b0" providerId="ADAL" clId="{5FF5AC1B-ABA9-43D7-A1E3-2D92732CD6E2}" dt="2025-11-03T22:56:16.205" v="2" actId="478"/>
          <ac:spMkLst>
            <pc:docMk/>
            <pc:sldMk cId="3507693576" sldId="360"/>
            <ac:spMk id="3" creationId="{01146FE4-77B5-E224-1B28-75080BD1B4DB}"/>
          </ac:spMkLst>
        </pc:spChg>
        <pc:spChg chg="add mod">
          <ac:chgData name="Lines, Todd" userId="afaf7c3a-e8aa-4568-882a-02ad8f9e19b0" providerId="ADAL" clId="{5FF5AC1B-ABA9-43D7-A1E3-2D92732CD6E2}" dt="2025-11-03T22:56:36.010" v="7" actId="1076"/>
          <ac:spMkLst>
            <pc:docMk/>
            <pc:sldMk cId="3507693576" sldId="360"/>
            <ac:spMk id="4" creationId="{F76F8A69-2AA7-5A92-A05B-1D25116098B4}"/>
          </ac:spMkLst>
        </pc:spChg>
        <pc:spChg chg="add mod">
          <ac:chgData name="Lines, Todd" userId="afaf7c3a-e8aa-4568-882a-02ad8f9e19b0" providerId="ADAL" clId="{5FF5AC1B-ABA9-43D7-A1E3-2D92732CD6E2}" dt="2025-11-03T22:57:56.449" v="30" actId="14100"/>
          <ac:spMkLst>
            <pc:docMk/>
            <pc:sldMk cId="3507693576" sldId="360"/>
            <ac:spMk id="11" creationId="{6522B437-74D0-4834-6F2F-0CEB62150E7B}"/>
          </ac:spMkLst>
        </pc:spChg>
        <pc:spChg chg="add mod">
          <ac:chgData name="Lines, Todd" userId="afaf7c3a-e8aa-4568-882a-02ad8f9e19b0" providerId="ADAL" clId="{5FF5AC1B-ABA9-43D7-A1E3-2D92732CD6E2}" dt="2025-11-03T22:58:04.686" v="36" actId="20577"/>
          <ac:spMkLst>
            <pc:docMk/>
            <pc:sldMk cId="3507693576" sldId="360"/>
            <ac:spMk id="12" creationId="{0833332C-830F-9644-1FDA-4ACC60BA79FC}"/>
          </ac:spMkLst>
        </pc:spChg>
        <pc:spChg chg="add mod">
          <ac:chgData name="Lines, Todd" userId="afaf7c3a-e8aa-4568-882a-02ad8f9e19b0" providerId="ADAL" clId="{5FF5AC1B-ABA9-43D7-A1E3-2D92732CD6E2}" dt="2025-11-03T22:58:17.968" v="42" actId="1076"/>
          <ac:spMkLst>
            <pc:docMk/>
            <pc:sldMk cId="3507693576" sldId="360"/>
            <ac:spMk id="13" creationId="{73C3557C-2797-69E8-AC1D-52F1B5789C22}"/>
          </ac:spMkLst>
        </pc:spChg>
        <pc:picChg chg="del mod">
          <ac:chgData name="Lines, Todd" userId="afaf7c3a-e8aa-4568-882a-02ad8f9e19b0" providerId="ADAL" clId="{5FF5AC1B-ABA9-43D7-A1E3-2D92732CD6E2}" dt="2025-11-03T22:58:31.053" v="44" actId="21"/>
          <ac:picMkLst>
            <pc:docMk/>
            <pc:sldMk cId="3507693576" sldId="360"/>
            <ac:picMk id="14" creationId="{F6E750F6-CB08-7296-C44E-E61736A5801D}"/>
          </ac:picMkLst>
        </pc:picChg>
        <pc:cxnChg chg="add mod">
          <ac:chgData name="Lines, Todd" userId="afaf7c3a-e8aa-4568-882a-02ad8f9e19b0" providerId="ADAL" clId="{5FF5AC1B-ABA9-43D7-A1E3-2D92732CD6E2}" dt="2025-11-03T22:56:54.124" v="10" actId="1582"/>
          <ac:cxnSpMkLst>
            <pc:docMk/>
            <pc:sldMk cId="3507693576" sldId="360"/>
            <ac:cxnSpMk id="6" creationId="{B742655D-2317-863D-6EDF-B40D409ADF2F}"/>
          </ac:cxnSpMkLst>
        </pc:cxnChg>
        <pc:cxnChg chg="add mod">
          <ac:chgData name="Lines, Todd" userId="afaf7c3a-e8aa-4568-882a-02ad8f9e19b0" providerId="ADAL" clId="{5FF5AC1B-ABA9-43D7-A1E3-2D92732CD6E2}" dt="2025-11-03T22:57:03.209" v="14" actId="1076"/>
          <ac:cxnSpMkLst>
            <pc:docMk/>
            <pc:sldMk cId="3507693576" sldId="360"/>
            <ac:cxnSpMk id="7" creationId="{16D63D60-38CE-15B2-51DC-FDE1B797305F}"/>
          </ac:cxnSpMkLst>
        </pc:cxnChg>
        <pc:cxnChg chg="add mod">
          <ac:chgData name="Lines, Todd" userId="afaf7c3a-e8aa-4568-882a-02ad8f9e19b0" providerId="ADAL" clId="{5FF5AC1B-ABA9-43D7-A1E3-2D92732CD6E2}" dt="2025-11-03T22:57:07.807" v="17" actId="14100"/>
          <ac:cxnSpMkLst>
            <pc:docMk/>
            <pc:sldMk cId="3507693576" sldId="360"/>
            <ac:cxnSpMk id="9" creationId="{79200F5E-40B1-4BF7-A0CF-63B0FA176C68}"/>
          </ac:cxnSpMkLst>
        </pc:cxnChg>
      </pc:sldChg>
    </pc:docChg>
  </pc:docChgLst>
  <pc:docChgLst>
    <pc:chgData name="Lines, Todd" userId="afaf7c3a-e8aa-4568-882a-02ad8f9e19b0" providerId="ADAL" clId="{1FFD5042-8472-4BDB-915E-92203ADD084A}"/>
    <pc:docChg chg="undo custSel addSld delSld modSld">
      <pc:chgData name="Lines, Todd" userId="afaf7c3a-e8aa-4568-882a-02ad8f9e19b0" providerId="ADAL" clId="{1FFD5042-8472-4BDB-915E-92203ADD084A}" dt="2024-09-13T21:57:33.922" v="788" actId="20577"/>
      <pc:docMkLst>
        <pc:docMk/>
      </pc:docMkLst>
      <pc:sldChg chg="modSp mod">
        <pc:chgData name="Lines, Todd" userId="afaf7c3a-e8aa-4568-882a-02ad8f9e19b0" providerId="ADAL" clId="{1FFD5042-8472-4BDB-915E-92203ADD084A}" dt="2024-09-13T21:45:26.350" v="1" actId="20577"/>
        <pc:sldMkLst>
          <pc:docMk/>
          <pc:sldMk cId="0" sldId="332"/>
        </pc:sldMkLst>
      </pc:sldChg>
      <pc:sldChg chg="addSp delSp modSp mod">
        <pc:chgData name="Lines, Todd" userId="afaf7c3a-e8aa-4568-882a-02ad8f9e19b0" providerId="ADAL" clId="{1FFD5042-8472-4BDB-915E-92203ADD084A}" dt="2024-09-13T21:54:43.928" v="495" actId="27636"/>
        <pc:sldMkLst>
          <pc:docMk/>
          <pc:sldMk cId="0" sldId="351"/>
        </pc:sldMkLst>
      </pc:sldChg>
      <pc:sldChg chg="modSp mod">
        <pc:chgData name="Lines, Todd" userId="afaf7c3a-e8aa-4568-882a-02ad8f9e19b0" providerId="ADAL" clId="{1FFD5042-8472-4BDB-915E-92203ADD084A}" dt="2024-09-13T21:47:27.391" v="153" actId="20577"/>
        <pc:sldMkLst>
          <pc:docMk/>
          <pc:sldMk cId="2141979314" sldId="364"/>
        </pc:sldMkLst>
      </pc:sldChg>
      <pc:sldChg chg="modSp mod">
        <pc:chgData name="Lines, Todd" userId="afaf7c3a-e8aa-4568-882a-02ad8f9e19b0" providerId="ADAL" clId="{1FFD5042-8472-4BDB-915E-92203ADD084A}" dt="2024-09-13T21:49:14.965" v="335" actId="6549"/>
        <pc:sldMkLst>
          <pc:docMk/>
          <pc:sldMk cId="2680912066" sldId="365"/>
        </pc:sldMkLst>
      </pc:sldChg>
      <pc:sldChg chg="modSp mod">
        <pc:chgData name="Lines, Todd" userId="afaf7c3a-e8aa-4568-882a-02ad8f9e19b0" providerId="ADAL" clId="{1FFD5042-8472-4BDB-915E-92203ADD084A}" dt="2024-09-13T21:50:41.411" v="368" actId="27636"/>
        <pc:sldMkLst>
          <pc:docMk/>
          <pc:sldMk cId="1435534423" sldId="366"/>
        </pc:sldMkLst>
      </pc:sldChg>
      <pc:sldChg chg="modSp mod">
        <pc:chgData name="Lines, Todd" userId="afaf7c3a-e8aa-4568-882a-02ad8f9e19b0" providerId="ADAL" clId="{1FFD5042-8472-4BDB-915E-92203ADD084A}" dt="2024-09-13T21:51:02.176" v="376" actId="20577"/>
        <pc:sldMkLst>
          <pc:docMk/>
          <pc:sldMk cId="3238540739" sldId="368"/>
        </pc:sldMkLst>
      </pc:sldChg>
      <pc:sldChg chg="modSp mod">
        <pc:chgData name="Lines, Todd" userId="afaf7c3a-e8aa-4568-882a-02ad8f9e19b0" providerId="ADAL" clId="{1FFD5042-8472-4BDB-915E-92203ADD084A}" dt="2024-09-13T21:48:40.431" v="262" actId="20577"/>
        <pc:sldMkLst>
          <pc:docMk/>
          <pc:sldMk cId="3826088753" sldId="369"/>
        </pc:sldMkLst>
      </pc:sldChg>
      <pc:sldChg chg="modSp add mod">
        <pc:chgData name="Lines, Todd" userId="afaf7c3a-e8aa-4568-882a-02ad8f9e19b0" providerId="ADAL" clId="{1FFD5042-8472-4BDB-915E-92203ADD084A}" dt="2024-09-13T21:56:48.187" v="656" actId="6549"/>
        <pc:sldMkLst>
          <pc:docMk/>
          <pc:sldMk cId="2391299464" sldId="370"/>
        </pc:sldMkLst>
      </pc:sldChg>
      <pc:sldChg chg="modSp new mod">
        <pc:chgData name="Lines, Todd" userId="afaf7c3a-e8aa-4568-882a-02ad8f9e19b0" providerId="ADAL" clId="{1FFD5042-8472-4BDB-915E-92203ADD084A}" dt="2024-09-13T21:57:33.922" v="788" actId="20577"/>
        <pc:sldMkLst>
          <pc:docMk/>
          <pc:sldMk cId="2022166924" sldId="371"/>
        </pc:sldMkLst>
      </pc:sldChg>
      <pc:sldChg chg="add del">
        <pc:chgData name="Lines, Todd" userId="afaf7c3a-e8aa-4568-882a-02ad8f9e19b0" providerId="ADAL" clId="{1FFD5042-8472-4BDB-915E-92203ADD084A}" dt="2024-09-13T21:56:16.824" v="599"/>
        <pc:sldMkLst>
          <pc:docMk/>
          <pc:sldMk cId="2233289800" sldId="371"/>
        </pc:sldMkLst>
      </pc:sldChg>
    </pc:docChg>
  </pc:docChgLst>
  <pc:docChgLst>
    <pc:chgData name="Lines, Todd" userId="afaf7c3a-e8aa-4568-882a-02ad8f9e19b0" providerId="ADAL" clId="{89B15692-A832-4558-926B-60EF3FA43441}"/>
    <pc:docChg chg="undo custSel delSld modSld">
      <pc:chgData name="Lines, Todd" userId="afaf7c3a-e8aa-4568-882a-02ad8f9e19b0" providerId="ADAL" clId="{89B15692-A832-4558-926B-60EF3FA43441}" dt="2024-01-08T15:47:03.785" v="225" actId="20577"/>
      <pc:docMkLst>
        <pc:docMk/>
      </pc:docMkLst>
      <pc:sldChg chg="modSp mod">
        <pc:chgData name="Lines, Todd" userId="afaf7c3a-e8aa-4568-882a-02ad8f9e19b0" providerId="ADAL" clId="{89B15692-A832-4558-926B-60EF3FA43441}" dt="2024-01-06T00:36:45.338" v="22" actId="6549"/>
        <pc:sldMkLst>
          <pc:docMk/>
          <pc:sldMk cId="0" sldId="262"/>
        </pc:sldMkLst>
      </pc:sldChg>
      <pc:sldChg chg="modSp mod">
        <pc:chgData name="Lines, Todd" userId="afaf7c3a-e8aa-4568-882a-02ad8f9e19b0" providerId="ADAL" clId="{89B15692-A832-4558-926B-60EF3FA43441}" dt="2024-01-06T00:41:03.508" v="34" actId="207"/>
        <pc:sldMkLst>
          <pc:docMk/>
          <pc:sldMk cId="0" sldId="276"/>
        </pc:sldMkLst>
      </pc:sldChg>
      <pc:sldChg chg="addSp modSp mod">
        <pc:chgData name="Lines, Todd" userId="afaf7c3a-e8aa-4568-882a-02ad8f9e19b0" providerId="ADAL" clId="{89B15692-A832-4558-926B-60EF3FA43441}" dt="2024-01-06T00:41:58.099" v="41" actId="20577"/>
        <pc:sldMkLst>
          <pc:docMk/>
          <pc:sldMk cId="0" sldId="278"/>
        </pc:sldMkLst>
      </pc:sldChg>
      <pc:sldChg chg="addSp delSp modSp mod">
        <pc:chgData name="Lines, Todd" userId="afaf7c3a-e8aa-4568-882a-02ad8f9e19b0" providerId="ADAL" clId="{89B15692-A832-4558-926B-60EF3FA43441}" dt="2024-01-07T00:10:46.298" v="180" actId="404"/>
        <pc:sldMkLst>
          <pc:docMk/>
          <pc:sldMk cId="0" sldId="279"/>
        </pc:sldMkLst>
      </pc:sldChg>
      <pc:sldChg chg="modSp mod">
        <pc:chgData name="Lines, Todd" userId="afaf7c3a-e8aa-4568-882a-02ad8f9e19b0" providerId="ADAL" clId="{89B15692-A832-4558-926B-60EF3FA43441}" dt="2024-01-07T00:01:18.969" v="168" actId="20577"/>
        <pc:sldMkLst>
          <pc:docMk/>
          <pc:sldMk cId="0" sldId="332"/>
        </pc:sldMkLst>
      </pc:sldChg>
      <pc:sldChg chg="del">
        <pc:chgData name="Lines, Todd" userId="afaf7c3a-e8aa-4568-882a-02ad8f9e19b0" providerId="ADAL" clId="{89B15692-A832-4558-926B-60EF3FA43441}" dt="2024-01-06T00:50:14.954" v="166" actId="47"/>
        <pc:sldMkLst>
          <pc:docMk/>
          <pc:sldMk cId="3997702161" sldId="355"/>
        </pc:sldMkLst>
      </pc:sldChg>
      <pc:sldChg chg="addSp delSp modSp mod">
        <pc:chgData name="Lines, Todd" userId="afaf7c3a-e8aa-4568-882a-02ad8f9e19b0" providerId="ADAL" clId="{89B15692-A832-4558-926B-60EF3FA43441}" dt="2024-01-06T00:48:31.121" v="156" actId="1038"/>
        <pc:sldMkLst>
          <pc:docMk/>
          <pc:sldMk cId="4098775423" sldId="357"/>
        </pc:sldMkLst>
      </pc:sldChg>
      <pc:sldChg chg="del">
        <pc:chgData name="Lines, Todd" userId="afaf7c3a-e8aa-4568-882a-02ad8f9e19b0" providerId="ADAL" clId="{89B15692-A832-4558-926B-60EF3FA43441}" dt="2024-01-06T00:50:13.060" v="165" actId="47"/>
        <pc:sldMkLst>
          <pc:docMk/>
          <pc:sldMk cId="2120955071" sldId="358"/>
        </pc:sldMkLst>
      </pc:sldChg>
      <pc:sldChg chg="modSp mod">
        <pc:chgData name="Lines, Todd" userId="afaf7c3a-e8aa-4568-882a-02ad8f9e19b0" providerId="ADAL" clId="{89B15692-A832-4558-926B-60EF3FA43441}" dt="2024-01-08T15:47:03.785" v="225" actId="20577"/>
        <pc:sldMkLst>
          <pc:docMk/>
          <pc:sldMk cId="3826088753" sldId="369"/>
        </pc:sldMkLst>
      </pc:sldChg>
    </pc:docChg>
  </pc:docChgLst>
  <pc:docChgLst>
    <pc:chgData name="Lines, Todd" userId="afaf7c3a-e8aa-4568-882a-02ad8f9e19b0" providerId="ADAL" clId="{9F68C330-569B-4B54-A19C-BC8E87A959DB}"/>
    <pc:docChg chg="custSel addSld delSld modSld">
      <pc:chgData name="Lines, Todd" userId="afaf7c3a-e8aa-4568-882a-02ad8f9e19b0" providerId="ADAL" clId="{9F68C330-569B-4B54-A19C-BC8E87A959DB}" dt="2025-09-03T20:42:08.466" v="5" actId="20577"/>
      <pc:docMkLst>
        <pc:docMk/>
      </pc:docMkLst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29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32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38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39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0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1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2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3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4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5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6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7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8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49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50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51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52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53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0" sldId="354"/>
        </pc:sldMkLst>
      </pc:sldChg>
      <pc:sldChg chg="addSp delSp modSp new mod modClrScheme chgLayout">
        <pc:chgData name="Lines, Todd" userId="afaf7c3a-e8aa-4568-882a-02ad8f9e19b0" providerId="ADAL" clId="{9F68C330-569B-4B54-A19C-BC8E87A959DB}" dt="2025-09-03T20:42:08.466" v="5" actId="20577"/>
        <pc:sldMkLst>
          <pc:docMk/>
          <pc:sldMk cId="2667725608" sldId="358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2141979314" sldId="364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2680912066" sldId="365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1435534423" sldId="366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451192393" sldId="367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3238540739" sldId="368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3826088753" sldId="369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2391299464" sldId="370"/>
        </pc:sldMkLst>
      </pc:sldChg>
      <pc:sldChg chg="del">
        <pc:chgData name="Lines, Todd" userId="afaf7c3a-e8aa-4568-882a-02ad8f9e19b0" providerId="ADAL" clId="{9F68C330-569B-4B54-A19C-BC8E87A959DB}" dt="2025-09-03T19:59:25.467" v="0" actId="2696"/>
        <pc:sldMkLst>
          <pc:docMk/>
          <pc:sldMk cId="2022166924" sldId="371"/>
        </pc:sldMkLst>
      </pc:sldChg>
      <pc:sldMasterChg chg="delSldLayout">
        <pc:chgData name="Lines, Todd" userId="afaf7c3a-e8aa-4568-882a-02ad8f9e19b0" providerId="ADAL" clId="{9F68C330-569B-4B54-A19C-BC8E87A959DB}" dt="2025-09-03T19:59:25.467" v="0" actId="2696"/>
        <pc:sldMasterMkLst>
          <pc:docMk/>
          <pc:sldMasterMk cId="0" sldId="2147483648"/>
        </pc:sldMasterMkLst>
        <pc:sldLayoutChg chg="del">
          <pc:chgData name="Lines, Todd" userId="afaf7c3a-e8aa-4568-882a-02ad8f9e19b0" providerId="ADAL" clId="{9F68C330-569B-4B54-A19C-BC8E87A959DB}" dt="2025-09-03T19:59:25.467" v="0" actId="2696"/>
          <pc:sldLayoutMkLst>
            <pc:docMk/>
            <pc:sldMasterMk cId="0" sldId="2147483648"/>
            <pc:sldLayoutMk cId="0" sldId="2147483661"/>
          </pc:sldLayoutMkLst>
        </pc:sldLayoutChg>
      </pc:sldMasterChg>
    </pc:docChg>
  </pc:docChgLst>
  <pc:docChgLst>
    <pc:chgData name="Lines, Todd" userId="afaf7c3a-e8aa-4568-882a-02ad8f9e19b0" providerId="ADAL" clId="{6EC417CA-3B91-4A77-8C5C-53CC4F2E6BD5}"/>
    <pc:docChg chg="undo custSel modSld">
      <pc:chgData name="Lines, Todd" userId="afaf7c3a-e8aa-4568-882a-02ad8f9e19b0" providerId="ADAL" clId="{6EC417CA-3B91-4A77-8C5C-53CC4F2E6BD5}" dt="2023-09-11T14:37:04.222" v="1132" actId="20577"/>
      <pc:docMkLst>
        <pc:docMk/>
      </pc:docMkLst>
      <pc:sldChg chg="addSp delSp modSp mod">
        <pc:chgData name="Lines, Todd" userId="afaf7c3a-e8aa-4568-882a-02ad8f9e19b0" providerId="ADAL" clId="{6EC417CA-3B91-4A77-8C5C-53CC4F2E6BD5}" dt="2023-09-10T01:32:07.449" v="154" actId="20577"/>
        <pc:sldMkLst>
          <pc:docMk/>
          <pc:sldMk cId="0" sldId="348"/>
        </pc:sldMkLst>
      </pc:sldChg>
      <pc:sldChg chg="modSp mod">
        <pc:chgData name="Lines, Todd" userId="afaf7c3a-e8aa-4568-882a-02ad8f9e19b0" providerId="ADAL" clId="{6EC417CA-3B91-4A77-8C5C-53CC4F2E6BD5}" dt="2023-09-10T01:33:59.978" v="249" actId="20577"/>
        <pc:sldMkLst>
          <pc:docMk/>
          <pc:sldMk cId="0" sldId="350"/>
        </pc:sldMkLst>
      </pc:sldChg>
      <pc:sldChg chg="modSp mod">
        <pc:chgData name="Lines, Todd" userId="afaf7c3a-e8aa-4568-882a-02ad8f9e19b0" providerId="ADAL" clId="{6EC417CA-3B91-4A77-8C5C-53CC4F2E6BD5}" dt="2023-09-10T01:36:29.796" v="551" actId="20577"/>
        <pc:sldMkLst>
          <pc:docMk/>
          <pc:sldMk cId="0" sldId="351"/>
        </pc:sldMkLst>
      </pc:sldChg>
      <pc:sldChg chg="delSp modSp mod">
        <pc:chgData name="Lines, Todd" userId="afaf7c3a-e8aa-4568-882a-02ad8f9e19b0" providerId="ADAL" clId="{6EC417CA-3B91-4A77-8C5C-53CC4F2E6BD5}" dt="2023-09-10T01:37:00.383" v="591" actId="6549"/>
        <pc:sldMkLst>
          <pc:docMk/>
          <pc:sldMk cId="0" sldId="352"/>
        </pc:sldMkLst>
      </pc:sldChg>
      <pc:sldChg chg="modSp mod">
        <pc:chgData name="Lines, Todd" userId="afaf7c3a-e8aa-4568-882a-02ad8f9e19b0" providerId="ADAL" clId="{6EC417CA-3B91-4A77-8C5C-53CC4F2E6BD5}" dt="2023-09-10T01:38:05.996" v="674" actId="20577"/>
        <pc:sldMkLst>
          <pc:docMk/>
          <pc:sldMk cId="0" sldId="354"/>
        </pc:sldMkLst>
      </pc:sldChg>
      <pc:sldChg chg="modSp mod">
        <pc:chgData name="Lines, Todd" userId="afaf7c3a-e8aa-4568-882a-02ad8f9e19b0" providerId="ADAL" clId="{6EC417CA-3B91-4A77-8C5C-53CC4F2E6BD5}" dt="2023-09-11T14:33:21.458" v="676" actId="6549"/>
        <pc:sldMkLst>
          <pc:docMk/>
          <pc:sldMk cId="2141979314" sldId="364"/>
        </pc:sldMkLst>
      </pc:sldChg>
      <pc:sldChg chg="modSp mod">
        <pc:chgData name="Lines, Todd" userId="afaf7c3a-e8aa-4568-882a-02ad8f9e19b0" providerId="ADAL" clId="{6EC417CA-3B91-4A77-8C5C-53CC4F2E6BD5}" dt="2023-09-11T14:36:45.357" v="1130" actId="20577"/>
        <pc:sldMkLst>
          <pc:docMk/>
          <pc:sldMk cId="1435534423" sldId="366"/>
        </pc:sldMkLst>
      </pc:sldChg>
      <pc:sldChg chg="modSp mod">
        <pc:chgData name="Lines, Todd" userId="afaf7c3a-e8aa-4568-882a-02ad8f9e19b0" providerId="ADAL" clId="{6EC417CA-3B91-4A77-8C5C-53CC4F2E6BD5}" dt="2023-09-10T01:29:30.610" v="109" actId="20577"/>
        <pc:sldMkLst>
          <pc:docMk/>
          <pc:sldMk cId="451192393" sldId="367"/>
        </pc:sldMkLst>
      </pc:sldChg>
      <pc:sldChg chg="modSp mod">
        <pc:chgData name="Lines, Todd" userId="afaf7c3a-e8aa-4568-882a-02ad8f9e19b0" providerId="ADAL" clId="{6EC417CA-3B91-4A77-8C5C-53CC4F2E6BD5}" dt="2023-09-11T14:37:04.222" v="1132" actId="20577"/>
        <pc:sldMkLst>
          <pc:docMk/>
          <pc:sldMk cId="3238540739" sldId="368"/>
        </pc:sldMkLst>
      </pc:sldChg>
      <pc:sldChg chg="modSp mod">
        <pc:chgData name="Lines, Todd" userId="afaf7c3a-e8aa-4568-882a-02ad8f9e19b0" providerId="ADAL" clId="{6EC417CA-3B91-4A77-8C5C-53CC4F2E6BD5}" dt="2023-09-11T14:34:55.736" v="734" actId="313"/>
        <pc:sldMkLst>
          <pc:docMk/>
          <pc:sldMk cId="3826088753" sldId="3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2E0667-B353-4911-B6B7-88BDF3625004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4E0FEC-2515-46F5-8562-C0979B08893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12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Winter 2007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5BFA3393-22F9-43A5-93AA-4A9D41FA319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220B1-6818-403E-9B7C-62693A17AC7E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5D42E4-B3B8-4835-97A3-1DE7C19D62C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7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2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image" Target="../media/image10.wmf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0.bin"/><Relationship Id="rId17" Type="http://schemas.openxmlformats.org/officeDocument/2006/relationships/image" Target="../media/image12.wmf"/><Relationship Id="rId2" Type="http://schemas.openxmlformats.org/officeDocument/2006/relationships/oleObject" Target="../embeddings/oleObject5.bin"/><Relationship Id="rId16" Type="http://schemas.openxmlformats.org/officeDocument/2006/relationships/oleObject" Target="../embeddings/oleObject1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7.bin"/><Relationship Id="rId11" Type="http://schemas.openxmlformats.org/officeDocument/2006/relationships/image" Target="../media/image9.wmf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6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1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17.wmf"/><Relationship Id="rId5" Type="http://schemas.openxmlformats.org/officeDocument/2006/relationships/image" Target="../media/image14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16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7" Type="http://schemas.openxmlformats.org/officeDocument/2006/relationships/image" Target="../media/image19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1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7" Type="http://schemas.openxmlformats.org/officeDocument/2006/relationships/image" Target="../media/image21.wmf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22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oleObject" Target="../embeddings/oleObject2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image" Target="../media/image23.wmf"/><Relationship Id="rId4" Type="http://schemas.openxmlformats.org/officeDocument/2006/relationships/oleObject" Target="../embeddings/oleObject25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wmf"/><Relationship Id="rId5" Type="http://schemas.openxmlformats.org/officeDocument/2006/relationships/oleObject" Target="../embeddings/oleObject27.bin"/><Relationship Id="rId4" Type="http://schemas.openxmlformats.org/officeDocument/2006/relationships/image" Target="../media/image26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0.bin"/><Relationship Id="rId11" Type="http://schemas.openxmlformats.org/officeDocument/2006/relationships/image" Target="../media/image32.wmf"/><Relationship Id="rId5" Type="http://schemas.openxmlformats.org/officeDocument/2006/relationships/image" Target="../media/image29.wmf"/><Relationship Id="rId10" Type="http://schemas.openxmlformats.org/officeDocument/2006/relationships/oleObject" Target="../embeddings/oleObject32.bin"/><Relationship Id="rId4" Type="http://schemas.openxmlformats.org/officeDocument/2006/relationships/oleObject" Target="../embeddings/oleObject29.bin"/><Relationship Id="rId9" Type="http://schemas.openxmlformats.org/officeDocument/2006/relationships/image" Target="../media/image31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wmf"/><Relationship Id="rId3" Type="http://schemas.openxmlformats.org/officeDocument/2006/relationships/image" Target="../media/image35.wmf"/><Relationship Id="rId7" Type="http://schemas.openxmlformats.org/officeDocument/2006/relationships/image" Target="../media/image38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wmf"/><Relationship Id="rId5" Type="http://schemas.openxmlformats.org/officeDocument/2006/relationships/image" Target="../media/image36.wmf"/><Relationship Id="rId10" Type="http://schemas.openxmlformats.org/officeDocument/2006/relationships/image" Target="../media/image40.wmf"/><Relationship Id="rId4" Type="http://schemas.openxmlformats.org/officeDocument/2006/relationships/oleObject" Target="../embeddings/oleObject35.bin"/><Relationship Id="rId9" Type="http://schemas.openxmlformats.org/officeDocument/2006/relationships/oleObject" Target="../embeddings/oleObject36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wmf"/><Relationship Id="rId13" Type="http://schemas.openxmlformats.org/officeDocument/2006/relationships/oleObject" Target="../embeddings/oleObject42.bin"/><Relationship Id="rId3" Type="http://schemas.openxmlformats.org/officeDocument/2006/relationships/image" Target="../media/image41.wmf"/><Relationship Id="rId7" Type="http://schemas.openxmlformats.org/officeDocument/2006/relationships/oleObject" Target="../embeddings/oleObject39.bin"/><Relationship Id="rId12" Type="http://schemas.openxmlformats.org/officeDocument/2006/relationships/image" Target="../media/image45.wmf"/><Relationship Id="rId17" Type="http://schemas.openxmlformats.org/officeDocument/2006/relationships/image" Target="../media/image47.wmf"/><Relationship Id="rId2" Type="http://schemas.openxmlformats.org/officeDocument/2006/relationships/oleObject" Target="../embeddings/oleObject37.bin"/><Relationship Id="rId16" Type="http://schemas.openxmlformats.org/officeDocument/2006/relationships/oleObject" Target="../embeddings/oleObject43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wmf"/><Relationship Id="rId11" Type="http://schemas.openxmlformats.org/officeDocument/2006/relationships/oleObject" Target="../embeddings/oleObject41.bin"/><Relationship Id="rId5" Type="http://schemas.openxmlformats.org/officeDocument/2006/relationships/oleObject" Target="../embeddings/oleObject38.bin"/><Relationship Id="rId15" Type="http://schemas.openxmlformats.org/officeDocument/2006/relationships/image" Target="../media/image56.png"/><Relationship Id="rId10" Type="http://schemas.openxmlformats.org/officeDocument/2006/relationships/image" Target="../media/image44.wmf"/><Relationship Id="rId4" Type="http://schemas.openxmlformats.org/officeDocument/2006/relationships/image" Target="../media/image51.png"/><Relationship Id="rId9" Type="http://schemas.openxmlformats.org/officeDocument/2006/relationships/oleObject" Target="../embeddings/oleObject40.bin"/><Relationship Id="rId14" Type="http://schemas.openxmlformats.org/officeDocument/2006/relationships/image" Target="../media/image46.w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13" Type="http://schemas.openxmlformats.org/officeDocument/2006/relationships/image" Target="../media/image51.wmf"/><Relationship Id="rId3" Type="http://schemas.openxmlformats.org/officeDocument/2006/relationships/image" Target="../media/image48.wmf"/><Relationship Id="rId7" Type="http://schemas.openxmlformats.org/officeDocument/2006/relationships/image" Target="../media/image16.wmf"/><Relationship Id="rId12" Type="http://schemas.openxmlformats.org/officeDocument/2006/relationships/oleObject" Target="../embeddings/oleObject49.bin"/><Relationship Id="rId17" Type="http://schemas.openxmlformats.org/officeDocument/2006/relationships/image" Target="../media/image35.wmf"/><Relationship Id="rId2" Type="http://schemas.openxmlformats.org/officeDocument/2006/relationships/oleObject" Target="../embeddings/oleObject44.bin"/><Relationship Id="rId16" Type="http://schemas.openxmlformats.org/officeDocument/2006/relationships/oleObject" Target="../embeddings/oleObject51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50.wmf"/><Relationship Id="rId5" Type="http://schemas.openxmlformats.org/officeDocument/2006/relationships/image" Target="../media/image17.wmf"/><Relationship Id="rId15" Type="http://schemas.openxmlformats.org/officeDocument/2006/relationships/image" Target="../media/image52.wmf"/><Relationship Id="rId10" Type="http://schemas.openxmlformats.org/officeDocument/2006/relationships/oleObject" Target="../embeddings/oleObject48.bin"/><Relationship Id="rId4" Type="http://schemas.openxmlformats.org/officeDocument/2006/relationships/oleObject" Target="../embeddings/oleObject45.bin"/><Relationship Id="rId9" Type="http://schemas.openxmlformats.org/officeDocument/2006/relationships/image" Target="../media/image49.wmf"/><Relationship Id="rId14" Type="http://schemas.openxmlformats.org/officeDocument/2006/relationships/oleObject" Target="../embeddings/oleObject50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emf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5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4.bin"/><Relationship Id="rId5" Type="http://schemas.openxmlformats.org/officeDocument/2006/relationships/image" Target="../media/image54.wmf"/><Relationship Id="rId4" Type="http://schemas.openxmlformats.org/officeDocument/2006/relationships/oleObject" Target="../embeddings/oleObject53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wmf"/><Relationship Id="rId4" Type="http://schemas.openxmlformats.org/officeDocument/2006/relationships/oleObject" Target="../embeddings/oleObject56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wmf"/><Relationship Id="rId4" Type="http://schemas.openxmlformats.org/officeDocument/2006/relationships/oleObject" Target="../embeddings/oleObject58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wmf"/><Relationship Id="rId2" Type="http://schemas.openxmlformats.org/officeDocument/2006/relationships/oleObject" Target="../embeddings/oleObject59.bin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w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13" Type="http://schemas.openxmlformats.org/officeDocument/2006/relationships/image" Target="../media/image54.wmf"/><Relationship Id="rId18" Type="http://schemas.openxmlformats.org/officeDocument/2006/relationships/oleObject" Target="../embeddings/oleObject68.bin"/><Relationship Id="rId26" Type="http://schemas.openxmlformats.org/officeDocument/2006/relationships/oleObject" Target="../embeddings/oleObject72.bin"/><Relationship Id="rId3" Type="http://schemas.openxmlformats.org/officeDocument/2006/relationships/image" Target="../media/image48.wmf"/><Relationship Id="rId21" Type="http://schemas.openxmlformats.org/officeDocument/2006/relationships/image" Target="../media/image66.wmf"/><Relationship Id="rId7" Type="http://schemas.openxmlformats.org/officeDocument/2006/relationships/image" Target="../media/image16.wmf"/><Relationship Id="rId12" Type="http://schemas.openxmlformats.org/officeDocument/2006/relationships/oleObject" Target="../embeddings/oleObject65.bin"/><Relationship Id="rId17" Type="http://schemas.openxmlformats.org/officeDocument/2006/relationships/image" Target="../media/image50.wmf"/><Relationship Id="rId25" Type="http://schemas.openxmlformats.org/officeDocument/2006/relationships/image" Target="../media/image67.wmf"/><Relationship Id="rId2" Type="http://schemas.openxmlformats.org/officeDocument/2006/relationships/oleObject" Target="../embeddings/oleObject60.bin"/><Relationship Id="rId16" Type="http://schemas.openxmlformats.org/officeDocument/2006/relationships/oleObject" Target="../embeddings/oleObject67.bin"/><Relationship Id="rId20" Type="http://schemas.openxmlformats.org/officeDocument/2006/relationships/oleObject" Target="../embeddings/oleObject69.bin"/><Relationship Id="rId29" Type="http://schemas.openxmlformats.org/officeDocument/2006/relationships/image" Target="../media/image6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2.bin"/><Relationship Id="rId11" Type="http://schemas.openxmlformats.org/officeDocument/2006/relationships/image" Target="../media/image64.wmf"/><Relationship Id="rId24" Type="http://schemas.openxmlformats.org/officeDocument/2006/relationships/oleObject" Target="../embeddings/oleObject71.bin"/><Relationship Id="rId5" Type="http://schemas.openxmlformats.org/officeDocument/2006/relationships/image" Target="../media/image17.wmf"/><Relationship Id="rId15" Type="http://schemas.openxmlformats.org/officeDocument/2006/relationships/image" Target="../media/image49.wmf"/><Relationship Id="rId23" Type="http://schemas.openxmlformats.org/officeDocument/2006/relationships/image" Target="../media/image35.wmf"/><Relationship Id="rId28" Type="http://schemas.openxmlformats.org/officeDocument/2006/relationships/oleObject" Target="../embeddings/oleObject73.bin"/><Relationship Id="rId10" Type="http://schemas.openxmlformats.org/officeDocument/2006/relationships/oleObject" Target="../embeddings/oleObject64.bin"/><Relationship Id="rId19" Type="http://schemas.openxmlformats.org/officeDocument/2006/relationships/image" Target="../media/image65.wmf"/><Relationship Id="rId4" Type="http://schemas.openxmlformats.org/officeDocument/2006/relationships/oleObject" Target="../embeddings/oleObject61.bin"/><Relationship Id="rId9" Type="http://schemas.openxmlformats.org/officeDocument/2006/relationships/image" Target="../media/image53.wmf"/><Relationship Id="rId14" Type="http://schemas.openxmlformats.org/officeDocument/2006/relationships/oleObject" Target="../embeddings/oleObject66.bin"/><Relationship Id="rId22" Type="http://schemas.openxmlformats.org/officeDocument/2006/relationships/oleObject" Target="../embeddings/oleObject70.bin"/><Relationship Id="rId27" Type="http://schemas.openxmlformats.org/officeDocument/2006/relationships/image" Target="../media/image68.w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7" Type="http://schemas.openxmlformats.org/officeDocument/2006/relationships/image" Target="../media/image71.wmf"/><Relationship Id="rId2" Type="http://schemas.openxmlformats.org/officeDocument/2006/relationships/oleObject" Target="../embeddings/oleObject7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6.bin"/><Relationship Id="rId5" Type="http://schemas.openxmlformats.org/officeDocument/2006/relationships/image" Target="../media/image70.wmf"/><Relationship Id="rId4" Type="http://schemas.openxmlformats.org/officeDocument/2006/relationships/oleObject" Target="../embeddings/oleObject75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0.bin"/><Relationship Id="rId3" Type="http://schemas.openxmlformats.org/officeDocument/2006/relationships/image" Target="../media/image72.wmf"/><Relationship Id="rId7" Type="http://schemas.openxmlformats.org/officeDocument/2006/relationships/image" Target="../media/image74.wmf"/><Relationship Id="rId2" Type="http://schemas.openxmlformats.org/officeDocument/2006/relationships/oleObject" Target="../embeddings/oleObject7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9.bin"/><Relationship Id="rId5" Type="http://schemas.openxmlformats.org/officeDocument/2006/relationships/image" Target="../media/image73.wmf"/><Relationship Id="rId4" Type="http://schemas.openxmlformats.org/officeDocument/2006/relationships/oleObject" Target="../embeddings/oleObject78.bin"/><Relationship Id="rId9" Type="http://schemas.openxmlformats.org/officeDocument/2006/relationships/image" Target="../media/image75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wmf"/><Relationship Id="rId2" Type="http://schemas.openxmlformats.org/officeDocument/2006/relationships/oleObject" Target="../embeddings/oleObject8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wmf"/><Relationship Id="rId4" Type="http://schemas.openxmlformats.org/officeDocument/2006/relationships/oleObject" Target="../embeddings/oleObject82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6.bin"/><Relationship Id="rId3" Type="http://schemas.openxmlformats.org/officeDocument/2006/relationships/image" Target="../media/image78.wmf"/><Relationship Id="rId7" Type="http://schemas.openxmlformats.org/officeDocument/2006/relationships/image" Target="../media/image80.wmf"/><Relationship Id="rId2" Type="http://schemas.openxmlformats.org/officeDocument/2006/relationships/oleObject" Target="../embeddings/oleObject83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85.bin"/><Relationship Id="rId11" Type="http://schemas.openxmlformats.org/officeDocument/2006/relationships/image" Target="NULL"/><Relationship Id="rId5" Type="http://schemas.openxmlformats.org/officeDocument/2006/relationships/image" Target="../media/image79.wmf"/><Relationship Id="rId10" Type="http://schemas.openxmlformats.org/officeDocument/2006/relationships/oleObject" Target="../embeddings/oleObject87.bin"/><Relationship Id="rId4" Type="http://schemas.openxmlformats.org/officeDocument/2006/relationships/oleObject" Target="../embeddings/oleObject84.bin"/><Relationship Id="rId9" Type="http://schemas.openxmlformats.org/officeDocument/2006/relationships/image" Target="../media/image81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1.bin"/><Relationship Id="rId3" Type="http://schemas.openxmlformats.org/officeDocument/2006/relationships/image" Target="../media/image82.wmf"/><Relationship Id="rId7" Type="http://schemas.openxmlformats.org/officeDocument/2006/relationships/image" Target="../media/image83.wmf"/><Relationship Id="rId2" Type="http://schemas.openxmlformats.org/officeDocument/2006/relationships/oleObject" Target="../embeddings/oleObject88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90.bin"/><Relationship Id="rId5" Type="http://schemas.openxmlformats.org/officeDocument/2006/relationships/image" Target="NULL"/><Relationship Id="rId4" Type="http://schemas.openxmlformats.org/officeDocument/2006/relationships/oleObject" Target="../embeddings/oleObject89.bin"/><Relationship Id="rId9" Type="http://schemas.openxmlformats.org/officeDocument/2006/relationships/image" Target="../media/image84.wm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5.bin"/><Relationship Id="rId3" Type="http://schemas.openxmlformats.org/officeDocument/2006/relationships/image" Target="../media/image85.wmf"/><Relationship Id="rId7" Type="http://schemas.openxmlformats.org/officeDocument/2006/relationships/image" Target="../media/image87.wmf"/><Relationship Id="rId2" Type="http://schemas.openxmlformats.org/officeDocument/2006/relationships/oleObject" Target="../embeddings/oleObject9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94.bin"/><Relationship Id="rId11" Type="http://schemas.openxmlformats.org/officeDocument/2006/relationships/image" Target="../media/image89.wmf"/><Relationship Id="rId5" Type="http://schemas.openxmlformats.org/officeDocument/2006/relationships/image" Target="../media/image86.wmf"/><Relationship Id="rId10" Type="http://schemas.openxmlformats.org/officeDocument/2006/relationships/oleObject" Target="../embeddings/oleObject96.bin"/><Relationship Id="rId4" Type="http://schemas.openxmlformats.org/officeDocument/2006/relationships/oleObject" Target="../embeddings/oleObject93.bin"/><Relationship Id="rId9" Type="http://schemas.openxmlformats.org/officeDocument/2006/relationships/image" Target="../media/image88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0.bin"/><Relationship Id="rId3" Type="http://schemas.openxmlformats.org/officeDocument/2006/relationships/image" Target="../media/image82.wmf"/><Relationship Id="rId7" Type="http://schemas.openxmlformats.org/officeDocument/2006/relationships/image" Target="../media/image90.wmf"/><Relationship Id="rId2" Type="http://schemas.openxmlformats.org/officeDocument/2006/relationships/oleObject" Target="../embeddings/oleObject97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99.bin"/><Relationship Id="rId5" Type="http://schemas.openxmlformats.org/officeDocument/2006/relationships/image" Target="../media/image89.wmf"/><Relationship Id="rId4" Type="http://schemas.openxmlformats.org/officeDocument/2006/relationships/oleObject" Target="../embeddings/oleObject98.bin"/><Relationship Id="rId9" Type="http://schemas.openxmlformats.org/officeDocument/2006/relationships/image" Target="../media/image91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wmf"/><Relationship Id="rId7" Type="http://schemas.openxmlformats.org/officeDocument/2006/relationships/image" Target="../media/image94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03.bin"/><Relationship Id="rId5" Type="http://schemas.openxmlformats.org/officeDocument/2006/relationships/image" Target="../media/image93.wmf"/><Relationship Id="rId4" Type="http://schemas.openxmlformats.org/officeDocument/2006/relationships/oleObject" Target="../embeddings/oleObject102.bin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7.bin"/><Relationship Id="rId3" Type="http://schemas.openxmlformats.org/officeDocument/2006/relationships/image" Target="../media/image82.wmf"/><Relationship Id="rId7" Type="http://schemas.openxmlformats.org/officeDocument/2006/relationships/image" Target="../media/image96.wmf"/><Relationship Id="rId2" Type="http://schemas.openxmlformats.org/officeDocument/2006/relationships/oleObject" Target="../embeddings/oleObject104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06.bin"/><Relationship Id="rId5" Type="http://schemas.openxmlformats.org/officeDocument/2006/relationships/image" Target="../media/image95.wmf"/><Relationship Id="rId4" Type="http://schemas.openxmlformats.org/officeDocument/2006/relationships/oleObject" Target="../embeddings/oleObject105.bin"/><Relationship Id="rId9" Type="http://schemas.openxmlformats.org/officeDocument/2006/relationships/image" Target="../media/image97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wmf"/><Relationship Id="rId7" Type="http://schemas.openxmlformats.org/officeDocument/2006/relationships/image" Target="../media/image100.wmf"/><Relationship Id="rId2" Type="http://schemas.openxmlformats.org/officeDocument/2006/relationships/oleObject" Target="../embeddings/oleObject10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0.bin"/><Relationship Id="rId5" Type="http://schemas.openxmlformats.org/officeDocument/2006/relationships/image" Target="../media/image99.wmf"/><Relationship Id="rId4" Type="http://schemas.openxmlformats.org/officeDocument/2006/relationships/oleObject" Target="../embeddings/oleObject109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wmf"/><Relationship Id="rId7" Type="http://schemas.openxmlformats.org/officeDocument/2006/relationships/image" Target="../media/image103.wmf"/><Relationship Id="rId2" Type="http://schemas.openxmlformats.org/officeDocument/2006/relationships/oleObject" Target="../embeddings/oleObject1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3.bin"/><Relationship Id="rId5" Type="http://schemas.openxmlformats.org/officeDocument/2006/relationships/image" Target="../media/image102.wmf"/><Relationship Id="rId4" Type="http://schemas.openxmlformats.org/officeDocument/2006/relationships/oleObject" Target="../embeddings/oleObject112.bin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wmf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emf"/><Relationship Id="rId5" Type="http://schemas.openxmlformats.org/officeDocument/2006/relationships/image" Target="../media/image105.wmf"/><Relationship Id="rId4" Type="http://schemas.openxmlformats.org/officeDocument/2006/relationships/oleObject" Target="../embeddings/oleObject115.bin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11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7.bin"/><Relationship Id="rId2" Type="http://schemas.openxmlformats.org/officeDocument/2006/relationships/image" Target="../media/image10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wmf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1.bin"/><Relationship Id="rId3" Type="http://schemas.openxmlformats.org/officeDocument/2006/relationships/image" Target="../media/image111.wmf"/><Relationship Id="rId7" Type="http://schemas.openxmlformats.org/officeDocument/2006/relationships/image" Target="../media/image113.wmf"/><Relationship Id="rId2" Type="http://schemas.openxmlformats.org/officeDocument/2006/relationships/oleObject" Target="../embeddings/oleObject11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0.bin"/><Relationship Id="rId11" Type="http://schemas.openxmlformats.org/officeDocument/2006/relationships/image" Target="../media/image115.wmf"/><Relationship Id="rId5" Type="http://schemas.openxmlformats.org/officeDocument/2006/relationships/image" Target="../media/image112.wmf"/><Relationship Id="rId10" Type="http://schemas.openxmlformats.org/officeDocument/2006/relationships/oleObject" Target="../embeddings/oleObject122.bin"/><Relationship Id="rId4" Type="http://schemas.openxmlformats.org/officeDocument/2006/relationships/oleObject" Target="../embeddings/oleObject119.bin"/><Relationship Id="rId9" Type="http://schemas.openxmlformats.org/officeDocument/2006/relationships/image" Target="../media/image114.w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wmf"/><Relationship Id="rId7" Type="http://schemas.openxmlformats.org/officeDocument/2006/relationships/image" Target="../media/image118.wmf"/><Relationship Id="rId2" Type="http://schemas.openxmlformats.org/officeDocument/2006/relationships/oleObject" Target="../embeddings/oleObject12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5.bin"/><Relationship Id="rId5" Type="http://schemas.openxmlformats.org/officeDocument/2006/relationships/image" Target="../media/image117.wmf"/><Relationship Id="rId4" Type="http://schemas.openxmlformats.org/officeDocument/2006/relationships/oleObject" Target="../embeddings/oleObject124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9.bin"/><Relationship Id="rId3" Type="http://schemas.openxmlformats.org/officeDocument/2006/relationships/image" Target="../media/image119.wmf"/><Relationship Id="rId7" Type="http://schemas.openxmlformats.org/officeDocument/2006/relationships/image" Target="../media/image121.wmf"/><Relationship Id="rId2" Type="http://schemas.openxmlformats.org/officeDocument/2006/relationships/oleObject" Target="../embeddings/oleObject1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8.bin"/><Relationship Id="rId11" Type="http://schemas.openxmlformats.org/officeDocument/2006/relationships/image" Target="../media/image123.wmf"/><Relationship Id="rId5" Type="http://schemas.openxmlformats.org/officeDocument/2006/relationships/image" Target="../media/image120.wmf"/><Relationship Id="rId10" Type="http://schemas.openxmlformats.org/officeDocument/2006/relationships/oleObject" Target="../embeddings/oleObject130.bin"/><Relationship Id="rId4" Type="http://schemas.openxmlformats.org/officeDocument/2006/relationships/oleObject" Target="../embeddings/oleObject127.bin"/><Relationship Id="rId9" Type="http://schemas.openxmlformats.org/officeDocument/2006/relationships/image" Target="../media/image122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wmf"/><Relationship Id="rId2" Type="http://schemas.openxmlformats.org/officeDocument/2006/relationships/oleObject" Target="../embeddings/oleObject13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emf"/><Relationship Id="rId5" Type="http://schemas.openxmlformats.org/officeDocument/2006/relationships/image" Target="../media/image125.wmf"/><Relationship Id="rId4" Type="http://schemas.openxmlformats.org/officeDocument/2006/relationships/oleObject" Target="../embeddings/oleObject132.bin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wmf"/><Relationship Id="rId7" Type="http://schemas.openxmlformats.org/officeDocument/2006/relationships/image" Target="../media/image129.wmf"/><Relationship Id="rId2" Type="http://schemas.openxmlformats.org/officeDocument/2006/relationships/oleObject" Target="../embeddings/oleObject13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5.bin"/><Relationship Id="rId5" Type="http://schemas.openxmlformats.org/officeDocument/2006/relationships/image" Target="../media/image128.wmf"/><Relationship Id="rId4" Type="http://schemas.openxmlformats.org/officeDocument/2006/relationships/oleObject" Target="../embeddings/oleObject134.bin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e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42.bin"/><Relationship Id="rId18" Type="http://schemas.openxmlformats.org/officeDocument/2006/relationships/image" Target="../media/image91.wmf"/><Relationship Id="rId26" Type="http://schemas.openxmlformats.org/officeDocument/2006/relationships/oleObject" Target="../embeddings/oleObject149.bin"/><Relationship Id="rId39" Type="http://schemas.openxmlformats.org/officeDocument/2006/relationships/image" Target="../media/image135.wmf"/><Relationship Id="rId21" Type="http://schemas.openxmlformats.org/officeDocument/2006/relationships/image" Target="../media/image95.wmf"/><Relationship Id="rId34" Type="http://schemas.openxmlformats.org/officeDocument/2006/relationships/oleObject" Target="../embeddings/oleObject153.bin"/><Relationship Id="rId42" Type="http://schemas.openxmlformats.org/officeDocument/2006/relationships/oleObject" Target="../embeddings/oleObject157.bin"/><Relationship Id="rId7" Type="http://schemas.openxmlformats.org/officeDocument/2006/relationships/image" Target="../media/image82.wmf"/><Relationship Id="rId2" Type="http://schemas.openxmlformats.org/officeDocument/2006/relationships/oleObject" Target="../embeddings/oleObject136.bin"/><Relationship Id="rId16" Type="http://schemas.openxmlformats.org/officeDocument/2006/relationships/image" Target="../media/image90.wmf"/><Relationship Id="rId20" Type="http://schemas.openxmlformats.org/officeDocument/2006/relationships/oleObject" Target="../embeddings/oleObject146.bin"/><Relationship Id="rId29" Type="http://schemas.openxmlformats.org/officeDocument/2006/relationships/image" Target="../media/image100.wmf"/><Relationship Id="rId41" Type="http://schemas.openxmlformats.org/officeDocument/2006/relationships/image" Target="../media/image13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84.wmf"/><Relationship Id="rId24" Type="http://schemas.openxmlformats.org/officeDocument/2006/relationships/oleObject" Target="../embeddings/oleObject148.bin"/><Relationship Id="rId32" Type="http://schemas.openxmlformats.org/officeDocument/2006/relationships/oleObject" Target="../embeddings/oleObject152.bin"/><Relationship Id="rId37" Type="http://schemas.openxmlformats.org/officeDocument/2006/relationships/image" Target="../media/image134.wmf"/><Relationship Id="rId40" Type="http://schemas.openxmlformats.org/officeDocument/2006/relationships/oleObject" Target="../embeddings/oleObject156.bin"/><Relationship Id="rId5" Type="http://schemas.openxmlformats.org/officeDocument/2006/relationships/image" Target="NULL"/><Relationship Id="rId15" Type="http://schemas.openxmlformats.org/officeDocument/2006/relationships/oleObject" Target="../embeddings/oleObject143.bin"/><Relationship Id="rId23" Type="http://schemas.openxmlformats.org/officeDocument/2006/relationships/image" Target="../media/image96.wmf"/><Relationship Id="rId28" Type="http://schemas.openxmlformats.org/officeDocument/2006/relationships/oleObject" Target="../embeddings/oleObject150.bin"/><Relationship Id="rId36" Type="http://schemas.openxmlformats.org/officeDocument/2006/relationships/oleObject" Target="../embeddings/oleObject154.bin"/><Relationship Id="rId10" Type="http://schemas.openxmlformats.org/officeDocument/2006/relationships/oleObject" Target="../embeddings/oleObject140.bin"/><Relationship Id="rId19" Type="http://schemas.openxmlformats.org/officeDocument/2006/relationships/oleObject" Target="../embeddings/oleObject145.bin"/><Relationship Id="rId31" Type="http://schemas.openxmlformats.org/officeDocument/2006/relationships/image" Target="../media/image101.wmf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83.wmf"/><Relationship Id="rId14" Type="http://schemas.openxmlformats.org/officeDocument/2006/relationships/image" Target="../media/image89.wmf"/><Relationship Id="rId22" Type="http://schemas.openxmlformats.org/officeDocument/2006/relationships/oleObject" Target="../embeddings/oleObject147.bin"/><Relationship Id="rId27" Type="http://schemas.openxmlformats.org/officeDocument/2006/relationships/image" Target="../media/image98.wmf"/><Relationship Id="rId30" Type="http://schemas.openxmlformats.org/officeDocument/2006/relationships/oleObject" Target="../embeddings/oleObject151.bin"/><Relationship Id="rId35" Type="http://schemas.openxmlformats.org/officeDocument/2006/relationships/image" Target="../media/image133.wmf"/><Relationship Id="rId43" Type="http://schemas.openxmlformats.org/officeDocument/2006/relationships/image" Target="../media/image137.wmf"/><Relationship Id="rId8" Type="http://schemas.openxmlformats.org/officeDocument/2006/relationships/oleObject" Target="../embeddings/oleObject139.bin"/><Relationship Id="rId3" Type="http://schemas.openxmlformats.org/officeDocument/2006/relationships/image" Target="../media/image78.wmf"/><Relationship Id="rId12" Type="http://schemas.openxmlformats.org/officeDocument/2006/relationships/oleObject" Target="../embeddings/oleObject141.bin"/><Relationship Id="rId17" Type="http://schemas.openxmlformats.org/officeDocument/2006/relationships/oleObject" Target="../embeddings/oleObject144.bin"/><Relationship Id="rId25" Type="http://schemas.openxmlformats.org/officeDocument/2006/relationships/image" Target="../media/image97.wmf"/><Relationship Id="rId33" Type="http://schemas.openxmlformats.org/officeDocument/2006/relationships/image" Target="../media/image132.wmf"/><Relationship Id="rId38" Type="http://schemas.openxmlformats.org/officeDocument/2006/relationships/oleObject" Target="../embeddings/oleObject15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151CC-9E1E-7DFA-03CE-32EE0E8CC5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E679-9BAA-0FF5-E423-367DD3707B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75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76F8A69-2AA7-5A92-A05B-1D25116098B4}"/>
              </a:ext>
            </a:extLst>
          </p:cNvPr>
          <p:cNvSpPr/>
          <p:nvPr/>
        </p:nvSpPr>
        <p:spPr>
          <a:xfrm>
            <a:off x="4343400" y="3200400"/>
            <a:ext cx="457200" cy="4572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42655D-2317-863D-6EDF-B40D409ADF2F}"/>
              </a:ext>
            </a:extLst>
          </p:cNvPr>
          <p:cNvCxnSpPr>
            <a:stCxn id="4" idx="0"/>
          </p:cNvCxnSpPr>
          <p:nvPr/>
        </p:nvCxnSpPr>
        <p:spPr>
          <a:xfrm flipV="1">
            <a:off x="4572000" y="1447800"/>
            <a:ext cx="0" cy="17526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6D63D60-38CE-15B2-51DC-FDE1B797305F}"/>
              </a:ext>
            </a:extLst>
          </p:cNvPr>
          <p:cNvCxnSpPr>
            <a:cxnSpLocks/>
          </p:cNvCxnSpPr>
          <p:nvPr/>
        </p:nvCxnSpPr>
        <p:spPr>
          <a:xfrm>
            <a:off x="4572000" y="3657600"/>
            <a:ext cx="0" cy="13716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200F5E-40B1-4BF7-A0CF-63B0FA176C68}"/>
              </a:ext>
            </a:extLst>
          </p:cNvPr>
          <p:cNvCxnSpPr>
            <a:cxnSpLocks/>
          </p:cNvCxnSpPr>
          <p:nvPr/>
        </p:nvCxnSpPr>
        <p:spPr>
          <a:xfrm flipH="1">
            <a:off x="3048000" y="3429000"/>
            <a:ext cx="12954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522B437-74D0-4834-6F2F-0CEB62150E7B}"/>
              </a:ext>
            </a:extLst>
          </p:cNvPr>
          <p:cNvSpPr txBox="1"/>
          <p:nvPr/>
        </p:nvSpPr>
        <p:spPr>
          <a:xfrm>
            <a:off x="4793342" y="1316466"/>
            <a:ext cx="9216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N</a:t>
            </a:r>
            <a:r>
              <a:rPr lang="en-US" sz="2800" baseline="-25000" dirty="0" err="1"/>
              <a:t>mT</a:t>
            </a:r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33332C-830F-9644-1FDA-4ACC60BA79FC}"/>
              </a:ext>
            </a:extLst>
          </p:cNvPr>
          <p:cNvSpPr txBox="1"/>
          <p:nvPr/>
        </p:nvSpPr>
        <p:spPr>
          <a:xfrm>
            <a:off x="4793341" y="4756704"/>
            <a:ext cx="9216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mE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C3557C-2797-69E8-AC1D-52F1B5789C22}"/>
              </a:ext>
            </a:extLst>
          </p:cNvPr>
          <p:cNvSpPr txBox="1"/>
          <p:nvPr/>
        </p:nvSpPr>
        <p:spPr>
          <a:xfrm>
            <a:off x="2358573" y="3134380"/>
            <a:ext cx="9216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S</a:t>
            </a:r>
            <a:r>
              <a:rPr lang="en-US" sz="2800" baseline="-25000" dirty="0" err="1"/>
              <a:t>ms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07693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Restoring Force</a:t>
            </a: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6400" y="1320800"/>
            <a:ext cx="4229100" cy="4525963"/>
          </a:xfrm>
        </p:spPr>
        <p:txBody>
          <a:bodyPr/>
          <a:lstStyle/>
          <a:p>
            <a:r>
              <a:rPr lang="en-US" sz="2000" dirty="0"/>
              <a:t>Hook’s Law</a:t>
            </a:r>
          </a:p>
          <a:p>
            <a:pPr lvl="1"/>
            <a:r>
              <a:rPr lang="en-US" sz="1800" dirty="0"/>
              <a:t>Not always applicable</a:t>
            </a:r>
          </a:p>
          <a:p>
            <a:r>
              <a:rPr lang="en-US" sz="2000" dirty="0"/>
              <a:t>Force is directed toward equilibrium point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Then the acceleration is given by</a:t>
            </a:r>
          </a:p>
        </p:txBody>
      </p:sp>
      <p:grpSp>
        <p:nvGrpSpPr>
          <p:cNvPr id="2" name="Group 265"/>
          <p:cNvGrpSpPr>
            <a:grpSpLocks/>
          </p:cNvGrpSpPr>
          <p:nvPr/>
        </p:nvGrpSpPr>
        <p:grpSpPr bwMode="auto">
          <a:xfrm>
            <a:off x="6327775" y="1293813"/>
            <a:ext cx="2190750" cy="4802187"/>
            <a:chOff x="3986" y="815"/>
            <a:chExt cx="1380" cy="3025"/>
          </a:xfrm>
        </p:grpSpPr>
        <p:grpSp>
          <p:nvGrpSpPr>
            <p:cNvPr id="3" name="Group 248"/>
            <p:cNvGrpSpPr>
              <a:grpSpLocks/>
            </p:cNvGrpSpPr>
            <p:nvPr/>
          </p:nvGrpSpPr>
          <p:grpSpPr bwMode="auto">
            <a:xfrm>
              <a:off x="4113" y="2151"/>
              <a:ext cx="1189" cy="657"/>
              <a:chOff x="3801" y="2151"/>
              <a:chExt cx="1189" cy="657"/>
            </a:xfrm>
          </p:grpSpPr>
          <p:sp>
            <p:nvSpPr>
              <p:cNvPr id="157701" name="AutoShape 5"/>
              <p:cNvSpPr>
                <a:spLocks noChangeArrowheads="1"/>
              </p:cNvSpPr>
              <p:nvPr/>
            </p:nvSpPr>
            <p:spPr bwMode="auto">
              <a:xfrm>
                <a:off x="4318" y="2363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703" name="Line 7"/>
              <p:cNvSpPr>
                <a:spLocks noChangeShapeType="1"/>
              </p:cNvSpPr>
              <p:nvPr/>
            </p:nvSpPr>
            <p:spPr bwMode="auto">
              <a:xfrm>
                <a:off x="3813" y="215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4" name="Line 8"/>
              <p:cNvSpPr>
                <a:spLocks noChangeShapeType="1"/>
              </p:cNvSpPr>
              <p:nvPr/>
            </p:nvSpPr>
            <p:spPr bwMode="auto">
              <a:xfrm rot="5400000" flipV="1">
                <a:off x="4309" y="202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831" y="2363"/>
                <a:ext cx="481" cy="94"/>
                <a:chOff x="2248" y="1248"/>
                <a:chExt cx="648" cy="128"/>
              </a:xfrm>
            </p:grpSpPr>
            <p:grpSp>
              <p:nvGrpSpPr>
                <p:cNvPr id="5" name="Group 10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07" name="Line 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08" name="Line 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6" name="Group 13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0" name="Line 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1" name="Line 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7" name="Group 16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713" name="Line 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4" name="Line 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8" name="Group 19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6" name="Line 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7" name="Line 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" name="Group 22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9" name="Line 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0" name="Line 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0" name="Group 25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2" name="Line 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3" name="Line 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1" name="Group 28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5" name="Line 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6" name="Line 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2" name="Group 31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8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9" name="Line 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730" name="Line 34"/>
              <p:cNvSpPr>
                <a:spLocks noChangeShapeType="1"/>
              </p:cNvSpPr>
              <p:nvPr/>
            </p:nvSpPr>
            <p:spPr bwMode="auto">
              <a:xfrm>
                <a:off x="4383" y="256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1" name="Text Box 35"/>
              <p:cNvSpPr txBox="1">
                <a:spLocks noChangeArrowheads="1"/>
              </p:cNvSpPr>
              <p:nvPr/>
            </p:nvSpPr>
            <p:spPr bwMode="auto">
              <a:xfrm>
                <a:off x="4275" y="2616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732" name="Line 36"/>
              <p:cNvSpPr>
                <a:spLocks noChangeShapeType="1"/>
              </p:cNvSpPr>
              <p:nvPr/>
            </p:nvSpPr>
            <p:spPr bwMode="auto">
              <a:xfrm>
                <a:off x="4716" y="257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3" name="Text Box 37"/>
              <p:cNvSpPr txBox="1">
                <a:spLocks noChangeArrowheads="1"/>
              </p:cNvSpPr>
              <p:nvPr/>
            </p:nvSpPr>
            <p:spPr bwMode="auto">
              <a:xfrm>
                <a:off x="4625" y="2611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3" name="Group 249"/>
            <p:cNvGrpSpPr>
              <a:grpSpLocks/>
            </p:cNvGrpSpPr>
            <p:nvPr/>
          </p:nvGrpSpPr>
          <p:grpSpPr bwMode="auto">
            <a:xfrm>
              <a:off x="4116" y="1271"/>
              <a:ext cx="1213" cy="666"/>
              <a:chOff x="3756" y="1427"/>
              <a:chExt cx="1213" cy="666"/>
            </a:xfrm>
          </p:grpSpPr>
          <p:sp>
            <p:nvSpPr>
              <p:cNvPr id="157876" name="AutoShape 180"/>
              <p:cNvSpPr>
                <a:spLocks noChangeArrowheads="1"/>
              </p:cNvSpPr>
              <p:nvPr/>
            </p:nvSpPr>
            <p:spPr bwMode="auto">
              <a:xfrm>
                <a:off x="4593" y="1639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878" name="Line 182"/>
              <p:cNvSpPr>
                <a:spLocks noChangeShapeType="1"/>
              </p:cNvSpPr>
              <p:nvPr/>
            </p:nvSpPr>
            <p:spPr bwMode="auto">
              <a:xfrm>
                <a:off x="3768" y="14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879" name="Line 183"/>
              <p:cNvSpPr>
                <a:spLocks noChangeShapeType="1"/>
              </p:cNvSpPr>
              <p:nvPr/>
            </p:nvSpPr>
            <p:spPr bwMode="auto">
              <a:xfrm rot="5400000" flipV="1">
                <a:off x="4264" y="12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4" name="Group 184"/>
              <p:cNvGrpSpPr>
                <a:grpSpLocks/>
              </p:cNvGrpSpPr>
              <p:nvPr/>
            </p:nvGrpSpPr>
            <p:grpSpPr bwMode="auto">
              <a:xfrm>
                <a:off x="4481" y="1633"/>
                <a:ext cx="101" cy="95"/>
                <a:chOff x="704" y="1880"/>
                <a:chExt cx="136" cy="128"/>
              </a:xfrm>
            </p:grpSpPr>
            <p:sp>
              <p:nvSpPr>
                <p:cNvPr id="157881" name="Line 1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2" name="Line 1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87"/>
              <p:cNvGrpSpPr>
                <a:grpSpLocks/>
              </p:cNvGrpSpPr>
              <p:nvPr/>
            </p:nvGrpSpPr>
            <p:grpSpPr bwMode="auto">
              <a:xfrm>
                <a:off x="4374" y="1633"/>
                <a:ext cx="101" cy="95"/>
                <a:chOff x="704" y="1880"/>
                <a:chExt cx="136" cy="128"/>
              </a:xfrm>
            </p:grpSpPr>
            <p:sp>
              <p:nvSpPr>
                <p:cNvPr id="157884" name="Line 1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5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190"/>
              <p:cNvGrpSpPr>
                <a:grpSpLocks/>
              </p:cNvGrpSpPr>
              <p:nvPr/>
            </p:nvGrpSpPr>
            <p:grpSpPr bwMode="auto">
              <a:xfrm>
                <a:off x="4279" y="1633"/>
                <a:ext cx="101" cy="95"/>
                <a:chOff x="704" y="1880"/>
                <a:chExt cx="136" cy="128"/>
              </a:xfrm>
            </p:grpSpPr>
            <p:sp>
              <p:nvSpPr>
                <p:cNvPr id="157887" name="Line 1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8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193"/>
              <p:cNvGrpSpPr>
                <a:grpSpLocks/>
              </p:cNvGrpSpPr>
              <p:nvPr/>
            </p:nvGrpSpPr>
            <p:grpSpPr bwMode="auto">
              <a:xfrm>
                <a:off x="4178" y="1633"/>
                <a:ext cx="101" cy="95"/>
                <a:chOff x="704" y="1880"/>
                <a:chExt cx="136" cy="128"/>
              </a:xfrm>
            </p:grpSpPr>
            <p:sp>
              <p:nvSpPr>
                <p:cNvPr id="157890" name="Line 1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1" name="Line 1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196"/>
              <p:cNvGrpSpPr>
                <a:grpSpLocks/>
              </p:cNvGrpSpPr>
              <p:nvPr/>
            </p:nvGrpSpPr>
            <p:grpSpPr bwMode="auto">
              <a:xfrm>
                <a:off x="4083" y="1633"/>
                <a:ext cx="101" cy="95"/>
                <a:chOff x="704" y="1880"/>
                <a:chExt cx="136" cy="128"/>
              </a:xfrm>
            </p:grpSpPr>
            <p:sp>
              <p:nvSpPr>
                <p:cNvPr id="157893" name="Line 1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4" name="Line 1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199"/>
              <p:cNvGrpSpPr>
                <a:grpSpLocks/>
              </p:cNvGrpSpPr>
              <p:nvPr/>
            </p:nvGrpSpPr>
            <p:grpSpPr bwMode="auto">
              <a:xfrm>
                <a:off x="3982" y="1633"/>
                <a:ext cx="101" cy="95"/>
                <a:chOff x="704" y="1880"/>
                <a:chExt cx="136" cy="128"/>
              </a:xfrm>
            </p:grpSpPr>
            <p:sp>
              <p:nvSpPr>
                <p:cNvPr id="157896" name="Line 2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7" name="Line 2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202"/>
              <p:cNvGrpSpPr>
                <a:grpSpLocks/>
              </p:cNvGrpSpPr>
              <p:nvPr/>
            </p:nvGrpSpPr>
            <p:grpSpPr bwMode="auto">
              <a:xfrm>
                <a:off x="3887" y="1633"/>
                <a:ext cx="101" cy="95"/>
                <a:chOff x="704" y="1880"/>
                <a:chExt cx="136" cy="128"/>
              </a:xfrm>
            </p:grpSpPr>
            <p:sp>
              <p:nvSpPr>
                <p:cNvPr id="157899" name="Line 2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0" name="Line 2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205"/>
              <p:cNvGrpSpPr>
                <a:grpSpLocks/>
              </p:cNvGrpSpPr>
              <p:nvPr/>
            </p:nvGrpSpPr>
            <p:grpSpPr bwMode="auto">
              <a:xfrm>
                <a:off x="3786" y="1633"/>
                <a:ext cx="101" cy="95"/>
                <a:chOff x="704" y="1880"/>
                <a:chExt cx="136" cy="128"/>
              </a:xfrm>
            </p:grpSpPr>
            <p:sp>
              <p:nvSpPr>
                <p:cNvPr id="157902" name="Line 2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3" name="Line 2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7904" name="Line 208"/>
              <p:cNvSpPr>
                <a:spLocks noChangeShapeType="1"/>
              </p:cNvSpPr>
              <p:nvPr/>
            </p:nvSpPr>
            <p:spPr bwMode="auto">
              <a:xfrm>
                <a:off x="4338" y="18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5" name="Text Box 209"/>
              <p:cNvSpPr txBox="1">
                <a:spLocks noChangeArrowheads="1"/>
              </p:cNvSpPr>
              <p:nvPr/>
            </p:nvSpPr>
            <p:spPr bwMode="auto">
              <a:xfrm>
                <a:off x="4230" y="19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06" name="Line 210"/>
              <p:cNvSpPr>
                <a:spLocks noChangeShapeType="1"/>
              </p:cNvSpPr>
              <p:nvPr/>
            </p:nvSpPr>
            <p:spPr bwMode="auto">
              <a:xfrm>
                <a:off x="4671" y="18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7" name="Text Box 211"/>
              <p:cNvSpPr txBox="1">
                <a:spLocks noChangeArrowheads="1"/>
              </p:cNvSpPr>
              <p:nvPr/>
            </p:nvSpPr>
            <p:spPr bwMode="auto">
              <a:xfrm>
                <a:off x="4580" y="1895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22" name="Group 247"/>
            <p:cNvGrpSpPr>
              <a:grpSpLocks/>
            </p:cNvGrpSpPr>
            <p:nvPr/>
          </p:nvGrpSpPr>
          <p:grpSpPr bwMode="auto">
            <a:xfrm>
              <a:off x="4120" y="3059"/>
              <a:ext cx="1016" cy="682"/>
              <a:chOff x="3844" y="2843"/>
              <a:chExt cx="1016" cy="682"/>
            </a:xfrm>
          </p:grpSpPr>
          <p:sp>
            <p:nvSpPr>
              <p:cNvPr id="157910" name="AutoShape 214"/>
              <p:cNvSpPr>
                <a:spLocks noChangeArrowheads="1"/>
              </p:cNvSpPr>
              <p:nvPr/>
            </p:nvSpPr>
            <p:spPr bwMode="auto">
              <a:xfrm>
                <a:off x="4117" y="3038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911" name="Line 215"/>
              <p:cNvSpPr>
                <a:spLocks noChangeShapeType="1"/>
              </p:cNvSpPr>
              <p:nvPr/>
            </p:nvSpPr>
            <p:spPr bwMode="auto">
              <a:xfrm>
                <a:off x="3856" y="2843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12" name="Line 216"/>
              <p:cNvSpPr>
                <a:spLocks noChangeShapeType="1"/>
              </p:cNvSpPr>
              <p:nvPr/>
            </p:nvSpPr>
            <p:spPr bwMode="auto">
              <a:xfrm rot="5400000" flipV="1">
                <a:off x="4352" y="2712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217"/>
              <p:cNvGrpSpPr>
                <a:grpSpLocks/>
              </p:cNvGrpSpPr>
              <p:nvPr/>
            </p:nvGrpSpPr>
            <p:grpSpPr bwMode="auto">
              <a:xfrm>
                <a:off x="3880" y="3055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21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5" name="Line 21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6" name="Line 22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22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8" name="Line 22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9" name="Line 22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22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921" name="Line 2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2" name="Line 2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22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4" name="Line 2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5" name="Line 22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23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7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8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23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0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1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23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3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4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23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6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7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938" name="Line 242"/>
              <p:cNvSpPr>
                <a:spLocks noChangeShapeType="1"/>
              </p:cNvSpPr>
              <p:nvPr/>
            </p:nvSpPr>
            <p:spPr bwMode="auto">
              <a:xfrm>
                <a:off x="442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39" name="Text Box 243"/>
              <p:cNvSpPr txBox="1">
                <a:spLocks noChangeArrowheads="1"/>
              </p:cNvSpPr>
              <p:nvPr/>
            </p:nvSpPr>
            <p:spPr bwMode="auto">
              <a:xfrm>
                <a:off x="4318" y="3333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40" name="Line 244"/>
              <p:cNvSpPr>
                <a:spLocks noChangeShapeType="1"/>
              </p:cNvSpPr>
              <p:nvPr/>
            </p:nvSpPr>
            <p:spPr bwMode="auto">
              <a:xfrm>
                <a:off x="420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41" name="Text Box 245"/>
              <p:cNvSpPr txBox="1">
                <a:spLocks noChangeArrowheads="1"/>
              </p:cNvSpPr>
              <p:nvPr/>
            </p:nvSpPr>
            <p:spPr bwMode="auto">
              <a:xfrm>
                <a:off x="4074" y="3315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</p:grpSp>
        <p:sp>
          <p:nvSpPr>
            <p:cNvPr id="157946" name="Line 250"/>
            <p:cNvSpPr>
              <a:spLocks noChangeShapeType="1"/>
            </p:cNvSpPr>
            <p:nvPr/>
          </p:nvSpPr>
          <p:spPr bwMode="auto">
            <a:xfrm>
              <a:off x="4692" y="972"/>
              <a:ext cx="0" cy="28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7" name="Line 251"/>
            <p:cNvSpPr>
              <a:spLocks noChangeShapeType="1"/>
            </p:cNvSpPr>
            <p:nvPr/>
          </p:nvSpPr>
          <p:spPr bwMode="auto">
            <a:xfrm>
              <a:off x="4272" y="3144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8" name="Text Box 252"/>
            <p:cNvSpPr txBox="1">
              <a:spLocks noChangeArrowheads="1"/>
            </p:cNvSpPr>
            <p:nvPr/>
          </p:nvSpPr>
          <p:spPr bwMode="auto">
            <a:xfrm>
              <a:off x="4286" y="2879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49" name="Text Box 253"/>
            <p:cNvSpPr txBox="1">
              <a:spLocks noChangeArrowheads="1"/>
            </p:cNvSpPr>
            <p:nvPr/>
          </p:nvSpPr>
          <p:spPr bwMode="auto">
            <a:xfrm>
              <a:off x="4826" y="1127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50" name="Line 254"/>
            <p:cNvSpPr>
              <a:spLocks noChangeShapeType="1"/>
            </p:cNvSpPr>
            <p:nvPr/>
          </p:nvSpPr>
          <p:spPr bwMode="auto">
            <a:xfrm flipH="1">
              <a:off x="4824" y="1392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52" name="Text Box 256"/>
            <p:cNvSpPr txBox="1">
              <a:spLocks noChangeArrowheads="1"/>
            </p:cNvSpPr>
            <p:nvPr/>
          </p:nvSpPr>
          <p:spPr bwMode="auto">
            <a:xfrm>
              <a:off x="3986" y="815"/>
              <a:ext cx="138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Equilibrium Position</a:t>
              </a:r>
            </a:p>
          </p:txBody>
        </p:sp>
      </p:grpSp>
      <p:sp>
        <p:nvSpPr>
          <p:cNvPr id="157955" name="Rectangle 259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57954" name="Object 258"/>
          <p:cNvGraphicFramePr>
            <a:graphicFrameLocks noChangeAspect="1"/>
          </p:cNvGraphicFramePr>
          <p:nvPr/>
        </p:nvGraphicFramePr>
        <p:xfrm>
          <a:off x="1676400" y="2768600"/>
          <a:ext cx="13525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228501" progId="Equation.3">
                  <p:embed/>
                </p:oleObj>
              </mc:Choice>
              <mc:Fallback>
                <p:oleObj name="Equation" r:id="rId2" imgW="672808" imgH="228501" progId="Equation.3">
                  <p:embed/>
                  <p:pic>
                    <p:nvPicPr>
                      <p:cNvPr id="157954" name="Object 2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2768600"/>
                        <a:ext cx="1352550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6" name="Object 260"/>
          <p:cNvGraphicFramePr>
            <a:graphicFrameLocks noChangeAspect="1"/>
          </p:cNvGraphicFramePr>
          <p:nvPr/>
        </p:nvGraphicFramePr>
        <p:xfrm>
          <a:off x="1590675" y="3195638"/>
          <a:ext cx="1433513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85800" imgH="228600" progId="Equation.3">
                  <p:embed/>
                </p:oleObj>
              </mc:Choice>
              <mc:Fallback>
                <p:oleObj name="Equation" r:id="rId4" imgW="685800" imgH="228600" progId="Equation.3">
                  <p:embed/>
                  <p:pic>
                    <p:nvPicPr>
                      <p:cNvPr id="157956" name="Object 2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0675" y="3195638"/>
                        <a:ext cx="1433513" cy="479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8" name="Object 262"/>
          <p:cNvGraphicFramePr>
            <a:graphicFrameLocks noChangeAspect="1"/>
          </p:cNvGraphicFramePr>
          <p:nvPr/>
        </p:nvGraphicFramePr>
        <p:xfrm>
          <a:off x="1857375" y="4325938"/>
          <a:ext cx="1417638" cy="817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85800" imgH="393480" progId="Equation.3">
                  <p:embed/>
                </p:oleObj>
              </mc:Choice>
              <mc:Fallback>
                <p:oleObj name="Equation" r:id="rId6" imgW="685800" imgH="393480" progId="Equation.3">
                  <p:embed/>
                  <p:pic>
                    <p:nvPicPr>
                      <p:cNvPr id="157958" name="Object 2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7375" y="4325938"/>
                        <a:ext cx="1417638" cy="817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960" name="AutoShape 264"/>
          <p:cNvSpPr>
            <a:spLocks noChangeArrowheads="1"/>
          </p:cNvSpPr>
          <p:nvPr/>
        </p:nvSpPr>
        <p:spPr bwMode="auto">
          <a:xfrm>
            <a:off x="355600" y="5308600"/>
            <a:ext cx="5448300" cy="876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dirty="0"/>
              <a:t>For SHM the acceleration is proportional to the position and is oppositely directed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968500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 sz="2400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 sz="2400"/>
              <a:t>maximum at the extreme displacement</a:t>
            </a:r>
          </a:p>
        </p:txBody>
      </p:sp>
      <p:grpSp>
        <p:nvGrpSpPr>
          <p:cNvPr id="2" name="Group 145"/>
          <p:cNvGrpSpPr>
            <a:grpSpLocks/>
          </p:cNvGrpSpPr>
          <p:nvPr/>
        </p:nvGrpSpPr>
        <p:grpSpPr bwMode="auto">
          <a:xfrm>
            <a:off x="4381500" y="2057400"/>
            <a:ext cx="4686300" cy="3282950"/>
            <a:chOff x="2496" y="1296"/>
            <a:chExt cx="2952" cy="2068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59749" name="AutoShape 5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50" name="Text Box 6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51" name="Line 7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52" name="Line 8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59754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5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59757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8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59760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1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59763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4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59766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7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59769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0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59772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3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59775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6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9777" name="Line 33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78" name="Text Box 34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779" name="Line 35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0" name="Text Box 36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81" name="Text Box 37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8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59783" name="AutoShape 39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84" name="Text Box 40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785" name="Line 41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6" name="Line 42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3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89" name="Line 4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0" name="Line 4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2" name="Line 4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3" name="Line 4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795" name="Line 5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6" name="Line 5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8" name="Line 5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9" name="Line 5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1" name="Line 5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2" name="Line 5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5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4" name="Line 6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5" name="Line 6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7" name="Line 6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8" name="Line 6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10" name="Line 6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11" name="Line 6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12" name="Line 68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3" name="Text Box 69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14" name="Line 70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5" name="Text Box 71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16" name="Line 72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3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59818" name="AutoShape 74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19" name="Line 75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20" name="Line 76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7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3" name="Line 7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4" name="Line 8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6" name="Line 8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7" name="Line 8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29" name="Line 8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0" name="Line 8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2" name="Line 8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3" name="Line 8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5" name="Line 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6" name="Line 9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8" name="Line 9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9" name="Line 9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1" name="Line 9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2" name="Line 9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9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4" name="Line 1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5" name="Line 10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46" name="Line 102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7" name="Text Box 103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48" name="Line 104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9" name="Text Box 105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50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59744" name="Group 107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59852" name="AutoShape 108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53" name="Text Box 109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854" name="Line 110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55" name="Line 111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59745" name="Group 112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59748" name="Group 113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58" name="Line 1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59" name="Line 1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3" name="Group 116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1" name="Line 1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2" name="Line 1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6" name="Group 119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64" name="Line 1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5" name="Line 1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9" name="Group 122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7" name="Line 1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8" name="Line 1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2" name="Group 125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0" name="Line 1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1" name="Line 1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5" name="Group 128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3" name="Line 1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4" name="Line 1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8" name="Group 131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6" name="Line 1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7" name="Line 1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71" name="Group 134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9" name="Line 1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80" name="Line 13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81" name="Line 137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2" name="Text Box 138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83" name="Line 139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4" name="Text Box 140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85" name="Line 141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9886" name="Arc 142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59887" name="Object 143"/>
          <p:cNvGraphicFramePr>
            <a:graphicFrameLocks noGrp="1" noChangeAspect="1"/>
          </p:cNvGraphicFramePr>
          <p:nvPr>
            <p:ph sz="half" idx="2"/>
          </p:nvPr>
        </p:nvGraphicFramePr>
        <p:xfrm>
          <a:off x="1663700" y="1301750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59887" name="Object 1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3700" y="1301750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38" name="Rectangle 70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Hanging Springs</a:t>
            </a:r>
          </a:p>
        </p:txBody>
      </p:sp>
      <p:sp>
        <p:nvSpPr>
          <p:cNvPr id="160948" name="Rectangle 180"/>
          <p:cNvSpPr>
            <a:spLocks noGrp="1" noChangeArrowheads="1"/>
          </p:cNvSpPr>
          <p:nvPr>
            <p:ph type="body" sz="half" idx="1"/>
          </p:nvPr>
        </p:nvSpPr>
        <p:spPr>
          <a:xfrm>
            <a:off x="304800" y="1219200"/>
            <a:ext cx="4038600" cy="4525963"/>
          </a:xfrm>
        </p:spPr>
        <p:txBody>
          <a:bodyPr>
            <a:noAutofit/>
          </a:bodyPr>
          <a:lstStyle/>
          <a:p>
            <a:r>
              <a:rPr lang="en-US" sz="2000" dirty="0"/>
              <a:t>We want to use the same formulas whether the spring is horizontal or hanging</a:t>
            </a:r>
          </a:p>
          <a:p>
            <a:r>
              <a:rPr lang="en-US" sz="2000" dirty="0"/>
              <a:t>Start with a spring hanging with no weight</a:t>
            </a:r>
          </a:p>
          <a:p>
            <a:pPr lvl="1"/>
            <a:r>
              <a:rPr lang="en-US" sz="1800" dirty="0"/>
              <a:t>Call its end position </a:t>
            </a:r>
            <a:r>
              <a:rPr lang="en-US" sz="1800" i="1" dirty="0" err="1"/>
              <a:t>x</a:t>
            </a:r>
            <a:r>
              <a:rPr lang="en-US" sz="1800" i="1" baseline="-25000" dirty="0" err="1"/>
              <a:t>se</a:t>
            </a:r>
            <a:r>
              <a:rPr lang="en-US" sz="1800" dirty="0"/>
              <a:t> (for spring equilibrium)</a:t>
            </a:r>
          </a:p>
          <a:p>
            <a:r>
              <a:rPr lang="en-US" sz="2000" dirty="0"/>
              <a:t>Add a weight, the spring stretches from this first equilibrium position (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se</a:t>
            </a:r>
            <a:r>
              <a:rPr lang="en-US" sz="2000" dirty="0"/>
              <a:t>) by an amount </a:t>
            </a:r>
            <a:r>
              <a:rPr lang="en-US" sz="2000" dirty="0">
                <a:sym typeface="Symbol" pitchFamily="18" charset="2"/>
              </a:rPr>
              <a:t>x to a new equilibrium point, 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me</a:t>
            </a:r>
            <a:r>
              <a:rPr lang="en-US" sz="2000" dirty="0"/>
              <a:t> </a:t>
            </a:r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How big is x? </a:t>
            </a:r>
          </a:p>
          <a:p>
            <a:endParaRPr lang="en-US" sz="2000" dirty="0">
              <a:sym typeface="Symbol" pitchFamily="18" charset="2"/>
            </a:endParaRP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1800" dirty="0"/>
              <a:t>We then allow the system to oscillate about the new equilibrium</a:t>
            </a:r>
          </a:p>
          <a:p>
            <a:endParaRPr lang="en-US" sz="2000" dirty="0">
              <a:sym typeface="Symbol" pitchFamily="18" charset="2"/>
            </a:endParaRPr>
          </a:p>
        </p:txBody>
      </p:sp>
      <p:sp>
        <p:nvSpPr>
          <p:cNvPr id="160954" name="Rectangle 186"/>
          <p:cNvSpPr>
            <a:spLocks noGrp="1" noChangeArrowheads="1"/>
          </p:cNvSpPr>
          <p:nvPr>
            <p:ph type="body" sz="half" idx="2"/>
          </p:nvPr>
        </p:nvSpPr>
        <p:spPr>
          <a:xfrm>
            <a:off x="4686300" y="3302000"/>
            <a:ext cx="4038600" cy="2633663"/>
          </a:xfrm>
        </p:spPr>
        <p:txBody>
          <a:bodyPr/>
          <a:lstStyle/>
          <a:p>
            <a:r>
              <a:rPr lang="en-US" sz="1600"/>
              <a:t>The forces are</a:t>
            </a:r>
          </a:p>
          <a:p>
            <a:endParaRPr lang="en-US" sz="1600"/>
          </a:p>
          <a:p>
            <a:endParaRPr lang="en-US" sz="1600"/>
          </a:p>
          <a:p>
            <a:r>
              <a:rPr lang="en-US" sz="1600"/>
              <a:t>Where the spring force is reduced because the weight is doing some of the stretching (not part of SHM)</a:t>
            </a:r>
          </a:p>
        </p:txBody>
      </p:sp>
      <p:graphicFrame>
        <p:nvGraphicFramePr>
          <p:cNvPr id="160951" name="Object 183"/>
          <p:cNvGraphicFramePr>
            <a:graphicFrameLocks noChangeAspect="1"/>
          </p:cNvGraphicFramePr>
          <p:nvPr/>
        </p:nvGraphicFramePr>
        <p:xfrm>
          <a:off x="2514600" y="4876800"/>
          <a:ext cx="1676400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41120" imgH="634680" progId="Equation.3">
                  <p:embed/>
                </p:oleObj>
              </mc:Choice>
              <mc:Fallback>
                <p:oleObj name="Equation" r:id="rId2" imgW="1041120" imgH="634680" progId="Equation.3">
                  <p:embed/>
                  <p:pic>
                    <p:nvPicPr>
                      <p:cNvPr id="160951" name="Object 1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876800"/>
                        <a:ext cx="1676400" cy="1031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0952" name="Line 184"/>
          <p:cNvSpPr>
            <a:spLocks noChangeShapeType="1"/>
          </p:cNvSpPr>
          <p:nvPr/>
        </p:nvSpPr>
        <p:spPr bwMode="auto">
          <a:xfrm>
            <a:off x="4940300" y="1193800"/>
            <a:ext cx="0" cy="2095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0953" name="Line 185"/>
          <p:cNvSpPr>
            <a:spLocks noChangeShapeType="1"/>
          </p:cNvSpPr>
          <p:nvPr/>
        </p:nvSpPr>
        <p:spPr bwMode="auto">
          <a:xfrm rot="-5400000">
            <a:off x="7045325" y="1196975"/>
            <a:ext cx="0" cy="4197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160955" name="Object 187"/>
          <p:cNvGraphicFramePr>
            <a:graphicFrameLocks noChangeAspect="1"/>
          </p:cNvGraphicFramePr>
          <p:nvPr/>
        </p:nvGraphicFramePr>
        <p:xfrm>
          <a:off x="5597525" y="3811588"/>
          <a:ext cx="1800225" cy="41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440" imgH="253800" progId="Equation.3">
                  <p:embed/>
                </p:oleObj>
              </mc:Choice>
              <mc:Fallback>
                <p:oleObj name="Equation" r:id="rId4" imgW="1117440" imgH="253800" progId="Equation.3">
                  <p:embed/>
                  <p:pic>
                    <p:nvPicPr>
                      <p:cNvPr id="160955" name="Object 1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97525" y="3811588"/>
                        <a:ext cx="1800225" cy="412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956" name="Object 188"/>
          <p:cNvGraphicFramePr>
            <a:graphicFrameLocks noChangeAspect="1"/>
          </p:cNvGraphicFramePr>
          <p:nvPr/>
        </p:nvGraphicFramePr>
        <p:xfrm>
          <a:off x="5383213" y="5129213"/>
          <a:ext cx="3170237" cy="1362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480" imgH="838080" progId="Equation.3">
                  <p:embed/>
                </p:oleObj>
              </mc:Choice>
              <mc:Fallback>
                <p:oleObj name="Equation" r:id="rId6" imgW="1968480" imgH="838080" progId="Equation.3">
                  <p:embed/>
                  <p:pic>
                    <p:nvPicPr>
                      <p:cNvPr id="160956" name="Object 1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3213" y="5129213"/>
                        <a:ext cx="3170237" cy="1362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18"/>
          <p:cNvGrpSpPr>
            <a:grpSpLocks/>
          </p:cNvGrpSpPr>
          <p:nvPr/>
        </p:nvGrpSpPr>
        <p:grpSpPr bwMode="auto">
          <a:xfrm>
            <a:off x="5761038" y="1412875"/>
            <a:ext cx="3097212" cy="1722438"/>
            <a:chOff x="3629" y="890"/>
            <a:chExt cx="1951" cy="1085"/>
          </a:xfrm>
        </p:grpSpPr>
        <p:sp>
          <p:nvSpPr>
            <p:cNvPr id="160773" name="AutoShape 5"/>
            <p:cNvSpPr>
              <a:spLocks noChangeArrowheads="1"/>
            </p:cNvSpPr>
            <p:nvPr/>
          </p:nvSpPr>
          <p:spPr bwMode="auto">
            <a:xfrm>
              <a:off x="4300" y="15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775" name="Line 7"/>
            <p:cNvSpPr>
              <a:spLocks noChangeShapeType="1"/>
            </p:cNvSpPr>
            <p:nvPr/>
          </p:nvSpPr>
          <p:spPr bwMode="auto">
            <a:xfrm rot="5400000">
              <a:off x="4384" y="794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 rot="5400000">
              <a:off x="4096" y="1245"/>
              <a:ext cx="573" cy="94"/>
              <a:chOff x="2248" y="1248"/>
              <a:chExt cx="648" cy="128"/>
            </a:xfrm>
          </p:grpSpPr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77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0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78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3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785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6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788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9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791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2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794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5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797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8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00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01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808" name="Line 40"/>
            <p:cNvSpPr>
              <a:spLocks noChangeShapeType="1"/>
            </p:cNvSpPr>
            <p:nvPr/>
          </p:nvSpPr>
          <p:spPr bwMode="auto">
            <a:xfrm rot="5400000">
              <a:off x="3941" y="793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1"/>
            <p:cNvGrpSpPr>
              <a:grpSpLocks/>
            </p:cNvGrpSpPr>
            <p:nvPr/>
          </p:nvGrpSpPr>
          <p:grpSpPr bwMode="auto">
            <a:xfrm rot="5400000">
              <a:off x="3735" y="1161"/>
              <a:ext cx="418" cy="102"/>
              <a:chOff x="2248" y="1248"/>
              <a:chExt cx="648" cy="128"/>
            </a:xfrm>
          </p:grpSpPr>
          <p:grpSp>
            <p:nvGrpSpPr>
              <p:cNvPr id="13" name="Group 4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811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2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81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4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81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82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82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82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82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3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aphicFrame>
          <p:nvGraphicFramePr>
            <p:cNvPr id="160843" name="Object 75"/>
            <p:cNvGraphicFramePr>
              <a:graphicFrameLocks noChangeAspect="1"/>
            </p:cNvGraphicFramePr>
            <p:nvPr/>
          </p:nvGraphicFramePr>
          <p:xfrm>
            <a:off x="4901" y="1294"/>
            <a:ext cx="298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160" imgH="228600" progId="Equation.3">
                    <p:embed/>
                  </p:oleObj>
                </mc:Choice>
                <mc:Fallback>
                  <p:oleObj name="Equation" r:id="rId8" imgW="317160" imgH="228600" progId="Equation.3">
                    <p:embed/>
                    <p:pic>
                      <p:nvPicPr>
                        <p:cNvPr id="160843" name="Object 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01" y="1294"/>
                          <a:ext cx="298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0936" name="Object 168"/>
            <p:cNvGraphicFramePr>
              <a:graphicFrameLocks noChangeAspect="1"/>
            </p:cNvGraphicFramePr>
            <p:nvPr/>
          </p:nvGraphicFramePr>
          <p:xfrm>
            <a:off x="4923" y="890"/>
            <a:ext cx="291" cy="1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320" imgH="177480" progId="Equation.3">
                    <p:embed/>
                  </p:oleObj>
                </mc:Choice>
                <mc:Fallback>
                  <p:oleObj name="Equation" r:id="rId10" imgW="355320" imgH="177480" progId="Equation.3">
                    <p:embed/>
                    <p:pic>
                      <p:nvPicPr>
                        <p:cNvPr id="160936" name="Object 16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23" y="890"/>
                          <a:ext cx="291" cy="14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37" name="Line 169"/>
            <p:cNvSpPr>
              <a:spLocks noChangeShapeType="1"/>
            </p:cNvSpPr>
            <p:nvPr/>
          </p:nvSpPr>
          <p:spPr bwMode="auto">
            <a:xfrm rot="5400000">
              <a:off x="4262" y="372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0" name="Object 172"/>
            <p:cNvGraphicFramePr>
              <a:graphicFrameLocks noChangeAspect="1"/>
            </p:cNvGraphicFramePr>
            <p:nvPr/>
          </p:nvGraphicFramePr>
          <p:xfrm>
            <a:off x="4864" y="1550"/>
            <a:ext cx="348" cy="2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342720" imgH="228600" progId="Equation.3">
                    <p:embed/>
                  </p:oleObj>
                </mc:Choice>
                <mc:Fallback>
                  <p:oleObj name="Equation" r:id="rId12" imgW="342720" imgH="228600" progId="Equation.3">
                    <p:embed/>
                    <p:pic>
                      <p:nvPicPr>
                        <p:cNvPr id="160940" name="Object 17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64" y="1550"/>
                          <a:ext cx="348" cy="23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42" name="Line 174"/>
            <p:cNvSpPr>
              <a:spLocks noChangeShapeType="1"/>
            </p:cNvSpPr>
            <p:nvPr/>
          </p:nvSpPr>
          <p:spPr bwMode="auto">
            <a:xfrm rot="5400000">
              <a:off x="4262" y="804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3" name="Line 175"/>
            <p:cNvSpPr>
              <a:spLocks noChangeShapeType="1"/>
            </p:cNvSpPr>
            <p:nvPr/>
          </p:nvSpPr>
          <p:spPr bwMode="auto">
            <a:xfrm rot="5400000">
              <a:off x="4262" y="1068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5" name="Line 177"/>
            <p:cNvSpPr>
              <a:spLocks noChangeShapeType="1"/>
            </p:cNvSpPr>
            <p:nvPr/>
          </p:nvSpPr>
          <p:spPr bwMode="auto">
            <a:xfrm>
              <a:off x="4160" y="1408"/>
              <a:ext cx="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6" name="Line 178"/>
            <p:cNvSpPr>
              <a:spLocks noChangeShapeType="1"/>
            </p:cNvSpPr>
            <p:nvPr/>
          </p:nvSpPr>
          <p:spPr bwMode="auto">
            <a:xfrm flipH="1">
              <a:off x="4632" y="976"/>
              <a:ext cx="8" cy="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9" name="Object 181"/>
            <p:cNvGraphicFramePr>
              <a:graphicFrameLocks noChangeAspect="1"/>
            </p:cNvGraphicFramePr>
            <p:nvPr/>
          </p:nvGraphicFramePr>
          <p:xfrm>
            <a:off x="3936" y="1440"/>
            <a:ext cx="219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177480" progId="Equation.3">
                    <p:embed/>
                  </p:oleObj>
                </mc:Choice>
                <mc:Fallback>
                  <p:oleObj name="Equation" r:id="rId14" imgW="215640" imgH="177480" progId="Equation.3">
                    <p:embed/>
                    <p:pic>
                      <p:nvPicPr>
                        <p:cNvPr id="160949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36" y="1440"/>
                          <a:ext cx="219" cy="1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57" name="AutoShape 189"/>
            <p:cNvSpPr>
              <a:spLocks noChangeArrowheads="1"/>
            </p:cNvSpPr>
            <p:nvPr/>
          </p:nvSpPr>
          <p:spPr bwMode="auto">
            <a:xfrm>
              <a:off x="5308" y="17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958" name="Line 190"/>
            <p:cNvSpPr>
              <a:spLocks noChangeShapeType="1"/>
            </p:cNvSpPr>
            <p:nvPr/>
          </p:nvSpPr>
          <p:spPr bwMode="auto">
            <a:xfrm rot="5400000">
              <a:off x="5392" y="77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" name="Group 191"/>
            <p:cNvGrpSpPr>
              <a:grpSpLocks/>
            </p:cNvGrpSpPr>
            <p:nvPr/>
          </p:nvGrpSpPr>
          <p:grpSpPr bwMode="auto">
            <a:xfrm rot="5400000">
              <a:off x="4988" y="1337"/>
              <a:ext cx="805" cy="94"/>
              <a:chOff x="2248" y="1248"/>
              <a:chExt cx="648" cy="128"/>
            </a:xfrm>
          </p:grpSpPr>
          <p:grpSp>
            <p:nvGrpSpPr>
              <p:cNvPr id="22" name="Group 19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961" name="Line 19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2" name="Line 19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" name="Group 19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964" name="Line 19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5" name="Line 19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19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967" name="Line 19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8" name="Line 20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20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970" name="Line 20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1" name="Line 20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20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973" name="Line 20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4" name="Line 20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20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976" name="Line 20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7" name="Line 20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21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979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0" name="Line 2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21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982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3" name="Line 2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984" name="Line 216"/>
            <p:cNvSpPr>
              <a:spLocks noChangeShapeType="1"/>
            </p:cNvSpPr>
            <p:nvPr/>
          </p:nvSpPr>
          <p:spPr bwMode="auto">
            <a:xfrm rot="5400000">
              <a:off x="4230" y="1316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85" name="Object 217"/>
            <p:cNvGraphicFramePr>
              <a:graphicFrameLocks noChangeAspect="1"/>
            </p:cNvGraphicFramePr>
            <p:nvPr/>
          </p:nvGraphicFramePr>
          <p:xfrm>
            <a:off x="4931" y="1811"/>
            <a:ext cx="245" cy="1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41200" imgH="139680" progId="Equation.3">
                    <p:embed/>
                  </p:oleObj>
                </mc:Choice>
                <mc:Fallback>
                  <p:oleObj name="Equation" r:id="rId16" imgW="241200" imgH="139680" progId="Equation.3">
                    <p:embed/>
                    <p:pic>
                      <p:nvPicPr>
                        <p:cNvPr id="160985" name="Object 2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31" y="1811"/>
                          <a:ext cx="245" cy="14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Start with a horizontal block-spring System</a:t>
            </a:r>
          </a:p>
        </p:txBody>
      </p:sp>
      <p:sp>
        <p:nvSpPr>
          <p:cNvPr id="178179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Recall the relationships between position, velocity, and acceleration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Then in the x-direction</a:t>
            </a:r>
          </a:p>
          <a:p>
            <a:endParaRPr lang="en-US" sz="2000"/>
          </a:p>
          <a:p>
            <a:r>
              <a:rPr lang="en-US" sz="2000"/>
              <a:t>Ignore all but the x direction</a:t>
            </a:r>
          </a:p>
        </p:txBody>
      </p:sp>
      <p:sp>
        <p:nvSpPr>
          <p:cNvPr id="178217" name="Rectangle 41"/>
          <p:cNvSpPr>
            <a:spLocks noGrp="1" noChangeArrowheads="1"/>
          </p:cNvSpPr>
          <p:nvPr>
            <p:ph type="body" sz="half" idx="2"/>
          </p:nvPr>
        </p:nvSpPr>
        <p:spPr>
          <a:xfrm>
            <a:off x="4584700" y="2616200"/>
            <a:ext cx="4038600" cy="3560763"/>
          </a:xfrm>
        </p:spPr>
        <p:txBody>
          <a:bodyPr/>
          <a:lstStyle/>
          <a:p>
            <a:r>
              <a:rPr lang="en-US" sz="1800"/>
              <a:t>We define a convenient quantity</a:t>
            </a:r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And we have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Which is a lovely differential equation!</a:t>
            </a:r>
          </a:p>
          <a:p>
            <a:endParaRPr lang="en-US" sz="180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834188" y="1331913"/>
            <a:ext cx="1887537" cy="1042987"/>
            <a:chOff x="3801" y="2151"/>
            <a:chExt cx="1189" cy="657"/>
          </a:xfrm>
        </p:grpSpPr>
        <p:sp>
          <p:nvSpPr>
            <p:cNvPr id="178181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78182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183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78186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87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78189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0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78192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3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78195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6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78198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9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78201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2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78204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5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78207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8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78209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0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78211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2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  <p:graphicFrame>
        <p:nvGraphicFramePr>
          <p:cNvPr id="178214" name="Object 38"/>
          <p:cNvGraphicFramePr>
            <a:graphicFrameLocks noChangeAspect="1"/>
          </p:cNvGraphicFramePr>
          <p:nvPr/>
        </p:nvGraphicFramePr>
        <p:xfrm>
          <a:off x="1752600" y="2609850"/>
          <a:ext cx="1412875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419040" progId="Equation.3">
                  <p:embed/>
                </p:oleObj>
              </mc:Choice>
              <mc:Fallback>
                <p:oleObj name="Equation" r:id="rId2" imgW="863280" imgH="419040" progId="Equation.3">
                  <p:embed/>
                  <p:pic>
                    <p:nvPicPr>
                      <p:cNvPr id="17821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2609850"/>
                        <a:ext cx="1412875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5" name="Object 39"/>
          <p:cNvGraphicFramePr>
            <a:graphicFrameLocks noChangeAspect="1"/>
          </p:cNvGraphicFramePr>
          <p:nvPr/>
        </p:nvGraphicFramePr>
        <p:xfrm>
          <a:off x="1612900" y="3670300"/>
          <a:ext cx="1608138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65160" imgH="228600" progId="Equation.3">
                  <p:embed/>
                </p:oleObj>
              </mc:Choice>
              <mc:Fallback>
                <p:oleObj name="Equation" r:id="rId4" imgW="965160" imgH="228600" progId="Equation.3">
                  <p:embed/>
                  <p:pic>
                    <p:nvPicPr>
                      <p:cNvPr id="17821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2900" y="3670300"/>
                        <a:ext cx="1608138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6" name="Object 40"/>
          <p:cNvGraphicFramePr>
            <a:graphicFrameLocks noChangeAspect="1"/>
          </p:cNvGraphicFramePr>
          <p:nvPr/>
        </p:nvGraphicFramePr>
        <p:xfrm>
          <a:off x="1295400" y="5302250"/>
          <a:ext cx="1354138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520" imgH="419040" progId="Equation.3">
                  <p:embed/>
                </p:oleObj>
              </mc:Choice>
              <mc:Fallback>
                <p:oleObj name="Equation" r:id="rId6" imgW="812520" imgH="419040" progId="Equation.3">
                  <p:embed/>
                  <p:pic>
                    <p:nvPicPr>
                      <p:cNvPr id="17821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5302250"/>
                        <a:ext cx="1354138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8219" name="Rectangle 43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8218" name="Object 42"/>
          <p:cNvGraphicFramePr>
            <a:graphicFrameLocks noChangeAspect="1"/>
          </p:cNvGraphicFramePr>
          <p:nvPr/>
        </p:nvGraphicFramePr>
        <p:xfrm>
          <a:off x="6273800" y="2935288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393480" progId="Equation.3">
                  <p:embed/>
                </p:oleObj>
              </mc:Choice>
              <mc:Fallback>
                <p:oleObj name="Equation" r:id="rId8" imgW="507960" imgH="393480" progId="Equation.3">
                  <p:embed/>
                  <p:pic>
                    <p:nvPicPr>
                      <p:cNvPr id="17821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3800" y="2935288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20" name="Object 44"/>
          <p:cNvGraphicFramePr>
            <a:graphicFrameLocks noChangeAspect="1"/>
          </p:cNvGraphicFramePr>
          <p:nvPr/>
        </p:nvGraphicFramePr>
        <p:xfrm>
          <a:off x="5811838" y="410845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87320" imgH="419040" progId="Equation.3">
                  <p:embed/>
                </p:oleObj>
              </mc:Choice>
              <mc:Fallback>
                <p:oleObj name="Equation" r:id="rId10" imgW="787320" imgH="419040" progId="Equation.3">
                  <p:embed/>
                  <p:pic>
                    <p:nvPicPr>
                      <p:cNvPr id="17822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1838" y="410845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Solutions to the DEQ</a:t>
            </a: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7861300" cy="4525963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The differential equation needs a solution that is the negative of its own second derivative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From calculus we know a few of these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Take the cosine function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These might be solutions, but we need to find A, </a:t>
            </a:r>
            <a:r>
              <a:rPr lang="en-US" sz="2000" dirty="0">
                <a:sym typeface="Symbol" pitchFamily="18" charset="2"/>
              </a:rPr>
              <a:t>, </a:t>
            </a:r>
            <a:endParaRPr lang="en-US" sz="2000" dirty="0"/>
          </a:p>
        </p:txBody>
      </p:sp>
      <p:sp>
        <p:nvSpPr>
          <p:cNvPr id="183301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0" name="Object 4"/>
          <p:cNvGraphicFramePr>
            <a:graphicFrameLocks noChangeAspect="1"/>
          </p:cNvGraphicFramePr>
          <p:nvPr/>
        </p:nvGraphicFramePr>
        <p:xfrm>
          <a:off x="3686175" y="3629025"/>
          <a:ext cx="1541463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960" imgH="431640" progId="Equation.3">
                  <p:embed/>
                </p:oleObj>
              </mc:Choice>
              <mc:Fallback>
                <p:oleObj name="Equation" r:id="rId2" imgW="1218960" imgH="431640" progId="Equation.3">
                  <p:embed/>
                  <p:pic>
                    <p:nvPicPr>
                      <p:cNvPr id="1833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86175" y="3629025"/>
                        <a:ext cx="1541463" cy="546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302" name="Object 6"/>
          <p:cNvGraphicFramePr>
            <a:graphicFrameLocks noChangeAspect="1"/>
          </p:cNvGraphicFramePr>
          <p:nvPr/>
        </p:nvGraphicFramePr>
        <p:xfrm>
          <a:off x="3810000" y="213360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419040" progId="Equation.3">
                  <p:embed/>
                </p:oleObj>
              </mc:Choice>
              <mc:Fallback>
                <p:oleObj name="Equation" r:id="rId4" imgW="787320" imgH="419040" progId="Equation.3">
                  <p:embed/>
                  <p:pic>
                    <p:nvPicPr>
                      <p:cNvPr id="18330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0000" y="213360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3304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3" name="Object 7"/>
          <p:cNvGraphicFramePr>
            <a:graphicFrameLocks noChangeAspect="1"/>
          </p:cNvGraphicFramePr>
          <p:nvPr/>
        </p:nvGraphicFramePr>
        <p:xfrm>
          <a:off x="3862388" y="4567238"/>
          <a:ext cx="1589087" cy="1030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87240" imgH="1028520" progId="Equation.3">
                  <p:embed/>
                </p:oleObj>
              </mc:Choice>
              <mc:Fallback>
                <p:oleObj name="Equation" r:id="rId6" imgW="1587240" imgH="1028520" progId="Equation.3">
                  <p:embed/>
                  <p:pic>
                    <p:nvPicPr>
                      <p:cNvPr id="18330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62388" y="4567238"/>
                        <a:ext cx="1589087" cy="10302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Solution!</a:t>
            </a:r>
          </a:p>
        </p:txBody>
      </p:sp>
      <p:sp>
        <p:nvSpPr>
          <p:cNvPr id="184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Let's substitute these expressions into our differential equation for the motion</a:t>
            </a:r>
          </a:p>
          <a:p>
            <a:endParaRPr lang="en-US" sz="2400"/>
          </a:p>
          <a:p>
            <a:endParaRPr lang="en-US" sz="2400"/>
          </a:p>
          <a:p>
            <a:endParaRPr lang="en-US" sz="2400"/>
          </a:p>
          <a:p>
            <a:r>
              <a:rPr lang="en-US" sz="2400"/>
              <a:t>So as long as the quantity </a:t>
            </a:r>
            <a:r>
              <a:rPr lang="en-US" sz="2400">
                <a:sym typeface="Symbol" pitchFamily="18" charset="2"/>
              </a:rPr>
              <a:t> in the cosine function is the same as our convenient quantity</a:t>
            </a:r>
          </a:p>
          <a:p>
            <a:endParaRPr lang="en-US" sz="2400">
              <a:sym typeface="Symbol" pitchFamily="18" charset="2"/>
            </a:endParaRPr>
          </a:p>
          <a:p>
            <a:endParaRPr lang="en-US" sz="2400">
              <a:sym typeface="Symbol" pitchFamily="18" charset="2"/>
            </a:endParaRPr>
          </a:p>
          <a:p>
            <a:r>
              <a:rPr lang="en-US" sz="2400">
                <a:sym typeface="Symbol" pitchFamily="18" charset="2"/>
              </a:rPr>
              <a:t>We have a solution</a:t>
            </a:r>
          </a:p>
        </p:txBody>
      </p:sp>
      <p:sp>
        <p:nvSpPr>
          <p:cNvPr id="184325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4324" name="Object 4"/>
          <p:cNvGraphicFramePr>
            <a:graphicFrameLocks noChangeAspect="1"/>
          </p:cNvGraphicFramePr>
          <p:nvPr/>
        </p:nvGraphicFramePr>
        <p:xfrm>
          <a:off x="3070225" y="2452688"/>
          <a:ext cx="3235325" cy="941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73040" imgH="660240" progId="Equation.3">
                  <p:embed/>
                </p:oleObj>
              </mc:Choice>
              <mc:Fallback>
                <p:oleObj name="Equation" r:id="rId2" imgW="2273040" imgH="660240" progId="Equation.3">
                  <p:embed/>
                  <p:pic>
                    <p:nvPicPr>
                      <p:cNvPr id="18432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0225" y="2452688"/>
                        <a:ext cx="3235325" cy="941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6" name="Object 6"/>
          <p:cNvGraphicFramePr>
            <a:graphicFrameLocks noChangeAspect="1"/>
          </p:cNvGraphicFramePr>
          <p:nvPr/>
        </p:nvGraphicFramePr>
        <p:xfrm>
          <a:off x="4102100" y="4662488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960" imgH="393480" progId="Equation.3">
                  <p:embed/>
                </p:oleObj>
              </mc:Choice>
              <mc:Fallback>
                <p:oleObj name="Equation" r:id="rId4" imgW="507960" imgH="393480" progId="Equation.3">
                  <p:embed/>
                  <p:pic>
                    <p:nvPicPr>
                      <p:cNvPr id="18432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02100" y="4662488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7" name="Object 7"/>
          <p:cNvGraphicFramePr>
            <a:graphicFrameLocks noChangeAspect="1"/>
          </p:cNvGraphicFramePr>
          <p:nvPr/>
        </p:nvGraphicFramePr>
        <p:xfrm>
          <a:off x="3630613" y="5403850"/>
          <a:ext cx="25558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06360" imgH="215640" progId="Equation.3">
                  <p:embed/>
                </p:oleObj>
              </mc:Choice>
              <mc:Fallback>
                <p:oleObj name="Equation" r:id="rId6" imgW="1206360" imgH="215640" progId="Equation.3">
                  <p:embed/>
                  <p:pic>
                    <p:nvPicPr>
                      <p:cNvPr id="1843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0613" y="5403850"/>
                        <a:ext cx="2555875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Properties</a:t>
            </a: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From Trigonometry we can identify </a:t>
            </a:r>
            <a:r>
              <a:rPr lang="en-US" sz="2400">
                <a:sym typeface="Symbol" pitchFamily="18" charset="2"/>
              </a:rPr>
              <a:t> as the angular frequency</a:t>
            </a:r>
          </a:p>
          <a:p>
            <a:endParaRPr lang="en-US" sz="2400">
              <a:sym typeface="Symbol" pitchFamily="18" charset="2"/>
            </a:endParaRPr>
          </a:p>
          <a:p>
            <a:pPr>
              <a:buFontTx/>
              <a:buNone/>
            </a:pPr>
            <a:r>
              <a:rPr lang="en-US" sz="2400">
                <a:sym typeface="Symbol" pitchFamily="18" charset="2"/>
              </a:rPr>
              <a:t> and  as the phase angle</a:t>
            </a:r>
          </a:p>
          <a:p>
            <a:r>
              <a:rPr lang="en-US" sz="2400">
                <a:sym typeface="Symbol" pitchFamily="18" charset="2"/>
              </a:rPr>
              <a:t>We also recognize A as the amplitude</a:t>
            </a:r>
          </a:p>
          <a:p>
            <a:r>
              <a:rPr lang="en-US" sz="2400">
                <a:sym typeface="Symbol" pitchFamily="18" charset="2"/>
              </a:rPr>
              <a:t>We need values for these last two quantities to complete our solution</a:t>
            </a:r>
          </a:p>
        </p:txBody>
      </p:sp>
      <p:sp>
        <p:nvSpPr>
          <p:cNvPr id="185349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48" name="Object 4"/>
          <p:cNvGraphicFramePr>
            <a:graphicFrameLocks noChangeAspect="1"/>
          </p:cNvGraphicFramePr>
          <p:nvPr/>
        </p:nvGraphicFramePr>
        <p:xfrm>
          <a:off x="2794000" y="2054225"/>
          <a:ext cx="134937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600" imgH="444240" progId="Equation.3">
                  <p:embed/>
                </p:oleObj>
              </mc:Choice>
              <mc:Fallback>
                <p:oleObj name="Equation" r:id="rId2" imgW="939600" imgH="444240" progId="Equation.3">
                  <p:embed/>
                  <p:pic>
                    <p:nvPicPr>
                      <p:cNvPr id="18534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4000" y="2054225"/>
                        <a:ext cx="134937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5351" name="Rectangle 7"/>
          <p:cNvSpPr>
            <a:spLocks noChangeArrowheads="1"/>
          </p:cNvSpPr>
          <p:nvPr/>
        </p:nvSpPr>
        <p:spPr bwMode="auto">
          <a:xfrm>
            <a:off x="0" y="29622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50" name="Object 6"/>
          <p:cNvGraphicFramePr>
            <a:graphicFrameLocks noChangeAspect="1"/>
          </p:cNvGraphicFramePr>
          <p:nvPr/>
        </p:nvGraphicFramePr>
        <p:xfrm>
          <a:off x="4391025" y="4945063"/>
          <a:ext cx="381000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80880" imgH="672840" progId="Equation.3">
                  <p:embed/>
                </p:oleObj>
              </mc:Choice>
              <mc:Fallback>
                <p:oleObj name="Equation" r:id="rId4" imgW="380880" imgH="672840" progId="Equation.3">
                  <p:embed/>
                  <p:pic>
                    <p:nvPicPr>
                      <p:cNvPr id="18535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1025" y="4945063"/>
                        <a:ext cx="381000" cy="674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535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168900" y="4445000"/>
            <a:ext cx="2724150" cy="17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Period and Frequency</a:t>
            </a: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775200" cy="4525963"/>
          </a:xfrm>
        </p:spPr>
        <p:txBody>
          <a:bodyPr/>
          <a:lstStyle/>
          <a:p>
            <a:r>
              <a:rPr lang="en-US" sz="2000"/>
              <a:t>The period is the time it takes for the mass to travel through one complete cycle</a:t>
            </a:r>
          </a:p>
          <a:p>
            <a:r>
              <a:rPr lang="en-US" sz="2000"/>
              <a:t>We know from trig that the period and frequency are related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We can write both in terms of the SHO constants</a:t>
            </a:r>
          </a:p>
        </p:txBody>
      </p:sp>
      <p:pic>
        <p:nvPicPr>
          <p:cNvPr id="18637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10200" y="1657350"/>
            <a:ext cx="3187700" cy="2105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6374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3" name="Object 5"/>
          <p:cNvGraphicFramePr>
            <a:graphicFrameLocks noChangeAspect="1"/>
          </p:cNvGraphicFramePr>
          <p:nvPr/>
        </p:nvGraphicFramePr>
        <p:xfrm>
          <a:off x="2032000" y="3441700"/>
          <a:ext cx="790575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320" imgH="419040" progId="Equation.3">
                  <p:embed/>
                </p:oleObj>
              </mc:Choice>
              <mc:Fallback>
                <p:oleObj name="Equation" r:id="rId3" imgW="787320" imgH="419040" progId="Equation.3">
                  <p:embed/>
                  <p:pic>
                    <p:nvPicPr>
                      <p:cNvPr id="18637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2000" y="3441700"/>
                        <a:ext cx="790575" cy="419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6376" name="Rectangle 8"/>
          <p:cNvSpPr>
            <a:spLocks noChangeArrowheads="1"/>
          </p:cNvSpPr>
          <p:nvPr/>
        </p:nvSpPr>
        <p:spPr bwMode="auto">
          <a:xfrm>
            <a:off x="0" y="3417888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5" name="Object 7"/>
          <p:cNvGraphicFramePr>
            <a:graphicFrameLocks noChangeAspect="1"/>
          </p:cNvGraphicFramePr>
          <p:nvPr/>
        </p:nvGraphicFramePr>
        <p:xfrm>
          <a:off x="2108200" y="4878388"/>
          <a:ext cx="800100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00100" imgH="889000" progId="Equation.3">
                  <p:embed/>
                </p:oleObj>
              </mc:Choice>
              <mc:Fallback>
                <p:oleObj name="Equation" r:id="rId5" imgW="800100" imgH="889000" progId="Equation.3">
                  <p:embed/>
                  <p:pic>
                    <p:nvPicPr>
                      <p:cNvPr id="1863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8200" y="4878388"/>
                        <a:ext cx="800100" cy="885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Velocity and Acceleration</a:t>
            </a:r>
          </a:p>
        </p:txBody>
      </p:sp>
      <p:sp>
        <p:nvSpPr>
          <p:cNvPr id="187404" name="Rectangle 12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We find the velocity as a function of time by taking the derivative of our solution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amplitude is found by recalling that the maximum value of a sine function is 1</a:t>
            </a:r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2000"/>
              <a:t>We continue taking derivatives 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Again, cosine has a maximum of 1 so</a:t>
            </a:r>
          </a:p>
        </p:txBody>
      </p:sp>
      <p:sp>
        <p:nvSpPr>
          <p:cNvPr id="187397" name="Rectangle 5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396" name="Object 4"/>
          <p:cNvGraphicFramePr>
            <a:graphicFrameLocks noChangeAspect="1"/>
          </p:cNvGraphicFramePr>
          <p:nvPr/>
        </p:nvGraphicFramePr>
        <p:xfrm>
          <a:off x="1674813" y="2749550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215640" progId="Equation.3">
                  <p:embed/>
                </p:oleObj>
              </mc:Choice>
              <mc:Fallback>
                <p:oleObj name="Equation" r:id="rId2" imgW="1193760" imgH="215640" progId="Equation.3">
                  <p:embed/>
                  <p:pic>
                    <p:nvPicPr>
                      <p:cNvPr id="1873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4813" y="2749550"/>
                        <a:ext cx="11953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399" name="Rectangle 7"/>
          <p:cNvSpPr>
            <a:spLocks noChangeArrowheads="1"/>
          </p:cNvSpPr>
          <p:nvPr/>
        </p:nvSpPr>
        <p:spPr bwMode="auto">
          <a:xfrm>
            <a:off x="0" y="31908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87401" name="Rectangle 9"/>
          <p:cNvSpPr>
            <a:spLocks noChangeArrowheads="1"/>
          </p:cNvSpPr>
          <p:nvPr/>
        </p:nvSpPr>
        <p:spPr bwMode="auto">
          <a:xfrm>
            <a:off x="0" y="31908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0" name="Object 8"/>
          <p:cNvGraphicFramePr>
            <a:graphicFrameLocks noChangeAspect="1"/>
          </p:cNvGraphicFramePr>
          <p:nvPr/>
        </p:nvGraphicFramePr>
        <p:xfrm>
          <a:off x="1019175" y="3271838"/>
          <a:ext cx="2741613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55520" imgH="393480" progId="Equation.3">
                  <p:embed/>
                </p:oleObj>
              </mc:Choice>
              <mc:Fallback>
                <p:oleObj name="Equation" r:id="rId4" imgW="1955520" imgH="393480" progId="Equation.3">
                  <p:embed/>
                  <p:pic>
                    <p:nvPicPr>
                      <p:cNvPr id="1874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19175" y="3271838"/>
                        <a:ext cx="2741613" cy="5540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3" name="Rectangle 11"/>
          <p:cNvSpPr>
            <a:spLocks noChangeArrowheads="1"/>
          </p:cNvSpPr>
          <p:nvPr/>
        </p:nvSpPr>
        <p:spPr bwMode="auto">
          <a:xfrm>
            <a:off x="0" y="3205163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2" name="Object 10"/>
          <p:cNvGraphicFramePr>
            <a:graphicFrameLocks noChangeAspect="1"/>
          </p:cNvGraphicFramePr>
          <p:nvPr/>
        </p:nvGraphicFramePr>
        <p:xfrm>
          <a:off x="1143000" y="5237163"/>
          <a:ext cx="2366963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59866" imgH="444307" progId="Equation.3">
                  <p:embed/>
                </p:oleObj>
              </mc:Choice>
              <mc:Fallback>
                <p:oleObj name="Equation" r:id="rId6" imgW="1459866" imgH="444307" progId="Equation.3">
                  <p:embed/>
                  <p:pic>
                    <p:nvPicPr>
                      <p:cNvPr id="187402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5237163"/>
                        <a:ext cx="2366963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7" name="Rectangle 15"/>
          <p:cNvSpPr>
            <a:spLocks noChangeArrowheads="1"/>
          </p:cNvSpPr>
          <p:nvPr/>
        </p:nvSpPr>
        <p:spPr bwMode="auto">
          <a:xfrm>
            <a:off x="0" y="305752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6" name="Object 14"/>
          <p:cNvGraphicFramePr>
            <a:graphicFrameLocks noChangeAspect="1"/>
          </p:cNvGraphicFramePr>
          <p:nvPr/>
        </p:nvGraphicFramePr>
        <p:xfrm>
          <a:off x="5133975" y="2411413"/>
          <a:ext cx="3121025" cy="1068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30320" imgH="660240" progId="Equation.3">
                  <p:embed/>
                </p:oleObj>
              </mc:Choice>
              <mc:Fallback>
                <p:oleObj name="Equation" r:id="rId8" imgW="1930320" imgH="660240" progId="Equation.3">
                  <p:embed/>
                  <p:pic>
                    <p:nvPicPr>
                      <p:cNvPr id="187406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33975" y="2411413"/>
                        <a:ext cx="3121025" cy="1068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9" name="Rectangle 17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8" name="Object 16"/>
          <p:cNvGraphicFramePr>
            <a:graphicFrameLocks noChangeAspect="1"/>
          </p:cNvGraphicFramePr>
          <p:nvPr/>
        </p:nvGraphicFramePr>
        <p:xfrm>
          <a:off x="5345113" y="5251450"/>
          <a:ext cx="248920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09400" imgH="393480" progId="Equation.3">
                  <p:embed/>
                </p:oleObj>
              </mc:Choice>
              <mc:Fallback>
                <p:oleObj name="Equation" r:id="rId10" imgW="1409400" imgH="393480" progId="Equation.3">
                  <p:embed/>
                  <p:pic>
                    <p:nvPicPr>
                      <p:cNvPr id="18740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45113" y="5251450"/>
                        <a:ext cx="248920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968500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 sz="2400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 sz="2400"/>
              <a:t>maximum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381500" y="2057400"/>
            <a:ext cx="4686300" cy="3282950"/>
            <a:chOff x="2496" y="1296"/>
            <a:chExt cx="2952" cy="2068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89446" name="AutoShape 6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47" name="Text Box 7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48" name="Line 8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49" name="Line 9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8945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2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89454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5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89457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8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89460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1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89463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4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89466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7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89469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0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89472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3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89474" name="Line 34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5" name="Text Box 35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476" name="Line 36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7" name="Text Box 37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78" name="Text Box 38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9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89480" name="AutoShape 40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81" name="Text Box 41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482" name="Line 42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83" name="Line 43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5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6" name="Line 4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87" name="Line 4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8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9" name="Line 4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0" name="Line 5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1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492" name="Line 5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3" name="Line 5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4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5" name="Line 5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6" name="Line 5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7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8" name="Line 5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9" name="Line 5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60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1" name="Line 6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2" name="Line 6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3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4" name="Line 6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5" name="Line 6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6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7" name="Line 6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8" name="Line 6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09" name="Line 69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0" name="Text Box 70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11" name="Line 71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2" name="Text Box 72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13" name="Line 73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4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89515" name="AutoShape 75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16" name="Line 76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7" name="Line 77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9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0" name="Line 8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1" name="Line 8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2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3" name="Line 8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4" name="Line 8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5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26" name="Line 8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7" name="Line 8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8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9" name="Line 8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0" name="Line 9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1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2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3" name="Line 9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4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5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6" name="Line 9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7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8" name="Line 9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9" name="Line 9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100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41" name="Line 1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42" name="Line 10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43" name="Line 103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4" name="Text Box 104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45" name="Line 105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6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47" name="Text Box 107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89506" name="Group 108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89549" name="AutoShape 109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50" name="Text Box 110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551" name="Line 111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52" name="Line 112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89514" name="Group 113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89518" name="Group 11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5" name="Line 11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6" name="Line 11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19" name="Group 11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8" name="Line 1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9" name="Line 11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2" name="Group 12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61" name="Line 12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2" name="Line 12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5" name="Group 12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4" name="Line 1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5" name="Line 12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8" name="Group 12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7" name="Line 12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8" name="Line 12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1" name="Group 12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0" name="Line 13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1" name="Line 13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4" name="Group 13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3" name="Line 1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4" name="Line 13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7" name="Group 13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6" name="Line 13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7" name="Line 13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78" name="Line 138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79" name="Text Box 139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80" name="Line 140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81" name="Text Box 141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82" name="Line 142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9583" name="Arc 143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89584" name="Object 144"/>
          <p:cNvGraphicFramePr>
            <a:graphicFrameLocks noGrp="1" noChangeAspect="1"/>
          </p:cNvGraphicFramePr>
          <p:nvPr>
            <p:ph sz="half" idx="2"/>
          </p:nvPr>
        </p:nvGraphicFramePr>
        <p:xfrm>
          <a:off x="1663700" y="1301750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89584" name="Object 1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3700" y="1301750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Velocity</a:t>
            </a: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62300" cy="4525963"/>
          </a:xfrm>
        </p:spPr>
        <p:txBody>
          <a:bodyPr/>
          <a:lstStyle/>
          <a:p>
            <a:r>
              <a:rPr lang="en-US"/>
              <a:t>The velocity of the mass experiencing SHM is </a:t>
            </a:r>
          </a:p>
          <a:p>
            <a:pPr lvl="1"/>
            <a:r>
              <a:rPr lang="en-US"/>
              <a:t>maximum at equilibrium, </a:t>
            </a:r>
          </a:p>
          <a:p>
            <a:pPr lvl="1"/>
            <a:r>
              <a:rPr lang="en-US"/>
              <a:t>Zero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057650" y="3122613"/>
            <a:ext cx="1925638" cy="1057275"/>
            <a:chOff x="176" y="1300"/>
            <a:chExt cx="1213" cy="666"/>
          </a:xfrm>
        </p:grpSpPr>
        <p:sp>
          <p:nvSpPr>
            <p:cNvPr id="158725" name="AutoShape 5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26" name="Text Box 6"/>
            <p:cNvSpPr txBox="1">
              <a:spLocks noChangeArrowheads="1"/>
            </p:cNvSpPr>
            <p:nvPr/>
          </p:nvSpPr>
          <p:spPr bwMode="auto">
            <a:xfrm>
              <a:off x="982" y="1329"/>
              <a:ext cx="318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8727" name="Line 7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28" name="Line 8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8730" name="Line 1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1" name="Line 1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8733" name="Line 1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4" name="Line 1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5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8736" name="Line 1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7" name="Line 1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8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8739" name="Line 1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0" name="Line 2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1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8742" name="Line 2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3" name="Line 2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4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8745" name="Line 2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6" name="Line 2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7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8748" name="Line 2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9" name="Line 2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0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8751" name="Line 3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52" name="Line 3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8753" name="Line 33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4" name="Text Box 34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55" name="Line 35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6" name="Text Box 36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57" name="Text Box 37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8"/>
          <p:cNvGrpSpPr>
            <a:grpSpLocks/>
          </p:cNvGrpSpPr>
          <p:nvPr/>
        </p:nvGrpSpPr>
        <p:grpSpPr bwMode="auto">
          <a:xfrm>
            <a:off x="5424488" y="2019300"/>
            <a:ext cx="1887537" cy="1123950"/>
            <a:chOff x="1037" y="605"/>
            <a:chExt cx="1189" cy="708"/>
          </a:xfrm>
        </p:grpSpPr>
        <p:sp>
          <p:nvSpPr>
            <p:cNvPr id="158759" name="AutoShape 39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60" name="Text Box 40"/>
            <p:cNvSpPr txBox="1">
              <a:spLocks noChangeArrowheads="1"/>
            </p:cNvSpPr>
            <p:nvPr/>
          </p:nvSpPr>
          <p:spPr bwMode="auto">
            <a:xfrm>
              <a:off x="1540" y="605"/>
              <a:ext cx="191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A</a:t>
              </a:r>
              <a:endParaRPr lang="en-US" sz="1400" baseline="-25000"/>
            </a:p>
          </p:txBody>
        </p:sp>
        <p:sp>
          <p:nvSpPr>
            <p:cNvPr id="158761" name="Line 41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62" name="Line 42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3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65" name="Line 4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6" name="Line 4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768" name="Line 4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9" name="Line 4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771" name="Line 5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2" name="Line 5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774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5" name="Line 5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777" name="Line 5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8" name="Line 5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780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1" name="Line 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783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4" name="Line 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786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7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788" name="Line 68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89" name="Text Box 69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90" name="Line 70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1" name="Text Box 71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92" name="Line 72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3"/>
          <p:cNvGrpSpPr>
            <a:grpSpLocks/>
          </p:cNvGrpSpPr>
          <p:nvPr/>
        </p:nvGrpSpPr>
        <p:grpSpPr bwMode="auto">
          <a:xfrm>
            <a:off x="7131050" y="3122613"/>
            <a:ext cx="1612900" cy="1082675"/>
            <a:chOff x="2112" y="1300"/>
            <a:chExt cx="1016" cy="682"/>
          </a:xfrm>
        </p:grpSpPr>
        <p:sp>
          <p:nvSpPr>
            <p:cNvPr id="158794" name="AutoShape 74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95" name="Line 75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6" name="Line 76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7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99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0" name="Line 8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1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02" name="Line 8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3" name="Line 8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4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05" name="Line 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6" name="Line 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7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08" name="Line 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9" name="Line 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0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11" name="Line 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2" name="Line 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3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14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5" name="Line 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6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17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8" name="Line 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99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20" name="Line 1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21" name="Line 1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22" name="Line 102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3" name="Text Box 103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24" name="Line 104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5" name="Text Box 105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26" name="Text Box 106"/>
            <p:cNvSpPr txBox="1">
              <a:spLocks noChangeArrowheads="1"/>
            </p:cNvSpPr>
            <p:nvPr/>
          </p:nvSpPr>
          <p:spPr bwMode="auto">
            <a:xfrm>
              <a:off x="2342" y="1311"/>
              <a:ext cx="318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7"/>
          <p:cNvGrpSpPr>
            <a:grpSpLocks/>
          </p:cNvGrpSpPr>
          <p:nvPr/>
        </p:nvGrpSpPr>
        <p:grpSpPr bwMode="auto">
          <a:xfrm>
            <a:off x="5411788" y="4140200"/>
            <a:ext cx="1798637" cy="1162050"/>
            <a:chOff x="1029" y="1941"/>
            <a:chExt cx="1133" cy="732"/>
          </a:xfrm>
        </p:grpSpPr>
        <p:sp>
          <p:nvSpPr>
            <p:cNvPr id="158828" name="AutoShape 108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829" name="Text Box 109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30" name="Line 110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31" name="Line 111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8816" name="Group 112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8819" name="Group 113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834" name="Line 1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5" name="Line 1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27" name="Group 116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37" name="Line 1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8" name="Line 1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2" name="Group 119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40" name="Line 1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1" name="Line 1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3" name="Group 122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43" name="Line 1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4" name="Line 1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6" name="Group 125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46" name="Line 1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7" name="Line 1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9" name="Group 128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49" name="Line 1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0" name="Line 1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2" name="Group 131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52" name="Line 1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3" name="Line 1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5" name="Group 134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55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6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57" name="Line 137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58" name="Text Box 138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59" name="Line 139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60" name="Text Box 140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61" name="Line 141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8862" name="Arc 142"/>
          <p:cNvSpPr>
            <a:spLocks/>
          </p:cNvSpPr>
          <p:nvPr/>
        </p:nvSpPr>
        <p:spPr bwMode="auto">
          <a:xfrm>
            <a:off x="5859463" y="3184525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1565275" y="2811463"/>
            <a:ext cx="1925638" cy="1057275"/>
            <a:chOff x="176" y="1300"/>
            <a:chExt cx="1213" cy="666"/>
          </a:xfrm>
        </p:grpSpPr>
        <p:sp>
          <p:nvSpPr>
            <p:cNvPr id="155654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55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295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  <p:sp>
          <p:nvSpPr>
            <p:cNvPr id="155656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57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5659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0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5662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3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5665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6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5668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9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5671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2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5674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5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5677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8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5680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81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5682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3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684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5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686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9"/>
          <p:cNvGrpSpPr>
            <a:grpSpLocks/>
          </p:cNvGrpSpPr>
          <p:nvPr/>
        </p:nvGrpSpPr>
        <p:grpSpPr bwMode="auto">
          <a:xfrm>
            <a:off x="3716338" y="1193800"/>
            <a:ext cx="1887537" cy="1123950"/>
            <a:chOff x="1037" y="605"/>
            <a:chExt cx="1189" cy="708"/>
          </a:xfrm>
        </p:grpSpPr>
        <p:sp>
          <p:nvSpPr>
            <p:cNvPr id="155688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89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07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</a:t>
              </a:r>
              <a:r>
                <a:rPr lang="en-US" sz="1400" baseline="-25000" dirty="0">
                  <a:solidFill>
                    <a:srgbClr val="00B050"/>
                  </a:solidFill>
                </a:rPr>
                <a:t>max</a:t>
              </a:r>
            </a:p>
          </p:txBody>
        </p:sp>
        <p:sp>
          <p:nvSpPr>
            <p:cNvPr id="155690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91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69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69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0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0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0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0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1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15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6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17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18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19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0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21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rgbClr val="00B050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4"/>
          <p:cNvGrpSpPr>
            <a:grpSpLocks/>
          </p:cNvGrpSpPr>
          <p:nvPr/>
        </p:nvGrpSpPr>
        <p:grpSpPr bwMode="auto">
          <a:xfrm>
            <a:off x="6323013" y="2752725"/>
            <a:ext cx="1612900" cy="1082675"/>
            <a:chOff x="2112" y="1300"/>
            <a:chExt cx="1016" cy="682"/>
          </a:xfrm>
        </p:grpSpPr>
        <p:sp>
          <p:nvSpPr>
            <p:cNvPr id="155723" name="AutoShape 75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24" name="Line 76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5" name="Line 77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8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28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29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3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34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5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3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40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1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4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46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7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0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49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50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51" name="Line 103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2" name="Text Box 104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53" name="Line 105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4" name="Text Box 106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55" name="Text Box 107"/>
            <p:cNvSpPr txBox="1">
              <a:spLocks noChangeArrowheads="1"/>
            </p:cNvSpPr>
            <p:nvPr/>
          </p:nvSpPr>
          <p:spPr bwMode="auto">
            <a:xfrm>
              <a:off x="2342" y="1311"/>
              <a:ext cx="295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</p:grpSp>
      <p:grpSp>
        <p:nvGrpSpPr>
          <p:cNvPr id="31" name="Group 108"/>
          <p:cNvGrpSpPr>
            <a:grpSpLocks/>
          </p:cNvGrpSpPr>
          <p:nvPr/>
        </p:nvGrpSpPr>
        <p:grpSpPr bwMode="auto">
          <a:xfrm>
            <a:off x="3703638" y="4400550"/>
            <a:ext cx="1798637" cy="1162050"/>
            <a:chOff x="1029" y="1941"/>
            <a:chExt cx="1133" cy="732"/>
          </a:xfrm>
        </p:grpSpPr>
        <p:sp>
          <p:nvSpPr>
            <p:cNvPr id="155757" name="AutoShape 109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58" name="Text Box 110"/>
            <p:cNvSpPr txBox="1">
              <a:spLocks noChangeArrowheads="1"/>
            </p:cNvSpPr>
            <p:nvPr/>
          </p:nvSpPr>
          <p:spPr bwMode="auto">
            <a:xfrm>
              <a:off x="1532" y="1941"/>
              <a:ext cx="307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</a:t>
              </a:r>
              <a:r>
                <a:rPr lang="en-US" sz="1400" baseline="-25000" dirty="0">
                  <a:solidFill>
                    <a:srgbClr val="00B050"/>
                  </a:solidFill>
                </a:rPr>
                <a:t>max</a:t>
              </a:r>
            </a:p>
          </p:txBody>
        </p:sp>
        <p:sp>
          <p:nvSpPr>
            <p:cNvPr id="155759" name="Line 111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60" name="Line 112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5687" name="Group 113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5692" name="Group 11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63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4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3" name="Group 11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66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7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6" name="Group 12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69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0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9" name="Group 12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72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3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2" name="Group 12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75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6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5" name="Group 12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78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9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8" name="Group 13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81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2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11" name="Group 13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84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5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86" name="Line 138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7" name="Text Box 139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88" name="Line 140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9" name="Text Box 141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90" name="Line 142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rgbClr val="00B050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5791" name="Arc 143"/>
          <p:cNvSpPr>
            <a:spLocks/>
          </p:cNvSpPr>
          <p:nvPr/>
        </p:nvSpPr>
        <p:spPr bwMode="auto">
          <a:xfrm>
            <a:off x="4151313" y="2873375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5792" name="Text Box 144"/>
          <p:cNvSpPr txBox="1">
            <a:spLocks noChangeArrowheads="1"/>
          </p:cNvSpPr>
          <p:nvPr/>
        </p:nvSpPr>
        <p:spPr bwMode="auto">
          <a:xfrm>
            <a:off x="2844800" y="2363788"/>
            <a:ext cx="55835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155794" name="Line 146"/>
          <p:cNvSpPr>
            <a:spLocks noChangeShapeType="1"/>
          </p:cNvSpPr>
          <p:nvPr/>
        </p:nvSpPr>
        <p:spPr bwMode="auto">
          <a:xfrm flipH="1">
            <a:off x="2894013" y="2771759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5" name="Text Box 147"/>
          <p:cNvSpPr txBox="1">
            <a:spLocks noChangeArrowheads="1"/>
          </p:cNvSpPr>
          <p:nvPr/>
        </p:nvSpPr>
        <p:spPr bwMode="auto">
          <a:xfrm>
            <a:off x="6654800" y="2365375"/>
            <a:ext cx="55835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 baseline="-25000">
                <a:solidFill>
                  <a:srgbClr val="FF0000"/>
                </a:solidFill>
              </a:rPr>
              <a:t>max</a:t>
            </a:r>
          </a:p>
        </p:txBody>
      </p:sp>
      <p:sp>
        <p:nvSpPr>
          <p:cNvPr id="155796" name="Line 148"/>
          <p:cNvSpPr>
            <a:spLocks noChangeShapeType="1"/>
          </p:cNvSpPr>
          <p:nvPr/>
        </p:nvSpPr>
        <p:spPr bwMode="auto">
          <a:xfrm>
            <a:off x="6718300" y="2736850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7" name="Text Box 149"/>
          <p:cNvSpPr txBox="1">
            <a:spLocks noChangeArrowheads="1"/>
          </p:cNvSpPr>
          <p:nvPr/>
        </p:nvSpPr>
        <p:spPr bwMode="auto">
          <a:xfrm>
            <a:off x="4441825" y="920750"/>
            <a:ext cx="52770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a=0</a:t>
            </a:r>
          </a:p>
        </p:txBody>
      </p:sp>
      <p:sp>
        <p:nvSpPr>
          <p:cNvPr id="155798" name="Text Box 150"/>
          <p:cNvSpPr txBox="1">
            <a:spLocks noChangeArrowheads="1"/>
          </p:cNvSpPr>
          <p:nvPr/>
        </p:nvSpPr>
        <p:spPr bwMode="auto">
          <a:xfrm>
            <a:off x="4492625" y="4149725"/>
            <a:ext cx="52770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a=0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Comparison of position, velocity, acceleration</a:t>
            </a: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9116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/>
              <a:t>Red is the displacement, green is the velocity, and blue is the acceleration</a:t>
            </a:r>
          </a:p>
          <a:p>
            <a:pPr>
              <a:lnSpc>
                <a:spcPct val="90000"/>
              </a:lnSpc>
            </a:pPr>
            <a:r>
              <a:rPr lang="en-US" sz="2400"/>
              <a:t>Acceleration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</a:t>
            </a:r>
          </a:p>
          <a:p>
            <a:pPr>
              <a:lnSpc>
                <a:spcPct val="90000"/>
              </a:lnSpc>
            </a:pPr>
            <a:r>
              <a:rPr lang="en-US" sz="2400"/>
              <a:t>Velocity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/2</a:t>
            </a:r>
          </a:p>
          <a:p>
            <a:pPr>
              <a:lnSpc>
                <a:spcPct val="90000"/>
              </a:lnSpc>
            </a:pPr>
            <a:endParaRPr lang="en-US" sz="2400"/>
          </a:p>
        </p:txBody>
      </p:sp>
      <p:pic>
        <p:nvPicPr>
          <p:cNvPr id="1812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83100" y="1762125"/>
            <a:ext cx="4278313" cy="3727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0"/>
            <a:ext cx="7086600" cy="1143000"/>
          </a:xfrm>
        </p:spPr>
        <p:txBody>
          <a:bodyPr/>
          <a:lstStyle/>
          <a:p>
            <a:r>
              <a:rPr lang="en-US" sz="2800"/>
              <a:t>Comparison: SHM Position and Velocity</a:t>
            </a:r>
          </a:p>
        </p:txBody>
      </p:sp>
      <p:graphicFrame>
        <p:nvGraphicFramePr>
          <p:cNvPr id="166918" name="Object 6"/>
          <p:cNvGraphicFramePr>
            <a:graphicFrameLocks noChangeAspect="1"/>
          </p:cNvGraphicFramePr>
          <p:nvPr/>
        </p:nvGraphicFramePr>
        <p:xfrm>
          <a:off x="581025" y="2049463"/>
          <a:ext cx="3557588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669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2049463"/>
                        <a:ext cx="3557588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19" name="Object 7"/>
          <p:cNvGraphicFramePr>
            <a:graphicFrameLocks noChangeAspect="1"/>
          </p:cNvGraphicFramePr>
          <p:nvPr/>
        </p:nvGraphicFramePr>
        <p:xfrm>
          <a:off x="484188" y="2947988"/>
          <a:ext cx="3910012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0" imgH="228600" progId="Equation.3">
                  <p:embed/>
                </p:oleObj>
              </mc:Choice>
              <mc:Fallback>
                <p:oleObj name="Equation" r:id="rId4" imgW="1396800" imgH="228600" progId="Equation.3">
                  <p:embed/>
                  <p:pic>
                    <p:nvPicPr>
                      <p:cNvPr id="16691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4188" y="2947988"/>
                        <a:ext cx="3910012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2873375" y="1174750"/>
            <a:ext cx="5989638" cy="5692775"/>
            <a:chOff x="1810" y="740"/>
            <a:chExt cx="3773" cy="3586"/>
          </a:xfrm>
        </p:grpSpPr>
        <p:pic>
          <p:nvPicPr>
            <p:cNvPr id="166916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424" y="302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0" name="Text Box 8"/>
            <p:cNvSpPr txBox="1">
              <a:spLocks noChangeArrowheads="1"/>
            </p:cNvSpPr>
            <p:nvPr/>
          </p:nvSpPr>
          <p:spPr bwMode="auto">
            <a:xfrm>
              <a:off x="4856" y="4148"/>
              <a:ext cx="165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</a:t>
              </a:r>
            </a:p>
          </p:txBody>
        </p:sp>
        <p:sp>
          <p:nvSpPr>
            <p:cNvPr id="166921" name="Text Box 9"/>
            <p:cNvSpPr txBox="1">
              <a:spLocks noChangeArrowheads="1"/>
            </p:cNvSpPr>
            <p:nvPr/>
          </p:nvSpPr>
          <p:spPr bwMode="auto">
            <a:xfrm>
              <a:off x="4076" y="4172"/>
              <a:ext cx="23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T/2</a:t>
              </a:r>
            </a:p>
          </p:txBody>
        </p:sp>
        <p:pic>
          <p:nvPicPr>
            <p:cNvPr id="166922" name="Picture 10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424" y="74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66923" name="Picture 11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432" y="1796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4" name="Line 12"/>
            <p:cNvSpPr>
              <a:spLocks noChangeShapeType="1"/>
            </p:cNvSpPr>
            <p:nvPr/>
          </p:nvSpPr>
          <p:spPr bwMode="auto">
            <a:xfrm>
              <a:off x="4169" y="1135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5" name="Line 13"/>
            <p:cNvSpPr>
              <a:spLocks noChangeShapeType="1"/>
            </p:cNvSpPr>
            <p:nvPr/>
          </p:nvSpPr>
          <p:spPr bwMode="auto">
            <a:xfrm>
              <a:off x="4889" y="1087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6" name="Line 14"/>
            <p:cNvSpPr>
              <a:spLocks noChangeShapeType="1"/>
            </p:cNvSpPr>
            <p:nvPr/>
          </p:nvSpPr>
          <p:spPr bwMode="auto">
            <a:xfrm>
              <a:off x="3416" y="2517"/>
              <a:ext cx="36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6927" name="Object 15"/>
            <p:cNvGraphicFramePr>
              <a:graphicFrameLocks noChangeAspect="1"/>
            </p:cNvGraphicFramePr>
            <p:nvPr/>
          </p:nvGraphicFramePr>
          <p:xfrm>
            <a:off x="3019" y="2401"/>
            <a:ext cx="365" cy="2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80880" imgH="228600" progId="Equation.3">
                    <p:embed/>
                  </p:oleObj>
                </mc:Choice>
                <mc:Fallback>
                  <p:oleObj name="Equation" r:id="rId9" imgW="380880" imgH="228600" progId="Equation.3">
                    <p:embed/>
                    <p:pic>
                      <p:nvPicPr>
                        <p:cNvPr id="16692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19" y="2401"/>
                          <a:ext cx="365" cy="22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6928" name="Line 16"/>
            <p:cNvSpPr>
              <a:spLocks noChangeShapeType="1"/>
            </p:cNvSpPr>
            <p:nvPr/>
          </p:nvSpPr>
          <p:spPr bwMode="auto">
            <a:xfrm>
              <a:off x="2961" y="3422"/>
              <a:ext cx="375" cy="1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9" name="Text Box 17"/>
            <p:cNvSpPr txBox="1">
              <a:spLocks noChangeArrowheads="1"/>
            </p:cNvSpPr>
            <p:nvPr/>
          </p:nvSpPr>
          <p:spPr bwMode="auto">
            <a:xfrm>
              <a:off x="3593" y="3076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x</a:t>
              </a:r>
            </a:p>
          </p:txBody>
        </p:sp>
        <p:sp>
          <p:nvSpPr>
            <p:cNvPr id="166930" name="Text Box 18"/>
            <p:cNvSpPr txBox="1">
              <a:spLocks noChangeArrowheads="1"/>
            </p:cNvSpPr>
            <p:nvPr/>
          </p:nvSpPr>
          <p:spPr bwMode="auto">
            <a:xfrm>
              <a:off x="3663" y="3748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v</a:t>
              </a:r>
            </a:p>
          </p:txBody>
        </p:sp>
        <p:sp>
          <p:nvSpPr>
            <p:cNvPr id="166931" name="Line 19"/>
            <p:cNvSpPr>
              <a:spLocks noChangeShapeType="1"/>
            </p:cNvSpPr>
            <p:nvPr/>
          </p:nvSpPr>
          <p:spPr bwMode="auto">
            <a:xfrm flipV="1">
              <a:off x="2954" y="3054"/>
              <a:ext cx="390" cy="3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2" name="Text Box 20"/>
            <p:cNvSpPr txBox="1">
              <a:spLocks noChangeArrowheads="1"/>
            </p:cNvSpPr>
            <p:nvPr/>
          </p:nvSpPr>
          <p:spPr bwMode="auto">
            <a:xfrm>
              <a:off x="1810" y="3305"/>
              <a:ext cx="1173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x =x</a:t>
              </a:r>
              <a:r>
                <a:rPr lang="en-US" sz="1600" i="1" baseline="-25000"/>
                <a:t>max</a:t>
              </a:r>
              <a:r>
                <a:rPr lang="en-US" sz="1600"/>
                <a:t>, </a:t>
              </a:r>
              <a:r>
                <a:rPr lang="en-US" sz="1600" i="1"/>
                <a:t>v=0</a:t>
              </a:r>
            </a:p>
          </p:txBody>
        </p:sp>
        <p:sp>
          <p:nvSpPr>
            <p:cNvPr id="166933" name="Text Box 21"/>
            <p:cNvSpPr txBox="1">
              <a:spLocks noChangeArrowheads="1"/>
            </p:cNvSpPr>
            <p:nvPr/>
          </p:nvSpPr>
          <p:spPr bwMode="auto">
            <a:xfrm>
              <a:off x="1819" y="3721"/>
              <a:ext cx="1137" cy="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v=v</a:t>
              </a:r>
              <a:r>
                <a:rPr lang="en-US" sz="1600" i="1" baseline="-25000"/>
                <a:t>max</a:t>
              </a:r>
              <a:r>
                <a:rPr lang="en-US" sz="1600" i="1"/>
                <a:t>, x=0</a:t>
              </a:r>
            </a:p>
          </p:txBody>
        </p:sp>
        <p:sp>
          <p:nvSpPr>
            <p:cNvPr id="166934" name="Line 22"/>
            <p:cNvSpPr>
              <a:spLocks noChangeShapeType="1"/>
            </p:cNvSpPr>
            <p:nvPr/>
          </p:nvSpPr>
          <p:spPr bwMode="auto">
            <a:xfrm flipV="1">
              <a:off x="2901" y="3759"/>
              <a:ext cx="795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5" name="Line 23"/>
            <p:cNvSpPr>
              <a:spLocks noChangeShapeType="1"/>
            </p:cNvSpPr>
            <p:nvPr/>
          </p:nvSpPr>
          <p:spPr bwMode="auto">
            <a:xfrm flipV="1">
              <a:off x="2904" y="3551"/>
              <a:ext cx="840" cy="2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6" name="Line 24"/>
            <p:cNvSpPr>
              <a:spLocks noChangeShapeType="1"/>
            </p:cNvSpPr>
            <p:nvPr/>
          </p:nvSpPr>
          <p:spPr bwMode="auto">
            <a:xfrm flipV="1">
              <a:off x="4544" y="2927"/>
              <a:ext cx="1" cy="5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7" name="Text Box 25"/>
            <p:cNvSpPr txBox="1">
              <a:spLocks noChangeArrowheads="1"/>
            </p:cNvSpPr>
            <p:nvPr/>
          </p:nvSpPr>
          <p:spPr bwMode="auto">
            <a:xfrm>
              <a:off x="4533" y="2646"/>
              <a:ext cx="1050" cy="212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600"/>
                <a:t>90</a:t>
              </a:r>
              <a:r>
                <a:rPr lang="en-US" sz="1600">
                  <a:sym typeface="Symbol" pitchFamily="18" charset="2"/>
                </a:rPr>
                <a:t> out of phase</a:t>
              </a:r>
            </a:p>
          </p:txBody>
        </p:sp>
        <p:sp>
          <p:nvSpPr>
            <p:cNvPr id="166938" name="Line 26"/>
            <p:cNvSpPr>
              <a:spLocks noChangeShapeType="1"/>
            </p:cNvSpPr>
            <p:nvPr/>
          </p:nvSpPr>
          <p:spPr bwMode="auto">
            <a:xfrm>
              <a:off x="4565" y="2949"/>
              <a:ext cx="323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1207BFB-BAC0-1EF8-60CD-922319267265}"/>
              </a:ext>
            </a:extLst>
          </p:cNvPr>
          <p:cNvSpPr txBox="1"/>
          <p:nvPr/>
        </p:nvSpPr>
        <p:spPr>
          <a:xfrm>
            <a:off x="5236369" y="1049615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413D74-8D85-C080-B78D-1402915A2C94}"/>
              </a:ext>
            </a:extLst>
          </p:cNvPr>
          <p:cNvSpPr txBox="1"/>
          <p:nvPr/>
        </p:nvSpPr>
        <p:spPr>
          <a:xfrm>
            <a:off x="5215049" y="2689503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152400"/>
            <a:ext cx="3415409" cy="1143000"/>
          </a:xfrm>
        </p:spPr>
        <p:txBody>
          <a:bodyPr>
            <a:norm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733800"/>
            <a:ext cx="8229600" cy="23923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400" dirty="0"/>
              <a:t>A harmonic oscillator at x(0)=0 is moving to the right to with  v(0) =v</a:t>
            </a:r>
            <a:r>
              <a:rPr lang="en-US" sz="4400" baseline="-25000" dirty="0"/>
              <a:t>i</a:t>
            </a:r>
            <a:r>
              <a:rPr lang="en-US" sz="4400" dirty="0"/>
              <a:t>.  Find the phase of the oscillation.</a:t>
            </a:r>
          </a:p>
          <a:p>
            <a:pPr marL="0" indent="0">
              <a:buNone/>
            </a:pPr>
            <a:r>
              <a:rPr lang="en-US" sz="4400" dirty="0"/>
              <a:t> 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4336136" y="2181894"/>
            <a:ext cx="388264" cy="340855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3155573" y="1752600"/>
            <a:ext cx="0" cy="839886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rot="5400000" flipV="1">
            <a:off x="4315689" y="1404303"/>
            <a:ext cx="0" cy="237636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>
            <a:grpSpLocks/>
          </p:cNvGrpSpPr>
          <p:nvPr/>
        </p:nvGrpSpPr>
        <p:grpSpPr bwMode="auto">
          <a:xfrm>
            <a:off x="3145763" y="2250053"/>
            <a:ext cx="1197637" cy="237723"/>
            <a:chOff x="2248" y="1248"/>
            <a:chExt cx="648" cy="128"/>
          </a:xfrm>
        </p:grpSpPr>
        <p:grpSp>
          <p:nvGrpSpPr>
            <p:cNvPr id="13" name="Group 9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35" name="Line 1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1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" name="Group 12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33" name="Line 1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1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5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31" name="Line 1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8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29" name="Line 1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2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21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27" name="Line 2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2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24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25" name="Line 2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Line 2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27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23" name="Line 2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Line 2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30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21" name="Line 3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Line 3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Line 33"/>
          <p:cNvSpPr>
            <a:spLocks noChangeShapeType="1"/>
          </p:cNvSpPr>
          <p:nvPr/>
        </p:nvSpPr>
        <p:spPr bwMode="auto">
          <a:xfrm>
            <a:off x="4488770" y="2683826"/>
            <a:ext cx="0" cy="20941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" name="Text Box 34"/>
          <p:cNvSpPr txBox="1">
            <a:spLocks noChangeArrowheads="1"/>
          </p:cNvSpPr>
          <p:nvPr/>
        </p:nvSpPr>
        <p:spPr bwMode="auto">
          <a:xfrm>
            <a:off x="4236164" y="2788533"/>
            <a:ext cx="479483" cy="3386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dirty="0"/>
              <a:t>x=0</a:t>
            </a:r>
          </a:p>
        </p:txBody>
      </p:sp>
      <p:sp>
        <p:nvSpPr>
          <p:cNvPr id="11" name="Line 35"/>
          <p:cNvSpPr>
            <a:spLocks noChangeShapeType="1"/>
          </p:cNvSpPr>
          <p:nvPr/>
        </p:nvSpPr>
        <p:spPr bwMode="auto">
          <a:xfrm>
            <a:off x="5267638" y="2697193"/>
            <a:ext cx="0" cy="20941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Text Box 36"/>
          <p:cNvSpPr txBox="1">
            <a:spLocks noChangeArrowheads="1"/>
          </p:cNvSpPr>
          <p:nvPr/>
        </p:nvSpPr>
        <p:spPr bwMode="auto">
          <a:xfrm>
            <a:off x="5054794" y="2777394"/>
            <a:ext cx="853714" cy="3386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600"/>
              <a:t>x</a:t>
            </a:r>
            <a:r>
              <a:rPr lang="en-US" sz="1600" baseline="-25000"/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98775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</a:t>
            </a:r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4600" y="1117600"/>
            <a:ext cx="6578600" cy="4525963"/>
          </a:xfrm>
        </p:spPr>
        <p:txBody>
          <a:bodyPr/>
          <a:lstStyle/>
          <a:p>
            <a:r>
              <a:rPr lang="en-US" sz="2000" dirty="0"/>
              <a:t>We start the mass at equilibrium moving to the right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first equation gets us close to knowing </a:t>
            </a:r>
            <a:r>
              <a:rPr lang="en-US" sz="2000" dirty="0">
                <a:sym typeface="Symbol" pitchFamily="18" charset="2"/>
              </a:rPr>
              <a:t></a:t>
            </a:r>
          </a:p>
          <a:p>
            <a:endParaRPr lang="en-US" sz="2000" dirty="0">
              <a:sym typeface="Symbol" pitchFamily="18" charset="2"/>
            </a:endParaRP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Use the velocity equation</a:t>
            </a:r>
          </a:p>
          <a:p>
            <a:endParaRPr lang="en-US" sz="2000" dirty="0">
              <a:sym typeface="Symbol" pitchFamily="18" charset="2"/>
            </a:endParaRP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We require amplitudes to be positive</a:t>
            </a: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Solution:</a:t>
            </a:r>
          </a:p>
        </p:txBody>
      </p:sp>
      <p:sp>
        <p:nvSpPr>
          <p:cNvPr id="190470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69" name="Object 5"/>
          <p:cNvGraphicFramePr>
            <a:graphicFrameLocks noChangeAspect="1"/>
          </p:cNvGraphicFramePr>
          <p:nvPr/>
        </p:nvGraphicFramePr>
        <p:xfrm>
          <a:off x="463550" y="2654300"/>
          <a:ext cx="69850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45760" imgH="457200" progId="Equation.3">
                  <p:embed/>
                </p:oleObj>
              </mc:Choice>
              <mc:Fallback>
                <p:oleObj name="Equation" r:id="rId2" imgW="545760" imgH="457200" progId="Equation.3">
                  <p:embed/>
                  <p:pic>
                    <p:nvPicPr>
                      <p:cNvPr id="19046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3550" y="2654300"/>
                        <a:ext cx="698500" cy="584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2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471" name="Object 7"/>
              <p:cNvSpPr txBox="1"/>
              <p:nvPr/>
            </p:nvSpPr>
            <p:spPr bwMode="auto">
              <a:xfrm>
                <a:off x="4494212" y="1579563"/>
                <a:ext cx="2668587" cy="573087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0+</m:t>
                                  </m:r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</m:e>
                          </m:func>
                        </m:e>
                        <m:sub>
                          <m:r>
                            <m:rPr>
                              <m:sty m:val="p"/>
                            </m:rPr>
                            <a:rPr lang="en-US" sz="1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func>
                            <m:func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0+</m:t>
                                  </m:r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</m:e>
                          </m:func>
                        </m:e>
                        <m:sub>
                          <m:r>
                            <m:rPr>
                              <m:sty m:val="p"/>
                            </m:rPr>
                            <a:rPr lang="en-US" sz="1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0471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94212" y="1579563"/>
                <a:ext cx="2668587" cy="573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474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3" name="Object 9"/>
          <p:cNvGraphicFramePr>
            <a:graphicFrameLocks noChangeAspect="1"/>
          </p:cNvGraphicFramePr>
          <p:nvPr/>
        </p:nvGraphicFramePr>
        <p:xfrm>
          <a:off x="3711575" y="2717800"/>
          <a:ext cx="147478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914400" imgH="228600" progId="Equation.3">
                  <p:embed/>
                </p:oleObj>
              </mc:Choice>
              <mc:Fallback>
                <p:oleObj name="Equation" r:id="rId5" imgW="914400" imgH="228600" progId="Equation.3">
                  <p:embed/>
                  <p:pic>
                    <p:nvPicPr>
                      <p:cNvPr id="1904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1575" y="2717800"/>
                        <a:ext cx="1474788" cy="368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6" name="AutoShape 12"/>
          <p:cNvSpPr>
            <a:spLocks noChangeArrowheads="1"/>
          </p:cNvSpPr>
          <p:nvPr/>
        </p:nvSpPr>
        <p:spPr bwMode="auto">
          <a:xfrm>
            <a:off x="5359400" y="2768600"/>
            <a:ext cx="228600" cy="2286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90478" name="Rectangle 1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7" name="Object 13"/>
          <p:cNvGraphicFramePr>
            <a:graphicFrameLocks noChangeAspect="1"/>
          </p:cNvGraphicFramePr>
          <p:nvPr/>
        </p:nvGraphicFramePr>
        <p:xfrm>
          <a:off x="5783263" y="2608263"/>
          <a:ext cx="717550" cy="557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07960" imgH="393480" progId="Equation.3">
                  <p:embed/>
                </p:oleObj>
              </mc:Choice>
              <mc:Fallback>
                <p:oleObj name="Equation" r:id="rId7" imgW="507960" imgH="393480" progId="Equation.3">
                  <p:embed/>
                  <p:pic>
                    <p:nvPicPr>
                      <p:cNvPr id="19047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3263" y="2608263"/>
                        <a:ext cx="717550" cy="5572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9" name="Object 15"/>
          <p:cNvGraphicFramePr>
            <a:graphicFrameLocks noChangeAspect="1"/>
          </p:cNvGraphicFramePr>
          <p:nvPr/>
        </p:nvGraphicFramePr>
        <p:xfrm>
          <a:off x="6265863" y="3181350"/>
          <a:ext cx="1836737" cy="989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31560" imgH="660240" progId="Equation.3">
                  <p:embed/>
                </p:oleObj>
              </mc:Choice>
              <mc:Fallback>
                <p:oleObj name="Equation" r:id="rId9" imgW="1231560" imgH="660240" progId="Equation.3">
                  <p:embed/>
                  <p:pic>
                    <p:nvPicPr>
                      <p:cNvPr id="1904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65863" y="3181350"/>
                        <a:ext cx="1836737" cy="9890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2" name="Rectangle 18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1" name="Object 17"/>
          <p:cNvGraphicFramePr>
            <a:graphicFrameLocks noChangeAspect="1"/>
          </p:cNvGraphicFramePr>
          <p:nvPr/>
        </p:nvGraphicFramePr>
        <p:xfrm>
          <a:off x="5989638" y="4703763"/>
          <a:ext cx="81280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507960" imgH="393480" progId="Equation.3">
                  <p:embed/>
                </p:oleObj>
              </mc:Choice>
              <mc:Fallback>
                <p:oleObj name="Equation" r:id="rId11" imgW="507960" imgH="393480" progId="Equation.3">
                  <p:embed/>
                  <p:pic>
                    <p:nvPicPr>
                      <p:cNvPr id="1904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89638" y="4703763"/>
                        <a:ext cx="812800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4" name="Rectangle 20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3" name="Object 19"/>
          <p:cNvGraphicFramePr>
            <a:graphicFrameLocks noChangeAspect="1"/>
          </p:cNvGraphicFramePr>
          <p:nvPr/>
        </p:nvGraphicFramePr>
        <p:xfrm>
          <a:off x="4470400" y="4745038"/>
          <a:ext cx="762000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583920" imgH="393480" progId="Equation.3">
                  <p:embed/>
                </p:oleObj>
              </mc:Choice>
              <mc:Fallback>
                <p:oleObj name="Equation" r:id="rId13" imgW="583920" imgH="393480" progId="Equation.3">
                  <p:embed/>
                  <p:pic>
                    <p:nvPicPr>
                      <p:cNvPr id="190483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70400" y="4745038"/>
                        <a:ext cx="762000" cy="509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0485" name="Object 21"/>
              <p:cNvSpPr txBox="1"/>
              <p:nvPr/>
            </p:nvSpPr>
            <p:spPr bwMode="auto">
              <a:xfrm>
                <a:off x="2816225" y="5788304"/>
                <a:ext cx="2771775" cy="64134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func>
                        <m:func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0485" name="Objec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6225" y="5788304"/>
                <a:ext cx="2771775" cy="64134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0487" name="Object 23"/>
          <p:cNvGraphicFramePr>
            <a:graphicFrameLocks noChangeAspect="1"/>
          </p:cNvGraphicFramePr>
          <p:nvPr/>
        </p:nvGraphicFramePr>
        <p:xfrm>
          <a:off x="5854700" y="5676900"/>
          <a:ext cx="1703388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82680" imgH="431640" progId="Equation.3">
                  <p:embed/>
                </p:oleObj>
              </mc:Choice>
              <mc:Fallback>
                <p:oleObj name="Equation" r:id="rId16" imgW="1282680" imgH="431640" progId="Equation.3">
                  <p:embed/>
                  <p:pic>
                    <p:nvPicPr>
                      <p:cNvPr id="19048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4700" y="5676900"/>
                        <a:ext cx="1703388" cy="569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0515" name="Group 190514">
            <a:extLst>
              <a:ext uri="{FF2B5EF4-FFF2-40B4-BE49-F238E27FC236}">
                <a16:creationId xmlns:a16="http://schemas.microsoft.com/office/drawing/2014/main" id="{BCC78A3D-34C4-5554-7182-544FDC3F6DB6}"/>
              </a:ext>
            </a:extLst>
          </p:cNvPr>
          <p:cNvGrpSpPr/>
          <p:nvPr/>
        </p:nvGrpSpPr>
        <p:grpSpPr>
          <a:xfrm>
            <a:off x="346472" y="1339277"/>
            <a:ext cx="1821657" cy="990487"/>
            <a:chOff x="388143" y="958285"/>
            <a:chExt cx="2781002" cy="1438117"/>
          </a:xfrm>
        </p:grpSpPr>
        <p:sp>
          <p:nvSpPr>
            <p:cNvPr id="47" name="AutoShape 5">
              <a:extLst>
                <a:ext uri="{FF2B5EF4-FFF2-40B4-BE49-F238E27FC236}">
                  <a16:creationId xmlns:a16="http://schemas.microsoft.com/office/drawing/2014/main" id="{83E07F2C-A0BF-EC02-AB72-44EC21B0AC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96773" y="1387579"/>
              <a:ext cx="388264" cy="340855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48" name="Line 6">
              <a:extLst>
                <a:ext uri="{FF2B5EF4-FFF2-40B4-BE49-F238E27FC236}">
                  <a16:creationId xmlns:a16="http://schemas.microsoft.com/office/drawing/2014/main" id="{2C825F9F-ED30-3351-81D1-4DCB2A6A98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6210" y="958285"/>
              <a:ext cx="0" cy="83988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 sz="1400"/>
            </a:p>
          </p:txBody>
        </p:sp>
        <p:sp>
          <p:nvSpPr>
            <p:cNvPr id="49" name="Line 7">
              <a:extLst>
                <a:ext uri="{FF2B5EF4-FFF2-40B4-BE49-F238E27FC236}">
                  <a16:creationId xmlns:a16="http://schemas.microsoft.com/office/drawing/2014/main" id="{FC579ECB-1F18-D324-4DCA-FE6FF138616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1576326" y="609988"/>
              <a:ext cx="0" cy="237636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 sz="1400"/>
            </a:p>
          </p:txBody>
        </p:sp>
        <p:grpSp>
          <p:nvGrpSpPr>
            <p:cNvPr id="50" name="Group 8">
              <a:extLst>
                <a:ext uri="{FF2B5EF4-FFF2-40B4-BE49-F238E27FC236}">
                  <a16:creationId xmlns:a16="http://schemas.microsoft.com/office/drawing/2014/main" id="{17BC9CC1-3160-697D-1799-EA64EBE193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400" y="1455738"/>
              <a:ext cx="1197637" cy="237723"/>
              <a:chOff x="2248" y="1248"/>
              <a:chExt cx="648" cy="128"/>
            </a:xfrm>
          </p:grpSpPr>
          <p:grpSp>
            <p:nvGrpSpPr>
              <p:cNvPr id="51" name="Group 9">
                <a:extLst>
                  <a:ext uri="{FF2B5EF4-FFF2-40B4-BE49-F238E27FC236}">
                    <a16:creationId xmlns:a16="http://schemas.microsoft.com/office/drawing/2014/main" id="{2FE6F996-622F-E5A6-612A-5F2842E755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90497" name="Line 10">
                  <a:extLst>
                    <a:ext uri="{FF2B5EF4-FFF2-40B4-BE49-F238E27FC236}">
                      <a16:creationId xmlns:a16="http://schemas.microsoft.com/office/drawing/2014/main" id="{7656898B-5D43-CAD1-0703-EEA135B63A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500" name="Line 11">
                  <a:extLst>
                    <a:ext uri="{FF2B5EF4-FFF2-40B4-BE49-F238E27FC236}">
                      <a16:creationId xmlns:a16="http://schemas.microsoft.com/office/drawing/2014/main" id="{561B6180-58EB-EA58-BE06-906B8FC80D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2" name="Group 12">
                <a:extLst>
                  <a:ext uri="{FF2B5EF4-FFF2-40B4-BE49-F238E27FC236}">
                    <a16:creationId xmlns:a16="http://schemas.microsoft.com/office/drawing/2014/main" id="{B6E298C1-EF4D-4366-AAF7-A411F20103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90493" name="Line 13">
                  <a:extLst>
                    <a:ext uri="{FF2B5EF4-FFF2-40B4-BE49-F238E27FC236}">
                      <a16:creationId xmlns:a16="http://schemas.microsoft.com/office/drawing/2014/main" id="{C1B920E4-EDDC-7BD4-FE4B-E53B25467F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494" name="Line 14">
                  <a:extLst>
                    <a:ext uri="{FF2B5EF4-FFF2-40B4-BE49-F238E27FC236}">
                      <a16:creationId xmlns:a16="http://schemas.microsoft.com/office/drawing/2014/main" id="{F37E9823-8174-48DE-31B6-38EFC464B8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3" name="Group 15">
                <a:extLst>
                  <a:ext uri="{FF2B5EF4-FFF2-40B4-BE49-F238E27FC236}">
                    <a16:creationId xmlns:a16="http://schemas.microsoft.com/office/drawing/2014/main" id="{D78EDC73-4D0B-C0D5-058D-E07F7A563D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90486" name="Line 16">
                  <a:extLst>
                    <a:ext uri="{FF2B5EF4-FFF2-40B4-BE49-F238E27FC236}">
                      <a16:creationId xmlns:a16="http://schemas.microsoft.com/office/drawing/2014/main" id="{32D43F3A-0D99-7398-9091-DB041EDA05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488" name="Line 17">
                  <a:extLst>
                    <a:ext uri="{FF2B5EF4-FFF2-40B4-BE49-F238E27FC236}">
                      <a16:creationId xmlns:a16="http://schemas.microsoft.com/office/drawing/2014/main" id="{7F04CC80-86C2-A0E9-AD67-6140486562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4" name="Group 18">
                <a:extLst>
                  <a:ext uri="{FF2B5EF4-FFF2-40B4-BE49-F238E27FC236}">
                    <a16:creationId xmlns:a16="http://schemas.microsoft.com/office/drawing/2014/main" id="{CA686FCB-4FCE-1C81-4F48-530BD51C645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90475" name="Line 19">
                  <a:extLst>
                    <a:ext uri="{FF2B5EF4-FFF2-40B4-BE49-F238E27FC236}">
                      <a16:creationId xmlns:a16="http://schemas.microsoft.com/office/drawing/2014/main" id="{040E2AB8-7B22-3CA6-B861-675AD9586F3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480" name="Line 20">
                  <a:extLst>
                    <a:ext uri="{FF2B5EF4-FFF2-40B4-BE49-F238E27FC236}">
                      <a16:creationId xmlns:a16="http://schemas.microsoft.com/office/drawing/2014/main" id="{69E1FD9A-AA22-B469-5582-0312F5D3577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5" name="Group 21">
                <a:extLst>
                  <a:ext uri="{FF2B5EF4-FFF2-40B4-BE49-F238E27FC236}">
                    <a16:creationId xmlns:a16="http://schemas.microsoft.com/office/drawing/2014/main" id="{B297035D-E9D0-6658-9517-A4E8BAD9B9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90465" name="Line 22">
                  <a:extLst>
                    <a:ext uri="{FF2B5EF4-FFF2-40B4-BE49-F238E27FC236}">
                      <a16:creationId xmlns:a16="http://schemas.microsoft.com/office/drawing/2014/main" id="{3A4E9DDA-D5FA-AA82-879C-42134D1570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468" name="Line 23">
                  <a:extLst>
                    <a:ext uri="{FF2B5EF4-FFF2-40B4-BE49-F238E27FC236}">
                      <a16:creationId xmlns:a16="http://schemas.microsoft.com/office/drawing/2014/main" id="{0DB45D02-B632-65B9-ED80-97ED74914F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6" name="Group 24">
                <a:extLst>
                  <a:ext uri="{FF2B5EF4-FFF2-40B4-BE49-F238E27FC236}">
                    <a16:creationId xmlns:a16="http://schemas.microsoft.com/office/drawing/2014/main" id="{3C3A823C-4835-97BF-CAFA-FD3D0A48D8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63" name="Line 25">
                  <a:extLst>
                    <a:ext uri="{FF2B5EF4-FFF2-40B4-BE49-F238E27FC236}">
                      <a16:creationId xmlns:a16="http://schemas.microsoft.com/office/drawing/2014/main" id="{393F61C7-F255-3BB3-5BCE-07BA37D3169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190464" name="Line 26">
                  <a:extLst>
                    <a:ext uri="{FF2B5EF4-FFF2-40B4-BE49-F238E27FC236}">
                      <a16:creationId xmlns:a16="http://schemas.microsoft.com/office/drawing/2014/main" id="{ECF821B1-D714-83F1-E12C-73228A5D85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7" name="Group 27">
                <a:extLst>
                  <a:ext uri="{FF2B5EF4-FFF2-40B4-BE49-F238E27FC236}">
                    <a16:creationId xmlns:a16="http://schemas.microsoft.com/office/drawing/2014/main" id="{EC07A1A2-D521-AB8A-01C1-493B9F24C12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61" name="Line 28">
                  <a:extLst>
                    <a:ext uri="{FF2B5EF4-FFF2-40B4-BE49-F238E27FC236}">
                      <a16:creationId xmlns:a16="http://schemas.microsoft.com/office/drawing/2014/main" id="{04FB19F4-2408-F277-F70B-E84499142F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62" name="Line 29">
                  <a:extLst>
                    <a:ext uri="{FF2B5EF4-FFF2-40B4-BE49-F238E27FC236}">
                      <a16:creationId xmlns:a16="http://schemas.microsoft.com/office/drawing/2014/main" id="{23257EE0-A737-006F-7EF6-0542B4CB80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  <p:grpSp>
            <p:nvGrpSpPr>
              <p:cNvPr id="58" name="Group 30">
                <a:extLst>
                  <a:ext uri="{FF2B5EF4-FFF2-40B4-BE49-F238E27FC236}">
                    <a16:creationId xmlns:a16="http://schemas.microsoft.com/office/drawing/2014/main" id="{BD718AC2-F8C3-A8BF-DE80-5045B424CE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59" name="Line 31">
                  <a:extLst>
                    <a:ext uri="{FF2B5EF4-FFF2-40B4-BE49-F238E27FC236}">
                      <a16:creationId xmlns:a16="http://schemas.microsoft.com/office/drawing/2014/main" id="{32B40A87-BAF4-B039-FCDD-5B7C6D319C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  <p:sp>
              <p:nvSpPr>
                <p:cNvPr id="60" name="Line 32">
                  <a:extLst>
                    <a:ext uri="{FF2B5EF4-FFF2-40B4-BE49-F238E27FC236}">
                      <a16:creationId xmlns:a16="http://schemas.microsoft.com/office/drawing/2014/main" id="{21226309-DDF3-BEB8-038B-BA71840BAD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 sz="1400"/>
                </a:p>
              </p:txBody>
            </p:sp>
          </p:grpSp>
        </p:grpSp>
        <p:sp>
          <p:nvSpPr>
            <p:cNvPr id="190503" name="Line 33">
              <a:extLst>
                <a:ext uri="{FF2B5EF4-FFF2-40B4-BE49-F238E27FC236}">
                  <a16:creationId xmlns:a16="http://schemas.microsoft.com/office/drawing/2014/main" id="{701BD2EB-7A12-F488-7491-9704238A9B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9407" y="1889511"/>
              <a:ext cx="0" cy="2094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 sz="1400"/>
            </a:p>
          </p:txBody>
        </p:sp>
        <p:sp>
          <p:nvSpPr>
            <p:cNvPr id="190506" name="Text Box 34">
              <a:extLst>
                <a:ext uri="{FF2B5EF4-FFF2-40B4-BE49-F238E27FC236}">
                  <a16:creationId xmlns:a16="http://schemas.microsoft.com/office/drawing/2014/main" id="{F9BBB829-1DB6-6663-9A52-0059433918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6801" y="1994219"/>
              <a:ext cx="622079" cy="4021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200" dirty="0"/>
                <a:t>x=0</a:t>
              </a:r>
            </a:p>
          </p:txBody>
        </p:sp>
        <p:sp>
          <p:nvSpPr>
            <p:cNvPr id="190509" name="Line 35">
              <a:extLst>
                <a:ext uri="{FF2B5EF4-FFF2-40B4-BE49-F238E27FC236}">
                  <a16:creationId xmlns:a16="http://schemas.microsoft.com/office/drawing/2014/main" id="{487E0923-4312-B95A-AC41-36DF2B6420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8275" y="1902878"/>
              <a:ext cx="0" cy="2094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 sz="1400"/>
            </a:p>
          </p:txBody>
        </p:sp>
        <p:sp>
          <p:nvSpPr>
            <p:cNvPr id="190512" name="Text Box 36">
              <a:extLst>
                <a:ext uri="{FF2B5EF4-FFF2-40B4-BE49-F238E27FC236}">
                  <a16:creationId xmlns:a16="http://schemas.microsoft.com/office/drawing/2014/main" id="{157C1822-69EC-9658-8889-41B21EF480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5430" y="1983080"/>
              <a:ext cx="853715" cy="4021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200"/>
                <a:t>x</a:t>
              </a:r>
              <a:r>
                <a:rPr lang="en-US" sz="1200" baseline="-25000"/>
                <a:t>max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Concept Question</a:t>
            </a:r>
          </a:p>
        </p:txBody>
      </p:sp>
      <p:sp>
        <p:nvSpPr>
          <p:cNvPr id="199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dirty="0"/>
              <a:t>A mass-spring system is experiencing SHM. At a time, t, it has its maximum value of kinetic energy. At t, its potential energy due to the spring is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dirty="0"/>
              <a:t>Positive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dirty="0"/>
              <a:t>Zero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dirty="0"/>
              <a:t>Negative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dirty="0"/>
              <a:t>Positive but decreasing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dirty="0"/>
              <a:t>Negative but increasing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399213" y="4192588"/>
            <a:ext cx="1887537" cy="1042987"/>
            <a:chOff x="3801" y="2151"/>
            <a:chExt cx="1189" cy="657"/>
          </a:xfrm>
        </p:grpSpPr>
        <p:sp>
          <p:nvSpPr>
            <p:cNvPr id="199685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99686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687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9969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691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99693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694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99696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697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99699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700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99702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703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99705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706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99708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709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99711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712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99713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714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99715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716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</a:t>
            </a:r>
          </a:p>
        </p:txBody>
      </p:sp>
      <p:sp>
        <p:nvSpPr>
          <p:cNvPr id="20070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2370138"/>
            <a:ext cx="4038600" cy="3756025"/>
          </a:xfrm>
        </p:spPr>
        <p:txBody>
          <a:bodyPr/>
          <a:lstStyle/>
          <a:p>
            <a:r>
              <a:rPr lang="en-US"/>
              <a:t>SHM Problem</a:t>
            </a:r>
          </a:p>
        </p:txBody>
      </p:sp>
      <p:sp>
        <p:nvSpPr>
          <p:cNvPr id="200708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2414588"/>
            <a:ext cx="4038600" cy="3711575"/>
          </a:xfrm>
        </p:spPr>
        <p:txBody>
          <a:bodyPr/>
          <a:lstStyle/>
          <a:p>
            <a:r>
              <a:rPr lang="en-US"/>
              <a:t>Solution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481388" y="1274763"/>
            <a:ext cx="1887537" cy="1042987"/>
            <a:chOff x="3801" y="2151"/>
            <a:chExt cx="1189" cy="657"/>
          </a:xfrm>
        </p:grpSpPr>
        <p:sp>
          <p:nvSpPr>
            <p:cNvPr id="200710" name="AutoShape 6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0711" name="Line 7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712" name="Line 8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0715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16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0718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19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0721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22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0724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25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0727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28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0730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31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0733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34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0736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0737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0738" name="Line 34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739" name="Text Box 35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0740" name="Line 36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741" name="Text Box 37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  <p:graphicFrame>
        <p:nvGraphicFramePr>
          <p:cNvPr id="200742" name="Object 38"/>
          <p:cNvGraphicFramePr>
            <a:graphicFrameLocks noChangeAspect="1"/>
          </p:cNvGraphicFramePr>
          <p:nvPr/>
        </p:nvGraphicFramePr>
        <p:xfrm>
          <a:off x="1281113" y="2865438"/>
          <a:ext cx="908050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200742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81113" y="2865438"/>
                        <a:ext cx="908050" cy="523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3" name="Object 39"/>
          <p:cNvGraphicFramePr>
            <a:graphicFrameLocks noChangeAspect="1"/>
          </p:cNvGraphicFramePr>
          <p:nvPr/>
        </p:nvGraphicFramePr>
        <p:xfrm>
          <a:off x="1206500" y="3830638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419040" progId="Equation.3">
                  <p:embed/>
                </p:oleObj>
              </mc:Choice>
              <mc:Fallback>
                <p:oleObj name="Equation" r:id="rId4" imgW="787320" imgH="419040" progId="Equation.3">
                  <p:embed/>
                  <p:pic>
                    <p:nvPicPr>
                      <p:cNvPr id="20074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830638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4" name="Object 40"/>
          <p:cNvGraphicFramePr>
            <a:graphicFrameLocks noChangeAspect="1"/>
          </p:cNvGraphicFramePr>
          <p:nvPr/>
        </p:nvGraphicFramePr>
        <p:xfrm>
          <a:off x="1279525" y="4927600"/>
          <a:ext cx="788988" cy="611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07960" imgH="393480" progId="Equation.3">
                  <p:embed/>
                </p:oleObj>
              </mc:Choice>
              <mc:Fallback>
                <p:oleObj name="Equation" r:id="rId6" imgW="507960" imgH="393480" progId="Equation.3">
                  <p:embed/>
                  <p:pic>
                    <p:nvPicPr>
                      <p:cNvPr id="200744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9525" y="4927600"/>
                        <a:ext cx="788988" cy="611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5" name="Object 41"/>
          <p:cNvGraphicFramePr>
            <a:graphicFrameLocks noChangeAspect="1"/>
          </p:cNvGraphicFramePr>
          <p:nvPr/>
        </p:nvGraphicFramePr>
        <p:xfrm>
          <a:off x="5626100" y="4745038"/>
          <a:ext cx="2327275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34960" imgH="444240" progId="Equation.3">
                  <p:embed/>
                </p:oleObj>
              </mc:Choice>
              <mc:Fallback>
                <p:oleObj name="Equation" r:id="rId8" imgW="1434960" imgH="444240" progId="Equation.3">
                  <p:embed/>
                  <p:pic>
                    <p:nvPicPr>
                      <p:cNvPr id="200745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4745038"/>
                        <a:ext cx="2327275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6" name="Object 42"/>
          <p:cNvGraphicFramePr>
            <a:graphicFrameLocks noChangeAspect="1"/>
          </p:cNvGraphicFramePr>
          <p:nvPr/>
        </p:nvGraphicFramePr>
        <p:xfrm>
          <a:off x="5592763" y="5445125"/>
          <a:ext cx="248920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09400" imgH="393480" progId="Equation.3">
                  <p:embed/>
                </p:oleObj>
              </mc:Choice>
              <mc:Fallback>
                <p:oleObj name="Equation" r:id="rId10" imgW="1409400" imgH="393480" progId="Equation.3">
                  <p:embed/>
                  <p:pic>
                    <p:nvPicPr>
                      <p:cNvPr id="20074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92763" y="5445125"/>
                        <a:ext cx="248920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7" name="Object 43"/>
          <p:cNvGraphicFramePr>
            <a:graphicFrameLocks noChangeAspect="1"/>
          </p:cNvGraphicFramePr>
          <p:nvPr/>
        </p:nvGraphicFramePr>
        <p:xfrm>
          <a:off x="5700713" y="3495675"/>
          <a:ext cx="1958975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96800" imgH="228600" progId="Equation.3">
                  <p:embed/>
                </p:oleObj>
              </mc:Choice>
              <mc:Fallback>
                <p:oleObj name="Equation" r:id="rId12" imgW="1396800" imgH="228600" progId="Equation.3">
                  <p:embed/>
                  <p:pic>
                    <p:nvPicPr>
                      <p:cNvPr id="200747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0713" y="3495675"/>
                        <a:ext cx="1958975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8" name="Object 44"/>
          <p:cNvGraphicFramePr>
            <a:graphicFrameLocks noChangeAspect="1"/>
          </p:cNvGraphicFramePr>
          <p:nvPr/>
        </p:nvGraphicFramePr>
        <p:xfrm>
          <a:off x="5629275" y="3862388"/>
          <a:ext cx="2360613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460160" imgH="228600" progId="Equation.3">
                  <p:embed/>
                </p:oleObj>
              </mc:Choice>
              <mc:Fallback>
                <p:oleObj name="Equation" r:id="rId14" imgW="1460160" imgH="228600" progId="Equation.3">
                  <p:embed/>
                  <p:pic>
                    <p:nvPicPr>
                      <p:cNvPr id="200748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9275" y="3862388"/>
                        <a:ext cx="2360613" cy="3698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0749" name="Object 45"/>
          <p:cNvGraphicFramePr>
            <a:graphicFrameLocks noChangeAspect="1"/>
          </p:cNvGraphicFramePr>
          <p:nvPr/>
        </p:nvGraphicFramePr>
        <p:xfrm>
          <a:off x="5667375" y="3062288"/>
          <a:ext cx="2109788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46040" imgH="228600" progId="Equation.3">
                  <p:embed/>
                </p:oleObj>
              </mc:Choice>
              <mc:Fallback>
                <p:oleObj name="Equation" r:id="rId16" imgW="1346040" imgH="228600" progId="Equation.3">
                  <p:embed/>
                  <p:pic>
                    <p:nvPicPr>
                      <p:cNvPr id="20074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67375" y="3062288"/>
                        <a:ext cx="2109788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</a:t>
            </a:r>
          </a:p>
        </p:txBody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Other Useful things we found</a:t>
            </a:r>
          </a:p>
        </p:txBody>
      </p:sp>
      <p:graphicFrame>
        <p:nvGraphicFramePr>
          <p:cNvPr id="201732" name="Object 4"/>
          <p:cNvGraphicFramePr>
            <a:graphicFrameLocks noChangeAspect="1"/>
          </p:cNvGraphicFramePr>
          <p:nvPr/>
        </p:nvGraphicFramePr>
        <p:xfrm>
          <a:off x="2238375" y="2670175"/>
          <a:ext cx="1258888" cy="481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203040" progId="Equation.3">
                  <p:embed/>
                </p:oleObj>
              </mc:Choice>
              <mc:Fallback>
                <p:oleObj name="Equation" r:id="rId2" imgW="533160" imgH="203040" progId="Equation.3">
                  <p:embed/>
                  <p:pic>
                    <p:nvPicPr>
                      <p:cNvPr id="2017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38375" y="2670175"/>
                        <a:ext cx="1258888" cy="4810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733" name="Object 5"/>
          <p:cNvGraphicFramePr>
            <a:graphicFrameLocks noChangeAspect="1"/>
          </p:cNvGraphicFramePr>
          <p:nvPr/>
        </p:nvGraphicFramePr>
        <p:xfrm>
          <a:off x="2332038" y="4546600"/>
          <a:ext cx="1092200" cy="1228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888840" progId="Equation.3">
                  <p:embed/>
                </p:oleObj>
              </mc:Choice>
              <mc:Fallback>
                <p:oleObj name="Equation" r:id="rId4" imgW="787320" imgH="888840" progId="Equation.3">
                  <p:embed/>
                  <p:pic>
                    <p:nvPicPr>
                      <p:cNvPr id="2017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2038" y="4546600"/>
                        <a:ext cx="1092200" cy="1228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734" name="Object 6"/>
          <p:cNvGraphicFramePr>
            <a:graphicFrameLocks noChangeAspect="1"/>
          </p:cNvGraphicFramePr>
          <p:nvPr/>
        </p:nvGraphicFramePr>
        <p:xfrm>
          <a:off x="2284413" y="3559175"/>
          <a:ext cx="1196975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87400" imgH="419100" progId="Equation.3">
                  <p:embed/>
                </p:oleObj>
              </mc:Choice>
              <mc:Fallback>
                <p:oleObj name="Equation" r:id="rId6" imgW="787400" imgH="419100" progId="Equation.3">
                  <p:embed/>
                  <p:pic>
                    <p:nvPicPr>
                      <p:cNvPr id="20173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4413" y="3559175"/>
                        <a:ext cx="1196975" cy="635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1735" name="Picture 7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267325" y="3279775"/>
            <a:ext cx="2133600" cy="1857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1565275" y="3325813"/>
            <a:ext cx="1925638" cy="1057275"/>
            <a:chOff x="176" y="1300"/>
            <a:chExt cx="1213" cy="666"/>
          </a:xfrm>
        </p:grpSpPr>
        <p:sp>
          <p:nvSpPr>
            <p:cNvPr id="202755" name="AutoShape 3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2756" name="Text Box 4"/>
            <p:cNvSpPr txBox="1">
              <a:spLocks noChangeArrowheads="1"/>
            </p:cNvSpPr>
            <p:nvPr/>
          </p:nvSpPr>
          <p:spPr bwMode="auto">
            <a:xfrm>
              <a:off x="982" y="1329"/>
              <a:ext cx="318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02757" name="Line 5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758" name="Line 6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202760" name="Line 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61" name="Line 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202763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64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202766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67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202769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70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202772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73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02775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76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02778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79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28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02781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82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2783" name="Line 31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784" name="Text Box 32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2785" name="Line 33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786" name="Text Box 34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787" name="Text Box 35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6"/>
          <p:cNvGrpSpPr>
            <a:grpSpLocks/>
          </p:cNvGrpSpPr>
          <p:nvPr/>
        </p:nvGrpSpPr>
        <p:grpSpPr bwMode="auto">
          <a:xfrm>
            <a:off x="3716338" y="1708150"/>
            <a:ext cx="1887537" cy="1123950"/>
            <a:chOff x="1037" y="605"/>
            <a:chExt cx="1189" cy="708"/>
          </a:xfrm>
        </p:grpSpPr>
        <p:sp>
          <p:nvSpPr>
            <p:cNvPr id="202789" name="AutoShape 37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2790" name="Text Box 38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791" name="Line 39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792" name="Line 40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1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2795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796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2798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799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4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2801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02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2804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05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280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08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2810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11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2813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14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2816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17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2818" name="Line 66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19" name="Text Box 67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2820" name="Line 68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21" name="Text Box 69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822" name="Line 70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1"/>
          <p:cNvGrpSpPr>
            <a:grpSpLocks/>
          </p:cNvGrpSpPr>
          <p:nvPr/>
        </p:nvGrpSpPr>
        <p:grpSpPr bwMode="auto">
          <a:xfrm>
            <a:off x="6323013" y="3267075"/>
            <a:ext cx="1612900" cy="1082675"/>
            <a:chOff x="2112" y="1300"/>
            <a:chExt cx="1016" cy="682"/>
          </a:xfrm>
        </p:grpSpPr>
        <p:sp>
          <p:nvSpPr>
            <p:cNvPr id="202824" name="AutoShape 72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2825" name="Line 73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26" name="Line 74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5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2829" name="Line 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30" name="Line 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7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2832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33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2835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36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2838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39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8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2841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42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2844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45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2847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48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9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2850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51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2852" name="Line 100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53" name="Text Box 101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2854" name="Line 102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55" name="Text Box 103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856" name="Text Box 104"/>
            <p:cNvSpPr txBox="1">
              <a:spLocks noChangeArrowheads="1"/>
            </p:cNvSpPr>
            <p:nvPr/>
          </p:nvSpPr>
          <p:spPr bwMode="auto">
            <a:xfrm>
              <a:off x="2342" y="1311"/>
              <a:ext cx="318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5"/>
          <p:cNvGrpSpPr>
            <a:grpSpLocks/>
          </p:cNvGrpSpPr>
          <p:nvPr/>
        </p:nvGrpSpPr>
        <p:grpSpPr bwMode="auto">
          <a:xfrm>
            <a:off x="3703638" y="4914900"/>
            <a:ext cx="1798637" cy="1162050"/>
            <a:chOff x="1029" y="1941"/>
            <a:chExt cx="1133" cy="732"/>
          </a:xfrm>
        </p:grpSpPr>
        <p:sp>
          <p:nvSpPr>
            <p:cNvPr id="202858" name="AutoShape 106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2859" name="Text Box 107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860" name="Line 108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61" name="Line 109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2752" name="Group 110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202753" name="Group 111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2864" name="Line 11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65" name="Line 11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54" name="Group 114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2867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68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59" name="Group 117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2870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71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62" name="Group 120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2873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74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65" name="Group 123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2876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77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68" name="Group 126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2879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80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71" name="Group 129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2882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83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2774" name="Group 132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2885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886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2887" name="Line 135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88" name="Text Box 136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2889" name="Line 137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890" name="Text Box 138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2891" name="Line 139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2892" name="Arc 140"/>
          <p:cNvSpPr>
            <a:spLocks/>
          </p:cNvSpPr>
          <p:nvPr/>
        </p:nvSpPr>
        <p:spPr bwMode="auto">
          <a:xfrm>
            <a:off x="4151313" y="3387725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02893" name="Text Box 141"/>
          <p:cNvSpPr txBox="1">
            <a:spLocks noChangeArrowheads="1"/>
          </p:cNvSpPr>
          <p:nvPr/>
        </p:nvSpPr>
        <p:spPr bwMode="auto">
          <a:xfrm>
            <a:off x="2844800" y="287813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02894" name="Line 142"/>
          <p:cNvSpPr>
            <a:spLocks noChangeShapeType="1"/>
          </p:cNvSpPr>
          <p:nvPr/>
        </p:nvSpPr>
        <p:spPr bwMode="auto">
          <a:xfrm flipH="1">
            <a:off x="2908300" y="3249613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2895" name="Text Box 143"/>
          <p:cNvSpPr txBox="1">
            <a:spLocks noChangeArrowheads="1"/>
          </p:cNvSpPr>
          <p:nvPr/>
        </p:nvSpPr>
        <p:spPr bwMode="auto">
          <a:xfrm>
            <a:off x="6654800" y="2879725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02896" name="Line 144"/>
          <p:cNvSpPr>
            <a:spLocks noChangeShapeType="1"/>
          </p:cNvSpPr>
          <p:nvPr/>
        </p:nvSpPr>
        <p:spPr bwMode="auto">
          <a:xfrm>
            <a:off x="6718300" y="3251200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2897" name="Text Box 145"/>
          <p:cNvSpPr txBox="1">
            <a:spLocks noChangeArrowheads="1"/>
          </p:cNvSpPr>
          <p:nvPr/>
        </p:nvSpPr>
        <p:spPr bwMode="auto">
          <a:xfrm>
            <a:off x="4441825" y="1435100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202898" name="Text Box 146"/>
          <p:cNvSpPr txBox="1">
            <a:spLocks noChangeArrowheads="1"/>
          </p:cNvSpPr>
          <p:nvPr/>
        </p:nvSpPr>
        <p:spPr bwMode="auto">
          <a:xfrm>
            <a:off x="4492625" y="4664075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202899" name="Rectangle 14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57200" y="457200"/>
            <a:ext cx="8229600" cy="45259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 A particle moving along the x-axis in simple harmonic motion starts from its equilibrium position, the origin, at t=0 and moves to the right. The amplitude of its motion is 2.00cm , and the frequency is 1.50Hz .     </a:t>
            </a:r>
          </a:p>
          <a:p>
            <a:pPr marL="457200" lvl="1" indent="0">
              <a:buNone/>
            </a:pPr>
            <a:r>
              <a:rPr lang="en-US" dirty="0"/>
              <a:t>a) show that the position of the particle is given by	</a:t>
            </a:r>
          </a:p>
          <a:p>
            <a:pPr marL="457200" lvl="1" indent="0">
              <a:buNone/>
            </a:pPr>
            <a:r>
              <a:rPr lang="en-US" dirty="0"/>
              <a:t>                   x=(2.00cm )sin(3.00πt)</a:t>
            </a:r>
          </a:p>
          <a:p>
            <a:pPr marL="457200" lvl="1" indent="0">
              <a:buNone/>
            </a:pPr>
            <a:r>
              <a:rPr lang="en-US" dirty="0"/>
              <a:t>determine     </a:t>
            </a:r>
          </a:p>
          <a:p>
            <a:pPr marL="457200" lvl="1" indent="0">
              <a:buNone/>
            </a:pPr>
            <a:r>
              <a:rPr lang="en-US" dirty="0"/>
              <a:t>b) the maximum speed and the earliest time (t&gt;0) at which the particle has this speed,     </a:t>
            </a:r>
          </a:p>
          <a:p>
            <a:pPr marL="457200" lvl="1" indent="0">
              <a:buNone/>
            </a:pPr>
            <a:r>
              <a:rPr lang="en-US" dirty="0"/>
              <a:t>c) the maximum acceleration and the earliest time (t&gt;0) at which the particle has this acceleration, and     </a:t>
            </a:r>
          </a:p>
          <a:p>
            <a:pPr marL="457200" lvl="1" indent="0">
              <a:buNone/>
            </a:pPr>
            <a:r>
              <a:rPr lang="en-US" dirty="0"/>
              <a:t>d) the total distance traveled between t=0 and t=1.00s     	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4876800"/>
            <a:ext cx="3256522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04567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Kinetic Energy</a:t>
            </a:r>
          </a:p>
        </p:txBody>
      </p:sp>
      <p:sp>
        <p:nvSpPr>
          <p:cNvPr id="203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Kinetic energy can be written as</a:t>
            </a:r>
          </a:p>
          <a:p>
            <a:endParaRPr lang="en-US"/>
          </a:p>
          <a:p>
            <a:r>
              <a:rPr lang="en-US"/>
              <a:t>For SHM</a:t>
            </a:r>
          </a:p>
        </p:txBody>
      </p:sp>
      <p:sp>
        <p:nvSpPr>
          <p:cNvPr id="203780" name="Rectangle 4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1" name="Object 5"/>
          <p:cNvGraphicFramePr>
            <a:graphicFrameLocks noChangeAspect="1"/>
          </p:cNvGraphicFramePr>
          <p:nvPr/>
        </p:nvGraphicFramePr>
        <p:xfrm>
          <a:off x="3090863" y="2347913"/>
          <a:ext cx="1309687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700" progId="Equation.3">
                  <p:embed/>
                </p:oleObj>
              </mc:Choice>
              <mc:Fallback>
                <p:oleObj name="Equation" r:id="rId2" imgW="685800" imgH="393700" progId="Equation.3">
                  <p:embed/>
                  <p:pic>
                    <p:nvPicPr>
                      <p:cNvPr id="20378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0863" y="2347913"/>
                        <a:ext cx="1309687" cy="746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782" name="Rectangle 6"/>
          <p:cNvSpPr>
            <a:spLocks noChangeArrowheads="1"/>
          </p:cNvSpPr>
          <p:nvPr/>
        </p:nvSpPr>
        <p:spPr bwMode="auto">
          <a:xfrm>
            <a:off x="0" y="2614613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3" name="Object 7"/>
          <p:cNvGraphicFramePr>
            <a:graphicFrameLocks noChangeAspect="1"/>
          </p:cNvGraphicFramePr>
          <p:nvPr/>
        </p:nvGraphicFramePr>
        <p:xfrm>
          <a:off x="3248025" y="3384550"/>
          <a:ext cx="2879725" cy="257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16100" imgH="1625600" progId="Equation.3">
                  <p:embed/>
                </p:oleObj>
              </mc:Choice>
              <mc:Fallback>
                <p:oleObj name="Equation" r:id="rId4" imgW="1816100" imgH="1625600" progId="Equation.3">
                  <p:embed/>
                  <p:pic>
                    <p:nvPicPr>
                      <p:cNvPr id="20378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8025" y="3384550"/>
                        <a:ext cx="2879725" cy="2578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Potential Energy</a:t>
            </a:r>
          </a:p>
        </p:txBody>
      </p:sp>
      <p:sp>
        <p:nvSpPr>
          <p:cNvPr id="20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potential energy of a spring is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Then for SHM</a:t>
            </a:r>
          </a:p>
        </p:txBody>
      </p:sp>
      <p:sp>
        <p:nvSpPr>
          <p:cNvPr id="204804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5" name="Object 5"/>
          <p:cNvGraphicFramePr>
            <a:graphicFrameLocks noChangeAspect="1"/>
          </p:cNvGraphicFramePr>
          <p:nvPr/>
        </p:nvGraphicFramePr>
        <p:xfrm>
          <a:off x="4048125" y="2263775"/>
          <a:ext cx="1273175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2080" imgH="393480" progId="Equation.3">
                  <p:embed/>
                </p:oleObj>
              </mc:Choice>
              <mc:Fallback>
                <p:oleObj name="Equation" r:id="rId2" imgW="622080" imgH="393480" progId="Equation.3">
                  <p:embed/>
                  <p:pic>
                    <p:nvPicPr>
                      <p:cNvPr id="20480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48125" y="2263775"/>
                        <a:ext cx="1273175" cy="803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06" name="Rectangle 6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7" name="Object 7"/>
          <p:cNvGraphicFramePr>
            <a:graphicFrameLocks noChangeAspect="1"/>
          </p:cNvGraphicFramePr>
          <p:nvPr/>
        </p:nvGraphicFramePr>
        <p:xfrm>
          <a:off x="2649538" y="3994150"/>
          <a:ext cx="39258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85720" imgH="393480" progId="Equation.3">
                  <p:embed/>
                </p:oleObj>
              </mc:Choice>
              <mc:Fallback>
                <p:oleObj name="Equation" r:id="rId4" imgW="1485720" imgH="393480" progId="Equation.3">
                  <p:embed/>
                  <p:pic>
                    <p:nvPicPr>
                      <p:cNvPr id="20480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9538" y="3994150"/>
                        <a:ext cx="39258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Total Mechanical Energy</a:t>
            </a:r>
          </a:p>
        </p:txBody>
      </p:sp>
      <p:sp>
        <p:nvSpPr>
          <p:cNvPr id="205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71488" y="4024313"/>
            <a:ext cx="8229600" cy="1027112"/>
          </a:xfrm>
        </p:spPr>
        <p:txBody>
          <a:bodyPr/>
          <a:lstStyle/>
          <a:p>
            <a:r>
              <a:rPr lang="en-US"/>
              <a:t>This is an astounding result!</a:t>
            </a:r>
          </a:p>
        </p:txBody>
      </p:sp>
      <p:sp>
        <p:nvSpPr>
          <p:cNvPr id="205828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829" name="Object 5"/>
          <p:cNvGraphicFramePr>
            <a:graphicFrameLocks noChangeAspect="1"/>
          </p:cNvGraphicFramePr>
          <p:nvPr/>
        </p:nvGraphicFramePr>
        <p:xfrm>
          <a:off x="1981200" y="1639888"/>
          <a:ext cx="4629150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81000" imgH="1422360" progId="Equation.3">
                  <p:embed/>
                </p:oleObj>
              </mc:Choice>
              <mc:Fallback>
                <p:oleObj name="Equation" r:id="rId2" imgW="2781000" imgH="1422360" progId="Equation.3">
                  <p:embed/>
                  <p:pic>
                    <p:nvPicPr>
                      <p:cNvPr id="20582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1639888"/>
                        <a:ext cx="4629150" cy="2362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830" name="AutoShape 6"/>
          <p:cNvSpPr>
            <a:spLocks noChangeArrowheads="1"/>
          </p:cNvSpPr>
          <p:nvPr/>
        </p:nvSpPr>
        <p:spPr bwMode="auto">
          <a:xfrm>
            <a:off x="739775" y="5153025"/>
            <a:ext cx="8143875" cy="7985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b="1" i="1"/>
              <a:t>The total mechanical energy of a SHO is a constant of motion</a:t>
            </a:r>
            <a:r>
              <a:rPr lang="en-US" b="1"/>
              <a:t>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32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2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BA616-9211-4540-BD71-256B3E87DABC}" type="slidenum">
              <a:rPr lang="en-US"/>
              <a:pPr/>
              <a:t>27</a:t>
            </a:fld>
            <a:endParaRPr lang="en-US"/>
          </a:p>
        </p:txBody>
      </p:sp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206851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5760" cy="43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68" y="744"/>
              <a:ext cx="568" cy="271"/>
              <a:chOff x="1400" y="3840"/>
              <a:chExt cx="568" cy="271"/>
            </a:xfrm>
          </p:grpSpPr>
          <p:sp>
            <p:nvSpPr>
              <p:cNvPr id="206853" name="Line 5"/>
              <p:cNvSpPr>
                <a:spLocks noChangeShapeType="1"/>
              </p:cNvSpPr>
              <p:nvPr/>
            </p:nvSpPr>
            <p:spPr bwMode="auto">
              <a:xfrm>
                <a:off x="1400" y="395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54" name="Rectangle 6"/>
              <p:cNvSpPr>
                <a:spLocks noChangeArrowheads="1"/>
              </p:cNvSpPr>
              <p:nvPr/>
            </p:nvSpPr>
            <p:spPr bwMode="auto">
              <a:xfrm>
                <a:off x="1728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55" name="Text Box 7"/>
              <p:cNvSpPr txBox="1">
                <a:spLocks noChangeArrowheads="1"/>
              </p:cNvSpPr>
              <p:nvPr/>
            </p:nvSpPr>
            <p:spPr bwMode="auto">
              <a:xfrm>
                <a:off x="171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56" name="Text Box 8"/>
              <p:cNvSpPr txBox="1">
                <a:spLocks noChangeArrowheads="1"/>
              </p:cNvSpPr>
              <p:nvPr/>
            </p:nvSpPr>
            <p:spPr bwMode="auto">
              <a:xfrm>
                <a:off x="147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  <p:sp>
            <p:nvSpPr>
              <p:cNvPr id="206857" name="Rectangle 9"/>
              <p:cNvSpPr>
                <a:spLocks noChangeArrowheads="1"/>
              </p:cNvSpPr>
              <p:nvPr/>
            </p:nvSpPr>
            <p:spPr bwMode="auto">
              <a:xfrm>
                <a:off x="1512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2740" y="192"/>
              <a:ext cx="568" cy="375"/>
              <a:chOff x="2104" y="3808"/>
              <a:chExt cx="568" cy="375"/>
            </a:xfrm>
          </p:grpSpPr>
          <p:sp>
            <p:nvSpPr>
              <p:cNvPr id="206859" name="Line 11"/>
              <p:cNvSpPr>
                <a:spLocks noChangeShapeType="1"/>
              </p:cNvSpPr>
              <p:nvPr/>
            </p:nvSpPr>
            <p:spPr bwMode="auto">
              <a:xfrm>
                <a:off x="2104" y="4024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60" name="Rectangle 12"/>
              <p:cNvSpPr>
                <a:spLocks noChangeArrowheads="1"/>
              </p:cNvSpPr>
              <p:nvPr/>
            </p:nvSpPr>
            <p:spPr bwMode="auto">
              <a:xfrm>
                <a:off x="2216" y="3808"/>
                <a:ext cx="120" cy="21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61" name="Text Box 13"/>
              <p:cNvSpPr txBox="1">
                <a:spLocks noChangeArrowheads="1"/>
              </p:cNvSpPr>
              <p:nvPr/>
            </p:nvSpPr>
            <p:spPr bwMode="auto">
              <a:xfrm>
                <a:off x="2414" y="4029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62" name="Text Box 14"/>
              <p:cNvSpPr txBox="1">
                <a:spLocks noChangeArrowheads="1"/>
              </p:cNvSpPr>
              <p:nvPr/>
            </p:nvSpPr>
            <p:spPr bwMode="auto">
              <a:xfrm>
                <a:off x="2174" y="4029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</p:grpSp>
        <p:grpSp>
          <p:nvGrpSpPr>
            <p:cNvPr id="5" name="Group 15"/>
            <p:cNvGrpSpPr>
              <a:grpSpLocks/>
            </p:cNvGrpSpPr>
            <p:nvPr/>
          </p:nvGrpSpPr>
          <p:grpSpPr bwMode="auto">
            <a:xfrm>
              <a:off x="4780" y="744"/>
              <a:ext cx="568" cy="271"/>
              <a:chOff x="1400" y="3840"/>
              <a:chExt cx="568" cy="271"/>
            </a:xfrm>
          </p:grpSpPr>
          <p:sp>
            <p:nvSpPr>
              <p:cNvPr id="206864" name="Line 16"/>
              <p:cNvSpPr>
                <a:spLocks noChangeShapeType="1"/>
              </p:cNvSpPr>
              <p:nvPr/>
            </p:nvSpPr>
            <p:spPr bwMode="auto">
              <a:xfrm>
                <a:off x="1400" y="395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65" name="Rectangle 17"/>
              <p:cNvSpPr>
                <a:spLocks noChangeArrowheads="1"/>
              </p:cNvSpPr>
              <p:nvPr/>
            </p:nvSpPr>
            <p:spPr bwMode="auto">
              <a:xfrm>
                <a:off x="1728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66" name="Text Box 18"/>
              <p:cNvSpPr txBox="1">
                <a:spLocks noChangeArrowheads="1"/>
              </p:cNvSpPr>
              <p:nvPr/>
            </p:nvSpPr>
            <p:spPr bwMode="auto">
              <a:xfrm>
                <a:off x="171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67" name="Text Box 19"/>
              <p:cNvSpPr txBox="1">
                <a:spLocks noChangeArrowheads="1"/>
              </p:cNvSpPr>
              <p:nvPr/>
            </p:nvSpPr>
            <p:spPr bwMode="auto">
              <a:xfrm>
                <a:off x="147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  <p:sp>
            <p:nvSpPr>
              <p:cNvPr id="206868" name="Rectangle 20"/>
              <p:cNvSpPr>
                <a:spLocks noChangeArrowheads="1"/>
              </p:cNvSpPr>
              <p:nvPr/>
            </p:nvSpPr>
            <p:spPr bwMode="auto">
              <a:xfrm>
                <a:off x="1512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6" name="Group 21"/>
            <p:cNvGrpSpPr>
              <a:grpSpLocks/>
            </p:cNvGrpSpPr>
            <p:nvPr/>
          </p:nvGrpSpPr>
          <p:grpSpPr bwMode="auto">
            <a:xfrm>
              <a:off x="216" y="2032"/>
              <a:ext cx="568" cy="375"/>
              <a:chOff x="696" y="3696"/>
              <a:chExt cx="568" cy="375"/>
            </a:xfrm>
          </p:grpSpPr>
          <p:sp>
            <p:nvSpPr>
              <p:cNvPr id="206870" name="Line 22"/>
              <p:cNvSpPr>
                <a:spLocks noChangeShapeType="1"/>
              </p:cNvSpPr>
              <p:nvPr/>
            </p:nvSpPr>
            <p:spPr bwMode="auto">
              <a:xfrm>
                <a:off x="696" y="391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71" name="Rectangle 23"/>
              <p:cNvSpPr>
                <a:spLocks noChangeArrowheads="1"/>
              </p:cNvSpPr>
              <p:nvPr/>
            </p:nvSpPr>
            <p:spPr bwMode="auto">
              <a:xfrm>
                <a:off x="1024" y="3696"/>
                <a:ext cx="120" cy="21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72" name="Text Box 24"/>
              <p:cNvSpPr txBox="1">
                <a:spLocks noChangeArrowheads="1"/>
              </p:cNvSpPr>
              <p:nvPr/>
            </p:nvSpPr>
            <p:spPr bwMode="auto">
              <a:xfrm>
                <a:off x="1006" y="391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73" name="Text Box 25"/>
              <p:cNvSpPr txBox="1">
                <a:spLocks noChangeArrowheads="1"/>
              </p:cNvSpPr>
              <p:nvPr/>
            </p:nvSpPr>
            <p:spPr bwMode="auto">
              <a:xfrm>
                <a:off x="766" y="391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</p:grpSp>
        <p:grpSp>
          <p:nvGrpSpPr>
            <p:cNvPr id="7" name="Group 26"/>
            <p:cNvGrpSpPr>
              <a:grpSpLocks/>
            </p:cNvGrpSpPr>
            <p:nvPr/>
          </p:nvGrpSpPr>
          <p:grpSpPr bwMode="auto">
            <a:xfrm>
              <a:off x="5120" y="1896"/>
              <a:ext cx="568" cy="375"/>
              <a:chOff x="696" y="3696"/>
              <a:chExt cx="568" cy="375"/>
            </a:xfrm>
          </p:grpSpPr>
          <p:sp>
            <p:nvSpPr>
              <p:cNvPr id="206875" name="Line 27"/>
              <p:cNvSpPr>
                <a:spLocks noChangeShapeType="1"/>
              </p:cNvSpPr>
              <p:nvPr/>
            </p:nvSpPr>
            <p:spPr bwMode="auto">
              <a:xfrm>
                <a:off x="696" y="391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76" name="Rectangle 28"/>
              <p:cNvSpPr>
                <a:spLocks noChangeArrowheads="1"/>
              </p:cNvSpPr>
              <p:nvPr/>
            </p:nvSpPr>
            <p:spPr bwMode="auto">
              <a:xfrm>
                <a:off x="1024" y="3696"/>
                <a:ext cx="120" cy="21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77" name="Text Box 29"/>
              <p:cNvSpPr txBox="1">
                <a:spLocks noChangeArrowheads="1"/>
              </p:cNvSpPr>
              <p:nvPr/>
            </p:nvSpPr>
            <p:spPr bwMode="auto">
              <a:xfrm>
                <a:off x="1006" y="391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78" name="Text Box 30"/>
              <p:cNvSpPr txBox="1">
                <a:spLocks noChangeArrowheads="1"/>
              </p:cNvSpPr>
              <p:nvPr/>
            </p:nvSpPr>
            <p:spPr bwMode="auto">
              <a:xfrm>
                <a:off x="766" y="391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</p:grpSp>
        <p:grpSp>
          <p:nvGrpSpPr>
            <p:cNvPr id="8" name="Group 31"/>
            <p:cNvGrpSpPr>
              <a:grpSpLocks/>
            </p:cNvGrpSpPr>
            <p:nvPr/>
          </p:nvGrpSpPr>
          <p:grpSpPr bwMode="auto">
            <a:xfrm>
              <a:off x="4780" y="3160"/>
              <a:ext cx="568" cy="271"/>
              <a:chOff x="1400" y="3840"/>
              <a:chExt cx="568" cy="271"/>
            </a:xfrm>
          </p:grpSpPr>
          <p:sp>
            <p:nvSpPr>
              <p:cNvPr id="206880" name="Line 32"/>
              <p:cNvSpPr>
                <a:spLocks noChangeShapeType="1"/>
              </p:cNvSpPr>
              <p:nvPr/>
            </p:nvSpPr>
            <p:spPr bwMode="auto">
              <a:xfrm>
                <a:off x="1400" y="395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81" name="Rectangle 33"/>
              <p:cNvSpPr>
                <a:spLocks noChangeArrowheads="1"/>
              </p:cNvSpPr>
              <p:nvPr/>
            </p:nvSpPr>
            <p:spPr bwMode="auto">
              <a:xfrm>
                <a:off x="1728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82" name="Text Box 34"/>
              <p:cNvSpPr txBox="1">
                <a:spLocks noChangeArrowheads="1"/>
              </p:cNvSpPr>
              <p:nvPr/>
            </p:nvSpPr>
            <p:spPr bwMode="auto">
              <a:xfrm>
                <a:off x="171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83" name="Text Box 35"/>
              <p:cNvSpPr txBox="1">
                <a:spLocks noChangeArrowheads="1"/>
              </p:cNvSpPr>
              <p:nvPr/>
            </p:nvSpPr>
            <p:spPr bwMode="auto">
              <a:xfrm>
                <a:off x="147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  <p:sp>
            <p:nvSpPr>
              <p:cNvPr id="206884" name="Rectangle 36"/>
              <p:cNvSpPr>
                <a:spLocks noChangeArrowheads="1"/>
              </p:cNvSpPr>
              <p:nvPr/>
            </p:nvSpPr>
            <p:spPr bwMode="auto">
              <a:xfrm>
                <a:off x="1512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9" name="Group 37"/>
            <p:cNvGrpSpPr>
              <a:grpSpLocks/>
            </p:cNvGrpSpPr>
            <p:nvPr/>
          </p:nvGrpSpPr>
          <p:grpSpPr bwMode="auto">
            <a:xfrm>
              <a:off x="668" y="3240"/>
              <a:ext cx="568" cy="271"/>
              <a:chOff x="1400" y="3840"/>
              <a:chExt cx="568" cy="271"/>
            </a:xfrm>
          </p:grpSpPr>
          <p:sp>
            <p:nvSpPr>
              <p:cNvPr id="206886" name="Line 38"/>
              <p:cNvSpPr>
                <a:spLocks noChangeShapeType="1"/>
              </p:cNvSpPr>
              <p:nvPr/>
            </p:nvSpPr>
            <p:spPr bwMode="auto">
              <a:xfrm>
                <a:off x="1400" y="3952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87" name="Rectangle 39"/>
              <p:cNvSpPr>
                <a:spLocks noChangeArrowheads="1"/>
              </p:cNvSpPr>
              <p:nvPr/>
            </p:nvSpPr>
            <p:spPr bwMode="auto">
              <a:xfrm>
                <a:off x="1728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88" name="Text Box 40"/>
              <p:cNvSpPr txBox="1">
                <a:spLocks noChangeArrowheads="1"/>
              </p:cNvSpPr>
              <p:nvPr/>
            </p:nvSpPr>
            <p:spPr bwMode="auto">
              <a:xfrm>
                <a:off x="171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89" name="Text Box 41"/>
              <p:cNvSpPr txBox="1">
                <a:spLocks noChangeArrowheads="1"/>
              </p:cNvSpPr>
              <p:nvPr/>
            </p:nvSpPr>
            <p:spPr bwMode="auto">
              <a:xfrm>
                <a:off x="1470" y="3957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  <p:sp>
            <p:nvSpPr>
              <p:cNvPr id="206890" name="Rectangle 42"/>
              <p:cNvSpPr>
                <a:spLocks noChangeArrowheads="1"/>
              </p:cNvSpPr>
              <p:nvPr/>
            </p:nvSpPr>
            <p:spPr bwMode="auto">
              <a:xfrm>
                <a:off x="1512" y="3840"/>
                <a:ext cx="120" cy="11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10" name="Group 43"/>
            <p:cNvGrpSpPr>
              <a:grpSpLocks/>
            </p:cNvGrpSpPr>
            <p:nvPr/>
          </p:nvGrpSpPr>
          <p:grpSpPr bwMode="auto">
            <a:xfrm>
              <a:off x="2740" y="3880"/>
              <a:ext cx="568" cy="375"/>
              <a:chOff x="2104" y="3808"/>
              <a:chExt cx="568" cy="375"/>
            </a:xfrm>
          </p:grpSpPr>
          <p:sp>
            <p:nvSpPr>
              <p:cNvPr id="206892" name="Line 44"/>
              <p:cNvSpPr>
                <a:spLocks noChangeShapeType="1"/>
              </p:cNvSpPr>
              <p:nvPr/>
            </p:nvSpPr>
            <p:spPr bwMode="auto">
              <a:xfrm>
                <a:off x="2104" y="4024"/>
                <a:ext cx="5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93" name="Rectangle 45"/>
              <p:cNvSpPr>
                <a:spLocks noChangeArrowheads="1"/>
              </p:cNvSpPr>
              <p:nvPr/>
            </p:nvSpPr>
            <p:spPr bwMode="auto">
              <a:xfrm>
                <a:off x="2216" y="3808"/>
                <a:ext cx="120" cy="21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6894" name="Text Box 46"/>
              <p:cNvSpPr txBox="1">
                <a:spLocks noChangeArrowheads="1"/>
              </p:cNvSpPr>
              <p:nvPr/>
            </p:nvSpPr>
            <p:spPr bwMode="auto">
              <a:xfrm>
                <a:off x="2414" y="4029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K</a:t>
                </a:r>
                <a:endParaRPr lang="en-US" sz="1000" u="sng"/>
              </a:p>
            </p:txBody>
          </p:sp>
          <p:sp>
            <p:nvSpPr>
              <p:cNvPr id="206895" name="Text Box 47"/>
              <p:cNvSpPr txBox="1">
                <a:spLocks noChangeArrowheads="1"/>
              </p:cNvSpPr>
              <p:nvPr/>
            </p:nvSpPr>
            <p:spPr bwMode="auto">
              <a:xfrm>
                <a:off x="2174" y="4029"/>
                <a:ext cx="211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U</a:t>
                </a:r>
                <a:endParaRPr lang="en-US" sz="1000" u="sng"/>
              </a:p>
            </p:txBody>
          </p:sp>
        </p:grpSp>
        <p:sp>
          <p:nvSpPr>
            <p:cNvPr id="206896" name="Arc 48"/>
            <p:cNvSpPr>
              <a:spLocks/>
            </p:cNvSpPr>
            <p:nvPr/>
          </p:nvSpPr>
          <p:spPr bwMode="auto">
            <a:xfrm>
              <a:off x="2576" y="1569"/>
              <a:ext cx="864" cy="1104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97" name="Text Box 49"/>
            <p:cNvSpPr txBox="1">
              <a:spLocks noChangeArrowheads="1"/>
            </p:cNvSpPr>
            <p:nvPr/>
          </p:nvSpPr>
          <p:spPr bwMode="auto">
            <a:xfrm>
              <a:off x="4149" y="4166"/>
              <a:ext cx="1479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After Halliday and Resnick Figure 35-1</a:t>
              </a:r>
            </a:p>
          </p:txBody>
        </p:sp>
        <p:grpSp>
          <p:nvGrpSpPr>
            <p:cNvPr id="11" name="Group 50"/>
            <p:cNvGrpSpPr>
              <a:grpSpLocks/>
            </p:cNvGrpSpPr>
            <p:nvPr/>
          </p:nvGrpSpPr>
          <p:grpSpPr bwMode="auto">
            <a:xfrm>
              <a:off x="950" y="1817"/>
              <a:ext cx="1189" cy="708"/>
              <a:chOff x="1037" y="605"/>
              <a:chExt cx="1189" cy="708"/>
            </a:xfrm>
          </p:grpSpPr>
          <p:sp>
            <p:nvSpPr>
              <p:cNvPr id="206899" name="AutoShape 51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6900" name="Text Box 52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27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6901" name="Line 53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02" name="Line 54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2" name="Group 55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3" name="Group 56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05" name="Line 5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06" name="Line 5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4" name="Group 59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08" name="Line 6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09" name="Line 6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62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206911" name="Line 6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12" name="Line 6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65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14" name="Line 6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15" name="Line 6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68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17" name="Line 6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18" name="Line 7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71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20" name="Line 7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21" name="Line 7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74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23" name="Line 7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24" name="Line 7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77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26" name="Line 7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27" name="Line 7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6928" name="Line 80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29" name="Text Box 81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6930" name="Line 82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31" name="Text Box 83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6932" name="Line 84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85"/>
            <p:cNvGrpSpPr>
              <a:grpSpLocks/>
            </p:cNvGrpSpPr>
            <p:nvPr/>
          </p:nvGrpSpPr>
          <p:grpSpPr bwMode="auto">
            <a:xfrm>
              <a:off x="4066" y="1804"/>
              <a:ext cx="1133" cy="732"/>
              <a:chOff x="1029" y="1941"/>
              <a:chExt cx="1133" cy="732"/>
            </a:xfrm>
          </p:grpSpPr>
          <p:sp>
            <p:nvSpPr>
              <p:cNvPr id="206934" name="AutoShape 86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6935" name="Text Box 87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27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6936" name="Line 88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37" name="Line 89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2" name="Group 90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23" name="Group 91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40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41" name="Line 9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4" name="Group 94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43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44" name="Line 9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97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206946" name="Line 9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47" name="Line 9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100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49" name="Line 1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50" name="Line 10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103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52" name="Line 10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53" name="Line 10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106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55" name="Line 10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56" name="Line 10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109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58" name="Line 11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59" name="Line 11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112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61" name="Line 11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62" name="Line 11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6963" name="Line 115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64" name="Text Box 116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6965" name="Line 117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66" name="Text Box 118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6967" name="Line 119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120"/>
            <p:cNvGrpSpPr>
              <a:grpSpLocks/>
            </p:cNvGrpSpPr>
            <p:nvPr/>
          </p:nvGrpSpPr>
          <p:grpSpPr bwMode="auto">
            <a:xfrm>
              <a:off x="2589" y="643"/>
              <a:ext cx="1016" cy="682"/>
              <a:chOff x="2112" y="1300"/>
              <a:chExt cx="1016" cy="682"/>
            </a:xfrm>
          </p:grpSpPr>
          <p:sp>
            <p:nvSpPr>
              <p:cNvPr id="206969" name="AutoShape 121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6970" name="Line 122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71" name="Line 123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6848" name="Group 124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06849" name="Group 125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74" name="Line 1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75" name="Line 1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50" name="Group 128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77" name="Line 1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78" name="Line 1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52" name="Group 131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206980" name="Line 1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81" name="Line 1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58" name="Group 134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83" name="Line 1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84" name="Line 13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63" name="Group 137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86" name="Line 13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87" name="Line 13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69" name="Group 140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89" name="Line 14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90" name="Line 14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74" name="Group 143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92" name="Line 14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93" name="Line 14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879" name="Group 146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206995" name="Line 14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6996" name="Line 14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6997" name="Line 149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98" name="Text Box 150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6999" name="Line 151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00" name="Text Box 152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7001" name="Text Box 153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8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V=0</a:t>
                </a:r>
              </a:p>
            </p:txBody>
          </p:sp>
        </p:grpSp>
        <p:grpSp>
          <p:nvGrpSpPr>
            <p:cNvPr id="206885" name="Group 154"/>
            <p:cNvGrpSpPr>
              <a:grpSpLocks/>
            </p:cNvGrpSpPr>
            <p:nvPr/>
          </p:nvGrpSpPr>
          <p:grpSpPr bwMode="auto">
            <a:xfrm>
              <a:off x="2490" y="3129"/>
              <a:ext cx="1213" cy="666"/>
              <a:chOff x="176" y="1300"/>
              <a:chExt cx="1213" cy="666"/>
            </a:xfrm>
          </p:grpSpPr>
          <p:sp>
            <p:nvSpPr>
              <p:cNvPr id="207003" name="AutoShape 155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7004" name="Text Box 156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18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V=0</a:t>
                </a:r>
              </a:p>
            </p:txBody>
          </p:sp>
          <p:sp>
            <p:nvSpPr>
              <p:cNvPr id="207005" name="Line 157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06" name="Line 158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6891" name="Group 159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207008" name="Line 1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09" name="Line 1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98" name="Group 162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207011" name="Line 1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12" name="Line 1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03" name="Group 165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207014" name="Line 1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15" name="Line 1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04" name="Group 168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207017" name="Line 16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18" name="Line 17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07" name="Group 171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207020" name="Line 17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21" name="Line 17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10" name="Group 174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207023" name="Line 17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24" name="Line 17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13" name="Group 177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207026" name="Line 17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27" name="Line 17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16" name="Group 180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207029" name="Line 18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30" name="Line 18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07031" name="Line 183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32" name="Text Box 184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7033" name="Line 185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34" name="Text Box 186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207035" name="Text Box 187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sp>
          <p:nvSpPr>
            <p:cNvPr id="207036" name="Text Box 188"/>
            <p:cNvSpPr txBox="1">
              <a:spLocks noChangeArrowheads="1"/>
            </p:cNvSpPr>
            <p:nvPr/>
          </p:nvSpPr>
          <p:spPr bwMode="auto">
            <a:xfrm>
              <a:off x="2031" y="3273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grpSp>
          <p:nvGrpSpPr>
            <p:cNvPr id="206919" name="Group 189"/>
            <p:cNvGrpSpPr>
              <a:grpSpLocks/>
            </p:cNvGrpSpPr>
            <p:nvPr/>
          </p:nvGrpSpPr>
          <p:grpSpPr bwMode="auto">
            <a:xfrm>
              <a:off x="1295" y="2749"/>
              <a:ext cx="1016" cy="720"/>
              <a:chOff x="1207" y="2751"/>
              <a:chExt cx="1016" cy="720"/>
            </a:xfrm>
          </p:grpSpPr>
          <p:sp>
            <p:nvSpPr>
              <p:cNvPr id="207038" name="AutoShape 190"/>
              <p:cNvSpPr>
                <a:spLocks noChangeArrowheads="1"/>
              </p:cNvSpPr>
              <p:nvPr/>
            </p:nvSpPr>
            <p:spPr bwMode="auto">
              <a:xfrm>
                <a:off x="1872" y="3016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7039" name="Text Box 191"/>
              <p:cNvSpPr txBox="1">
                <a:spLocks noChangeArrowheads="1"/>
              </p:cNvSpPr>
              <p:nvPr/>
            </p:nvSpPr>
            <p:spPr bwMode="auto">
              <a:xfrm>
                <a:off x="1849" y="2751"/>
                <a:ext cx="19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</a:p>
            </p:txBody>
          </p:sp>
          <p:sp>
            <p:nvSpPr>
              <p:cNvPr id="207040" name="Line 192"/>
              <p:cNvSpPr>
                <a:spLocks noChangeShapeType="1"/>
              </p:cNvSpPr>
              <p:nvPr/>
            </p:nvSpPr>
            <p:spPr bwMode="auto">
              <a:xfrm>
                <a:off x="1219" y="2805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41" name="Line 193"/>
              <p:cNvSpPr>
                <a:spLocks noChangeShapeType="1"/>
              </p:cNvSpPr>
              <p:nvPr/>
            </p:nvSpPr>
            <p:spPr bwMode="auto">
              <a:xfrm rot="5400000" flipV="1">
                <a:off x="1715" y="2674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6922" name="Group 194"/>
              <p:cNvGrpSpPr>
                <a:grpSpLocks/>
              </p:cNvGrpSpPr>
              <p:nvPr/>
            </p:nvGrpSpPr>
            <p:grpSpPr bwMode="auto">
              <a:xfrm>
                <a:off x="1237" y="3011"/>
                <a:ext cx="631" cy="68"/>
                <a:chOff x="1237" y="3011"/>
                <a:chExt cx="796" cy="95"/>
              </a:xfrm>
            </p:grpSpPr>
            <p:grpSp>
              <p:nvGrpSpPr>
                <p:cNvPr id="206925" name="Group 195"/>
                <p:cNvGrpSpPr>
                  <a:grpSpLocks/>
                </p:cNvGrpSpPr>
                <p:nvPr/>
              </p:nvGrpSpPr>
              <p:grpSpPr bwMode="auto">
                <a:xfrm>
                  <a:off x="1932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44" name="Line 19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45" name="Line 19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33" name="Group 198"/>
                <p:cNvGrpSpPr>
                  <a:grpSpLocks/>
                </p:cNvGrpSpPr>
                <p:nvPr/>
              </p:nvGrpSpPr>
              <p:grpSpPr bwMode="auto">
                <a:xfrm>
                  <a:off x="1825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47" name="Line 19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48" name="Line 20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38" name="Group 201"/>
                <p:cNvGrpSpPr>
                  <a:grpSpLocks/>
                </p:cNvGrpSpPr>
                <p:nvPr/>
              </p:nvGrpSpPr>
              <p:grpSpPr bwMode="auto">
                <a:xfrm>
                  <a:off x="1730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50" name="Line 20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51" name="Line 20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39" name="Group 204"/>
                <p:cNvGrpSpPr>
                  <a:grpSpLocks/>
                </p:cNvGrpSpPr>
                <p:nvPr/>
              </p:nvGrpSpPr>
              <p:grpSpPr bwMode="auto">
                <a:xfrm>
                  <a:off x="1629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53" name="Line 20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54" name="Line 20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42" name="Group 207"/>
                <p:cNvGrpSpPr>
                  <a:grpSpLocks/>
                </p:cNvGrpSpPr>
                <p:nvPr/>
              </p:nvGrpSpPr>
              <p:grpSpPr bwMode="auto">
                <a:xfrm>
                  <a:off x="1534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56" name="Line 20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57" name="Line 20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45" name="Group 210"/>
                <p:cNvGrpSpPr>
                  <a:grpSpLocks/>
                </p:cNvGrpSpPr>
                <p:nvPr/>
              </p:nvGrpSpPr>
              <p:grpSpPr bwMode="auto">
                <a:xfrm>
                  <a:off x="1433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59" name="Line 2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60" name="Line 2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48" name="Group 213"/>
                <p:cNvGrpSpPr>
                  <a:grpSpLocks/>
                </p:cNvGrpSpPr>
                <p:nvPr/>
              </p:nvGrpSpPr>
              <p:grpSpPr bwMode="auto">
                <a:xfrm>
                  <a:off x="1338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62" name="Line 2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63" name="Line 2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51" name="Group 216"/>
                <p:cNvGrpSpPr>
                  <a:grpSpLocks/>
                </p:cNvGrpSpPr>
                <p:nvPr/>
              </p:nvGrpSpPr>
              <p:grpSpPr bwMode="auto">
                <a:xfrm>
                  <a:off x="1237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65" name="Line 2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66" name="Line 2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7067" name="Line 219"/>
              <p:cNvSpPr>
                <a:spLocks noChangeShapeType="1"/>
              </p:cNvSpPr>
              <p:nvPr/>
            </p:nvSpPr>
            <p:spPr bwMode="auto">
              <a:xfrm>
                <a:off x="1789" y="322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68" name="Text Box 220"/>
              <p:cNvSpPr txBox="1">
                <a:spLocks noChangeArrowheads="1"/>
              </p:cNvSpPr>
              <p:nvPr/>
            </p:nvSpPr>
            <p:spPr bwMode="auto">
              <a:xfrm>
                <a:off x="1681" y="3279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7069" name="Line 221"/>
              <p:cNvSpPr>
                <a:spLocks noChangeShapeType="1"/>
              </p:cNvSpPr>
              <p:nvPr/>
            </p:nvSpPr>
            <p:spPr bwMode="auto">
              <a:xfrm>
                <a:off x="2122" y="323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70" name="Text Box 222"/>
              <p:cNvSpPr txBox="1">
                <a:spLocks noChangeArrowheads="1"/>
              </p:cNvSpPr>
              <p:nvPr/>
            </p:nvSpPr>
            <p:spPr bwMode="auto">
              <a:xfrm>
                <a:off x="1520" y="2822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  <p:sp>
            <p:nvSpPr>
              <p:cNvPr id="207071" name="Line 223"/>
              <p:cNvSpPr>
                <a:spLocks noChangeShapeType="1"/>
              </p:cNvSpPr>
              <p:nvPr/>
            </p:nvSpPr>
            <p:spPr bwMode="auto">
              <a:xfrm flipH="1">
                <a:off x="1871" y="2938"/>
                <a:ext cx="14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54" name="Group 224"/>
            <p:cNvGrpSpPr>
              <a:grpSpLocks/>
            </p:cNvGrpSpPr>
            <p:nvPr/>
          </p:nvGrpSpPr>
          <p:grpSpPr bwMode="auto">
            <a:xfrm>
              <a:off x="1295" y="1095"/>
              <a:ext cx="1016" cy="720"/>
              <a:chOff x="1299" y="1073"/>
              <a:chExt cx="1016" cy="720"/>
            </a:xfrm>
          </p:grpSpPr>
          <p:sp>
            <p:nvSpPr>
              <p:cNvPr id="207073" name="AutoShape 225"/>
              <p:cNvSpPr>
                <a:spLocks noChangeArrowheads="1"/>
              </p:cNvSpPr>
              <p:nvPr/>
            </p:nvSpPr>
            <p:spPr bwMode="auto">
              <a:xfrm>
                <a:off x="1721" y="1338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7074" name="Text Box 226"/>
              <p:cNvSpPr txBox="1">
                <a:spLocks noChangeArrowheads="1"/>
              </p:cNvSpPr>
              <p:nvPr/>
            </p:nvSpPr>
            <p:spPr bwMode="auto">
              <a:xfrm>
                <a:off x="1698" y="1073"/>
                <a:ext cx="19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</a:p>
            </p:txBody>
          </p:sp>
          <p:sp>
            <p:nvSpPr>
              <p:cNvPr id="207075" name="Line 227"/>
              <p:cNvSpPr>
                <a:spLocks noChangeShapeType="1"/>
              </p:cNvSpPr>
              <p:nvPr/>
            </p:nvSpPr>
            <p:spPr bwMode="auto">
              <a:xfrm>
                <a:off x="1311" y="11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76" name="Line 228"/>
              <p:cNvSpPr>
                <a:spLocks noChangeShapeType="1"/>
              </p:cNvSpPr>
              <p:nvPr/>
            </p:nvSpPr>
            <p:spPr bwMode="auto">
              <a:xfrm rot="5400000" flipV="1">
                <a:off x="1807" y="9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6957" name="Group 229"/>
              <p:cNvGrpSpPr>
                <a:grpSpLocks/>
              </p:cNvGrpSpPr>
              <p:nvPr/>
            </p:nvGrpSpPr>
            <p:grpSpPr bwMode="auto">
              <a:xfrm>
                <a:off x="1329" y="1333"/>
                <a:ext cx="383" cy="77"/>
                <a:chOff x="1237" y="3011"/>
                <a:chExt cx="796" cy="95"/>
              </a:xfrm>
            </p:grpSpPr>
            <p:grpSp>
              <p:nvGrpSpPr>
                <p:cNvPr id="206960" name="Group 230"/>
                <p:cNvGrpSpPr>
                  <a:grpSpLocks/>
                </p:cNvGrpSpPr>
                <p:nvPr/>
              </p:nvGrpSpPr>
              <p:grpSpPr bwMode="auto">
                <a:xfrm>
                  <a:off x="1932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79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80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68" name="Group 233"/>
                <p:cNvGrpSpPr>
                  <a:grpSpLocks/>
                </p:cNvGrpSpPr>
                <p:nvPr/>
              </p:nvGrpSpPr>
              <p:grpSpPr bwMode="auto">
                <a:xfrm>
                  <a:off x="1825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82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83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72" name="Group 236"/>
                <p:cNvGrpSpPr>
                  <a:grpSpLocks/>
                </p:cNvGrpSpPr>
                <p:nvPr/>
              </p:nvGrpSpPr>
              <p:grpSpPr bwMode="auto">
                <a:xfrm>
                  <a:off x="1730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85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86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73" name="Group 239"/>
                <p:cNvGrpSpPr>
                  <a:grpSpLocks/>
                </p:cNvGrpSpPr>
                <p:nvPr/>
              </p:nvGrpSpPr>
              <p:grpSpPr bwMode="auto">
                <a:xfrm>
                  <a:off x="1629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88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89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76" name="Group 242"/>
                <p:cNvGrpSpPr>
                  <a:grpSpLocks/>
                </p:cNvGrpSpPr>
                <p:nvPr/>
              </p:nvGrpSpPr>
              <p:grpSpPr bwMode="auto">
                <a:xfrm>
                  <a:off x="1534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91" name="Line 24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92" name="Line 24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79" name="Group 245"/>
                <p:cNvGrpSpPr>
                  <a:grpSpLocks/>
                </p:cNvGrpSpPr>
                <p:nvPr/>
              </p:nvGrpSpPr>
              <p:grpSpPr bwMode="auto">
                <a:xfrm>
                  <a:off x="1433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94" name="Line 24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95" name="Line 24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82" name="Group 248"/>
                <p:cNvGrpSpPr>
                  <a:grpSpLocks/>
                </p:cNvGrpSpPr>
                <p:nvPr/>
              </p:nvGrpSpPr>
              <p:grpSpPr bwMode="auto">
                <a:xfrm>
                  <a:off x="1338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097" name="Line 24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098" name="Line 25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6985" name="Group 251"/>
                <p:cNvGrpSpPr>
                  <a:grpSpLocks/>
                </p:cNvGrpSpPr>
                <p:nvPr/>
              </p:nvGrpSpPr>
              <p:grpSpPr bwMode="auto">
                <a:xfrm>
                  <a:off x="1237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00" name="Line 25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01" name="Line 25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7102" name="Line 254"/>
              <p:cNvSpPr>
                <a:spLocks noChangeShapeType="1"/>
              </p:cNvSpPr>
              <p:nvPr/>
            </p:nvSpPr>
            <p:spPr bwMode="auto">
              <a:xfrm>
                <a:off x="1881" y="15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03" name="Text Box 255"/>
              <p:cNvSpPr txBox="1">
                <a:spLocks noChangeArrowheads="1"/>
              </p:cNvSpPr>
              <p:nvPr/>
            </p:nvSpPr>
            <p:spPr bwMode="auto">
              <a:xfrm>
                <a:off x="1773" y="16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7104" name="Line 256"/>
              <p:cNvSpPr>
                <a:spLocks noChangeShapeType="1"/>
              </p:cNvSpPr>
              <p:nvPr/>
            </p:nvSpPr>
            <p:spPr bwMode="auto">
              <a:xfrm>
                <a:off x="2214" y="15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05" name="Line 257"/>
              <p:cNvSpPr>
                <a:spLocks noChangeShapeType="1"/>
              </p:cNvSpPr>
              <p:nvPr/>
            </p:nvSpPr>
            <p:spPr bwMode="auto">
              <a:xfrm flipH="1">
                <a:off x="1720" y="1260"/>
                <a:ext cx="14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88" name="Group 258"/>
            <p:cNvGrpSpPr>
              <a:grpSpLocks/>
            </p:cNvGrpSpPr>
            <p:nvPr/>
          </p:nvGrpSpPr>
          <p:grpSpPr bwMode="auto">
            <a:xfrm>
              <a:off x="3799" y="2749"/>
              <a:ext cx="1016" cy="720"/>
              <a:chOff x="3680" y="2747"/>
              <a:chExt cx="1016" cy="720"/>
            </a:xfrm>
          </p:grpSpPr>
          <p:sp>
            <p:nvSpPr>
              <p:cNvPr id="207107" name="AutoShape 259"/>
              <p:cNvSpPr>
                <a:spLocks noChangeArrowheads="1"/>
              </p:cNvSpPr>
              <p:nvPr/>
            </p:nvSpPr>
            <p:spPr bwMode="auto">
              <a:xfrm>
                <a:off x="4345" y="30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7108" name="Text Box 260"/>
              <p:cNvSpPr txBox="1">
                <a:spLocks noChangeArrowheads="1"/>
              </p:cNvSpPr>
              <p:nvPr/>
            </p:nvSpPr>
            <p:spPr bwMode="auto">
              <a:xfrm>
                <a:off x="4322" y="2747"/>
                <a:ext cx="19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</a:p>
            </p:txBody>
          </p:sp>
          <p:sp>
            <p:nvSpPr>
              <p:cNvPr id="207109" name="Line 261"/>
              <p:cNvSpPr>
                <a:spLocks noChangeShapeType="1"/>
              </p:cNvSpPr>
              <p:nvPr/>
            </p:nvSpPr>
            <p:spPr bwMode="auto">
              <a:xfrm>
                <a:off x="3692" y="280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10" name="Line 262"/>
              <p:cNvSpPr>
                <a:spLocks noChangeShapeType="1"/>
              </p:cNvSpPr>
              <p:nvPr/>
            </p:nvSpPr>
            <p:spPr bwMode="auto">
              <a:xfrm rot="5400000" flipV="1">
                <a:off x="4188" y="267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6991" name="Group 263"/>
              <p:cNvGrpSpPr>
                <a:grpSpLocks/>
              </p:cNvGrpSpPr>
              <p:nvPr/>
            </p:nvGrpSpPr>
            <p:grpSpPr bwMode="auto">
              <a:xfrm>
                <a:off x="3710" y="3007"/>
                <a:ext cx="631" cy="68"/>
                <a:chOff x="1237" y="3011"/>
                <a:chExt cx="796" cy="95"/>
              </a:xfrm>
            </p:grpSpPr>
            <p:grpSp>
              <p:nvGrpSpPr>
                <p:cNvPr id="206994" name="Group 264"/>
                <p:cNvGrpSpPr>
                  <a:grpSpLocks/>
                </p:cNvGrpSpPr>
                <p:nvPr/>
              </p:nvGrpSpPr>
              <p:grpSpPr bwMode="auto">
                <a:xfrm>
                  <a:off x="1932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13" name="Line 26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14" name="Line 26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02" name="Group 267"/>
                <p:cNvGrpSpPr>
                  <a:grpSpLocks/>
                </p:cNvGrpSpPr>
                <p:nvPr/>
              </p:nvGrpSpPr>
              <p:grpSpPr bwMode="auto">
                <a:xfrm>
                  <a:off x="1825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16" name="Line 26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17" name="Line 26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07" name="Group 270"/>
                <p:cNvGrpSpPr>
                  <a:grpSpLocks/>
                </p:cNvGrpSpPr>
                <p:nvPr/>
              </p:nvGrpSpPr>
              <p:grpSpPr bwMode="auto">
                <a:xfrm>
                  <a:off x="1730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19" name="Line 27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20" name="Line 27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10" name="Group 273"/>
                <p:cNvGrpSpPr>
                  <a:grpSpLocks/>
                </p:cNvGrpSpPr>
                <p:nvPr/>
              </p:nvGrpSpPr>
              <p:grpSpPr bwMode="auto">
                <a:xfrm>
                  <a:off x="1629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22" name="Line 27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23" name="Line 27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13" name="Group 276"/>
                <p:cNvGrpSpPr>
                  <a:grpSpLocks/>
                </p:cNvGrpSpPr>
                <p:nvPr/>
              </p:nvGrpSpPr>
              <p:grpSpPr bwMode="auto">
                <a:xfrm>
                  <a:off x="1534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25" name="Line 27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26" name="Line 27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16" name="Group 279"/>
                <p:cNvGrpSpPr>
                  <a:grpSpLocks/>
                </p:cNvGrpSpPr>
                <p:nvPr/>
              </p:nvGrpSpPr>
              <p:grpSpPr bwMode="auto">
                <a:xfrm>
                  <a:off x="1433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28" name="Line 28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29" name="Line 28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19" name="Group 282"/>
                <p:cNvGrpSpPr>
                  <a:grpSpLocks/>
                </p:cNvGrpSpPr>
                <p:nvPr/>
              </p:nvGrpSpPr>
              <p:grpSpPr bwMode="auto">
                <a:xfrm>
                  <a:off x="1338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31" name="Line 28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32" name="Line 28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22" name="Group 285"/>
                <p:cNvGrpSpPr>
                  <a:grpSpLocks/>
                </p:cNvGrpSpPr>
                <p:nvPr/>
              </p:nvGrpSpPr>
              <p:grpSpPr bwMode="auto">
                <a:xfrm>
                  <a:off x="1237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34" name="Line 28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35" name="Line 28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7136" name="Line 288"/>
              <p:cNvSpPr>
                <a:spLocks noChangeShapeType="1"/>
              </p:cNvSpPr>
              <p:nvPr/>
            </p:nvSpPr>
            <p:spPr bwMode="auto">
              <a:xfrm>
                <a:off x="4262" y="322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37" name="Text Box 289"/>
              <p:cNvSpPr txBox="1">
                <a:spLocks noChangeArrowheads="1"/>
              </p:cNvSpPr>
              <p:nvPr/>
            </p:nvSpPr>
            <p:spPr bwMode="auto">
              <a:xfrm>
                <a:off x="4154" y="3275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7138" name="Line 290"/>
              <p:cNvSpPr>
                <a:spLocks noChangeShapeType="1"/>
              </p:cNvSpPr>
              <p:nvPr/>
            </p:nvSpPr>
            <p:spPr bwMode="auto">
              <a:xfrm>
                <a:off x="4595" y="32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39" name="Text Box 291"/>
              <p:cNvSpPr txBox="1">
                <a:spLocks noChangeArrowheads="1"/>
              </p:cNvSpPr>
              <p:nvPr/>
            </p:nvSpPr>
            <p:spPr bwMode="auto">
              <a:xfrm>
                <a:off x="3993" y="2818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  <p:sp>
            <p:nvSpPr>
              <p:cNvPr id="207140" name="Line 292"/>
              <p:cNvSpPr>
                <a:spLocks noChangeShapeType="1"/>
              </p:cNvSpPr>
              <p:nvPr/>
            </p:nvSpPr>
            <p:spPr bwMode="auto">
              <a:xfrm>
                <a:off x="4344" y="2934"/>
                <a:ext cx="14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025" name="Group 293"/>
            <p:cNvGrpSpPr>
              <a:grpSpLocks/>
            </p:cNvGrpSpPr>
            <p:nvPr/>
          </p:nvGrpSpPr>
          <p:grpSpPr bwMode="auto">
            <a:xfrm>
              <a:off x="3800" y="1095"/>
              <a:ext cx="1016" cy="720"/>
              <a:chOff x="3855" y="913"/>
              <a:chExt cx="1016" cy="720"/>
            </a:xfrm>
          </p:grpSpPr>
          <p:sp>
            <p:nvSpPr>
              <p:cNvPr id="207142" name="AutoShape 294"/>
              <p:cNvSpPr>
                <a:spLocks noChangeArrowheads="1"/>
              </p:cNvSpPr>
              <p:nvPr/>
            </p:nvSpPr>
            <p:spPr bwMode="auto">
              <a:xfrm>
                <a:off x="4277" y="1178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207143" name="Text Box 295"/>
              <p:cNvSpPr txBox="1">
                <a:spLocks noChangeArrowheads="1"/>
              </p:cNvSpPr>
              <p:nvPr/>
            </p:nvSpPr>
            <p:spPr bwMode="auto">
              <a:xfrm>
                <a:off x="4254" y="913"/>
                <a:ext cx="19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V</a:t>
                </a:r>
              </a:p>
            </p:txBody>
          </p:sp>
          <p:sp>
            <p:nvSpPr>
              <p:cNvPr id="207144" name="Line 296"/>
              <p:cNvSpPr>
                <a:spLocks noChangeShapeType="1"/>
              </p:cNvSpPr>
              <p:nvPr/>
            </p:nvSpPr>
            <p:spPr bwMode="auto">
              <a:xfrm>
                <a:off x="3867" y="96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45" name="Line 297"/>
              <p:cNvSpPr>
                <a:spLocks noChangeShapeType="1"/>
              </p:cNvSpPr>
              <p:nvPr/>
            </p:nvSpPr>
            <p:spPr bwMode="auto">
              <a:xfrm rot="5400000" flipV="1">
                <a:off x="4363" y="83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7028" name="Group 298"/>
              <p:cNvGrpSpPr>
                <a:grpSpLocks/>
              </p:cNvGrpSpPr>
              <p:nvPr/>
            </p:nvGrpSpPr>
            <p:grpSpPr bwMode="auto">
              <a:xfrm>
                <a:off x="3885" y="1173"/>
                <a:ext cx="383" cy="77"/>
                <a:chOff x="1237" y="3011"/>
                <a:chExt cx="796" cy="95"/>
              </a:xfrm>
            </p:grpSpPr>
            <p:grpSp>
              <p:nvGrpSpPr>
                <p:cNvPr id="207037" name="Group 299"/>
                <p:cNvGrpSpPr>
                  <a:grpSpLocks/>
                </p:cNvGrpSpPr>
                <p:nvPr/>
              </p:nvGrpSpPr>
              <p:grpSpPr bwMode="auto">
                <a:xfrm>
                  <a:off x="1932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48" name="Line 3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49" name="Line 30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42" name="Group 302"/>
                <p:cNvGrpSpPr>
                  <a:grpSpLocks/>
                </p:cNvGrpSpPr>
                <p:nvPr/>
              </p:nvGrpSpPr>
              <p:grpSpPr bwMode="auto">
                <a:xfrm>
                  <a:off x="1825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51" name="Line 30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52" name="Line 30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43" name="Group 305"/>
                <p:cNvGrpSpPr>
                  <a:grpSpLocks/>
                </p:cNvGrpSpPr>
                <p:nvPr/>
              </p:nvGrpSpPr>
              <p:grpSpPr bwMode="auto">
                <a:xfrm>
                  <a:off x="1730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54" name="Line 30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55" name="Line 30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46" name="Group 308"/>
                <p:cNvGrpSpPr>
                  <a:grpSpLocks/>
                </p:cNvGrpSpPr>
                <p:nvPr/>
              </p:nvGrpSpPr>
              <p:grpSpPr bwMode="auto">
                <a:xfrm>
                  <a:off x="1629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57" name="Line 30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58" name="Line 31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49" name="Group 311"/>
                <p:cNvGrpSpPr>
                  <a:grpSpLocks/>
                </p:cNvGrpSpPr>
                <p:nvPr/>
              </p:nvGrpSpPr>
              <p:grpSpPr bwMode="auto">
                <a:xfrm>
                  <a:off x="1534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60" name="Line 31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61" name="Line 31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52" name="Group 314"/>
                <p:cNvGrpSpPr>
                  <a:grpSpLocks/>
                </p:cNvGrpSpPr>
                <p:nvPr/>
              </p:nvGrpSpPr>
              <p:grpSpPr bwMode="auto">
                <a:xfrm>
                  <a:off x="1433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63" name="Line 31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64" name="Line 31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55" name="Group 317"/>
                <p:cNvGrpSpPr>
                  <a:grpSpLocks/>
                </p:cNvGrpSpPr>
                <p:nvPr/>
              </p:nvGrpSpPr>
              <p:grpSpPr bwMode="auto">
                <a:xfrm>
                  <a:off x="1338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66" name="Line 3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67" name="Line 31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7058" name="Group 320"/>
                <p:cNvGrpSpPr>
                  <a:grpSpLocks/>
                </p:cNvGrpSpPr>
                <p:nvPr/>
              </p:nvGrpSpPr>
              <p:grpSpPr bwMode="auto">
                <a:xfrm>
                  <a:off x="1237" y="3011"/>
                  <a:ext cx="101" cy="95"/>
                  <a:chOff x="704" y="1880"/>
                  <a:chExt cx="136" cy="128"/>
                </a:xfrm>
              </p:grpSpPr>
              <p:sp>
                <p:nvSpPr>
                  <p:cNvPr id="207169" name="Line 32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7170" name="Line 32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07171" name="Line 323"/>
              <p:cNvSpPr>
                <a:spLocks noChangeShapeType="1"/>
              </p:cNvSpPr>
              <p:nvPr/>
            </p:nvSpPr>
            <p:spPr bwMode="auto">
              <a:xfrm>
                <a:off x="4437" y="138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72" name="Text Box 324"/>
              <p:cNvSpPr txBox="1">
                <a:spLocks noChangeArrowheads="1"/>
              </p:cNvSpPr>
              <p:nvPr/>
            </p:nvSpPr>
            <p:spPr bwMode="auto">
              <a:xfrm>
                <a:off x="4329" y="144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07173" name="Line 325"/>
              <p:cNvSpPr>
                <a:spLocks noChangeShapeType="1"/>
              </p:cNvSpPr>
              <p:nvPr/>
            </p:nvSpPr>
            <p:spPr bwMode="auto">
              <a:xfrm>
                <a:off x="4770" y="139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74" name="Line 326"/>
              <p:cNvSpPr>
                <a:spLocks noChangeShapeType="1"/>
              </p:cNvSpPr>
              <p:nvPr/>
            </p:nvSpPr>
            <p:spPr bwMode="auto">
              <a:xfrm>
                <a:off x="4276" y="1100"/>
                <a:ext cx="14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Energy as a function of time</a:t>
            </a:r>
          </a:p>
        </p:txBody>
      </p:sp>
      <p:sp>
        <p:nvSpPr>
          <p:cNvPr id="207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773488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Note that the kinetic and potential energy are out of phase with each other. </a:t>
            </a:r>
          </a:p>
          <a:p>
            <a:pPr>
              <a:lnSpc>
                <a:spcPct val="90000"/>
              </a:lnSpc>
            </a:pPr>
            <a:r>
              <a:rPr lang="en-US"/>
              <a:t>If we plot them on the same scale ( for the case </a:t>
            </a:r>
            <a:r>
              <a:rPr lang="en-US">
                <a:sym typeface="Symbol" pitchFamily="18" charset="2"/>
              </a:rPr>
              <a:t>=0</a:t>
            </a:r>
            <a:r>
              <a:rPr lang="en-US"/>
              <a:t>) we have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406900" y="2017713"/>
            <a:ext cx="4151313" cy="3533775"/>
            <a:chOff x="3544" y="1271"/>
            <a:chExt cx="1847" cy="1257"/>
          </a:xfrm>
        </p:grpSpPr>
        <p:pic>
          <p:nvPicPr>
            <p:cNvPr id="207877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765" y="1448"/>
              <a:ext cx="1626" cy="10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07878" name="Line 6"/>
            <p:cNvSpPr>
              <a:spLocks noChangeShapeType="1"/>
            </p:cNvSpPr>
            <p:nvPr/>
          </p:nvSpPr>
          <p:spPr bwMode="auto">
            <a:xfrm flipH="1">
              <a:off x="3941" y="1445"/>
              <a:ext cx="73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79" name="Text Box 7"/>
            <p:cNvSpPr txBox="1">
              <a:spLocks noChangeArrowheads="1"/>
            </p:cNvSpPr>
            <p:nvPr/>
          </p:nvSpPr>
          <p:spPr bwMode="auto">
            <a:xfrm>
              <a:off x="3983" y="1285"/>
              <a:ext cx="156" cy="1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U</a:t>
              </a:r>
            </a:p>
          </p:txBody>
        </p:sp>
        <p:sp>
          <p:nvSpPr>
            <p:cNvPr id="207880" name="Text Box 8"/>
            <p:cNvSpPr txBox="1">
              <a:spLocks noChangeArrowheads="1"/>
            </p:cNvSpPr>
            <p:nvPr/>
          </p:nvSpPr>
          <p:spPr bwMode="auto">
            <a:xfrm>
              <a:off x="4326" y="1271"/>
              <a:ext cx="150" cy="1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K</a:t>
              </a:r>
            </a:p>
          </p:txBody>
        </p:sp>
        <p:sp>
          <p:nvSpPr>
            <p:cNvPr id="207881" name="Line 9"/>
            <p:cNvSpPr>
              <a:spLocks noChangeShapeType="1"/>
            </p:cNvSpPr>
            <p:nvPr/>
          </p:nvSpPr>
          <p:spPr bwMode="auto">
            <a:xfrm flipH="1">
              <a:off x="4297" y="1463"/>
              <a:ext cx="55" cy="7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82" name="Text Box 10"/>
            <p:cNvSpPr txBox="1">
              <a:spLocks noChangeArrowheads="1"/>
            </p:cNvSpPr>
            <p:nvPr/>
          </p:nvSpPr>
          <p:spPr bwMode="auto">
            <a:xfrm>
              <a:off x="3544" y="1429"/>
              <a:ext cx="176" cy="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U,K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1914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sz="1600" dirty="0"/>
              <a:t>Defined SHM</a:t>
            </a:r>
          </a:p>
          <a:p>
            <a:pPr>
              <a:lnSpc>
                <a:spcPct val="80000"/>
              </a:lnSpc>
            </a:pPr>
            <a:r>
              <a:rPr lang="en-US" sz="1600" dirty="0"/>
              <a:t>Basic Equations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Total Mechanical Energy in SHM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600" dirty="0"/>
              <a:t> </a:t>
            </a:r>
          </a:p>
          <a:p>
            <a:pPr>
              <a:lnSpc>
                <a:spcPct val="80000"/>
              </a:lnSpc>
            </a:pPr>
            <a:r>
              <a:rPr lang="en-US" sz="1600" dirty="0"/>
              <a:t>Kinetic energy in SHM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Potential energy in SHM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The total mechanical energy of a SHO is a constant of motion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</p:txBody>
      </p:sp>
      <p:graphicFrame>
        <p:nvGraphicFramePr>
          <p:cNvPr id="191492" name="Object 4"/>
          <p:cNvGraphicFramePr>
            <a:graphicFrameLocks noChangeAspect="1"/>
          </p:cNvGraphicFramePr>
          <p:nvPr/>
        </p:nvGraphicFramePr>
        <p:xfrm>
          <a:off x="963613" y="2139950"/>
          <a:ext cx="908050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9149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3613" y="2139950"/>
                        <a:ext cx="908050" cy="523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3" name="Object 5"/>
          <p:cNvGraphicFramePr>
            <a:graphicFrameLocks noChangeAspect="1"/>
          </p:cNvGraphicFramePr>
          <p:nvPr/>
        </p:nvGraphicFramePr>
        <p:xfrm>
          <a:off x="2630488" y="214630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419040" progId="Equation.3">
                  <p:embed/>
                </p:oleObj>
              </mc:Choice>
              <mc:Fallback>
                <p:oleObj name="Equation" r:id="rId4" imgW="787320" imgH="419040" progId="Equation.3">
                  <p:embed/>
                  <p:pic>
                    <p:nvPicPr>
                      <p:cNvPr id="19149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30488" y="214630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4" name="Object 6"/>
          <p:cNvGraphicFramePr>
            <a:graphicFrameLocks noChangeAspect="1"/>
          </p:cNvGraphicFramePr>
          <p:nvPr/>
        </p:nvGraphicFramePr>
        <p:xfrm>
          <a:off x="7931150" y="2097088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07960" imgH="393480" progId="Equation.3">
                  <p:embed/>
                </p:oleObj>
              </mc:Choice>
              <mc:Fallback>
                <p:oleObj name="Equation" r:id="rId6" imgW="507960" imgH="393480" progId="Equation.3">
                  <p:embed/>
                  <p:pic>
                    <p:nvPicPr>
                      <p:cNvPr id="19149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31150" y="2097088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5" name="Object 7"/>
          <p:cNvGraphicFramePr>
            <a:graphicFrameLocks noChangeAspect="1"/>
          </p:cNvGraphicFramePr>
          <p:nvPr/>
        </p:nvGraphicFramePr>
        <p:xfrm>
          <a:off x="7867650" y="1598613"/>
          <a:ext cx="7651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203040" progId="Equation.3">
                  <p:embed/>
                </p:oleObj>
              </mc:Choice>
              <mc:Fallback>
                <p:oleObj name="Equation" r:id="rId8" imgW="533160" imgH="203040" progId="Equation.3">
                  <p:embed/>
                  <p:pic>
                    <p:nvPicPr>
                      <p:cNvPr id="19149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7650" y="1598613"/>
                        <a:ext cx="765175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6" name="Object 8"/>
          <p:cNvGraphicFramePr>
            <a:graphicFrameLocks noChangeAspect="1"/>
          </p:cNvGraphicFramePr>
          <p:nvPr/>
        </p:nvGraphicFramePr>
        <p:xfrm>
          <a:off x="2774950" y="1498600"/>
          <a:ext cx="790575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87320" imgH="419040" progId="Equation.3">
                  <p:embed/>
                </p:oleObj>
              </mc:Choice>
              <mc:Fallback>
                <p:oleObj name="Equation" r:id="rId10" imgW="787320" imgH="419040" progId="Equation.3">
                  <p:embed/>
                  <p:pic>
                    <p:nvPicPr>
                      <p:cNvPr id="19149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0" y="1498600"/>
                        <a:ext cx="790575" cy="419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7" name="Object 9"/>
          <p:cNvGraphicFramePr>
            <a:graphicFrameLocks noChangeAspect="1"/>
          </p:cNvGraphicFramePr>
          <p:nvPr/>
        </p:nvGraphicFramePr>
        <p:xfrm>
          <a:off x="4019550" y="1525588"/>
          <a:ext cx="787400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87320" imgH="888840" progId="Equation.3">
                  <p:embed/>
                </p:oleObj>
              </mc:Choice>
              <mc:Fallback>
                <p:oleObj name="Equation" r:id="rId12" imgW="787320" imgH="888840" progId="Equation.3">
                  <p:embed/>
                  <p:pic>
                    <p:nvPicPr>
                      <p:cNvPr id="19149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9550" y="1525588"/>
                        <a:ext cx="787400" cy="885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8" name="Object 10"/>
          <p:cNvGraphicFramePr>
            <a:graphicFrameLocks noChangeAspect="1"/>
          </p:cNvGraphicFramePr>
          <p:nvPr/>
        </p:nvGraphicFramePr>
        <p:xfrm>
          <a:off x="5124450" y="1370013"/>
          <a:ext cx="2327275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434960" imgH="444240" progId="Equation.3">
                  <p:embed/>
                </p:oleObj>
              </mc:Choice>
              <mc:Fallback>
                <p:oleObj name="Equation" r:id="rId14" imgW="1434960" imgH="444240" progId="Equation.3">
                  <p:embed/>
                  <p:pic>
                    <p:nvPicPr>
                      <p:cNvPr id="19149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24450" y="1370013"/>
                        <a:ext cx="2327275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9" name="Object 11"/>
          <p:cNvGraphicFramePr>
            <a:graphicFrameLocks noChangeAspect="1"/>
          </p:cNvGraphicFramePr>
          <p:nvPr/>
        </p:nvGraphicFramePr>
        <p:xfrm>
          <a:off x="5135563" y="1993900"/>
          <a:ext cx="248920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409400" imgH="393480" progId="Equation.3">
                  <p:embed/>
                </p:oleObj>
              </mc:Choice>
              <mc:Fallback>
                <p:oleObj name="Equation" r:id="rId16" imgW="1409400" imgH="393480" progId="Equation.3">
                  <p:embed/>
                  <p:pic>
                    <p:nvPicPr>
                      <p:cNvPr id="19149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35563" y="1993900"/>
                        <a:ext cx="248920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0" name="Object 12"/>
          <p:cNvGraphicFramePr>
            <a:graphicFrameLocks noChangeAspect="1"/>
          </p:cNvGraphicFramePr>
          <p:nvPr/>
        </p:nvGraphicFramePr>
        <p:xfrm>
          <a:off x="3462338" y="3008313"/>
          <a:ext cx="20828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485720" imgH="228600" progId="Equation.3">
                  <p:embed/>
                </p:oleObj>
              </mc:Choice>
              <mc:Fallback>
                <p:oleObj name="Equation" r:id="rId18" imgW="1485720" imgH="228600" progId="Equation.3">
                  <p:embed/>
                  <p:pic>
                    <p:nvPicPr>
                      <p:cNvPr id="19150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2338" y="3008313"/>
                        <a:ext cx="2082800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1" name="Object 13"/>
          <p:cNvGraphicFramePr>
            <a:graphicFrameLocks noChangeAspect="1"/>
          </p:cNvGraphicFramePr>
          <p:nvPr/>
        </p:nvGraphicFramePr>
        <p:xfrm>
          <a:off x="5780088" y="2959100"/>
          <a:ext cx="2627312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625400" imgH="241200" progId="Equation.3">
                  <p:embed/>
                </p:oleObj>
              </mc:Choice>
              <mc:Fallback>
                <p:oleObj name="Equation" r:id="rId20" imgW="1625400" imgH="241200" progId="Equation.3">
                  <p:embed/>
                  <p:pic>
                    <p:nvPicPr>
                      <p:cNvPr id="19150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0088" y="2959100"/>
                        <a:ext cx="2627312" cy="3905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2" name="Object 14"/>
          <p:cNvGraphicFramePr>
            <a:graphicFrameLocks noChangeAspect="1"/>
          </p:cNvGraphicFramePr>
          <p:nvPr/>
        </p:nvGraphicFramePr>
        <p:xfrm>
          <a:off x="1019175" y="3001963"/>
          <a:ext cx="2109788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346040" imgH="228600" progId="Equation.3">
                  <p:embed/>
                </p:oleObj>
              </mc:Choice>
              <mc:Fallback>
                <p:oleObj name="Equation" r:id="rId22" imgW="1346040" imgH="228600" progId="Equation.3">
                  <p:embed/>
                  <p:pic>
                    <p:nvPicPr>
                      <p:cNvPr id="191502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19175" y="3001963"/>
                        <a:ext cx="2109788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3" name="Object 15"/>
          <p:cNvGraphicFramePr>
            <a:graphicFrameLocks noChangeAspect="1"/>
          </p:cNvGraphicFramePr>
          <p:nvPr/>
        </p:nvGraphicFramePr>
        <p:xfrm>
          <a:off x="4297363" y="3449638"/>
          <a:ext cx="211296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269720" imgH="393480" progId="Equation.3">
                  <p:embed/>
                </p:oleObj>
              </mc:Choice>
              <mc:Fallback>
                <p:oleObj name="Equation" r:id="rId24" imgW="1269720" imgH="393480" progId="Equation.3">
                  <p:embed/>
                  <p:pic>
                    <p:nvPicPr>
                      <p:cNvPr id="19150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363" y="3449638"/>
                        <a:ext cx="2112962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4" name="Object 16"/>
          <p:cNvGraphicFramePr>
            <a:graphicFrameLocks noChangeAspect="1"/>
          </p:cNvGraphicFramePr>
          <p:nvPr/>
        </p:nvGraphicFramePr>
        <p:xfrm>
          <a:off x="4227513" y="3976688"/>
          <a:ext cx="2376487" cy="62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498320" imgH="393480" progId="Equation.3">
                  <p:embed/>
                </p:oleObj>
              </mc:Choice>
              <mc:Fallback>
                <p:oleObj name="Equation" r:id="rId26" imgW="1498320" imgH="393480" progId="Equation.3">
                  <p:embed/>
                  <p:pic>
                    <p:nvPicPr>
                      <p:cNvPr id="19150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27513" y="3976688"/>
                        <a:ext cx="2376487" cy="625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505" name="Object 17"/>
          <p:cNvGraphicFramePr>
            <a:graphicFrameLocks noChangeAspect="1"/>
          </p:cNvGraphicFramePr>
          <p:nvPr/>
        </p:nvGraphicFramePr>
        <p:xfrm>
          <a:off x="4138613" y="4564063"/>
          <a:ext cx="2433637" cy="423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371600" imgH="241200" progId="Equation.3">
                  <p:embed/>
                </p:oleObj>
              </mc:Choice>
              <mc:Fallback>
                <p:oleObj name="Equation" r:id="rId28" imgW="1371600" imgH="241200" progId="Equation.3">
                  <p:embed/>
                  <p:pic>
                    <p:nvPicPr>
                      <p:cNvPr id="19150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8613" y="4564063"/>
                        <a:ext cx="2433637" cy="423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Trigonometry</a:t>
            </a:r>
          </a:p>
        </p:txBody>
      </p:sp>
      <p:sp>
        <p:nvSpPr>
          <p:cNvPr id="2119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70275" cy="4525963"/>
          </a:xfrm>
        </p:spPr>
        <p:txBody>
          <a:bodyPr/>
          <a:lstStyle/>
          <a:p>
            <a:r>
              <a:rPr lang="en-US"/>
              <a:t>Remember defining trig functions on a unit circle?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114800" y="1447800"/>
            <a:ext cx="4422775" cy="4495800"/>
            <a:chOff x="2592" y="912"/>
            <a:chExt cx="2786" cy="2832"/>
          </a:xfrm>
        </p:grpSpPr>
        <p:sp>
          <p:nvSpPr>
            <p:cNvPr id="211973" name="AutoShape 5"/>
            <p:cNvSpPr>
              <a:spLocks noChangeArrowheads="1"/>
            </p:cNvSpPr>
            <p:nvPr/>
          </p:nvSpPr>
          <p:spPr bwMode="auto">
            <a:xfrm flipH="1">
              <a:off x="3888" y="1824"/>
              <a:ext cx="720" cy="624"/>
            </a:xfrm>
            <a:prstGeom prst="rtTriangle">
              <a:avLst/>
            </a:prstGeom>
            <a:solidFill>
              <a:srgbClr val="FFFF99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592" y="1152"/>
              <a:ext cx="2592" cy="2592"/>
              <a:chOff x="2592" y="1152"/>
              <a:chExt cx="2592" cy="2592"/>
            </a:xfrm>
          </p:grpSpPr>
          <p:sp>
            <p:nvSpPr>
              <p:cNvPr id="211975" name="Oval 7"/>
              <p:cNvSpPr>
                <a:spLocks noChangeArrowheads="1"/>
              </p:cNvSpPr>
              <p:nvPr/>
            </p:nvSpPr>
            <p:spPr bwMode="auto">
              <a:xfrm>
                <a:off x="2937" y="1488"/>
                <a:ext cx="1902" cy="1920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1976" name="Line 8"/>
              <p:cNvSpPr>
                <a:spLocks noChangeShapeType="1"/>
              </p:cNvSpPr>
              <p:nvPr/>
            </p:nvSpPr>
            <p:spPr bwMode="auto">
              <a:xfrm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977" name="Line 9"/>
              <p:cNvSpPr>
                <a:spLocks noChangeShapeType="1"/>
              </p:cNvSpPr>
              <p:nvPr/>
            </p:nvSpPr>
            <p:spPr bwMode="auto">
              <a:xfrm rot="-5400000"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1978" name="Text Box 10"/>
            <p:cNvSpPr txBox="1">
              <a:spLocks noChangeArrowheads="1"/>
            </p:cNvSpPr>
            <p:nvPr/>
          </p:nvSpPr>
          <p:spPr bwMode="auto">
            <a:xfrm>
              <a:off x="3888" y="912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cs typeface="Arial" charset="0"/>
                </a:rPr>
                <a:t>ĵ</a:t>
              </a:r>
            </a:p>
          </p:txBody>
        </p:sp>
        <p:sp>
          <p:nvSpPr>
            <p:cNvPr id="211979" name="Text Box 11"/>
            <p:cNvSpPr txBox="1">
              <a:spLocks noChangeArrowheads="1"/>
            </p:cNvSpPr>
            <p:nvPr/>
          </p:nvSpPr>
          <p:spPr bwMode="auto">
            <a:xfrm>
              <a:off x="5222" y="2423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/>
                <a:t>î</a:t>
              </a:r>
            </a:p>
          </p:txBody>
        </p:sp>
        <p:sp>
          <p:nvSpPr>
            <p:cNvPr id="211980" name="Line 12"/>
            <p:cNvSpPr>
              <a:spLocks noChangeShapeType="1"/>
            </p:cNvSpPr>
            <p:nvPr/>
          </p:nvSpPr>
          <p:spPr bwMode="auto">
            <a:xfrm flipV="1">
              <a:off x="3888" y="1824"/>
              <a:ext cx="72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981" name="Line 13"/>
            <p:cNvSpPr>
              <a:spLocks noChangeShapeType="1"/>
            </p:cNvSpPr>
            <p:nvPr/>
          </p:nvSpPr>
          <p:spPr bwMode="auto">
            <a:xfrm>
              <a:off x="4608" y="182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982" name="Arc 14"/>
            <p:cNvSpPr>
              <a:spLocks/>
            </p:cNvSpPr>
            <p:nvPr/>
          </p:nvSpPr>
          <p:spPr bwMode="auto">
            <a:xfrm>
              <a:off x="4080" y="2208"/>
              <a:ext cx="144" cy="240"/>
            </a:xfrm>
            <a:custGeom>
              <a:avLst/>
              <a:gdLst>
                <a:gd name="G0" fmla="+- 0 0 0"/>
                <a:gd name="G1" fmla="+- 18292 0 0"/>
                <a:gd name="G2" fmla="+- 21600 0 0"/>
                <a:gd name="T0" fmla="*/ 11487 w 21600"/>
                <a:gd name="T1" fmla="*/ 0 h 18292"/>
                <a:gd name="T2" fmla="*/ 21600 w 21600"/>
                <a:gd name="T3" fmla="*/ 18292 h 18292"/>
                <a:gd name="T4" fmla="*/ 0 w 21600"/>
                <a:gd name="T5" fmla="*/ 18292 h 182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18292" fill="none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</a:path>
                <a:path w="21600" h="18292" stroke="0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  <a:lnTo>
                    <a:pt x="0" y="182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1983" name="Text Box 15"/>
            <p:cNvSpPr txBox="1">
              <a:spLocks noChangeArrowheads="1"/>
            </p:cNvSpPr>
            <p:nvPr/>
          </p:nvSpPr>
          <p:spPr bwMode="auto">
            <a:xfrm>
              <a:off x="4224" y="2160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11984" name="Text Box 16"/>
            <p:cNvSpPr txBox="1">
              <a:spLocks noChangeArrowheads="1"/>
            </p:cNvSpPr>
            <p:nvPr/>
          </p:nvSpPr>
          <p:spPr bwMode="auto">
            <a:xfrm>
              <a:off x="4166" y="2471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11985" name="Text Box 17"/>
            <p:cNvSpPr txBox="1">
              <a:spLocks noChangeArrowheads="1"/>
            </p:cNvSpPr>
            <p:nvPr/>
          </p:nvSpPr>
          <p:spPr bwMode="auto">
            <a:xfrm>
              <a:off x="3696" y="1920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y</a:t>
              </a:r>
            </a:p>
          </p:txBody>
        </p:sp>
        <p:sp>
          <p:nvSpPr>
            <p:cNvPr id="211986" name="Line 18"/>
            <p:cNvSpPr>
              <a:spLocks noChangeShapeType="1"/>
            </p:cNvSpPr>
            <p:nvPr/>
          </p:nvSpPr>
          <p:spPr bwMode="auto">
            <a:xfrm flipH="1">
              <a:off x="3888" y="182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987" name="Text Box 19"/>
            <p:cNvSpPr txBox="1">
              <a:spLocks noChangeArrowheads="1"/>
            </p:cNvSpPr>
            <p:nvPr/>
          </p:nvSpPr>
          <p:spPr bwMode="auto">
            <a:xfrm>
              <a:off x="4070" y="194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h</a:t>
              </a:r>
            </a:p>
          </p:txBody>
        </p:sp>
      </p:grpSp>
      <p:sp>
        <p:nvSpPr>
          <p:cNvPr id="211988" name="Text Box 20"/>
          <p:cNvSpPr txBox="1">
            <a:spLocks noChangeArrowheads="1"/>
          </p:cNvSpPr>
          <p:nvPr/>
        </p:nvSpPr>
        <p:spPr bwMode="auto">
          <a:xfrm>
            <a:off x="7324725" y="2562225"/>
            <a:ext cx="336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Trigonometry</a:t>
            </a:r>
          </a:p>
        </p:txBody>
      </p:sp>
      <p:sp>
        <p:nvSpPr>
          <p:cNvPr id="212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70275" cy="4525963"/>
          </a:xfrm>
        </p:spPr>
        <p:txBody>
          <a:bodyPr/>
          <a:lstStyle/>
          <a:p>
            <a:r>
              <a:rPr lang="en-US"/>
              <a:t>Suppose we define points along the x-axis (and let the circle have radius h)</a:t>
            </a:r>
          </a:p>
        </p:txBody>
      </p:sp>
      <p:sp>
        <p:nvSpPr>
          <p:cNvPr id="212996" name="AutoShape 4"/>
          <p:cNvSpPr>
            <a:spLocks noChangeArrowheads="1"/>
          </p:cNvSpPr>
          <p:nvPr/>
        </p:nvSpPr>
        <p:spPr bwMode="auto">
          <a:xfrm flipH="1">
            <a:off x="6172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114800" y="1828800"/>
            <a:ext cx="4114800" cy="4114800"/>
            <a:chOff x="2592" y="1152"/>
            <a:chExt cx="2592" cy="2592"/>
          </a:xfrm>
        </p:grpSpPr>
        <p:sp>
          <p:nvSpPr>
            <p:cNvPr id="21299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299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00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3001" name="Text Box 9"/>
          <p:cNvSpPr txBox="1">
            <a:spLocks noChangeArrowheads="1"/>
          </p:cNvSpPr>
          <p:nvPr/>
        </p:nvSpPr>
        <p:spPr bwMode="auto">
          <a:xfrm>
            <a:off x="6172200" y="1447800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13002" name="Text Box 10"/>
          <p:cNvSpPr txBox="1">
            <a:spLocks noChangeArrowheads="1"/>
          </p:cNvSpPr>
          <p:nvPr/>
        </p:nvSpPr>
        <p:spPr bwMode="auto">
          <a:xfrm>
            <a:off x="8289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13003" name="Line 11"/>
          <p:cNvSpPr>
            <a:spLocks noChangeShapeType="1"/>
          </p:cNvSpPr>
          <p:nvPr/>
        </p:nvSpPr>
        <p:spPr bwMode="auto">
          <a:xfrm flipV="1">
            <a:off x="6172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3004" name="Line 12"/>
          <p:cNvSpPr>
            <a:spLocks noChangeShapeType="1"/>
          </p:cNvSpPr>
          <p:nvPr/>
        </p:nvSpPr>
        <p:spPr bwMode="auto">
          <a:xfrm>
            <a:off x="7315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3005" name="Arc 13"/>
          <p:cNvSpPr>
            <a:spLocks/>
          </p:cNvSpPr>
          <p:nvPr/>
        </p:nvSpPr>
        <p:spPr bwMode="auto">
          <a:xfrm>
            <a:off x="6477000" y="3505200"/>
            <a:ext cx="228600" cy="381000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3006" name="Text Box 14"/>
          <p:cNvSpPr txBox="1">
            <a:spLocks noChangeArrowheads="1"/>
          </p:cNvSpPr>
          <p:nvPr/>
        </p:nvSpPr>
        <p:spPr bwMode="auto">
          <a:xfrm>
            <a:off x="6705600" y="3429000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13007" name="Text Box 15"/>
          <p:cNvSpPr txBox="1">
            <a:spLocks noChangeArrowheads="1"/>
          </p:cNvSpPr>
          <p:nvPr/>
        </p:nvSpPr>
        <p:spPr bwMode="auto">
          <a:xfrm>
            <a:off x="6613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3008" name="Text Box 16"/>
          <p:cNvSpPr txBox="1">
            <a:spLocks noChangeArrowheads="1"/>
          </p:cNvSpPr>
          <p:nvPr/>
        </p:nvSpPr>
        <p:spPr bwMode="auto">
          <a:xfrm>
            <a:off x="5867400" y="3048000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13009" name="Line 17"/>
          <p:cNvSpPr>
            <a:spLocks noChangeShapeType="1"/>
          </p:cNvSpPr>
          <p:nvPr/>
        </p:nvSpPr>
        <p:spPr bwMode="auto">
          <a:xfrm flipH="1">
            <a:off x="6172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3010" name="Text Box 18"/>
          <p:cNvSpPr txBox="1">
            <a:spLocks noChangeArrowheads="1"/>
          </p:cNvSpPr>
          <p:nvPr/>
        </p:nvSpPr>
        <p:spPr bwMode="auto">
          <a:xfrm>
            <a:off x="6461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13011" name="Text Box 19"/>
          <p:cNvSpPr txBox="1">
            <a:spLocks noChangeArrowheads="1"/>
          </p:cNvSpPr>
          <p:nvPr/>
        </p:nvSpPr>
        <p:spPr bwMode="auto">
          <a:xfrm>
            <a:off x="7324725" y="2562225"/>
            <a:ext cx="336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3012" name="Text Box 20"/>
          <p:cNvSpPr txBox="1">
            <a:spLocks noChangeArrowheads="1"/>
          </p:cNvSpPr>
          <p:nvPr/>
        </p:nvSpPr>
        <p:spPr bwMode="auto">
          <a:xfrm>
            <a:off x="7708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13013" name="Text Box 21"/>
          <p:cNvSpPr txBox="1">
            <a:spLocks noChangeArrowheads="1"/>
          </p:cNvSpPr>
          <p:nvPr/>
        </p:nvSpPr>
        <p:spPr bwMode="auto">
          <a:xfrm>
            <a:off x="4000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13014" name="Line 22"/>
          <p:cNvSpPr>
            <a:spLocks noChangeShapeType="1"/>
          </p:cNvSpPr>
          <p:nvPr/>
        </p:nvSpPr>
        <p:spPr bwMode="auto">
          <a:xfrm>
            <a:off x="6183313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3015" name="Oval 23"/>
          <p:cNvSpPr>
            <a:spLocks noChangeArrowheads="1"/>
          </p:cNvSpPr>
          <p:nvPr/>
        </p:nvSpPr>
        <p:spPr bwMode="auto">
          <a:xfrm>
            <a:off x="4614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3016" name="Oval 24"/>
          <p:cNvSpPr>
            <a:spLocks noChangeArrowheads="1"/>
          </p:cNvSpPr>
          <p:nvPr/>
        </p:nvSpPr>
        <p:spPr bwMode="auto">
          <a:xfrm>
            <a:off x="7635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3017" name="Oval 25"/>
          <p:cNvSpPr>
            <a:spLocks noChangeArrowheads="1"/>
          </p:cNvSpPr>
          <p:nvPr/>
        </p:nvSpPr>
        <p:spPr bwMode="auto">
          <a:xfrm>
            <a:off x="7278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 to SHM</a:t>
            </a:r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70275" cy="4525963"/>
          </a:xfrm>
        </p:spPr>
        <p:txBody>
          <a:bodyPr/>
          <a:lstStyle/>
          <a:p>
            <a:r>
              <a:rPr lang="en-US"/>
              <a:t>The projection of the position of point P on the x axis displays SHM!</a:t>
            </a:r>
          </a:p>
        </p:txBody>
      </p:sp>
      <p:sp>
        <p:nvSpPr>
          <p:cNvPr id="214020" name="AutoShape 4"/>
          <p:cNvSpPr>
            <a:spLocks noChangeArrowheads="1"/>
          </p:cNvSpPr>
          <p:nvPr/>
        </p:nvSpPr>
        <p:spPr bwMode="auto">
          <a:xfrm flipH="1">
            <a:off x="6172200" y="2595563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114800" y="1528763"/>
            <a:ext cx="4114800" cy="4114800"/>
            <a:chOff x="2592" y="1152"/>
            <a:chExt cx="2592" cy="2592"/>
          </a:xfrm>
        </p:grpSpPr>
        <p:sp>
          <p:nvSpPr>
            <p:cNvPr id="214022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4023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024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4025" name="Text Box 9"/>
          <p:cNvSpPr txBox="1">
            <a:spLocks noChangeArrowheads="1"/>
          </p:cNvSpPr>
          <p:nvPr/>
        </p:nvSpPr>
        <p:spPr bwMode="auto">
          <a:xfrm>
            <a:off x="6172200" y="114776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14026" name="Text Box 10"/>
          <p:cNvSpPr txBox="1">
            <a:spLocks noChangeArrowheads="1"/>
          </p:cNvSpPr>
          <p:nvPr/>
        </p:nvSpPr>
        <p:spPr bwMode="auto">
          <a:xfrm>
            <a:off x="8289925" y="3546475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14027" name="Line 11"/>
          <p:cNvSpPr>
            <a:spLocks noChangeShapeType="1"/>
          </p:cNvSpPr>
          <p:nvPr/>
        </p:nvSpPr>
        <p:spPr bwMode="auto">
          <a:xfrm flipV="1">
            <a:off x="6172200" y="2595563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4028" name="Line 12"/>
          <p:cNvSpPr>
            <a:spLocks noChangeShapeType="1"/>
          </p:cNvSpPr>
          <p:nvPr/>
        </p:nvSpPr>
        <p:spPr bwMode="auto">
          <a:xfrm>
            <a:off x="7315200" y="2595563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4029" name="Arc 13"/>
          <p:cNvSpPr>
            <a:spLocks/>
          </p:cNvSpPr>
          <p:nvPr/>
        </p:nvSpPr>
        <p:spPr bwMode="auto">
          <a:xfrm>
            <a:off x="6477000" y="3205163"/>
            <a:ext cx="228600" cy="381000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4030" name="Text Box 14"/>
          <p:cNvSpPr txBox="1">
            <a:spLocks noChangeArrowheads="1"/>
          </p:cNvSpPr>
          <p:nvPr/>
        </p:nvSpPr>
        <p:spPr bwMode="auto">
          <a:xfrm>
            <a:off x="6705600" y="3128963"/>
            <a:ext cx="3032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14031" name="Text Box 15"/>
          <p:cNvSpPr txBox="1">
            <a:spLocks noChangeArrowheads="1"/>
          </p:cNvSpPr>
          <p:nvPr/>
        </p:nvSpPr>
        <p:spPr bwMode="auto">
          <a:xfrm>
            <a:off x="6613525" y="3622675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4032" name="Line 16"/>
          <p:cNvSpPr>
            <a:spLocks noChangeShapeType="1"/>
          </p:cNvSpPr>
          <p:nvPr/>
        </p:nvSpPr>
        <p:spPr bwMode="auto">
          <a:xfrm flipH="1">
            <a:off x="6172200" y="2595563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4033" name="Text Box 17"/>
          <p:cNvSpPr txBox="1">
            <a:spLocks noChangeArrowheads="1"/>
          </p:cNvSpPr>
          <p:nvPr/>
        </p:nvSpPr>
        <p:spPr bwMode="auto">
          <a:xfrm>
            <a:off x="6461125" y="2784475"/>
            <a:ext cx="311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14034" name="Text Box 18"/>
          <p:cNvSpPr txBox="1">
            <a:spLocks noChangeArrowheads="1"/>
          </p:cNvSpPr>
          <p:nvPr/>
        </p:nvSpPr>
        <p:spPr bwMode="auto">
          <a:xfrm>
            <a:off x="7324725" y="2262188"/>
            <a:ext cx="3365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4035" name="Text Box 19"/>
          <p:cNvSpPr txBox="1">
            <a:spLocks noChangeArrowheads="1"/>
          </p:cNvSpPr>
          <p:nvPr/>
        </p:nvSpPr>
        <p:spPr bwMode="auto">
          <a:xfrm>
            <a:off x="7708900" y="3616325"/>
            <a:ext cx="5857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14036" name="Text Box 20"/>
          <p:cNvSpPr txBox="1">
            <a:spLocks noChangeArrowheads="1"/>
          </p:cNvSpPr>
          <p:nvPr/>
        </p:nvSpPr>
        <p:spPr bwMode="auto">
          <a:xfrm>
            <a:off x="4000500" y="3651250"/>
            <a:ext cx="6619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14037" name="Line 21"/>
          <p:cNvSpPr>
            <a:spLocks noChangeShapeType="1"/>
          </p:cNvSpPr>
          <p:nvPr/>
        </p:nvSpPr>
        <p:spPr bwMode="auto">
          <a:xfrm>
            <a:off x="6183313" y="3662363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4614863" y="3509963"/>
            <a:ext cx="3109912" cy="96837"/>
            <a:chOff x="2907" y="2400"/>
            <a:chExt cx="1959" cy="61"/>
          </a:xfrm>
        </p:grpSpPr>
        <p:sp>
          <p:nvSpPr>
            <p:cNvPr id="214039" name="Oval 23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4040" name="Oval 24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4041" name="Oval 25"/>
          <p:cNvSpPr>
            <a:spLocks noChangeArrowheads="1"/>
          </p:cNvSpPr>
          <p:nvPr/>
        </p:nvSpPr>
        <p:spPr bwMode="auto">
          <a:xfrm>
            <a:off x="7278688" y="2538413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4042" name="Line 26"/>
          <p:cNvSpPr>
            <a:spLocks noChangeShapeType="1"/>
          </p:cNvSpPr>
          <p:nvPr/>
        </p:nvSpPr>
        <p:spPr bwMode="auto">
          <a:xfrm>
            <a:off x="4645025" y="3575050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4043" name="AutoShape 27"/>
          <p:cNvSpPr>
            <a:spLocks noChangeArrowheads="1"/>
          </p:cNvSpPr>
          <p:nvPr/>
        </p:nvSpPr>
        <p:spPr bwMode="auto">
          <a:xfrm>
            <a:off x="957263" y="5646738"/>
            <a:ext cx="7562850" cy="6254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/>
          <a:p>
            <a:pPr algn="ctr">
              <a:lnSpc>
                <a:spcPct val="80000"/>
              </a:lnSpc>
              <a:spcBef>
                <a:spcPct val="20000"/>
              </a:spcBef>
            </a:pPr>
            <a:r>
              <a:rPr lang="en-US"/>
              <a:t>SHM along a straight line can be thought of as a projection of a uniform circular motion along a diameter of a reference circle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Geometry</a:t>
            </a:r>
          </a:p>
        </p:txBody>
      </p:sp>
      <p:sp>
        <p:nvSpPr>
          <p:cNvPr id="215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70275" cy="4525963"/>
          </a:xfrm>
        </p:spPr>
        <p:txBody>
          <a:bodyPr/>
          <a:lstStyle/>
          <a:p>
            <a:r>
              <a:rPr lang="en-US"/>
              <a:t>We can also define points along the y-axis</a:t>
            </a:r>
          </a:p>
        </p:txBody>
      </p:sp>
      <p:sp>
        <p:nvSpPr>
          <p:cNvPr id="215044" name="AutoShape 4"/>
          <p:cNvSpPr>
            <a:spLocks noChangeArrowheads="1"/>
          </p:cNvSpPr>
          <p:nvPr/>
        </p:nvSpPr>
        <p:spPr bwMode="auto">
          <a:xfrm flipH="1">
            <a:off x="6172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114800" y="1828800"/>
            <a:ext cx="4114800" cy="4114800"/>
            <a:chOff x="2592" y="1152"/>
            <a:chExt cx="2592" cy="2592"/>
          </a:xfrm>
        </p:grpSpPr>
        <p:sp>
          <p:nvSpPr>
            <p:cNvPr id="215046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047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048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5049" name="Text Box 9"/>
          <p:cNvSpPr txBox="1">
            <a:spLocks noChangeArrowheads="1"/>
          </p:cNvSpPr>
          <p:nvPr/>
        </p:nvSpPr>
        <p:spPr bwMode="auto">
          <a:xfrm>
            <a:off x="6172200" y="1447800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15050" name="Text Box 10"/>
          <p:cNvSpPr txBox="1">
            <a:spLocks noChangeArrowheads="1"/>
          </p:cNvSpPr>
          <p:nvPr/>
        </p:nvSpPr>
        <p:spPr bwMode="auto">
          <a:xfrm>
            <a:off x="8289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15051" name="Line 11"/>
          <p:cNvSpPr>
            <a:spLocks noChangeShapeType="1"/>
          </p:cNvSpPr>
          <p:nvPr/>
        </p:nvSpPr>
        <p:spPr bwMode="auto">
          <a:xfrm flipV="1">
            <a:off x="6172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5052" name="Line 12"/>
          <p:cNvSpPr>
            <a:spLocks noChangeShapeType="1"/>
          </p:cNvSpPr>
          <p:nvPr/>
        </p:nvSpPr>
        <p:spPr bwMode="auto">
          <a:xfrm>
            <a:off x="7315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5053" name="Arc 13"/>
          <p:cNvSpPr>
            <a:spLocks/>
          </p:cNvSpPr>
          <p:nvPr/>
        </p:nvSpPr>
        <p:spPr bwMode="auto">
          <a:xfrm>
            <a:off x="6477000" y="3505200"/>
            <a:ext cx="228600" cy="381000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5054" name="Text Box 14"/>
          <p:cNvSpPr txBox="1">
            <a:spLocks noChangeArrowheads="1"/>
          </p:cNvSpPr>
          <p:nvPr/>
        </p:nvSpPr>
        <p:spPr bwMode="auto">
          <a:xfrm>
            <a:off x="6705600" y="3429000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15055" name="Text Box 15"/>
          <p:cNvSpPr txBox="1">
            <a:spLocks noChangeArrowheads="1"/>
          </p:cNvSpPr>
          <p:nvPr/>
        </p:nvSpPr>
        <p:spPr bwMode="auto">
          <a:xfrm>
            <a:off x="6613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5056" name="Text Box 16"/>
          <p:cNvSpPr txBox="1">
            <a:spLocks noChangeArrowheads="1"/>
          </p:cNvSpPr>
          <p:nvPr/>
        </p:nvSpPr>
        <p:spPr bwMode="auto">
          <a:xfrm>
            <a:off x="5619750" y="3048000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15057" name="Line 17"/>
          <p:cNvSpPr>
            <a:spLocks noChangeShapeType="1"/>
          </p:cNvSpPr>
          <p:nvPr/>
        </p:nvSpPr>
        <p:spPr bwMode="auto">
          <a:xfrm flipH="1">
            <a:off x="6172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5058" name="Text Box 18"/>
          <p:cNvSpPr txBox="1">
            <a:spLocks noChangeArrowheads="1"/>
          </p:cNvSpPr>
          <p:nvPr/>
        </p:nvSpPr>
        <p:spPr bwMode="auto">
          <a:xfrm>
            <a:off x="6461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15059" name="Text Box 19"/>
          <p:cNvSpPr txBox="1">
            <a:spLocks noChangeArrowheads="1"/>
          </p:cNvSpPr>
          <p:nvPr/>
        </p:nvSpPr>
        <p:spPr bwMode="auto">
          <a:xfrm>
            <a:off x="7324725" y="2562225"/>
            <a:ext cx="336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5060" name="Text Box 20"/>
          <p:cNvSpPr txBox="1">
            <a:spLocks noChangeArrowheads="1"/>
          </p:cNvSpPr>
          <p:nvPr/>
        </p:nvSpPr>
        <p:spPr bwMode="auto">
          <a:xfrm>
            <a:off x="7708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15061" name="Text Box 21"/>
          <p:cNvSpPr txBox="1">
            <a:spLocks noChangeArrowheads="1"/>
          </p:cNvSpPr>
          <p:nvPr/>
        </p:nvSpPr>
        <p:spPr bwMode="auto">
          <a:xfrm>
            <a:off x="4000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15062" name="Line 22"/>
          <p:cNvSpPr>
            <a:spLocks noChangeShapeType="1"/>
          </p:cNvSpPr>
          <p:nvPr/>
        </p:nvSpPr>
        <p:spPr bwMode="auto">
          <a:xfrm>
            <a:off x="6183313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4614863" y="3810000"/>
            <a:ext cx="3109912" cy="96838"/>
            <a:chOff x="2907" y="2400"/>
            <a:chExt cx="1959" cy="61"/>
          </a:xfrm>
        </p:grpSpPr>
        <p:sp>
          <p:nvSpPr>
            <p:cNvPr id="215064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065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5066" name="Oval 26"/>
          <p:cNvSpPr>
            <a:spLocks noChangeArrowheads="1"/>
          </p:cNvSpPr>
          <p:nvPr/>
        </p:nvSpPr>
        <p:spPr bwMode="auto">
          <a:xfrm>
            <a:off x="7278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5067" name="Text Box 27"/>
          <p:cNvSpPr txBox="1">
            <a:spLocks noChangeArrowheads="1"/>
          </p:cNvSpPr>
          <p:nvPr/>
        </p:nvSpPr>
        <p:spPr bwMode="auto">
          <a:xfrm>
            <a:off x="6156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15068" name="Text Box 28"/>
          <p:cNvSpPr txBox="1">
            <a:spLocks noChangeArrowheads="1"/>
          </p:cNvSpPr>
          <p:nvPr/>
        </p:nvSpPr>
        <p:spPr bwMode="auto">
          <a:xfrm>
            <a:off x="6149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4624387" y="3833813"/>
            <a:ext cx="3109913" cy="96838"/>
            <a:chOff x="2907" y="2400"/>
            <a:chExt cx="1959" cy="61"/>
          </a:xfrm>
        </p:grpSpPr>
        <p:sp>
          <p:nvSpPr>
            <p:cNvPr id="215070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071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5072" name="Line 32"/>
          <p:cNvSpPr>
            <a:spLocks noChangeShapeType="1"/>
          </p:cNvSpPr>
          <p:nvPr/>
        </p:nvSpPr>
        <p:spPr bwMode="auto">
          <a:xfrm rot="-5400000">
            <a:off x="5572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 to SHM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70275" cy="4525963"/>
          </a:xfrm>
        </p:spPr>
        <p:txBody>
          <a:bodyPr/>
          <a:lstStyle/>
          <a:p>
            <a:r>
              <a:rPr lang="en-US"/>
              <a:t>This is just two SHOs</a:t>
            </a:r>
          </a:p>
          <a:p>
            <a:r>
              <a:rPr lang="en-US">
                <a:solidFill>
                  <a:srgbClr val="FF0000"/>
                </a:solidFill>
              </a:rPr>
              <a:t>One in the x direction</a:t>
            </a:r>
          </a:p>
          <a:p>
            <a:r>
              <a:rPr lang="en-US">
                <a:solidFill>
                  <a:schemeClr val="hlink"/>
                </a:solidFill>
              </a:rPr>
              <a:t>One is the y direction</a:t>
            </a:r>
          </a:p>
        </p:txBody>
      </p:sp>
      <p:sp>
        <p:nvSpPr>
          <p:cNvPr id="216068" name="AutoShape 4"/>
          <p:cNvSpPr>
            <a:spLocks noChangeArrowheads="1"/>
          </p:cNvSpPr>
          <p:nvPr/>
        </p:nvSpPr>
        <p:spPr bwMode="auto">
          <a:xfrm flipH="1">
            <a:off x="6172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114800" y="1828800"/>
            <a:ext cx="4114800" cy="4114800"/>
            <a:chOff x="2592" y="1152"/>
            <a:chExt cx="2592" cy="2592"/>
          </a:xfrm>
        </p:grpSpPr>
        <p:sp>
          <p:nvSpPr>
            <p:cNvPr id="216070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6071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072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6073" name="Text Box 9"/>
          <p:cNvSpPr txBox="1">
            <a:spLocks noChangeArrowheads="1"/>
          </p:cNvSpPr>
          <p:nvPr/>
        </p:nvSpPr>
        <p:spPr bwMode="auto">
          <a:xfrm>
            <a:off x="6172200" y="1447800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16074" name="Text Box 10"/>
          <p:cNvSpPr txBox="1">
            <a:spLocks noChangeArrowheads="1"/>
          </p:cNvSpPr>
          <p:nvPr/>
        </p:nvSpPr>
        <p:spPr bwMode="auto">
          <a:xfrm>
            <a:off x="8289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16075" name="Line 11"/>
          <p:cNvSpPr>
            <a:spLocks noChangeShapeType="1"/>
          </p:cNvSpPr>
          <p:nvPr/>
        </p:nvSpPr>
        <p:spPr bwMode="auto">
          <a:xfrm flipV="1">
            <a:off x="6172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6076" name="Line 12"/>
          <p:cNvSpPr>
            <a:spLocks noChangeShapeType="1"/>
          </p:cNvSpPr>
          <p:nvPr/>
        </p:nvSpPr>
        <p:spPr bwMode="auto">
          <a:xfrm>
            <a:off x="7315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6077" name="Arc 13"/>
          <p:cNvSpPr>
            <a:spLocks/>
          </p:cNvSpPr>
          <p:nvPr/>
        </p:nvSpPr>
        <p:spPr bwMode="auto">
          <a:xfrm>
            <a:off x="6477000" y="3505200"/>
            <a:ext cx="228600" cy="381000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6078" name="Text Box 14"/>
          <p:cNvSpPr txBox="1">
            <a:spLocks noChangeArrowheads="1"/>
          </p:cNvSpPr>
          <p:nvPr/>
        </p:nvSpPr>
        <p:spPr bwMode="auto">
          <a:xfrm>
            <a:off x="6705600" y="3429000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16079" name="Text Box 15"/>
          <p:cNvSpPr txBox="1">
            <a:spLocks noChangeArrowheads="1"/>
          </p:cNvSpPr>
          <p:nvPr/>
        </p:nvSpPr>
        <p:spPr bwMode="auto">
          <a:xfrm>
            <a:off x="6613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6080" name="Text Box 16"/>
          <p:cNvSpPr txBox="1">
            <a:spLocks noChangeArrowheads="1"/>
          </p:cNvSpPr>
          <p:nvPr/>
        </p:nvSpPr>
        <p:spPr bwMode="auto">
          <a:xfrm>
            <a:off x="5619750" y="3048000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16081" name="Line 17"/>
          <p:cNvSpPr>
            <a:spLocks noChangeShapeType="1"/>
          </p:cNvSpPr>
          <p:nvPr/>
        </p:nvSpPr>
        <p:spPr bwMode="auto">
          <a:xfrm flipH="1">
            <a:off x="6172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6082" name="Text Box 18"/>
          <p:cNvSpPr txBox="1">
            <a:spLocks noChangeArrowheads="1"/>
          </p:cNvSpPr>
          <p:nvPr/>
        </p:nvSpPr>
        <p:spPr bwMode="auto">
          <a:xfrm>
            <a:off x="6461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16083" name="Text Box 19"/>
          <p:cNvSpPr txBox="1">
            <a:spLocks noChangeArrowheads="1"/>
          </p:cNvSpPr>
          <p:nvPr/>
        </p:nvSpPr>
        <p:spPr bwMode="auto">
          <a:xfrm>
            <a:off x="7324725" y="2562225"/>
            <a:ext cx="336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6084" name="Text Box 20"/>
          <p:cNvSpPr txBox="1">
            <a:spLocks noChangeArrowheads="1"/>
          </p:cNvSpPr>
          <p:nvPr/>
        </p:nvSpPr>
        <p:spPr bwMode="auto">
          <a:xfrm>
            <a:off x="7708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16085" name="Text Box 21"/>
          <p:cNvSpPr txBox="1">
            <a:spLocks noChangeArrowheads="1"/>
          </p:cNvSpPr>
          <p:nvPr/>
        </p:nvSpPr>
        <p:spPr bwMode="auto">
          <a:xfrm>
            <a:off x="4000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16086" name="Line 22"/>
          <p:cNvSpPr>
            <a:spLocks noChangeShapeType="1"/>
          </p:cNvSpPr>
          <p:nvPr/>
        </p:nvSpPr>
        <p:spPr bwMode="auto">
          <a:xfrm>
            <a:off x="6183313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4614863" y="3810000"/>
            <a:ext cx="3109912" cy="96838"/>
            <a:chOff x="2907" y="2400"/>
            <a:chExt cx="1959" cy="61"/>
          </a:xfrm>
        </p:grpSpPr>
        <p:sp>
          <p:nvSpPr>
            <p:cNvPr id="216088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6089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6090" name="Oval 26"/>
          <p:cNvSpPr>
            <a:spLocks noChangeArrowheads="1"/>
          </p:cNvSpPr>
          <p:nvPr/>
        </p:nvSpPr>
        <p:spPr bwMode="auto">
          <a:xfrm>
            <a:off x="7278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6091" name="Text Box 27"/>
          <p:cNvSpPr txBox="1">
            <a:spLocks noChangeArrowheads="1"/>
          </p:cNvSpPr>
          <p:nvPr/>
        </p:nvSpPr>
        <p:spPr bwMode="auto">
          <a:xfrm>
            <a:off x="6156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16092" name="Text Box 28"/>
          <p:cNvSpPr txBox="1">
            <a:spLocks noChangeArrowheads="1"/>
          </p:cNvSpPr>
          <p:nvPr/>
        </p:nvSpPr>
        <p:spPr bwMode="auto">
          <a:xfrm>
            <a:off x="6149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4624387" y="3833813"/>
            <a:ext cx="3109913" cy="96838"/>
            <a:chOff x="2907" y="2400"/>
            <a:chExt cx="1959" cy="61"/>
          </a:xfrm>
        </p:grpSpPr>
        <p:sp>
          <p:nvSpPr>
            <p:cNvPr id="216094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6095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6096" name="Line 32"/>
          <p:cNvSpPr>
            <a:spLocks noChangeShapeType="1"/>
          </p:cNvSpPr>
          <p:nvPr/>
        </p:nvSpPr>
        <p:spPr bwMode="auto">
          <a:xfrm rot="-5400000">
            <a:off x="5572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6097" name="Line 33"/>
          <p:cNvSpPr>
            <a:spLocks noChangeShapeType="1"/>
          </p:cNvSpPr>
          <p:nvPr/>
        </p:nvSpPr>
        <p:spPr bwMode="auto">
          <a:xfrm>
            <a:off x="4645025" y="3875088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6098" name="Line 34"/>
          <p:cNvSpPr>
            <a:spLocks noChangeShapeType="1"/>
          </p:cNvSpPr>
          <p:nvPr/>
        </p:nvSpPr>
        <p:spPr bwMode="auto">
          <a:xfrm rot="-5400000">
            <a:off x="4639469" y="3898107"/>
            <a:ext cx="3062287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Equations for the two SHOs</a:t>
            </a:r>
          </a:p>
        </p:txBody>
      </p:sp>
      <p:sp>
        <p:nvSpPr>
          <p:cNvPr id="217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803775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equation in X is familiar</a:t>
            </a:r>
          </a:p>
          <a:p>
            <a:pPr>
              <a:lnSpc>
                <a:spcPct val="90000"/>
              </a:lnSpc>
            </a:pPr>
            <a:r>
              <a:rPr lang="en-US"/>
              <a:t>The projection onto the y-axis is a sine function</a:t>
            </a:r>
          </a:p>
          <a:p>
            <a:pPr>
              <a:lnSpc>
                <a:spcPct val="90000"/>
              </a:lnSpc>
            </a:pPr>
            <a:r>
              <a:rPr lang="en-US"/>
              <a:t>An old trig identity says:</a:t>
            </a:r>
          </a:p>
          <a:p>
            <a:pPr>
              <a:lnSpc>
                <a:spcPct val="90000"/>
              </a:lnSpc>
            </a:pPr>
            <a:r>
              <a:rPr lang="en-US"/>
              <a:t>What does this say about the phases of the two SHOs?</a:t>
            </a:r>
          </a:p>
        </p:txBody>
      </p:sp>
      <p:graphicFrame>
        <p:nvGraphicFramePr>
          <p:cNvPr id="217092" name="Object 4"/>
          <p:cNvGraphicFramePr>
            <a:graphicFrameLocks noChangeAspect="1"/>
          </p:cNvGraphicFramePr>
          <p:nvPr/>
        </p:nvGraphicFramePr>
        <p:xfrm>
          <a:off x="5595938" y="1624013"/>
          <a:ext cx="27876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21709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95938" y="1624013"/>
                        <a:ext cx="2787650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093" name="Object 5"/>
          <p:cNvGraphicFramePr>
            <a:graphicFrameLocks noChangeAspect="1"/>
          </p:cNvGraphicFramePr>
          <p:nvPr/>
        </p:nvGraphicFramePr>
        <p:xfrm>
          <a:off x="5573713" y="2633663"/>
          <a:ext cx="278606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040" imgH="228600" progId="Equation.3">
                  <p:embed/>
                </p:oleObj>
              </mc:Choice>
              <mc:Fallback>
                <p:oleObj name="Equation" r:id="rId4" imgW="1346040" imgH="228600" progId="Equation.3">
                  <p:embed/>
                  <p:pic>
                    <p:nvPicPr>
                      <p:cNvPr id="21709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73713" y="2633663"/>
                        <a:ext cx="2786062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094" name="Object 6"/>
          <p:cNvGraphicFramePr>
            <a:graphicFrameLocks noChangeAspect="1"/>
          </p:cNvGraphicFramePr>
          <p:nvPr/>
        </p:nvGraphicFramePr>
        <p:xfrm>
          <a:off x="5561013" y="3582988"/>
          <a:ext cx="2578100" cy="900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44520" imgH="431640" progId="Equation.3">
                  <p:embed/>
                </p:oleObj>
              </mc:Choice>
              <mc:Fallback>
                <p:oleObj name="Equation" r:id="rId6" imgW="1244520" imgH="431640" progId="Equation.3">
                  <p:embed/>
                  <p:pic>
                    <p:nvPicPr>
                      <p:cNvPr id="21709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1013" y="3582988"/>
                        <a:ext cx="2578100" cy="900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Rotation and Velocity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909888" y="1831975"/>
            <a:ext cx="3922712" cy="3921125"/>
            <a:chOff x="2592" y="1152"/>
            <a:chExt cx="2592" cy="2592"/>
          </a:xfrm>
        </p:grpSpPr>
        <p:sp>
          <p:nvSpPr>
            <p:cNvPr id="218116" name="Oval 4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8117" name="Line 5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118" name="Line 6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8119" name="Text Box 7"/>
          <p:cNvSpPr txBox="1">
            <a:spLocks noChangeArrowheads="1"/>
          </p:cNvSpPr>
          <p:nvPr/>
        </p:nvSpPr>
        <p:spPr bwMode="auto">
          <a:xfrm>
            <a:off x="4829175" y="1643063"/>
            <a:ext cx="219075" cy="246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 b="1">
                <a:cs typeface="Arial" charset="0"/>
              </a:rPr>
              <a:t>ĵ</a:t>
            </a:r>
          </a:p>
        </p:txBody>
      </p:sp>
      <p:sp>
        <p:nvSpPr>
          <p:cNvPr id="218120" name="Text Box 8"/>
          <p:cNvSpPr txBox="1">
            <a:spLocks noChangeArrowheads="1"/>
          </p:cNvSpPr>
          <p:nvPr/>
        </p:nvSpPr>
        <p:spPr bwMode="auto">
          <a:xfrm>
            <a:off x="6731000" y="3744913"/>
            <a:ext cx="219075" cy="242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 b="1"/>
              <a:t>î</a:t>
            </a:r>
          </a:p>
        </p:txBody>
      </p:sp>
      <p:sp>
        <p:nvSpPr>
          <p:cNvPr id="218121" name="Line 9"/>
          <p:cNvSpPr>
            <a:spLocks noChangeShapeType="1"/>
          </p:cNvSpPr>
          <p:nvPr/>
        </p:nvSpPr>
        <p:spPr bwMode="auto">
          <a:xfrm flipV="1">
            <a:off x="4868863" y="2851150"/>
            <a:ext cx="1090612" cy="941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22" name="Line 10"/>
          <p:cNvSpPr>
            <a:spLocks noChangeShapeType="1"/>
          </p:cNvSpPr>
          <p:nvPr/>
        </p:nvSpPr>
        <p:spPr bwMode="auto">
          <a:xfrm>
            <a:off x="5959475" y="2851150"/>
            <a:ext cx="0" cy="9413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23" name="Arc 11"/>
          <p:cNvSpPr>
            <a:spLocks/>
          </p:cNvSpPr>
          <p:nvPr/>
        </p:nvSpPr>
        <p:spPr bwMode="auto">
          <a:xfrm>
            <a:off x="5160963" y="3430588"/>
            <a:ext cx="215900" cy="361950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8124" name="Text Box 12"/>
          <p:cNvSpPr txBox="1">
            <a:spLocks noChangeArrowheads="1"/>
          </p:cNvSpPr>
          <p:nvPr/>
        </p:nvSpPr>
        <p:spPr bwMode="auto">
          <a:xfrm>
            <a:off x="5243513" y="3343275"/>
            <a:ext cx="252412" cy="242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>
                <a:sym typeface="Symbol" pitchFamily="18" charset="2"/>
              </a:rPr>
              <a:t></a:t>
            </a:r>
          </a:p>
        </p:txBody>
      </p:sp>
      <p:sp>
        <p:nvSpPr>
          <p:cNvPr id="218125" name="Text Box 13"/>
          <p:cNvSpPr txBox="1">
            <a:spLocks noChangeArrowheads="1"/>
          </p:cNvSpPr>
          <p:nvPr/>
        </p:nvSpPr>
        <p:spPr bwMode="auto">
          <a:xfrm>
            <a:off x="5413375" y="3784600"/>
            <a:ext cx="666750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FF9933"/>
                </a:solidFill>
              </a:rPr>
              <a:t>v</a:t>
            </a:r>
            <a:r>
              <a:rPr lang="en-US" sz="1000" baseline="-25000">
                <a:solidFill>
                  <a:srgbClr val="FF9933"/>
                </a:solidFill>
              </a:rPr>
              <a:t>x</a:t>
            </a:r>
          </a:p>
        </p:txBody>
      </p:sp>
      <p:sp>
        <p:nvSpPr>
          <p:cNvPr id="218126" name="Text Box 14"/>
          <p:cNvSpPr txBox="1">
            <a:spLocks noChangeArrowheads="1"/>
          </p:cNvSpPr>
          <p:nvPr/>
        </p:nvSpPr>
        <p:spPr bwMode="auto">
          <a:xfrm>
            <a:off x="4457700" y="3076575"/>
            <a:ext cx="2476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/>
              <a:t>y</a:t>
            </a:r>
          </a:p>
        </p:txBody>
      </p:sp>
      <p:sp>
        <p:nvSpPr>
          <p:cNvPr id="218127" name="Line 15"/>
          <p:cNvSpPr>
            <a:spLocks noChangeShapeType="1"/>
          </p:cNvSpPr>
          <p:nvPr/>
        </p:nvSpPr>
        <p:spPr bwMode="auto">
          <a:xfrm flipH="1">
            <a:off x="4868863" y="2851150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28" name="Line 16"/>
          <p:cNvSpPr>
            <a:spLocks noChangeShapeType="1"/>
          </p:cNvSpPr>
          <p:nvPr/>
        </p:nvSpPr>
        <p:spPr bwMode="auto">
          <a:xfrm flipH="1">
            <a:off x="5413375" y="3784600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29" name="Line 17"/>
          <p:cNvSpPr>
            <a:spLocks noChangeShapeType="1"/>
          </p:cNvSpPr>
          <p:nvPr/>
        </p:nvSpPr>
        <p:spPr bwMode="auto">
          <a:xfrm flipH="1">
            <a:off x="5413375" y="2847975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30" name="Line 18"/>
          <p:cNvSpPr>
            <a:spLocks noChangeShapeType="1"/>
          </p:cNvSpPr>
          <p:nvPr/>
        </p:nvSpPr>
        <p:spPr bwMode="auto">
          <a:xfrm flipH="1" flipV="1">
            <a:off x="5430838" y="2151063"/>
            <a:ext cx="509587" cy="696912"/>
          </a:xfrm>
          <a:prstGeom prst="line">
            <a:avLst/>
          </a:prstGeom>
          <a:noFill/>
          <a:ln w="28575">
            <a:solidFill>
              <a:srgbClr val="9933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8131" name="Text Box 19"/>
          <p:cNvSpPr txBox="1">
            <a:spLocks noChangeArrowheads="1"/>
          </p:cNvSpPr>
          <p:nvPr/>
        </p:nvSpPr>
        <p:spPr bwMode="auto">
          <a:xfrm>
            <a:off x="5545138" y="2044700"/>
            <a:ext cx="6667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CC6600"/>
                </a:solidFill>
              </a:rPr>
              <a:t>v</a:t>
            </a:r>
            <a:endParaRPr lang="en-US" sz="1000" baseline="-25000">
              <a:solidFill>
                <a:srgbClr val="CC6600"/>
              </a:solidFill>
            </a:endParaRPr>
          </a:p>
        </p:txBody>
      </p:sp>
      <p:sp>
        <p:nvSpPr>
          <p:cNvPr id="218132" name="Text Box 20"/>
          <p:cNvSpPr txBox="1">
            <a:spLocks noChangeArrowheads="1"/>
          </p:cNvSpPr>
          <p:nvPr/>
        </p:nvSpPr>
        <p:spPr bwMode="auto">
          <a:xfrm>
            <a:off x="5149850" y="2819400"/>
            <a:ext cx="666750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FF9933"/>
                </a:solidFill>
              </a:rPr>
              <a:t>v</a:t>
            </a:r>
            <a:r>
              <a:rPr lang="en-US" sz="1000" baseline="-25000">
                <a:solidFill>
                  <a:srgbClr val="FF9933"/>
                </a:solidFill>
              </a:rPr>
              <a:t>x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6480175" y="4217988"/>
            <a:ext cx="2428875" cy="2339975"/>
            <a:chOff x="2592" y="974"/>
            <a:chExt cx="1530" cy="1474"/>
          </a:xfrm>
        </p:grpSpPr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2592" y="974"/>
              <a:ext cx="1530" cy="1474"/>
              <a:chOff x="2592" y="974"/>
              <a:chExt cx="1530" cy="1474"/>
            </a:xfrm>
          </p:grpSpPr>
          <p:grpSp>
            <p:nvGrpSpPr>
              <p:cNvPr id="5" name="Group 23"/>
              <p:cNvGrpSpPr>
                <a:grpSpLocks/>
              </p:cNvGrpSpPr>
              <p:nvPr/>
            </p:nvGrpSpPr>
            <p:grpSpPr bwMode="auto">
              <a:xfrm>
                <a:off x="2592" y="1042"/>
                <a:ext cx="1429" cy="1406"/>
                <a:chOff x="2592" y="1152"/>
                <a:chExt cx="2592" cy="2592"/>
              </a:xfrm>
            </p:grpSpPr>
            <p:sp>
              <p:nvSpPr>
                <p:cNvPr id="218136" name="Oval 24"/>
                <p:cNvSpPr>
                  <a:spLocks noChangeArrowheads="1"/>
                </p:cNvSpPr>
                <p:nvPr/>
              </p:nvSpPr>
              <p:spPr bwMode="auto">
                <a:xfrm>
                  <a:off x="2937" y="1488"/>
                  <a:ext cx="1902" cy="1920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218137" name="Line 25"/>
                <p:cNvSpPr>
                  <a:spLocks noChangeShapeType="1"/>
                </p:cNvSpPr>
                <p:nvPr/>
              </p:nvSpPr>
              <p:spPr bwMode="auto">
                <a:xfrm>
                  <a:off x="3888" y="1152"/>
                  <a:ext cx="0" cy="259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8138" name="Line 26"/>
                <p:cNvSpPr>
                  <a:spLocks noChangeShapeType="1"/>
                </p:cNvSpPr>
                <p:nvPr/>
              </p:nvSpPr>
              <p:spPr bwMode="auto">
                <a:xfrm rot="-5400000">
                  <a:off x="3888" y="1152"/>
                  <a:ext cx="0" cy="259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8139" name="Text Box 27"/>
              <p:cNvSpPr txBox="1">
                <a:spLocks noChangeArrowheads="1"/>
              </p:cNvSpPr>
              <p:nvPr/>
            </p:nvSpPr>
            <p:spPr bwMode="auto">
              <a:xfrm>
                <a:off x="3291" y="974"/>
                <a:ext cx="13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 b="1">
                    <a:cs typeface="Arial" charset="0"/>
                  </a:rPr>
                  <a:t>ĵ</a:t>
                </a:r>
              </a:p>
            </p:txBody>
          </p:sp>
          <p:sp>
            <p:nvSpPr>
              <p:cNvPr id="218140" name="Text Box 28"/>
              <p:cNvSpPr txBox="1">
                <a:spLocks noChangeArrowheads="1"/>
              </p:cNvSpPr>
              <p:nvPr/>
            </p:nvSpPr>
            <p:spPr bwMode="auto">
              <a:xfrm>
                <a:off x="3984" y="1728"/>
                <a:ext cx="13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 b="1"/>
                  <a:t>î</a:t>
                </a:r>
              </a:p>
            </p:txBody>
          </p:sp>
          <p:sp>
            <p:nvSpPr>
              <p:cNvPr id="218141" name="Line 29"/>
              <p:cNvSpPr>
                <a:spLocks noChangeShapeType="1"/>
              </p:cNvSpPr>
              <p:nvPr/>
            </p:nvSpPr>
            <p:spPr bwMode="auto">
              <a:xfrm flipV="1">
                <a:off x="3306" y="1407"/>
                <a:ext cx="397" cy="3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142" name="Line 30"/>
              <p:cNvSpPr>
                <a:spLocks noChangeShapeType="1"/>
              </p:cNvSpPr>
              <p:nvPr/>
            </p:nvSpPr>
            <p:spPr bwMode="auto">
              <a:xfrm>
                <a:off x="3703" y="1407"/>
                <a:ext cx="0" cy="3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143" name="Arc 31"/>
              <p:cNvSpPr>
                <a:spLocks/>
              </p:cNvSpPr>
              <p:nvPr/>
            </p:nvSpPr>
            <p:spPr bwMode="auto">
              <a:xfrm>
                <a:off x="3412" y="1615"/>
                <a:ext cx="79" cy="130"/>
              </a:xfrm>
              <a:custGeom>
                <a:avLst/>
                <a:gdLst>
                  <a:gd name="G0" fmla="+- 0 0 0"/>
                  <a:gd name="G1" fmla="+- 18292 0 0"/>
                  <a:gd name="G2" fmla="+- 21600 0 0"/>
                  <a:gd name="T0" fmla="*/ 11487 w 21600"/>
                  <a:gd name="T1" fmla="*/ 0 h 18292"/>
                  <a:gd name="T2" fmla="*/ 21600 w 21600"/>
                  <a:gd name="T3" fmla="*/ 18292 h 18292"/>
                  <a:gd name="T4" fmla="*/ 0 w 21600"/>
                  <a:gd name="T5" fmla="*/ 18292 h 18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18292" fill="none" extrusionOk="0">
                    <a:moveTo>
                      <a:pt x="11487" y="-1"/>
                    </a:moveTo>
                    <a:cubicBezTo>
                      <a:pt x="17780" y="3951"/>
                      <a:pt x="21600" y="10860"/>
                      <a:pt x="21600" y="18292"/>
                    </a:cubicBezTo>
                  </a:path>
                  <a:path w="21600" h="18292" stroke="0" extrusionOk="0">
                    <a:moveTo>
                      <a:pt x="11487" y="-1"/>
                    </a:moveTo>
                    <a:cubicBezTo>
                      <a:pt x="17780" y="3951"/>
                      <a:pt x="21600" y="10860"/>
                      <a:pt x="21600" y="18292"/>
                    </a:cubicBezTo>
                    <a:lnTo>
                      <a:pt x="0" y="1829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8144" name="Text Box 32"/>
              <p:cNvSpPr txBox="1">
                <a:spLocks noChangeArrowheads="1"/>
              </p:cNvSpPr>
              <p:nvPr/>
            </p:nvSpPr>
            <p:spPr bwMode="auto">
              <a:xfrm>
                <a:off x="3442" y="1584"/>
                <a:ext cx="15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218145" name="Text Box 33"/>
              <p:cNvSpPr txBox="1">
                <a:spLocks noChangeArrowheads="1"/>
              </p:cNvSpPr>
              <p:nvPr/>
            </p:nvSpPr>
            <p:spPr bwMode="auto">
              <a:xfrm>
                <a:off x="3453" y="1728"/>
                <a:ext cx="156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x</a:t>
                </a:r>
              </a:p>
            </p:txBody>
          </p:sp>
          <p:sp>
            <p:nvSpPr>
              <p:cNvPr id="218146" name="Text Box 34"/>
              <p:cNvSpPr txBox="1">
                <a:spLocks noChangeArrowheads="1"/>
              </p:cNvSpPr>
              <p:nvPr/>
            </p:nvSpPr>
            <p:spPr bwMode="auto">
              <a:xfrm>
                <a:off x="3156" y="1488"/>
                <a:ext cx="156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y</a:t>
                </a:r>
              </a:p>
            </p:txBody>
          </p:sp>
          <p:sp>
            <p:nvSpPr>
              <p:cNvPr id="218147" name="Line 35"/>
              <p:cNvSpPr>
                <a:spLocks noChangeShapeType="1"/>
              </p:cNvSpPr>
              <p:nvPr/>
            </p:nvSpPr>
            <p:spPr bwMode="auto">
              <a:xfrm flipH="1">
                <a:off x="3306" y="1407"/>
                <a:ext cx="39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148" name="Text Box 36"/>
              <p:cNvSpPr txBox="1">
                <a:spLocks noChangeArrowheads="1"/>
              </p:cNvSpPr>
              <p:nvPr/>
            </p:nvSpPr>
            <p:spPr bwMode="auto">
              <a:xfrm>
                <a:off x="3312" y="1440"/>
                <a:ext cx="262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x</a:t>
                </a:r>
                <a:r>
                  <a:rPr lang="en-US" sz="1000" baseline="-25000"/>
                  <a:t>max</a:t>
                </a:r>
              </a:p>
            </p:txBody>
          </p:sp>
          <p:sp>
            <p:nvSpPr>
              <p:cNvPr id="218149" name="Text Box 37"/>
              <p:cNvSpPr txBox="1">
                <a:spLocks noChangeArrowheads="1"/>
              </p:cNvSpPr>
              <p:nvPr/>
            </p:nvSpPr>
            <p:spPr bwMode="auto">
              <a:xfrm>
                <a:off x="3840" y="1824"/>
                <a:ext cx="262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x</a:t>
                </a:r>
                <a:r>
                  <a:rPr lang="en-US" sz="1000" baseline="-25000"/>
                  <a:t>max</a:t>
                </a:r>
              </a:p>
            </p:txBody>
          </p:sp>
          <p:sp>
            <p:nvSpPr>
              <p:cNvPr id="218150" name="Line 38"/>
              <p:cNvSpPr>
                <a:spLocks noChangeShapeType="1"/>
              </p:cNvSpPr>
              <p:nvPr/>
            </p:nvSpPr>
            <p:spPr bwMode="auto">
              <a:xfrm flipH="1" flipV="1">
                <a:off x="3840" y="1728"/>
                <a:ext cx="48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151" name="Line 39"/>
              <p:cNvSpPr>
                <a:spLocks noChangeShapeType="1"/>
              </p:cNvSpPr>
              <p:nvPr/>
            </p:nvSpPr>
            <p:spPr bwMode="auto">
              <a:xfrm flipH="1">
                <a:off x="3308" y="1744"/>
                <a:ext cx="3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8152" name="Text Box 40"/>
            <p:cNvSpPr txBox="1">
              <a:spLocks noChangeArrowheads="1"/>
            </p:cNvSpPr>
            <p:nvPr/>
          </p:nvSpPr>
          <p:spPr bwMode="auto">
            <a:xfrm>
              <a:off x="3686" y="1285"/>
              <a:ext cx="180" cy="1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200"/>
                <a:t>P</a:t>
              </a:r>
            </a:p>
          </p:txBody>
        </p:sp>
      </p:grpSp>
      <p:sp>
        <p:nvSpPr>
          <p:cNvPr id="218153" name="Rectangle 41"/>
          <p:cNvSpPr>
            <a:spLocks noGrp="1" noChangeArrowheads="1"/>
          </p:cNvSpPr>
          <p:nvPr>
            <p:ph type="body" idx="1"/>
          </p:nvPr>
        </p:nvSpPr>
        <p:spPr>
          <a:xfrm>
            <a:off x="442913" y="1571625"/>
            <a:ext cx="3222625" cy="21463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1600"/>
              <a:t>Look at the Angular Speed</a:t>
            </a:r>
          </a:p>
          <a:p>
            <a:pPr>
              <a:lnSpc>
                <a:spcPct val="90000"/>
              </a:lnSpc>
            </a:pPr>
            <a:endParaRPr lang="en-US" sz="1600"/>
          </a:p>
          <a:p>
            <a:pPr>
              <a:lnSpc>
                <a:spcPct val="90000"/>
              </a:lnSpc>
            </a:pPr>
            <a:endParaRPr lang="en-US" sz="1600"/>
          </a:p>
          <a:p>
            <a:pPr>
              <a:lnSpc>
                <a:spcPct val="90000"/>
              </a:lnSpc>
            </a:pPr>
            <a:r>
              <a:rPr lang="en-US" sz="1600"/>
              <a:t>Then</a:t>
            </a:r>
          </a:p>
          <a:p>
            <a:pPr>
              <a:lnSpc>
                <a:spcPct val="90000"/>
              </a:lnSpc>
            </a:pPr>
            <a:endParaRPr lang="en-US" sz="1600"/>
          </a:p>
          <a:p>
            <a:pPr>
              <a:lnSpc>
                <a:spcPct val="90000"/>
              </a:lnSpc>
            </a:pPr>
            <a:endParaRPr lang="en-US" sz="1600"/>
          </a:p>
          <a:p>
            <a:pPr>
              <a:lnSpc>
                <a:spcPct val="90000"/>
              </a:lnSpc>
            </a:pPr>
            <a:r>
              <a:rPr lang="en-US" sz="1600"/>
              <a:t>Let’s take the x-component</a:t>
            </a:r>
          </a:p>
        </p:txBody>
      </p:sp>
      <p:sp>
        <p:nvSpPr>
          <p:cNvPr id="218154" name="Text Box 42"/>
          <p:cNvSpPr txBox="1">
            <a:spLocks noChangeArrowheads="1"/>
          </p:cNvSpPr>
          <p:nvPr/>
        </p:nvSpPr>
        <p:spPr bwMode="auto">
          <a:xfrm>
            <a:off x="5391150" y="2933700"/>
            <a:ext cx="252413" cy="242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>
                <a:sym typeface="Symbol" pitchFamily="18" charset="2"/>
              </a:rPr>
              <a:t></a:t>
            </a:r>
          </a:p>
        </p:txBody>
      </p:sp>
      <p:sp>
        <p:nvSpPr>
          <p:cNvPr id="218155" name="Arc 43"/>
          <p:cNvSpPr>
            <a:spLocks/>
          </p:cNvSpPr>
          <p:nvPr/>
        </p:nvSpPr>
        <p:spPr bwMode="auto">
          <a:xfrm>
            <a:off x="5602288" y="2851150"/>
            <a:ext cx="214312" cy="227013"/>
          </a:xfrm>
          <a:custGeom>
            <a:avLst/>
            <a:gdLst>
              <a:gd name="G0" fmla="+- 21600 0 0"/>
              <a:gd name="G1" fmla="+- 73 0 0"/>
              <a:gd name="G2" fmla="+- 21600 0 0"/>
              <a:gd name="T0" fmla="*/ 8584 w 21600"/>
              <a:gd name="T1" fmla="*/ 17310 h 17310"/>
              <a:gd name="T2" fmla="*/ 0 w 21600"/>
              <a:gd name="T3" fmla="*/ 0 h 17310"/>
              <a:gd name="T4" fmla="*/ 21600 w 21600"/>
              <a:gd name="T5" fmla="*/ 73 h 173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7310" fill="none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</a:path>
              <a:path w="21600" h="17310" stroke="0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  <a:lnTo>
                  <a:pt x="21600" y="7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8156" name="Line 44"/>
          <p:cNvSpPr>
            <a:spLocks noChangeShapeType="1"/>
          </p:cNvSpPr>
          <p:nvPr/>
        </p:nvSpPr>
        <p:spPr bwMode="auto">
          <a:xfrm>
            <a:off x="5438775" y="2133600"/>
            <a:ext cx="0" cy="704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218157" name="Object 45"/>
          <p:cNvGraphicFramePr>
            <a:graphicFrameLocks noChangeAspect="1"/>
          </p:cNvGraphicFramePr>
          <p:nvPr/>
        </p:nvGraphicFramePr>
        <p:xfrm>
          <a:off x="5489575" y="2613025"/>
          <a:ext cx="18415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480" imgH="393480" progId="Equation.3">
                  <p:embed/>
                </p:oleObj>
              </mc:Choice>
              <mc:Fallback>
                <p:oleObj name="Equation" r:id="rId2" imgW="393480" imgH="393480" progId="Equation.3">
                  <p:embed/>
                  <p:pic>
                    <p:nvPicPr>
                      <p:cNvPr id="21815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9575" y="2613025"/>
                        <a:ext cx="184150" cy="184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8158" name="Object 46"/>
          <p:cNvGraphicFramePr>
            <a:graphicFrameLocks noChangeAspect="1"/>
          </p:cNvGraphicFramePr>
          <p:nvPr/>
        </p:nvGraphicFramePr>
        <p:xfrm>
          <a:off x="901700" y="3862388"/>
          <a:ext cx="1976438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09400" imgH="228600" progId="Equation.3">
                  <p:embed/>
                </p:oleObj>
              </mc:Choice>
              <mc:Fallback>
                <p:oleObj name="Equation" r:id="rId4" imgW="1409400" imgH="228600" progId="Equation.3">
                  <p:embed/>
                  <p:pic>
                    <p:nvPicPr>
                      <p:cNvPr id="21815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700" y="3862388"/>
                        <a:ext cx="1976438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8159" name="Object 47"/>
          <p:cNvGraphicFramePr>
            <a:graphicFrameLocks noChangeAspect="1"/>
          </p:cNvGraphicFramePr>
          <p:nvPr/>
        </p:nvGraphicFramePr>
        <p:xfrm>
          <a:off x="1693863" y="2154238"/>
          <a:ext cx="552450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393480" progId="Equation.3">
                  <p:embed/>
                </p:oleObj>
              </mc:Choice>
              <mc:Fallback>
                <p:oleObj name="Equation" r:id="rId6" imgW="393480" imgH="393480" progId="Equation.3">
                  <p:embed/>
                  <p:pic>
                    <p:nvPicPr>
                      <p:cNvPr id="21815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3863" y="2154238"/>
                        <a:ext cx="552450" cy="5524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8160" name="Object 48"/>
          <p:cNvGraphicFramePr>
            <a:graphicFrameLocks noChangeAspect="1"/>
          </p:cNvGraphicFramePr>
          <p:nvPr/>
        </p:nvGraphicFramePr>
        <p:xfrm>
          <a:off x="1530350" y="2890838"/>
          <a:ext cx="604838" cy="195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31640" imgH="139680" progId="Equation.3">
                  <p:embed/>
                </p:oleObj>
              </mc:Choice>
              <mc:Fallback>
                <p:oleObj name="Equation" r:id="rId8" imgW="431640" imgH="139680" progId="Equation.3">
                  <p:embed/>
                  <p:pic>
                    <p:nvPicPr>
                      <p:cNvPr id="21816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0350" y="2890838"/>
                        <a:ext cx="604838" cy="195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Rotation and Acceleration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6480175" y="4217988"/>
            <a:ext cx="2428875" cy="2339975"/>
            <a:chOff x="2592" y="974"/>
            <a:chExt cx="1530" cy="1474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2592" y="974"/>
              <a:ext cx="1530" cy="1474"/>
              <a:chOff x="2592" y="974"/>
              <a:chExt cx="1530" cy="1474"/>
            </a:xfrm>
          </p:grpSpPr>
          <p:grpSp>
            <p:nvGrpSpPr>
              <p:cNvPr id="4" name="Group 5"/>
              <p:cNvGrpSpPr>
                <a:grpSpLocks/>
              </p:cNvGrpSpPr>
              <p:nvPr/>
            </p:nvGrpSpPr>
            <p:grpSpPr bwMode="auto">
              <a:xfrm>
                <a:off x="2592" y="1042"/>
                <a:ext cx="1429" cy="1406"/>
                <a:chOff x="2592" y="1152"/>
                <a:chExt cx="2592" cy="2592"/>
              </a:xfrm>
            </p:grpSpPr>
            <p:sp>
              <p:nvSpPr>
                <p:cNvPr id="219142" name="Oval 6"/>
                <p:cNvSpPr>
                  <a:spLocks noChangeArrowheads="1"/>
                </p:cNvSpPr>
                <p:nvPr/>
              </p:nvSpPr>
              <p:spPr bwMode="auto">
                <a:xfrm>
                  <a:off x="2937" y="1488"/>
                  <a:ext cx="1902" cy="1920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219143" name="Line 7"/>
                <p:cNvSpPr>
                  <a:spLocks noChangeShapeType="1"/>
                </p:cNvSpPr>
                <p:nvPr/>
              </p:nvSpPr>
              <p:spPr bwMode="auto">
                <a:xfrm>
                  <a:off x="3888" y="1152"/>
                  <a:ext cx="0" cy="259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9144" name="Line 8"/>
                <p:cNvSpPr>
                  <a:spLocks noChangeShapeType="1"/>
                </p:cNvSpPr>
                <p:nvPr/>
              </p:nvSpPr>
              <p:spPr bwMode="auto">
                <a:xfrm rot="-5400000">
                  <a:off x="3888" y="1152"/>
                  <a:ext cx="0" cy="259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9145" name="Text Box 9"/>
              <p:cNvSpPr txBox="1">
                <a:spLocks noChangeArrowheads="1"/>
              </p:cNvSpPr>
              <p:nvPr/>
            </p:nvSpPr>
            <p:spPr bwMode="auto">
              <a:xfrm>
                <a:off x="3291" y="974"/>
                <a:ext cx="13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 b="1">
                    <a:cs typeface="Arial" charset="0"/>
                  </a:rPr>
                  <a:t>ĵ</a:t>
                </a:r>
              </a:p>
            </p:txBody>
          </p:sp>
          <p:sp>
            <p:nvSpPr>
              <p:cNvPr id="219146" name="Text Box 10"/>
              <p:cNvSpPr txBox="1">
                <a:spLocks noChangeArrowheads="1"/>
              </p:cNvSpPr>
              <p:nvPr/>
            </p:nvSpPr>
            <p:spPr bwMode="auto">
              <a:xfrm>
                <a:off x="3984" y="1728"/>
                <a:ext cx="13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 b="1"/>
                  <a:t>î</a:t>
                </a:r>
              </a:p>
            </p:txBody>
          </p:sp>
          <p:sp>
            <p:nvSpPr>
              <p:cNvPr id="219147" name="Line 11"/>
              <p:cNvSpPr>
                <a:spLocks noChangeShapeType="1"/>
              </p:cNvSpPr>
              <p:nvPr/>
            </p:nvSpPr>
            <p:spPr bwMode="auto">
              <a:xfrm flipV="1">
                <a:off x="3306" y="1407"/>
                <a:ext cx="397" cy="3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148" name="Line 12"/>
              <p:cNvSpPr>
                <a:spLocks noChangeShapeType="1"/>
              </p:cNvSpPr>
              <p:nvPr/>
            </p:nvSpPr>
            <p:spPr bwMode="auto">
              <a:xfrm>
                <a:off x="3703" y="1407"/>
                <a:ext cx="0" cy="3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149" name="Arc 13"/>
              <p:cNvSpPr>
                <a:spLocks/>
              </p:cNvSpPr>
              <p:nvPr/>
            </p:nvSpPr>
            <p:spPr bwMode="auto">
              <a:xfrm>
                <a:off x="3412" y="1615"/>
                <a:ext cx="79" cy="130"/>
              </a:xfrm>
              <a:custGeom>
                <a:avLst/>
                <a:gdLst>
                  <a:gd name="G0" fmla="+- 0 0 0"/>
                  <a:gd name="G1" fmla="+- 18292 0 0"/>
                  <a:gd name="G2" fmla="+- 21600 0 0"/>
                  <a:gd name="T0" fmla="*/ 11487 w 21600"/>
                  <a:gd name="T1" fmla="*/ 0 h 18292"/>
                  <a:gd name="T2" fmla="*/ 21600 w 21600"/>
                  <a:gd name="T3" fmla="*/ 18292 h 18292"/>
                  <a:gd name="T4" fmla="*/ 0 w 21600"/>
                  <a:gd name="T5" fmla="*/ 18292 h 18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18292" fill="none" extrusionOk="0">
                    <a:moveTo>
                      <a:pt x="11487" y="-1"/>
                    </a:moveTo>
                    <a:cubicBezTo>
                      <a:pt x="17780" y="3951"/>
                      <a:pt x="21600" y="10860"/>
                      <a:pt x="21600" y="18292"/>
                    </a:cubicBezTo>
                  </a:path>
                  <a:path w="21600" h="18292" stroke="0" extrusionOk="0">
                    <a:moveTo>
                      <a:pt x="11487" y="-1"/>
                    </a:moveTo>
                    <a:cubicBezTo>
                      <a:pt x="17780" y="3951"/>
                      <a:pt x="21600" y="10860"/>
                      <a:pt x="21600" y="18292"/>
                    </a:cubicBezTo>
                    <a:lnTo>
                      <a:pt x="0" y="1829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9150" name="Text Box 14"/>
              <p:cNvSpPr txBox="1">
                <a:spLocks noChangeArrowheads="1"/>
              </p:cNvSpPr>
              <p:nvPr/>
            </p:nvSpPr>
            <p:spPr bwMode="auto">
              <a:xfrm>
                <a:off x="3442" y="1584"/>
                <a:ext cx="158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219151" name="Text Box 15"/>
              <p:cNvSpPr txBox="1">
                <a:spLocks noChangeArrowheads="1"/>
              </p:cNvSpPr>
              <p:nvPr/>
            </p:nvSpPr>
            <p:spPr bwMode="auto">
              <a:xfrm>
                <a:off x="3453" y="1728"/>
                <a:ext cx="156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000"/>
                  <a:t>x</a:t>
                </a:r>
              </a:p>
            </p:txBody>
          </p:sp>
          <p:sp>
            <p:nvSpPr>
              <p:cNvPr id="219152" name="Text Box 16"/>
              <p:cNvSpPr txBox="1">
                <a:spLocks noChangeArrowheads="1"/>
              </p:cNvSpPr>
              <p:nvPr/>
            </p:nvSpPr>
            <p:spPr bwMode="auto">
              <a:xfrm>
                <a:off x="3156" y="1488"/>
                <a:ext cx="156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y</a:t>
                </a:r>
              </a:p>
            </p:txBody>
          </p:sp>
          <p:sp>
            <p:nvSpPr>
              <p:cNvPr id="219153" name="Line 17"/>
              <p:cNvSpPr>
                <a:spLocks noChangeShapeType="1"/>
              </p:cNvSpPr>
              <p:nvPr/>
            </p:nvSpPr>
            <p:spPr bwMode="auto">
              <a:xfrm flipH="1">
                <a:off x="3306" y="1407"/>
                <a:ext cx="39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154" name="Text Box 18"/>
              <p:cNvSpPr txBox="1">
                <a:spLocks noChangeArrowheads="1"/>
              </p:cNvSpPr>
              <p:nvPr/>
            </p:nvSpPr>
            <p:spPr bwMode="auto">
              <a:xfrm>
                <a:off x="3312" y="1440"/>
                <a:ext cx="262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x</a:t>
                </a:r>
                <a:r>
                  <a:rPr lang="en-US" sz="1000" baseline="-25000"/>
                  <a:t>max</a:t>
                </a:r>
              </a:p>
            </p:txBody>
          </p:sp>
          <p:sp>
            <p:nvSpPr>
              <p:cNvPr id="219155" name="Text Box 19"/>
              <p:cNvSpPr txBox="1">
                <a:spLocks noChangeArrowheads="1"/>
              </p:cNvSpPr>
              <p:nvPr/>
            </p:nvSpPr>
            <p:spPr bwMode="auto">
              <a:xfrm>
                <a:off x="3840" y="1824"/>
                <a:ext cx="262" cy="1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000"/>
                  <a:t>x</a:t>
                </a:r>
                <a:r>
                  <a:rPr lang="en-US" sz="1000" baseline="-25000"/>
                  <a:t>max</a:t>
                </a:r>
              </a:p>
            </p:txBody>
          </p:sp>
          <p:sp>
            <p:nvSpPr>
              <p:cNvPr id="219156" name="Line 20"/>
              <p:cNvSpPr>
                <a:spLocks noChangeShapeType="1"/>
              </p:cNvSpPr>
              <p:nvPr/>
            </p:nvSpPr>
            <p:spPr bwMode="auto">
              <a:xfrm flipH="1" flipV="1">
                <a:off x="3840" y="1728"/>
                <a:ext cx="48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157" name="Line 21"/>
              <p:cNvSpPr>
                <a:spLocks noChangeShapeType="1"/>
              </p:cNvSpPr>
              <p:nvPr/>
            </p:nvSpPr>
            <p:spPr bwMode="auto">
              <a:xfrm flipH="1">
                <a:off x="3308" y="1744"/>
                <a:ext cx="3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9158" name="Text Box 22"/>
            <p:cNvSpPr txBox="1">
              <a:spLocks noChangeArrowheads="1"/>
            </p:cNvSpPr>
            <p:nvPr/>
          </p:nvSpPr>
          <p:spPr bwMode="auto">
            <a:xfrm>
              <a:off x="3686" y="1285"/>
              <a:ext cx="180" cy="1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200"/>
                <a:t>P</a:t>
              </a:r>
            </a:p>
          </p:txBody>
        </p:sp>
      </p:grpSp>
      <p:sp>
        <p:nvSpPr>
          <p:cNvPr id="219159" name="Rectangle 23"/>
          <p:cNvSpPr>
            <a:spLocks noGrp="1" noChangeArrowheads="1"/>
          </p:cNvSpPr>
          <p:nvPr>
            <p:ph type="body" idx="1"/>
          </p:nvPr>
        </p:nvSpPr>
        <p:spPr>
          <a:xfrm>
            <a:off x="442913" y="1571625"/>
            <a:ext cx="2786062" cy="4438650"/>
          </a:xfrm>
        </p:spPr>
        <p:txBody>
          <a:bodyPr/>
          <a:lstStyle/>
          <a:p>
            <a:r>
              <a:rPr lang="en-US" sz="2400"/>
              <a:t>The acceleration of the particle at P is given by</a:t>
            </a:r>
          </a:p>
          <a:p>
            <a:endParaRPr lang="en-US" sz="2400"/>
          </a:p>
          <a:p>
            <a:endParaRPr lang="en-US" sz="2400"/>
          </a:p>
          <a:p>
            <a:r>
              <a:rPr lang="en-US" sz="2400"/>
              <a:t>Taking the x-  component</a:t>
            </a:r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2916238" y="1833563"/>
            <a:ext cx="3922712" cy="3935412"/>
            <a:chOff x="2592" y="1152"/>
            <a:chExt cx="2592" cy="2592"/>
          </a:xfrm>
        </p:grpSpPr>
        <p:sp>
          <p:nvSpPr>
            <p:cNvPr id="219161" name="Oval 25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9162" name="Line 26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163" name="Line 27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9164" name="Text Box 28"/>
          <p:cNvSpPr txBox="1">
            <a:spLocks noChangeArrowheads="1"/>
          </p:cNvSpPr>
          <p:nvPr/>
        </p:nvSpPr>
        <p:spPr bwMode="auto">
          <a:xfrm>
            <a:off x="4835525" y="1643063"/>
            <a:ext cx="219075" cy="242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 b="1">
                <a:cs typeface="Arial" charset="0"/>
              </a:rPr>
              <a:t>ĵ</a:t>
            </a:r>
          </a:p>
        </p:txBody>
      </p:sp>
      <p:sp>
        <p:nvSpPr>
          <p:cNvPr id="219165" name="Text Box 29"/>
          <p:cNvSpPr txBox="1">
            <a:spLocks noChangeArrowheads="1"/>
          </p:cNvSpPr>
          <p:nvPr/>
        </p:nvSpPr>
        <p:spPr bwMode="auto">
          <a:xfrm>
            <a:off x="6737350" y="3752850"/>
            <a:ext cx="2190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 b="1"/>
              <a:t>î</a:t>
            </a:r>
          </a:p>
        </p:txBody>
      </p:sp>
      <p:sp>
        <p:nvSpPr>
          <p:cNvPr id="219166" name="Line 30"/>
          <p:cNvSpPr>
            <a:spLocks noChangeShapeType="1"/>
          </p:cNvSpPr>
          <p:nvPr/>
        </p:nvSpPr>
        <p:spPr bwMode="auto">
          <a:xfrm flipV="1">
            <a:off x="4875213" y="2854325"/>
            <a:ext cx="1090612" cy="946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67" name="Line 31"/>
          <p:cNvSpPr>
            <a:spLocks noChangeShapeType="1"/>
          </p:cNvSpPr>
          <p:nvPr/>
        </p:nvSpPr>
        <p:spPr bwMode="auto">
          <a:xfrm>
            <a:off x="5965825" y="2854325"/>
            <a:ext cx="0" cy="9461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68" name="Arc 32"/>
          <p:cNvSpPr>
            <a:spLocks/>
          </p:cNvSpPr>
          <p:nvPr/>
        </p:nvSpPr>
        <p:spPr bwMode="auto">
          <a:xfrm>
            <a:off x="5167313" y="3436938"/>
            <a:ext cx="215900" cy="363537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19169" name="Text Box 33"/>
          <p:cNvSpPr txBox="1">
            <a:spLocks noChangeArrowheads="1"/>
          </p:cNvSpPr>
          <p:nvPr/>
        </p:nvSpPr>
        <p:spPr bwMode="auto">
          <a:xfrm>
            <a:off x="5335588" y="3351213"/>
            <a:ext cx="252412" cy="246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>
                <a:sym typeface="Symbol" pitchFamily="18" charset="2"/>
              </a:rPr>
              <a:t></a:t>
            </a:r>
          </a:p>
        </p:txBody>
      </p:sp>
      <p:sp>
        <p:nvSpPr>
          <p:cNvPr id="219170" name="Text Box 34"/>
          <p:cNvSpPr txBox="1">
            <a:spLocks noChangeArrowheads="1"/>
          </p:cNvSpPr>
          <p:nvPr/>
        </p:nvSpPr>
        <p:spPr bwMode="auto">
          <a:xfrm>
            <a:off x="5419725" y="3792538"/>
            <a:ext cx="6667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CC99FF"/>
                </a:solidFill>
              </a:rPr>
              <a:t>a</a:t>
            </a:r>
            <a:r>
              <a:rPr lang="en-US" sz="1000" baseline="-25000">
                <a:solidFill>
                  <a:srgbClr val="CC99FF"/>
                </a:solidFill>
              </a:rPr>
              <a:t>x</a:t>
            </a:r>
          </a:p>
        </p:txBody>
      </p:sp>
      <p:sp>
        <p:nvSpPr>
          <p:cNvPr id="219171" name="Text Box 35"/>
          <p:cNvSpPr txBox="1">
            <a:spLocks noChangeArrowheads="1"/>
          </p:cNvSpPr>
          <p:nvPr/>
        </p:nvSpPr>
        <p:spPr bwMode="auto">
          <a:xfrm>
            <a:off x="4464050" y="3081338"/>
            <a:ext cx="2476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/>
              <a:t>y</a:t>
            </a:r>
          </a:p>
        </p:txBody>
      </p:sp>
      <p:sp>
        <p:nvSpPr>
          <p:cNvPr id="219172" name="Line 36"/>
          <p:cNvSpPr>
            <a:spLocks noChangeShapeType="1"/>
          </p:cNvSpPr>
          <p:nvPr/>
        </p:nvSpPr>
        <p:spPr bwMode="auto">
          <a:xfrm flipH="1">
            <a:off x="4875213" y="2854325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73" name="Line 37"/>
          <p:cNvSpPr>
            <a:spLocks noChangeShapeType="1"/>
          </p:cNvSpPr>
          <p:nvPr/>
        </p:nvSpPr>
        <p:spPr bwMode="auto">
          <a:xfrm flipH="1">
            <a:off x="5419725" y="3792538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74" name="Line 38"/>
          <p:cNvSpPr>
            <a:spLocks noChangeShapeType="1"/>
          </p:cNvSpPr>
          <p:nvPr/>
        </p:nvSpPr>
        <p:spPr bwMode="auto">
          <a:xfrm flipH="1">
            <a:off x="5430838" y="2852738"/>
            <a:ext cx="515937" cy="458787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75" name="Text Box 39"/>
          <p:cNvSpPr txBox="1">
            <a:spLocks noChangeArrowheads="1"/>
          </p:cNvSpPr>
          <p:nvPr/>
        </p:nvSpPr>
        <p:spPr bwMode="auto">
          <a:xfrm>
            <a:off x="5518150" y="2974975"/>
            <a:ext cx="6667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CC00CC"/>
                </a:solidFill>
              </a:rPr>
              <a:t>a</a:t>
            </a:r>
            <a:endParaRPr lang="en-US" sz="1000" baseline="-25000">
              <a:solidFill>
                <a:srgbClr val="CC00CC"/>
              </a:solidFill>
            </a:endParaRPr>
          </a:p>
        </p:txBody>
      </p:sp>
      <p:sp>
        <p:nvSpPr>
          <p:cNvPr id="219176" name="Line 40"/>
          <p:cNvSpPr>
            <a:spLocks noChangeShapeType="1"/>
          </p:cNvSpPr>
          <p:nvPr/>
        </p:nvSpPr>
        <p:spPr bwMode="auto">
          <a:xfrm flipH="1">
            <a:off x="5419725" y="2863850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9177" name="Text Box 41"/>
          <p:cNvSpPr txBox="1">
            <a:spLocks noChangeArrowheads="1"/>
          </p:cNvSpPr>
          <p:nvPr/>
        </p:nvSpPr>
        <p:spPr bwMode="auto">
          <a:xfrm>
            <a:off x="5221288" y="2393950"/>
            <a:ext cx="666750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000">
                <a:solidFill>
                  <a:srgbClr val="CC99FF"/>
                </a:solidFill>
              </a:rPr>
              <a:t>a</a:t>
            </a:r>
            <a:r>
              <a:rPr lang="en-US" sz="1000" baseline="-25000">
                <a:solidFill>
                  <a:srgbClr val="CC99FF"/>
                </a:solidFill>
              </a:rPr>
              <a:t>x</a:t>
            </a:r>
          </a:p>
        </p:txBody>
      </p:sp>
      <p:graphicFrame>
        <p:nvGraphicFramePr>
          <p:cNvPr id="219178" name="Object 42"/>
          <p:cNvGraphicFramePr>
            <a:graphicFrameLocks noChangeAspect="1"/>
          </p:cNvGraphicFramePr>
          <p:nvPr/>
        </p:nvGraphicFramePr>
        <p:xfrm>
          <a:off x="746125" y="4651375"/>
          <a:ext cx="2119313" cy="338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241200" progId="Equation.3">
                  <p:embed/>
                </p:oleObj>
              </mc:Choice>
              <mc:Fallback>
                <p:oleObj name="Equation" r:id="rId2" imgW="1511280" imgH="241200" progId="Equation.3">
                  <p:embed/>
                  <p:pic>
                    <p:nvPicPr>
                      <p:cNvPr id="21917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6125" y="4651375"/>
                        <a:ext cx="2119313" cy="3381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9179" name="Object 43"/>
          <p:cNvGraphicFramePr>
            <a:graphicFrameLocks noChangeAspect="1"/>
          </p:cNvGraphicFramePr>
          <p:nvPr/>
        </p:nvGraphicFramePr>
        <p:xfrm>
          <a:off x="679450" y="2784475"/>
          <a:ext cx="2598738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54000" imgH="419040" progId="Equation.3">
                  <p:embed/>
                </p:oleObj>
              </mc:Choice>
              <mc:Fallback>
                <p:oleObj name="Equation" r:id="rId4" imgW="1854000" imgH="419040" progId="Equation.3">
                  <p:embed/>
                  <p:pic>
                    <p:nvPicPr>
                      <p:cNvPr id="21917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0" y="2784475"/>
                        <a:ext cx="2598738" cy="587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180" name="Text Box 44"/>
          <p:cNvSpPr txBox="1">
            <a:spLocks noChangeArrowheads="1"/>
          </p:cNvSpPr>
          <p:nvPr/>
        </p:nvSpPr>
        <p:spPr bwMode="auto">
          <a:xfrm>
            <a:off x="5273675" y="2874963"/>
            <a:ext cx="252413" cy="246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000">
                <a:sym typeface="Symbol" pitchFamily="18" charset="2"/>
              </a:rPr>
              <a:t></a:t>
            </a:r>
          </a:p>
        </p:txBody>
      </p:sp>
      <p:sp>
        <p:nvSpPr>
          <p:cNvPr id="219181" name="Arc 45"/>
          <p:cNvSpPr>
            <a:spLocks/>
          </p:cNvSpPr>
          <p:nvPr/>
        </p:nvSpPr>
        <p:spPr bwMode="auto">
          <a:xfrm flipH="1" flipV="1">
            <a:off x="5476875" y="2832100"/>
            <a:ext cx="215900" cy="363538"/>
          </a:xfrm>
          <a:custGeom>
            <a:avLst/>
            <a:gdLst>
              <a:gd name="G0" fmla="+- 0 0 0"/>
              <a:gd name="G1" fmla="+- 18292 0 0"/>
              <a:gd name="G2" fmla="+- 21600 0 0"/>
              <a:gd name="T0" fmla="*/ 11487 w 21600"/>
              <a:gd name="T1" fmla="*/ 0 h 18292"/>
              <a:gd name="T2" fmla="*/ 21600 w 21600"/>
              <a:gd name="T3" fmla="*/ 18292 h 18292"/>
              <a:gd name="T4" fmla="*/ 0 w 21600"/>
              <a:gd name="T5" fmla="*/ 18292 h 182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Pendulum</a:t>
            </a:r>
          </a:p>
        </p:txBody>
      </p:sp>
      <p:sp>
        <p:nvSpPr>
          <p:cNvPr id="230403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The forces on  M  are F</a:t>
            </a:r>
            <a:r>
              <a:rPr lang="en-US" sz="2000" baseline="-25000"/>
              <a:t>g</a:t>
            </a:r>
            <a:r>
              <a:rPr lang="en-US" sz="2000"/>
              <a:t>, the tension on the string </a:t>
            </a:r>
          </a:p>
          <a:p>
            <a:r>
              <a:rPr lang="en-US" sz="2000"/>
              <a:t>The tangential component of F</a:t>
            </a:r>
            <a:r>
              <a:rPr lang="en-US" sz="2000" baseline="-25000"/>
              <a:t>g</a:t>
            </a:r>
            <a:r>
              <a:rPr lang="en-US" sz="2000"/>
              <a:t> is always directed toward </a:t>
            </a:r>
          </a:p>
          <a:p>
            <a:r>
              <a:rPr lang="en-US" sz="2000"/>
              <a:t>This is a restoring force! Take</a:t>
            </a:r>
          </a:p>
          <a:p>
            <a:endParaRPr lang="en-US" sz="2000"/>
          </a:p>
          <a:p>
            <a:r>
              <a:rPr lang="en-US" sz="2000"/>
              <a:t>Then the restoring force is</a:t>
            </a:r>
          </a:p>
          <a:p>
            <a:endParaRPr lang="en-US"/>
          </a:p>
        </p:txBody>
      </p:sp>
      <p:sp>
        <p:nvSpPr>
          <p:cNvPr id="230404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4051300"/>
            <a:ext cx="4038600" cy="20748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000"/>
              <a:t>If we restrict ourselves to small angles</a:t>
            </a:r>
          </a:p>
          <a:p>
            <a:pPr>
              <a:lnSpc>
                <a:spcPct val="90000"/>
              </a:lnSpc>
            </a:pPr>
            <a:endParaRPr lang="en-US" sz="2000"/>
          </a:p>
          <a:p>
            <a:pPr>
              <a:lnSpc>
                <a:spcPct val="90000"/>
              </a:lnSpc>
            </a:pPr>
            <a:endParaRPr lang="en-US" sz="2000"/>
          </a:p>
          <a:p>
            <a:pPr>
              <a:lnSpc>
                <a:spcPct val="90000"/>
              </a:lnSpc>
            </a:pPr>
            <a:endParaRPr lang="en-US" sz="2000"/>
          </a:p>
          <a:p>
            <a:pPr>
              <a:lnSpc>
                <a:spcPct val="90000"/>
              </a:lnSpc>
            </a:pPr>
            <a:r>
              <a:rPr lang="en-US" sz="2000"/>
              <a:t>Which looks familiar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6326188" y="1055688"/>
            <a:ext cx="2141537" cy="2781300"/>
            <a:chOff x="3766" y="847"/>
            <a:chExt cx="1349" cy="1752"/>
          </a:xfrm>
        </p:grpSpPr>
        <p:sp>
          <p:nvSpPr>
            <p:cNvPr id="230406" name="Rectangle 6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0407" name="Line 7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408" name="Arc 8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G0" fmla="+- 11259 0 0"/>
                <a:gd name="G1" fmla="+- 0 0 0"/>
                <a:gd name="G2" fmla="+- 21600 0 0"/>
                <a:gd name="T0" fmla="*/ 23777 w 23777"/>
                <a:gd name="T1" fmla="*/ 17603 h 21600"/>
                <a:gd name="T2" fmla="*/ 0 w 23777"/>
                <a:gd name="T3" fmla="*/ 18434 h 21600"/>
                <a:gd name="T4" fmla="*/ 11259 w 23777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0409" name="Oval 9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0410" name="Line 10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411" name="Line 11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412" name="Text Box 12"/>
            <p:cNvSpPr txBox="1">
              <a:spLocks noChangeArrowheads="1"/>
            </p:cNvSpPr>
            <p:nvPr/>
          </p:nvSpPr>
          <p:spPr bwMode="auto">
            <a:xfrm>
              <a:off x="4723" y="1367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rgbClr val="3366FF"/>
                  </a:solidFill>
                </a:rPr>
                <a:t>T</a:t>
              </a:r>
            </a:p>
          </p:txBody>
        </p:sp>
        <p:sp>
          <p:nvSpPr>
            <p:cNvPr id="230413" name="Text Box 13"/>
            <p:cNvSpPr txBox="1">
              <a:spLocks noChangeArrowheads="1"/>
            </p:cNvSpPr>
            <p:nvPr/>
          </p:nvSpPr>
          <p:spPr bwMode="auto">
            <a:xfrm>
              <a:off x="4879" y="1705"/>
              <a:ext cx="2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/>
                <a:t>m</a:t>
              </a:r>
            </a:p>
          </p:txBody>
        </p:sp>
        <p:sp>
          <p:nvSpPr>
            <p:cNvPr id="230414" name="Text Box 14"/>
            <p:cNvSpPr txBox="1">
              <a:spLocks noChangeArrowheads="1"/>
            </p:cNvSpPr>
            <p:nvPr/>
          </p:nvSpPr>
          <p:spPr bwMode="auto">
            <a:xfrm>
              <a:off x="4157" y="1414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L</a:t>
              </a:r>
            </a:p>
          </p:txBody>
        </p:sp>
        <p:sp>
          <p:nvSpPr>
            <p:cNvPr id="230415" name="Arc 15"/>
            <p:cNvSpPr>
              <a:spLocks/>
            </p:cNvSpPr>
            <p:nvPr/>
          </p:nvSpPr>
          <p:spPr bwMode="auto">
            <a:xfrm>
              <a:off x="4280" y="847"/>
              <a:ext cx="209" cy="493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5931 w 5931"/>
                <a:gd name="T1" fmla="*/ 20770 h 21538"/>
                <a:gd name="T2" fmla="*/ 1632 w 5931"/>
                <a:gd name="T3" fmla="*/ 21538 h 21538"/>
                <a:gd name="T4" fmla="*/ 0 w 5931"/>
                <a:gd name="T5" fmla="*/ 0 h 215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31" h="21538" fill="none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</a:path>
                <a:path w="5931" h="21538" stroke="0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0416" name="Text Box 16"/>
            <p:cNvSpPr txBox="1">
              <a:spLocks noChangeArrowheads="1"/>
            </p:cNvSpPr>
            <p:nvPr/>
          </p:nvSpPr>
          <p:spPr bwMode="auto">
            <a:xfrm>
              <a:off x="4331" y="1301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30417" name="Line 17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418" name="Text Box 18"/>
            <p:cNvSpPr txBox="1">
              <a:spLocks noChangeArrowheads="1"/>
            </p:cNvSpPr>
            <p:nvPr/>
          </p:nvSpPr>
          <p:spPr bwMode="auto">
            <a:xfrm>
              <a:off x="4627" y="2368"/>
              <a:ext cx="31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mg</a:t>
              </a:r>
            </a:p>
          </p:txBody>
        </p:sp>
        <p:sp>
          <p:nvSpPr>
            <p:cNvPr id="230419" name="Text Box 19"/>
            <p:cNvSpPr txBox="1">
              <a:spLocks noChangeArrowheads="1"/>
            </p:cNvSpPr>
            <p:nvPr/>
          </p:nvSpPr>
          <p:spPr bwMode="auto">
            <a:xfrm>
              <a:off x="4793" y="2009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30420" name="Arc 20"/>
            <p:cNvSpPr>
              <a:spLocks/>
            </p:cNvSpPr>
            <p:nvPr/>
          </p:nvSpPr>
          <p:spPr bwMode="auto">
            <a:xfrm>
              <a:off x="4699" y="1171"/>
              <a:ext cx="209" cy="877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4363 w 4363"/>
                <a:gd name="T1" fmla="*/ 21155 h 21538"/>
                <a:gd name="T2" fmla="*/ 1632 w 4363"/>
                <a:gd name="T3" fmla="*/ 21538 h 21538"/>
                <a:gd name="T4" fmla="*/ 0 w 4363"/>
                <a:gd name="T5" fmla="*/ 0 h 215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63" h="21538" fill="none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</a:path>
                <a:path w="4363" h="21538" stroke="0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0421" name="Line 21"/>
            <p:cNvSpPr>
              <a:spLocks noChangeShapeType="1"/>
            </p:cNvSpPr>
            <p:nvPr/>
          </p:nvSpPr>
          <p:spPr bwMode="auto">
            <a:xfrm>
              <a:off x="4872" y="1902"/>
              <a:ext cx="201" cy="385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422" name="Line 22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30423" name="Object 23"/>
          <p:cNvGraphicFramePr>
            <a:graphicFrameLocks noChangeAspect="1"/>
          </p:cNvGraphicFramePr>
          <p:nvPr/>
        </p:nvGraphicFramePr>
        <p:xfrm>
          <a:off x="1944688" y="3382963"/>
          <a:ext cx="747712" cy="296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23042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44688" y="3382963"/>
                        <a:ext cx="747712" cy="296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0424" name="Rectangle 24"/>
          <p:cNvSpPr>
            <a:spLocks noChangeArrowheads="1"/>
          </p:cNvSpPr>
          <p:nvPr/>
        </p:nvSpPr>
        <p:spPr bwMode="auto">
          <a:xfrm>
            <a:off x="0" y="27622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0425" name="Object 25"/>
          <p:cNvGraphicFramePr>
            <a:graphicFrameLocks noChangeAspect="1"/>
          </p:cNvGraphicFramePr>
          <p:nvPr/>
        </p:nvGraphicFramePr>
        <p:xfrm>
          <a:off x="1687513" y="4179888"/>
          <a:ext cx="1314450" cy="151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600" imgH="1079280" progId="Equation.3">
                  <p:embed/>
                </p:oleObj>
              </mc:Choice>
              <mc:Fallback>
                <p:oleObj name="Equation" r:id="rId4" imgW="939600" imgH="1079280" progId="Equation.3">
                  <p:embed/>
                  <p:pic>
                    <p:nvPicPr>
                      <p:cNvPr id="23042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7513" y="4179888"/>
                        <a:ext cx="1314450" cy="1517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6"/>
          <p:cNvGrpSpPr>
            <a:grpSpLocks/>
          </p:cNvGrpSpPr>
          <p:nvPr/>
        </p:nvGrpSpPr>
        <p:grpSpPr bwMode="auto">
          <a:xfrm>
            <a:off x="0" y="2881313"/>
            <a:ext cx="9144000" cy="366712"/>
            <a:chOff x="0" y="1815"/>
            <a:chExt cx="5760" cy="231"/>
          </a:xfrm>
        </p:grpSpPr>
        <p:sp>
          <p:nvSpPr>
            <p:cNvPr id="230427" name="Text Box 27"/>
            <p:cNvSpPr txBox="1">
              <a:spLocks noChangeArrowheads="1"/>
            </p:cNvSpPr>
            <p:nvPr/>
          </p:nvSpPr>
          <p:spPr bwMode="auto">
            <a:xfrm>
              <a:off x="4031" y="1815"/>
              <a:ext cx="188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s</a:t>
              </a:r>
            </a:p>
          </p:txBody>
        </p:sp>
        <p:sp>
          <p:nvSpPr>
            <p:cNvPr id="230428" name="Rectangle 28"/>
            <p:cNvSpPr>
              <a:spLocks noChangeArrowheads="1"/>
            </p:cNvSpPr>
            <p:nvPr/>
          </p:nvSpPr>
          <p:spPr bwMode="auto">
            <a:xfrm>
              <a:off x="0" y="1974"/>
              <a:ext cx="5760" cy="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230429" name="Object 29"/>
          <p:cNvGraphicFramePr>
            <a:graphicFrameLocks noChangeAspect="1"/>
          </p:cNvGraphicFramePr>
          <p:nvPr/>
        </p:nvGraphicFramePr>
        <p:xfrm>
          <a:off x="5972175" y="3524250"/>
          <a:ext cx="1155700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90360" imgH="419040" progId="Equation.3">
                  <p:embed/>
                </p:oleObj>
              </mc:Choice>
              <mc:Fallback>
                <p:oleObj name="Equation" r:id="rId6" imgW="990360" imgH="419040" progId="Equation.3">
                  <p:embed/>
                  <p:pic>
                    <p:nvPicPr>
                      <p:cNvPr id="230429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72175" y="3524250"/>
                        <a:ext cx="1155700" cy="492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0430" name="Rectangle 30"/>
          <p:cNvSpPr>
            <a:spLocks noChangeArrowheads="1"/>
          </p:cNvSpPr>
          <p:nvPr/>
        </p:nvSpPr>
        <p:spPr bwMode="auto">
          <a:xfrm>
            <a:off x="0" y="33194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0431" name="Object 31"/>
          <p:cNvGraphicFramePr>
            <a:graphicFrameLocks noChangeAspect="1"/>
          </p:cNvGraphicFramePr>
          <p:nvPr/>
        </p:nvGraphicFramePr>
        <p:xfrm>
          <a:off x="5935663" y="4321175"/>
          <a:ext cx="1077912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15806" progId="Equation.3">
                  <p:embed/>
                </p:oleObj>
              </mc:Choice>
              <mc:Fallback>
                <p:oleObj name="Equation" r:id="rId8" imgW="647419" imgH="215806" progId="Equation.3">
                  <p:embed/>
                  <p:pic>
                    <p:nvPicPr>
                      <p:cNvPr id="23043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35663" y="4321175"/>
                        <a:ext cx="1077912" cy="365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0432" name="Rectangle 32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0433" name="Object 33"/>
          <p:cNvGraphicFramePr>
            <a:graphicFrameLocks noChangeAspect="1"/>
          </p:cNvGraphicFramePr>
          <p:nvPr/>
        </p:nvGraphicFramePr>
        <p:xfrm>
          <a:off x="6081713" y="4772025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00100" imgH="419100" progId="Equation.3">
                  <p:embed/>
                </p:oleObj>
              </mc:Choice>
              <mc:Fallback>
                <p:oleObj name="Equation" r:id="rId10" imgW="800100" imgH="419100" progId="Equation.3">
                  <p:embed/>
                  <p:pic>
                    <p:nvPicPr>
                      <p:cNvPr id="23043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1713" y="4772025"/>
                        <a:ext cx="1411287" cy="738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Pendulum</a:t>
            </a:r>
          </a:p>
        </p:txBody>
      </p:sp>
      <p:sp>
        <p:nvSpPr>
          <p:cNvPr id="23142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730375"/>
            <a:ext cx="4038600" cy="4395788"/>
          </a:xfrm>
        </p:spPr>
        <p:txBody>
          <a:bodyPr/>
          <a:lstStyle/>
          <a:p>
            <a:r>
              <a:rPr lang="en-US"/>
              <a:t>SHM Problem</a:t>
            </a:r>
          </a:p>
        </p:txBody>
      </p:sp>
      <p:sp>
        <p:nvSpPr>
          <p:cNvPr id="231428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4243388"/>
            <a:ext cx="4038600" cy="1882775"/>
          </a:xfrm>
        </p:spPr>
        <p:txBody>
          <a:bodyPr/>
          <a:lstStyle/>
          <a:p>
            <a:r>
              <a:rPr lang="en-US"/>
              <a:t>Solution</a:t>
            </a:r>
          </a:p>
        </p:txBody>
      </p:sp>
      <p:graphicFrame>
        <p:nvGraphicFramePr>
          <p:cNvPr id="231429" name="Object 5"/>
          <p:cNvGraphicFramePr>
            <a:graphicFrameLocks noChangeAspect="1"/>
          </p:cNvGraphicFramePr>
          <p:nvPr/>
        </p:nvGraphicFramePr>
        <p:xfrm>
          <a:off x="5100638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23142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0638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430" name="Object 6"/>
          <p:cNvGraphicFramePr>
            <a:graphicFrameLocks noChangeAspect="1"/>
          </p:cNvGraphicFramePr>
          <p:nvPr/>
        </p:nvGraphicFramePr>
        <p:xfrm>
          <a:off x="1379538" y="2667000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23143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9538" y="2667000"/>
                        <a:ext cx="1411287" cy="738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1431" name="Rectangle 7"/>
          <p:cNvSpPr>
            <a:spLocks noChangeArrowheads="1"/>
          </p:cNvSpPr>
          <p:nvPr/>
        </p:nvSpPr>
        <p:spPr bwMode="auto">
          <a:xfrm>
            <a:off x="0" y="31670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1432" name="Object 8"/>
          <p:cNvGraphicFramePr>
            <a:graphicFrameLocks noChangeAspect="1"/>
          </p:cNvGraphicFramePr>
          <p:nvPr/>
        </p:nvGraphicFramePr>
        <p:xfrm>
          <a:off x="1668463" y="3884613"/>
          <a:ext cx="900112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23143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8463" y="3884613"/>
                        <a:ext cx="900112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433" name="Object 9"/>
          <p:cNvGraphicFramePr>
            <a:graphicFrameLocks noChangeAspect="1"/>
          </p:cNvGraphicFramePr>
          <p:nvPr/>
        </p:nvGraphicFramePr>
        <p:xfrm>
          <a:off x="1463675" y="5111750"/>
          <a:ext cx="1208088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500" imgH="469900" progId="Equation.3">
                  <p:embed/>
                </p:oleObj>
              </mc:Choice>
              <mc:Fallback>
                <p:oleObj name="Equation" r:id="rId8" imgW="1079500" imgH="469900" progId="Equation.3">
                  <p:embed/>
                  <p:pic>
                    <p:nvPicPr>
                      <p:cNvPr id="23143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63675" y="5111750"/>
                        <a:ext cx="1208088" cy="523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6035675" y="1504950"/>
            <a:ext cx="2141538" cy="2781300"/>
            <a:chOff x="3766" y="847"/>
            <a:chExt cx="1349" cy="1752"/>
          </a:xfrm>
        </p:grpSpPr>
        <p:sp>
          <p:nvSpPr>
            <p:cNvPr id="231435" name="Rectangle 11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1436" name="Line 12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437" name="Arc 13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G0" fmla="+- 11259 0 0"/>
                <a:gd name="G1" fmla="+- 0 0 0"/>
                <a:gd name="G2" fmla="+- 21600 0 0"/>
                <a:gd name="T0" fmla="*/ 23777 w 23777"/>
                <a:gd name="T1" fmla="*/ 17603 h 21600"/>
                <a:gd name="T2" fmla="*/ 0 w 23777"/>
                <a:gd name="T3" fmla="*/ 18434 h 21600"/>
                <a:gd name="T4" fmla="*/ 11259 w 23777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1438" name="Oval 14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1439" name="Line 15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440" name="Line 16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441" name="Text Box 17"/>
            <p:cNvSpPr txBox="1">
              <a:spLocks noChangeArrowheads="1"/>
            </p:cNvSpPr>
            <p:nvPr/>
          </p:nvSpPr>
          <p:spPr bwMode="auto">
            <a:xfrm>
              <a:off x="4723" y="1367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rgbClr val="3366FF"/>
                  </a:solidFill>
                </a:rPr>
                <a:t>T</a:t>
              </a:r>
            </a:p>
          </p:txBody>
        </p:sp>
        <p:sp>
          <p:nvSpPr>
            <p:cNvPr id="231442" name="Text Box 18"/>
            <p:cNvSpPr txBox="1">
              <a:spLocks noChangeArrowheads="1"/>
            </p:cNvSpPr>
            <p:nvPr/>
          </p:nvSpPr>
          <p:spPr bwMode="auto">
            <a:xfrm>
              <a:off x="4879" y="1705"/>
              <a:ext cx="2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/>
                <a:t>m</a:t>
              </a:r>
            </a:p>
          </p:txBody>
        </p:sp>
        <p:sp>
          <p:nvSpPr>
            <p:cNvPr id="231443" name="Text Box 19"/>
            <p:cNvSpPr txBox="1">
              <a:spLocks noChangeArrowheads="1"/>
            </p:cNvSpPr>
            <p:nvPr/>
          </p:nvSpPr>
          <p:spPr bwMode="auto">
            <a:xfrm>
              <a:off x="4157" y="1414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L</a:t>
              </a:r>
            </a:p>
          </p:txBody>
        </p:sp>
        <p:sp>
          <p:nvSpPr>
            <p:cNvPr id="231444" name="Arc 20"/>
            <p:cNvSpPr>
              <a:spLocks/>
            </p:cNvSpPr>
            <p:nvPr/>
          </p:nvSpPr>
          <p:spPr bwMode="auto">
            <a:xfrm>
              <a:off x="4280" y="847"/>
              <a:ext cx="209" cy="493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5931 w 5931"/>
                <a:gd name="T1" fmla="*/ 20770 h 21538"/>
                <a:gd name="T2" fmla="*/ 1632 w 5931"/>
                <a:gd name="T3" fmla="*/ 21538 h 21538"/>
                <a:gd name="T4" fmla="*/ 0 w 5931"/>
                <a:gd name="T5" fmla="*/ 0 h 215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31" h="21538" fill="none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</a:path>
                <a:path w="5931" h="21538" stroke="0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1445" name="Text Box 21"/>
            <p:cNvSpPr txBox="1">
              <a:spLocks noChangeArrowheads="1"/>
            </p:cNvSpPr>
            <p:nvPr/>
          </p:nvSpPr>
          <p:spPr bwMode="auto">
            <a:xfrm>
              <a:off x="4331" y="1301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31446" name="Line 22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447" name="Text Box 23"/>
            <p:cNvSpPr txBox="1">
              <a:spLocks noChangeArrowheads="1"/>
            </p:cNvSpPr>
            <p:nvPr/>
          </p:nvSpPr>
          <p:spPr bwMode="auto">
            <a:xfrm>
              <a:off x="4627" y="2368"/>
              <a:ext cx="31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mg</a:t>
              </a:r>
            </a:p>
          </p:txBody>
        </p:sp>
        <p:sp>
          <p:nvSpPr>
            <p:cNvPr id="231448" name="Text Box 24"/>
            <p:cNvSpPr txBox="1">
              <a:spLocks noChangeArrowheads="1"/>
            </p:cNvSpPr>
            <p:nvPr/>
          </p:nvSpPr>
          <p:spPr bwMode="auto">
            <a:xfrm>
              <a:off x="4793" y="2009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31449" name="Arc 25"/>
            <p:cNvSpPr>
              <a:spLocks/>
            </p:cNvSpPr>
            <p:nvPr/>
          </p:nvSpPr>
          <p:spPr bwMode="auto">
            <a:xfrm>
              <a:off x="4699" y="1171"/>
              <a:ext cx="209" cy="877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4363 w 4363"/>
                <a:gd name="T1" fmla="*/ 21155 h 21538"/>
                <a:gd name="T2" fmla="*/ 1632 w 4363"/>
                <a:gd name="T3" fmla="*/ 21538 h 21538"/>
                <a:gd name="T4" fmla="*/ 0 w 4363"/>
                <a:gd name="T5" fmla="*/ 0 h 215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63" h="21538" fill="none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</a:path>
                <a:path w="4363" h="21538" stroke="0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1450" name="Line 26"/>
            <p:cNvSpPr>
              <a:spLocks noChangeShapeType="1"/>
            </p:cNvSpPr>
            <p:nvPr/>
          </p:nvSpPr>
          <p:spPr bwMode="auto">
            <a:xfrm>
              <a:off x="4872" y="1902"/>
              <a:ext cx="201" cy="385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451" name="Line 27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106B2-F06F-173B-A738-836F860B3E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5D3AB-1A38-9156-6A0D-DD4F5E13E1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256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Physical Pendulum</a:t>
            </a:r>
          </a:p>
        </p:txBody>
      </p:sp>
      <p:sp>
        <p:nvSpPr>
          <p:cNvPr id="232451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1800"/>
              <a:t>Suppose we build a pendulum by making a large solid object swing from one point.</a:t>
            </a:r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Restoring force 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Remember that</a:t>
            </a:r>
          </a:p>
          <a:p>
            <a:endParaRPr lang="en-US" sz="1800"/>
          </a:p>
        </p:txBody>
      </p:sp>
      <p:sp>
        <p:nvSpPr>
          <p:cNvPr id="232452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3617913"/>
            <a:ext cx="4038600" cy="2508250"/>
          </a:xfrm>
        </p:spPr>
        <p:txBody>
          <a:bodyPr>
            <a:normAutofit lnSpcReduction="10000"/>
          </a:bodyPr>
          <a:lstStyle/>
          <a:p>
            <a:r>
              <a:rPr lang="en-US" sz="2000"/>
              <a:t>Then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Or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Another familiar differential EQ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127375" y="2357438"/>
            <a:ext cx="763588" cy="725487"/>
            <a:chOff x="1271" y="2002"/>
            <a:chExt cx="1034" cy="1152"/>
          </a:xfrm>
        </p:grpSpPr>
        <p:sp>
          <p:nvSpPr>
            <p:cNvPr id="232454" name="AutoShape 6"/>
            <p:cNvSpPr>
              <a:spLocks noChangeArrowheads="1"/>
            </p:cNvSpPr>
            <p:nvPr/>
          </p:nvSpPr>
          <p:spPr bwMode="auto">
            <a:xfrm rot="-1215304">
              <a:off x="1271" y="2002"/>
              <a:ext cx="539" cy="1152"/>
            </a:xfrm>
            <a:prstGeom prst="flowChartManualInpu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2455" name="Oval 7"/>
            <p:cNvSpPr>
              <a:spLocks noChangeArrowheads="1"/>
            </p:cNvSpPr>
            <p:nvPr/>
          </p:nvSpPr>
          <p:spPr bwMode="auto">
            <a:xfrm>
              <a:off x="1536" y="268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2456" name="Oval 8"/>
            <p:cNvSpPr>
              <a:spLocks noChangeArrowheads="1"/>
            </p:cNvSpPr>
            <p:nvPr/>
          </p:nvSpPr>
          <p:spPr bwMode="auto">
            <a:xfrm>
              <a:off x="1531" y="2152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2457" name="Text Box 9"/>
            <p:cNvSpPr txBox="1">
              <a:spLocks noChangeArrowheads="1"/>
            </p:cNvSpPr>
            <p:nvPr/>
          </p:nvSpPr>
          <p:spPr bwMode="auto">
            <a:xfrm>
              <a:off x="1598" y="2718"/>
              <a:ext cx="518" cy="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CM</a:t>
              </a:r>
            </a:p>
          </p:txBody>
        </p:sp>
        <p:sp>
          <p:nvSpPr>
            <p:cNvPr id="232458" name="Text Box 10"/>
            <p:cNvSpPr txBox="1">
              <a:spLocks noChangeArrowheads="1"/>
            </p:cNvSpPr>
            <p:nvPr/>
          </p:nvSpPr>
          <p:spPr bwMode="auto">
            <a:xfrm>
              <a:off x="1675" y="2136"/>
              <a:ext cx="630" cy="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Pivot</a:t>
              </a:r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6435725" y="1330325"/>
            <a:ext cx="1828800" cy="2239963"/>
            <a:chOff x="2061" y="1963"/>
            <a:chExt cx="1152" cy="1411"/>
          </a:xfrm>
        </p:grpSpPr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232461" name="AutoShape 13"/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32462" name="Oval 14"/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32463" name="Oval 15"/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32464" name="Text Box 16"/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CM</a:t>
              </a:r>
            </a:p>
          </p:txBody>
        </p:sp>
        <p:sp>
          <p:nvSpPr>
            <p:cNvPr id="232465" name="Text Box 17"/>
            <p:cNvSpPr txBox="1">
              <a:spLocks noChangeArrowheads="1"/>
            </p:cNvSpPr>
            <p:nvPr/>
          </p:nvSpPr>
          <p:spPr bwMode="auto">
            <a:xfrm>
              <a:off x="2593" y="1974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Pivot</a:t>
              </a:r>
            </a:p>
          </p:txBody>
        </p:sp>
        <p:sp>
          <p:nvSpPr>
            <p:cNvPr id="232466" name="Line 18"/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467" name="Line 19"/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468" name="Text Box 20"/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232469" name="Line 21"/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470" name="Text Box 22"/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 i="1"/>
                <a:t>d</a:t>
              </a:r>
            </a:p>
          </p:txBody>
        </p:sp>
        <p:sp>
          <p:nvSpPr>
            <p:cNvPr id="232471" name="Text Box 23"/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232472" name="Line 24"/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473" name="Text Box 25"/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o</a:t>
              </a:r>
            </a:p>
          </p:txBody>
        </p:sp>
        <p:sp>
          <p:nvSpPr>
            <p:cNvPr id="232474" name="Text Box 26"/>
            <p:cNvSpPr txBox="1">
              <a:spLocks noChangeArrowheads="1"/>
            </p:cNvSpPr>
            <p:nvPr/>
          </p:nvSpPr>
          <p:spPr bwMode="auto">
            <a:xfrm>
              <a:off x="2730" y="3143"/>
              <a:ext cx="25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g</a:t>
              </a:r>
            </a:p>
          </p:txBody>
        </p:sp>
        <p:sp>
          <p:nvSpPr>
            <p:cNvPr id="232475" name="Arc 27"/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G0" fmla="+- 14928 0 0"/>
                <a:gd name="G1" fmla="+- 0 0 0"/>
                <a:gd name="G2" fmla="+- 21600 0 0"/>
                <a:gd name="T0" fmla="*/ 27446 w 27446"/>
                <a:gd name="T1" fmla="*/ 17603 h 21600"/>
                <a:gd name="T2" fmla="*/ 0 w 27446"/>
                <a:gd name="T3" fmla="*/ 15611 h 21600"/>
                <a:gd name="T4" fmla="*/ 14928 w 27446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32476" name="Rectangle 2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2477" name="Object 29"/>
          <p:cNvGraphicFramePr>
            <a:graphicFrameLocks noChangeAspect="1"/>
          </p:cNvGraphicFramePr>
          <p:nvPr/>
        </p:nvGraphicFramePr>
        <p:xfrm>
          <a:off x="2016125" y="3517900"/>
          <a:ext cx="1341438" cy="1330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200" imgH="939600" progId="Equation.3">
                  <p:embed/>
                </p:oleObj>
              </mc:Choice>
              <mc:Fallback>
                <p:oleObj name="Equation" r:id="rId2" imgW="952200" imgH="939600" progId="Equation.3">
                  <p:embed/>
                  <p:pic>
                    <p:nvPicPr>
                      <p:cNvPr id="23247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16125" y="3517900"/>
                        <a:ext cx="1341438" cy="1330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2478" name="Rectangle 30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2479" name="Object 31"/>
          <p:cNvGraphicFramePr>
            <a:graphicFrameLocks noChangeAspect="1"/>
          </p:cNvGraphicFramePr>
          <p:nvPr/>
        </p:nvGraphicFramePr>
        <p:xfrm>
          <a:off x="1203325" y="5586413"/>
          <a:ext cx="1146175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419100" progId="Equation.3">
                  <p:embed/>
                </p:oleObj>
              </mc:Choice>
              <mc:Fallback>
                <p:oleObj name="Equation" r:id="rId4" imgW="914400" imgH="419100" progId="Equation.3">
                  <p:embed/>
                  <p:pic>
                    <p:nvPicPr>
                      <p:cNvPr id="2324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3325" y="5586413"/>
                        <a:ext cx="1146175" cy="5254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2480" name="Rectangle 32"/>
          <p:cNvSpPr>
            <a:spLocks noChangeArrowheads="1"/>
          </p:cNvSpPr>
          <p:nvPr/>
        </p:nvSpPr>
        <p:spPr bwMode="auto">
          <a:xfrm>
            <a:off x="0" y="33385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2481" name="Object 33"/>
          <p:cNvGraphicFramePr>
            <a:graphicFrameLocks noChangeAspect="1"/>
          </p:cNvGraphicFramePr>
          <p:nvPr/>
        </p:nvGraphicFramePr>
        <p:xfrm>
          <a:off x="5922963" y="3644900"/>
          <a:ext cx="1055687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58558" imgH="177723" progId="Equation.3">
                  <p:embed/>
                </p:oleObj>
              </mc:Choice>
              <mc:Fallback>
                <p:oleObj name="Equation" r:id="rId6" imgW="558558" imgH="177723" progId="Equation.3">
                  <p:embed/>
                  <p:pic>
                    <p:nvPicPr>
                      <p:cNvPr id="23248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22963" y="3644900"/>
                        <a:ext cx="1055687" cy="339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2482" name="Rectangle 34"/>
          <p:cNvSpPr>
            <a:spLocks noChangeArrowheads="1"/>
          </p:cNvSpPr>
          <p:nvPr/>
        </p:nvSpPr>
        <p:spPr bwMode="auto">
          <a:xfrm>
            <a:off x="0" y="31337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2483" name="Object 35"/>
          <p:cNvGraphicFramePr>
            <a:graphicFrameLocks noChangeAspect="1"/>
          </p:cNvGraphicFramePr>
          <p:nvPr/>
        </p:nvGraphicFramePr>
        <p:xfrm>
          <a:off x="6088063" y="4281488"/>
          <a:ext cx="131921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44520" imgH="419040" progId="Equation.3">
                  <p:embed/>
                </p:oleObj>
              </mc:Choice>
              <mc:Fallback>
                <p:oleObj name="Equation" r:id="rId8" imgW="1244520" imgH="419040" progId="Equation.3">
                  <p:embed/>
                  <p:pic>
                    <p:nvPicPr>
                      <p:cNvPr id="232483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8063" y="4281488"/>
                        <a:ext cx="1319212" cy="447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2484" name="Rectangle 36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2485" name="Object 37"/>
          <p:cNvGraphicFramePr>
            <a:graphicFrameLocks noChangeAspect="1"/>
          </p:cNvGraphicFramePr>
          <p:nvPr/>
        </p:nvGraphicFramePr>
        <p:xfrm>
          <a:off x="5905500" y="5162550"/>
          <a:ext cx="1358900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900" imgH="419100" progId="Equation.3">
                  <p:embed/>
                </p:oleObj>
              </mc:Choice>
              <mc:Fallback>
                <p:oleObj name="Equation" r:id="rId10" imgW="977900" imgH="419100" progId="Equation.3">
                  <p:embed/>
                  <p:pic>
                    <p:nvPicPr>
                      <p:cNvPr id="23248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05500" y="5162550"/>
                        <a:ext cx="1358900" cy="581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Physical Pendulum</a:t>
            </a:r>
          </a:p>
        </p:txBody>
      </p:sp>
      <p:sp>
        <p:nvSpPr>
          <p:cNvPr id="23347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730375"/>
            <a:ext cx="4038600" cy="4395788"/>
          </a:xfrm>
        </p:spPr>
        <p:txBody>
          <a:bodyPr/>
          <a:lstStyle/>
          <a:p>
            <a:r>
              <a:rPr lang="en-US"/>
              <a:t>SHM Problem</a:t>
            </a:r>
          </a:p>
        </p:txBody>
      </p:sp>
      <p:sp>
        <p:nvSpPr>
          <p:cNvPr id="233476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4243388"/>
            <a:ext cx="4038600" cy="1882775"/>
          </a:xfrm>
        </p:spPr>
        <p:txBody>
          <a:bodyPr/>
          <a:lstStyle/>
          <a:p>
            <a:r>
              <a:rPr lang="en-US"/>
              <a:t>Solution</a:t>
            </a:r>
          </a:p>
        </p:txBody>
      </p:sp>
      <p:graphicFrame>
        <p:nvGraphicFramePr>
          <p:cNvPr id="233477" name="Object 5"/>
          <p:cNvGraphicFramePr>
            <a:graphicFrameLocks noChangeAspect="1"/>
          </p:cNvGraphicFramePr>
          <p:nvPr/>
        </p:nvGraphicFramePr>
        <p:xfrm>
          <a:off x="5100638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23347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0638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202363" y="1635125"/>
            <a:ext cx="1828800" cy="2239963"/>
            <a:chOff x="2061" y="1963"/>
            <a:chExt cx="1152" cy="1411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233480" name="AutoShape 8"/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33481" name="Oval 9"/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33482" name="Oval 10"/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33483" name="Text Box 11"/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CM</a:t>
              </a:r>
            </a:p>
          </p:txBody>
        </p:sp>
        <p:sp>
          <p:nvSpPr>
            <p:cNvPr id="233484" name="Text Box 12"/>
            <p:cNvSpPr txBox="1">
              <a:spLocks noChangeArrowheads="1"/>
            </p:cNvSpPr>
            <p:nvPr/>
          </p:nvSpPr>
          <p:spPr bwMode="auto">
            <a:xfrm>
              <a:off x="2593" y="1974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Pivot</a:t>
              </a:r>
            </a:p>
          </p:txBody>
        </p:sp>
        <p:sp>
          <p:nvSpPr>
            <p:cNvPr id="233485" name="Line 13"/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486" name="Line 14"/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487" name="Text Box 15"/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233488" name="Line 16"/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489" name="Text Box 17"/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 i="1"/>
                <a:t>d</a:t>
              </a:r>
            </a:p>
          </p:txBody>
        </p:sp>
        <p:sp>
          <p:nvSpPr>
            <p:cNvPr id="233490" name="Text Box 18"/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233491" name="Line 19"/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492" name="Text Box 20"/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o</a:t>
              </a:r>
            </a:p>
          </p:txBody>
        </p:sp>
        <p:sp>
          <p:nvSpPr>
            <p:cNvPr id="233493" name="Text Box 21"/>
            <p:cNvSpPr txBox="1">
              <a:spLocks noChangeArrowheads="1"/>
            </p:cNvSpPr>
            <p:nvPr/>
          </p:nvSpPr>
          <p:spPr bwMode="auto">
            <a:xfrm>
              <a:off x="2730" y="3143"/>
              <a:ext cx="25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g</a:t>
              </a:r>
            </a:p>
          </p:txBody>
        </p:sp>
        <p:sp>
          <p:nvSpPr>
            <p:cNvPr id="233494" name="Arc 22"/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G0" fmla="+- 14928 0 0"/>
                <a:gd name="G1" fmla="+- 0 0 0"/>
                <a:gd name="G2" fmla="+- 21600 0 0"/>
                <a:gd name="T0" fmla="*/ 27446 w 27446"/>
                <a:gd name="T1" fmla="*/ 17603 h 21600"/>
                <a:gd name="T2" fmla="*/ 0 w 27446"/>
                <a:gd name="T3" fmla="*/ 15611 h 21600"/>
                <a:gd name="T4" fmla="*/ 14928 w 27446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233495" name="Object 23"/>
          <p:cNvGraphicFramePr>
            <a:graphicFrameLocks noChangeAspect="1"/>
          </p:cNvGraphicFramePr>
          <p:nvPr/>
        </p:nvGraphicFramePr>
        <p:xfrm>
          <a:off x="1189038" y="2405063"/>
          <a:ext cx="1606550" cy="687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77900" imgH="419100" progId="Equation.3">
                  <p:embed/>
                </p:oleObj>
              </mc:Choice>
              <mc:Fallback>
                <p:oleObj name="Equation" r:id="rId4" imgW="977900" imgH="419100" progId="Equation.3">
                  <p:embed/>
                  <p:pic>
                    <p:nvPicPr>
                      <p:cNvPr id="233495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9038" y="2405063"/>
                        <a:ext cx="1606550" cy="687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3496" name="Rectangle 24"/>
          <p:cNvSpPr>
            <a:spLocks noChangeArrowheads="1"/>
          </p:cNvSpPr>
          <p:nvPr/>
        </p:nvSpPr>
        <p:spPr bwMode="auto">
          <a:xfrm>
            <a:off x="0" y="31480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3497" name="Object 25"/>
          <p:cNvGraphicFramePr>
            <a:graphicFrameLocks noChangeAspect="1"/>
          </p:cNvGraphicFramePr>
          <p:nvPr/>
        </p:nvGraphicFramePr>
        <p:xfrm>
          <a:off x="1397000" y="3538538"/>
          <a:ext cx="116681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393480" progId="Equation.3">
                  <p:embed/>
                </p:oleObj>
              </mc:Choice>
              <mc:Fallback>
                <p:oleObj name="Equation" r:id="rId6" imgW="672840" imgH="393480" progId="Equation.3">
                  <p:embed/>
                  <p:pic>
                    <p:nvPicPr>
                      <p:cNvPr id="233497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7000" y="3538538"/>
                        <a:ext cx="1166813" cy="676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3498" name="Rectangle 26"/>
          <p:cNvSpPr>
            <a:spLocks noChangeArrowheads="1"/>
          </p:cNvSpPr>
          <p:nvPr/>
        </p:nvSpPr>
        <p:spPr bwMode="auto">
          <a:xfrm>
            <a:off x="0" y="319563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3499" name="Object 27"/>
          <p:cNvGraphicFramePr>
            <a:graphicFrameLocks noChangeAspect="1"/>
          </p:cNvGraphicFramePr>
          <p:nvPr/>
        </p:nvGraphicFramePr>
        <p:xfrm>
          <a:off x="1247775" y="4589463"/>
          <a:ext cx="1609725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01309" imgH="469696" progId="Equation.3">
                  <p:embed/>
                </p:oleObj>
              </mc:Choice>
              <mc:Fallback>
                <p:oleObj name="Equation" r:id="rId8" imgW="901309" imgH="469696" progId="Equation.3">
                  <p:embed/>
                  <p:pic>
                    <p:nvPicPr>
                      <p:cNvPr id="23349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7775" y="4589463"/>
                        <a:ext cx="1609725" cy="830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Torsional Pendulum</a:t>
            </a:r>
          </a:p>
        </p:txBody>
      </p:sp>
      <p:sp>
        <p:nvSpPr>
          <p:cNvPr id="234499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sz="1800"/>
              <a:t>A torsional pendulum is made by suspending a rigid body from a wire. The body rotates. </a:t>
            </a:r>
          </a:p>
          <a:p>
            <a:pPr>
              <a:lnSpc>
                <a:spcPct val="90000"/>
              </a:lnSpc>
            </a:pPr>
            <a:r>
              <a:rPr lang="en-US" sz="1800"/>
              <a:t>twisted wire exerts a restoring torque on the body that is proportional to the angular position (sound familiar) </a:t>
            </a:r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r>
              <a:rPr lang="en-US" sz="1800"/>
              <a:t>Rotational version of Newton’s 2</a:t>
            </a:r>
            <a:r>
              <a:rPr lang="en-US" sz="1800" baseline="30000"/>
              <a:t>nd</a:t>
            </a:r>
            <a:r>
              <a:rPr lang="en-US" sz="1800"/>
              <a:t> Law</a:t>
            </a:r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endParaRPr lang="en-US" sz="1800"/>
          </a:p>
          <a:p>
            <a:pPr>
              <a:lnSpc>
                <a:spcPct val="90000"/>
              </a:lnSpc>
            </a:pPr>
            <a:endParaRPr lang="en-US" sz="1800"/>
          </a:p>
        </p:txBody>
      </p:sp>
      <p:sp>
        <p:nvSpPr>
          <p:cNvPr id="234500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4081463"/>
            <a:ext cx="4038600" cy="2044700"/>
          </a:xfrm>
        </p:spPr>
        <p:txBody>
          <a:bodyPr/>
          <a:lstStyle/>
          <a:p>
            <a:r>
              <a:rPr lang="en-US" sz="1800"/>
              <a:t>Then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6719888" y="1597025"/>
            <a:ext cx="1814512" cy="2770188"/>
            <a:chOff x="1892" y="1398"/>
            <a:chExt cx="1143" cy="1745"/>
          </a:xfrm>
        </p:grpSpPr>
        <p:sp>
          <p:nvSpPr>
            <p:cNvPr id="234502" name="Oval 6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03" name="Oval 7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04" name="Line 8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505" name="Line 9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06" name="Text Box 10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234507" name="Oval 11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08" name="Line 12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09" name="Line 13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4510" name="Rectangle 14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34511" name="Rectangle 15"/>
          <p:cNvSpPr>
            <a:spLocks noChangeArrowheads="1"/>
          </p:cNvSpPr>
          <p:nvPr/>
        </p:nvSpPr>
        <p:spPr bwMode="auto">
          <a:xfrm>
            <a:off x="0" y="33385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4512" name="Object 16"/>
          <p:cNvGraphicFramePr>
            <a:graphicFrameLocks noChangeAspect="1"/>
          </p:cNvGraphicFramePr>
          <p:nvPr/>
        </p:nvGraphicFramePr>
        <p:xfrm>
          <a:off x="2265363" y="3513138"/>
          <a:ext cx="1114425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2937" imgH="177646" progId="Equation.3">
                  <p:embed/>
                </p:oleObj>
              </mc:Choice>
              <mc:Fallback>
                <p:oleObj name="Equation" r:id="rId2" imgW="532937" imgH="177646" progId="Equation.3">
                  <p:embed/>
                  <p:pic>
                    <p:nvPicPr>
                      <p:cNvPr id="234512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5363" y="3513138"/>
                        <a:ext cx="1114425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4513" name="Rectangle 17"/>
          <p:cNvSpPr>
            <a:spLocks noChangeArrowheads="1"/>
          </p:cNvSpPr>
          <p:nvPr/>
        </p:nvSpPr>
        <p:spPr bwMode="auto">
          <a:xfrm>
            <a:off x="0" y="31099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4514" name="Object 18"/>
          <p:cNvGraphicFramePr>
            <a:graphicFrameLocks noChangeAspect="1"/>
          </p:cNvGraphicFramePr>
          <p:nvPr/>
        </p:nvGraphicFramePr>
        <p:xfrm>
          <a:off x="2249488" y="4460875"/>
          <a:ext cx="1390650" cy="1179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48975" imgH="634725" progId="Equation.3">
                  <p:embed/>
                </p:oleObj>
              </mc:Choice>
              <mc:Fallback>
                <p:oleObj r:id="rId4" imgW="748975" imgH="634725" progId="Equation.3">
                  <p:embed/>
                  <p:pic>
                    <p:nvPicPr>
                      <p:cNvPr id="234514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49488" y="4460875"/>
                        <a:ext cx="1390650" cy="1179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4515" name="Rectangle 19"/>
          <p:cNvSpPr>
            <a:spLocks noChangeArrowheads="1"/>
          </p:cNvSpPr>
          <p:nvPr/>
        </p:nvSpPr>
        <p:spPr bwMode="auto">
          <a:xfrm>
            <a:off x="433388" y="6010275"/>
            <a:ext cx="8334375" cy="2841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/>
              <a:t>Physics majors and those taking PH 220 in the future, you will see a torsional pendulum again!</a:t>
            </a:r>
          </a:p>
        </p:txBody>
      </p:sp>
      <p:sp>
        <p:nvSpPr>
          <p:cNvPr id="234516" name="Rectangle 20"/>
          <p:cNvSpPr>
            <a:spLocks noChangeArrowheads="1"/>
          </p:cNvSpPr>
          <p:nvPr/>
        </p:nvSpPr>
        <p:spPr bwMode="auto">
          <a:xfrm>
            <a:off x="0" y="30099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4517" name="Object 21"/>
          <p:cNvGraphicFramePr>
            <a:graphicFrameLocks noChangeAspect="1"/>
          </p:cNvGraphicFramePr>
          <p:nvPr/>
        </p:nvGraphicFramePr>
        <p:xfrm>
          <a:off x="6065838" y="4360863"/>
          <a:ext cx="904875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309" imgH="837836" progId="Equation.3">
                  <p:embed/>
                </p:oleObj>
              </mc:Choice>
              <mc:Fallback>
                <p:oleObj name="Equation" r:id="rId6" imgW="901309" imgH="837836" progId="Equation.3">
                  <p:embed/>
                  <p:pic>
                    <p:nvPicPr>
                      <p:cNvPr id="234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65838" y="4360863"/>
                        <a:ext cx="904875" cy="838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Motion of a Torsional Pendulum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838200" y="1905000"/>
            <a:ext cx="7529512" cy="2973387"/>
            <a:chOff x="187" y="808"/>
            <a:chExt cx="4743" cy="1873"/>
          </a:xfrm>
        </p:grpSpPr>
        <p:sp>
          <p:nvSpPr>
            <p:cNvPr id="235525" name="Oval 5"/>
            <p:cNvSpPr>
              <a:spLocks noChangeArrowheads="1"/>
            </p:cNvSpPr>
            <p:nvPr/>
          </p:nvSpPr>
          <p:spPr bwMode="auto">
            <a:xfrm>
              <a:off x="239" y="196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26" name="Oval 6"/>
            <p:cNvSpPr>
              <a:spLocks noChangeArrowheads="1"/>
            </p:cNvSpPr>
            <p:nvPr/>
          </p:nvSpPr>
          <p:spPr bwMode="auto">
            <a:xfrm>
              <a:off x="239" y="1945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27" name="Line 7"/>
            <p:cNvSpPr>
              <a:spLocks noChangeShapeType="1"/>
            </p:cNvSpPr>
            <p:nvPr/>
          </p:nvSpPr>
          <p:spPr bwMode="auto">
            <a:xfrm flipV="1">
              <a:off x="743" y="84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528" name="Line 8"/>
            <p:cNvSpPr>
              <a:spLocks noChangeShapeType="1"/>
            </p:cNvSpPr>
            <p:nvPr/>
          </p:nvSpPr>
          <p:spPr bwMode="auto">
            <a:xfrm>
              <a:off x="743" y="207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29" name="Text Box 9"/>
            <p:cNvSpPr txBox="1">
              <a:spLocks noChangeArrowheads="1"/>
            </p:cNvSpPr>
            <p:nvPr/>
          </p:nvSpPr>
          <p:spPr bwMode="auto">
            <a:xfrm>
              <a:off x="577" y="2450"/>
              <a:ext cx="355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235530" name="Oval 10"/>
            <p:cNvSpPr>
              <a:spLocks noChangeArrowheads="1"/>
            </p:cNvSpPr>
            <p:nvPr/>
          </p:nvSpPr>
          <p:spPr bwMode="auto">
            <a:xfrm>
              <a:off x="731" y="224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1" name="Line 11"/>
            <p:cNvSpPr>
              <a:spLocks noChangeShapeType="1"/>
            </p:cNvSpPr>
            <p:nvPr/>
          </p:nvSpPr>
          <p:spPr bwMode="auto">
            <a:xfrm>
              <a:off x="743" y="207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2" name="Line 12"/>
            <p:cNvSpPr>
              <a:spLocks noChangeShapeType="1"/>
            </p:cNvSpPr>
            <p:nvPr/>
          </p:nvSpPr>
          <p:spPr bwMode="auto">
            <a:xfrm flipH="1">
              <a:off x="509" y="207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3" name="Rectangle 13"/>
            <p:cNvSpPr>
              <a:spLocks noChangeArrowheads="1"/>
            </p:cNvSpPr>
            <p:nvPr/>
          </p:nvSpPr>
          <p:spPr bwMode="auto">
            <a:xfrm>
              <a:off x="187" y="80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4" name="Arc 14"/>
            <p:cNvSpPr>
              <a:spLocks/>
            </p:cNvSpPr>
            <p:nvPr/>
          </p:nvSpPr>
          <p:spPr bwMode="auto">
            <a:xfrm>
              <a:off x="343" y="1290"/>
              <a:ext cx="804" cy="270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390 w 43200"/>
                <a:gd name="T1" fmla="*/ 25689 h 42287"/>
                <a:gd name="T2" fmla="*/ 27814 w 43200"/>
                <a:gd name="T3" fmla="*/ 42287 h 42287"/>
                <a:gd name="T4" fmla="*/ 21600 w 43200"/>
                <a:gd name="T5" fmla="*/ 21600 h 42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5" name="Oval 15"/>
            <p:cNvSpPr>
              <a:spLocks noChangeArrowheads="1"/>
            </p:cNvSpPr>
            <p:nvPr/>
          </p:nvSpPr>
          <p:spPr bwMode="auto">
            <a:xfrm>
              <a:off x="1438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6" name="Oval 16"/>
            <p:cNvSpPr>
              <a:spLocks noChangeArrowheads="1"/>
            </p:cNvSpPr>
            <p:nvPr/>
          </p:nvSpPr>
          <p:spPr bwMode="auto">
            <a:xfrm>
              <a:off x="1438" y="1958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7" name="Line 17"/>
            <p:cNvSpPr>
              <a:spLocks noChangeShapeType="1"/>
            </p:cNvSpPr>
            <p:nvPr/>
          </p:nvSpPr>
          <p:spPr bwMode="auto">
            <a:xfrm flipV="1">
              <a:off x="1942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538" name="Line 18"/>
            <p:cNvSpPr>
              <a:spLocks noChangeShapeType="1"/>
            </p:cNvSpPr>
            <p:nvPr/>
          </p:nvSpPr>
          <p:spPr bwMode="auto">
            <a:xfrm>
              <a:off x="1942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39" name="Text Box 19"/>
            <p:cNvSpPr txBox="1">
              <a:spLocks noChangeArrowheads="1"/>
            </p:cNvSpPr>
            <p:nvPr/>
          </p:nvSpPr>
          <p:spPr bwMode="auto">
            <a:xfrm>
              <a:off x="1750" y="2450"/>
              <a:ext cx="53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=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235540" name="Oval 20"/>
            <p:cNvSpPr>
              <a:spLocks noChangeArrowheads="1"/>
            </p:cNvSpPr>
            <p:nvPr/>
          </p:nvSpPr>
          <p:spPr bwMode="auto">
            <a:xfrm>
              <a:off x="1608" y="220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1" name="Line 21"/>
            <p:cNvSpPr>
              <a:spLocks noChangeShapeType="1"/>
            </p:cNvSpPr>
            <p:nvPr/>
          </p:nvSpPr>
          <p:spPr bwMode="auto">
            <a:xfrm flipH="1">
              <a:off x="1438" y="2087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2" name="Line 22"/>
            <p:cNvSpPr>
              <a:spLocks noChangeShapeType="1"/>
            </p:cNvSpPr>
            <p:nvPr/>
          </p:nvSpPr>
          <p:spPr bwMode="auto">
            <a:xfrm flipH="1">
              <a:off x="1618" y="2090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3" name="Rectangle 23"/>
            <p:cNvSpPr>
              <a:spLocks noChangeArrowheads="1"/>
            </p:cNvSpPr>
            <p:nvPr/>
          </p:nvSpPr>
          <p:spPr bwMode="auto">
            <a:xfrm>
              <a:off x="1386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4" name="Rectangle 24"/>
            <p:cNvSpPr>
              <a:spLocks noChangeArrowheads="1"/>
            </p:cNvSpPr>
            <p:nvPr/>
          </p:nvSpPr>
          <p:spPr bwMode="auto">
            <a:xfrm>
              <a:off x="1385" y="2200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235545" name="Text Box 25"/>
            <p:cNvSpPr txBox="1">
              <a:spLocks noChangeArrowheads="1"/>
            </p:cNvSpPr>
            <p:nvPr/>
          </p:nvSpPr>
          <p:spPr bwMode="auto">
            <a:xfrm>
              <a:off x="4096" y="2450"/>
              <a:ext cx="71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 = -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235546" name="Oval 26"/>
            <p:cNvSpPr>
              <a:spLocks noChangeArrowheads="1"/>
            </p:cNvSpPr>
            <p:nvPr/>
          </p:nvSpPr>
          <p:spPr bwMode="auto">
            <a:xfrm flipH="1">
              <a:off x="3845" y="1984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7" name="Oval 27"/>
            <p:cNvSpPr>
              <a:spLocks noChangeArrowheads="1"/>
            </p:cNvSpPr>
            <p:nvPr/>
          </p:nvSpPr>
          <p:spPr bwMode="auto">
            <a:xfrm flipH="1">
              <a:off x="3845" y="1963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48" name="Line 28"/>
            <p:cNvSpPr>
              <a:spLocks noChangeShapeType="1"/>
            </p:cNvSpPr>
            <p:nvPr/>
          </p:nvSpPr>
          <p:spPr bwMode="auto">
            <a:xfrm flipH="1" flipV="1">
              <a:off x="4355" y="859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549" name="Line 29"/>
            <p:cNvSpPr>
              <a:spLocks noChangeShapeType="1"/>
            </p:cNvSpPr>
            <p:nvPr/>
          </p:nvSpPr>
          <p:spPr bwMode="auto">
            <a:xfrm flipH="1">
              <a:off x="4352" y="2092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0" name="Oval 30"/>
            <p:cNvSpPr>
              <a:spLocks noChangeArrowheads="1"/>
            </p:cNvSpPr>
            <p:nvPr/>
          </p:nvSpPr>
          <p:spPr bwMode="auto">
            <a:xfrm flipH="1">
              <a:off x="4662" y="2207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1" name="Line 31"/>
            <p:cNvSpPr>
              <a:spLocks noChangeShapeType="1"/>
            </p:cNvSpPr>
            <p:nvPr/>
          </p:nvSpPr>
          <p:spPr bwMode="auto">
            <a:xfrm>
              <a:off x="4355" y="2092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2" name="Line 32"/>
            <p:cNvSpPr>
              <a:spLocks noChangeShapeType="1"/>
            </p:cNvSpPr>
            <p:nvPr/>
          </p:nvSpPr>
          <p:spPr bwMode="auto">
            <a:xfrm>
              <a:off x="4361" y="2095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3" name="Rectangle 33"/>
            <p:cNvSpPr>
              <a:spLocks noChangeArrowheads="1"/>
            </p:cNvSpPr>
            <p:nvPr/>
          </p:nvSpPr>
          <p:spPr bwMode="auto">
            <a:xfrm flipH="1">
              <a:off x="3768" y="82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4" name="Rectangle 34"/>
            <p:cNvSpPr>
              <a:spLocks noChangeArrowheads="1"/>
            </p:cNvSpPr>
            <p:nvPr/>
          </p:nvSpPr>
          <p:spPr bwMode="auto">
            <a:xfrm>
              <a:off x="4718" y="2260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235555" name="Oval 35"/>
            <p:cNvSpPr>
              <a:spLocks noChangeArrowheads="1"/>
            </p:cNvSpPr>
            <p:nvPr/>
          </p:nvSpPr>
          <p:spPr bwMode="auto">
            <a:xfrm>
              <a:off x="2630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6" name="Oval 36"/>
            <p:cNvSpPr>
              <a:spLocks noChangeArrowheads="1"/>
            </p:cNvSpPr>
            <p:nvPr/>
          </p:nvSpPr>
          <p:spPr bwMode="auto">
            <a:xfrm>
              <a:off x="2630" y="1958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7" name="Line 37"/>
            <p:cNvSpPr>
              <a:spLocks noChangeShapeType="1"/>
            </p:cNvSpPr>
            <p:nvPr/>
          </p:nvSpPr>
          <p:spPr bwMode="auto">
            <a:xfrm flipV="1">
              <a:off x="3134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558" name="Line 38"/>
            <p:cNvSpPr>
              <a:spLocks noChangeShapeType="1"/>
            </p:cNvSpPr>
            <p:nvPr/>
          </p:nvSpPr>
          <p:spPr bwMode="auto">
            <a:xfrm>
              <a:off x="3134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59" name="Text Box 39"/>
            <p:cNvSpPr txBox="1">
              <a:spLocks noChangeArrowheads="1"/>
            </p:cNvSpPr>
            <p:nvPr/>
          </p:nvSpPr>
          <p:spPr bwMode="auto">
            <a:xfrm>
              <a:off x="2968" y="2450"/>
              <a:ext cx="355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235560" name="Oval 40"/>
            <p:cNvSpPr>
              <a:spLocks noChangeArrowheads="1"/>
            </p:cNvSpPr>
            <p:nvPr/>
          </p:nvSpPr>
          <p:spPr bwMode="auto">
            <a:xfrm>
              <a:off x="3122" y="2255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1" name="Line 41"/>
            <p:cNvSpPr>
              <a:spLocks noChangeShapeType="1"/>
            </p:cNvSpPr>
            <p:nvPr/>
          </p:nvSpPr>
          <p:spPr bwMode="auto">
            <a:xfrm>
              <a:off x="3134" y="208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2" name="Line 42"/>
            <p:cNvSpPr>
              <a:spLocks noChangeShapeType="1"/>
            </p:cNvSpPr>
            <p:nvPr/>
          </p:nvSpPr>
          <p:spPr bwMode="auto">
            <a:xfrm flipH="1">
              <a:off x="2900" y="2090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3" name="Rectangle 43"/>
            <p:cNvSpPr>
              <a:spLocks noChangeArrowheads="1"/>
            </p:cNvSpPr>
            <p:nvPr/>
          </p:nvSpPr>
          <p:spPr bwMode="auto">
            <a:xfrm>
              <a:off x="2578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4" name="Arc 44"/>
            <p:cNvSpPr>
              <a:spLocks/>
            </p:cNvSpPr>
            <p:nvPr/>
          </p:nvSpPr>
          <p:spPr bwMode="auto">
            <a:xfrm flipH="1">
              <a:off x="2761" y="1322"/>
              <a:ext cx="804" cy="270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390 w 43200"/>
                <a:gd name="T1" fmla="*/ 25689 h 42287"/>
                <a:gd name="T2" fmla="*/ 27814 w 43200"/>
                <a:gd name="T3" fmla="*/ 42287 h 42287"/>
                <a:gd name="T4" fmla="*/ 21600 w 43200"/>
                <a:gd name="T5" fmla="*/ 21600 h 42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5" name="Line 45"/>
            <p:cNvSpPr>
              <a:spLocks noChangeShapeType="1"/>
            </p:cNvSpPr>
            <p:nvPr/>
          </p:nvSpPr>
          <p:spPr bwMode="auto">
            <a:xfrm flipV="1">
              <a:off x="748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6" name="Line 46"/>
            <p:cNvSpPr>
              <a:spLocks noChangeShapeType="1"/>
            </p:cNvSpPr>
            <p:nvPr/>
          </p:nvSpPr>
          <p:spPr bwMode="auto">
            <a:xfrm flipV="1">
              <a:off x="194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7" name="Line 47"/>
            <p:cNvSpPr>
              <a:spLocks noChangeShapeType="1"/>
            </p:cNvSpPr>
            <p:nvPr/>
          </p:nvSpPr>
          <p:spPr bwMode="auto">
            <a:xfrm flipV="1">
              <a:off x="3140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8" name="Line 48"/>
            <p:cNvSpPr>
              <a:spLocks noChangeShapeType="1"/>
            </p:cNvSpPr>
            <p:nvPr/>
          </p:nvSpPr>
          <p:spPr bwMode="auto">
            <a:xfrm flipV="1">
              <a:off x="437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Torsional Pendulum</a:t>
            </a:r>
          </a:p>
        </p:txBody>
      </p:sp>
      <p:sp>
        <p:nvSpPr>
          <p:cNvPr id="2365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730375"/>
            <a:ext cx="4038600" cy="4395788"/>
          </a:xfrm>
        </p:spPr>
        <p:txBody>
          <a:bodyPr/>
          <a:lstStyle/>
          <a:p>
            <a:r>
              <a:rPr lang="en-US"/>
              <a:t>SHM Problem</a:t>
            </a:r>
          </a:p>
        </p:txBody>
      </p:sp>
      <p:sp>
        <p:nvSpPr>
          <p:cNvPr id="236548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4243388"/>
            <a:ext cx="4038600" cy="1882775"/>
          </a:xfrm>
        </p:spPr>
        <p:txBody>
          <a:bodyPr/>
          <a:lstStyle/>
          <a:p>
            <a:r>
              <a:rPr lang="en-US"/>
              <a:t>Solution</a:t>
            </a:r>
          </a:p>
        </p:txBody>
      </p:sp>
      <p:graphicFrame>
        <p:nvGraphicFramePr>
          <p:cNvPr id="236549" name="Object 5"/>
          <p:cNvGraphicFramePr>
            <a:graphicFrameLocks noChangeAspect="1"/>
          </p:cNvGraphicFramePr>
          <p:nvPr/>
        </p:nvGraphicFramePr>
        <p:xfrm>
          <a:off x="5100638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23654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0638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6550" name="Rectangle 6"/>
          <p:cNvSpPr>
            <a:spLocks noChangeArrowheads="1"/>
          </p:cNvSpPr>
          <p:nvPr/>
        </p:nvSpPr>
        <p:spPr bwMode="auto">
          <a:xfrm>
            <a:off x="0" y="31670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719888" y="1597025"/>
            <a:ext cx="1814512" cy="2770188"/>
            <a:chOff x="1892" y="1398"/>
            <a:chExt cx="1143" cy="1745"/>
          </a:xfrm>
        </p:grpSpPr>
        <p:sp>
          <p:nvSpPr>
            <p:cNvPr id="236552" name="Oval 8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53" name="Oval 9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54" name="Line 10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555" name="Line 11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56" name="Text Box 12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236557" name="Oval 13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58" name="Line 14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59" name="Line 15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6560" name="Rectangle 16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99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36561" name="Rectangle 1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6562" name="Object 18"/>
          <p:cNvGraphicFramePr>
            <a:graphicFrameLocks noChangeAspect="1"/>
          </p:cNvGraphicFramePr>
          <p:nvPr/>
        </p:nvGraphicFramePr>
        <p:xfrm>
          <a:off x="1254125" y="2403475"/>
          <a:ext cx="1558925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99920" imgH="419040" progId="Equation.3">
                  <p:embed/>
                </p:oleObj>
              </mc:Choice>
              <mc:Fallback>
                <p:oleObj name="Equation" r:id="rId4" imgW="799920" imgH="419040" progId="Equation.3">
                  <p:embed/>
                  <p:pic>
                    <p:nvPicPr>
                      <p:cNvPr id="23656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4125" y="2403475"/>
                        <a:ext cx="1558925" cy="812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6563" name="Rectangle 19"/>
          <p:cNvSpPr>
            <a:spLocks noChangeArrowheads="1"/>
          </p:cNvSpPr>
          <p:nvPr/>
        </p:nvSpPr>
        <p:spPr bwMode="auto">
          <a:xfrm>
            <a:off x="0" y="31908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6564" name="Object 20"/>
          <p:cNvGraphicFramePr>
            <a:graphicFrameLocks noChangeAspect="1"/>
          </p:cNvGraphicFramePr>
          <p:nvPr/>
        </p:nvGraphicFramePr>
        <p:xfrm>
          <a:off x="1550988" y="3665538"/>
          <a:ext cx="1160462" cy="928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23656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0988" y="3665538"/>
                        <a:ext cx="1160462" cy="928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6565" name="Rectangle 21"/>
          <p:cNvSpPr>
            <a:spLocks noChangeArrowheads="1"/>
          </p:cNvSpPr>
          <p:nvPr/>
        </p:nvSpPr>
        <p:spPr bwMode="auto">
          <a:xfrm>
            <a:off x="0" y="31337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36566" name="Object 22"/>
          <p:cNvGraphicFramePr>
            <a:graphicFrameLocks noChangeAspect="1"/>
          </p:cNvGraphicFramePr>
          <p:nvPr/>
        </p:nvGraphicFramePr>
        <p:xfrm>
          <a:off x="1511300" y="4930775"/>
          <a:ext cx="1046163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11000" imgH="444240" progId="Equation.3">
                  <p:embed/>
                </p:oleObj>
              </mc:Choice>
              <mc:Fallback>
                <p:oleObj name="Equation" r:id="rId8" imgW="711000" imgH="444240" progId="Equation.3">
                  <p:embed/>
                  <p:pic>
                    <p:nvPicPr>
                      <p:cNvPr id="23656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1300" y="4930775"/>
                        <a:ext cx="1046163" cy="6588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 a frictional force</a:t>
            </a:r>
          </a:p>
        </p:txBody>
      </p:sp>
      <p:sp>
        <p:nvSpPr>
          <p:cNvPr id="2416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Suppose we add in a force that is proportional to the velocity </a:t>
            </a:r>
          </a:p>
          <a:p>
            <a:endParaRPr lang="en-US" sz="2400"/>
          </a:p>
          <a:p>
            <a:pPr lvl="1"/>
            <a:r>
              <a:rPr lang="en-US" sz="2000"/>
              <a:t>Viscosity follows this pattern</a:t>
            </a:r>
          </a:p>
          <a:p>
            <a:pPr lvl="1"/>
            <a:r>
              <a:rPr lang="en-US" sz="2000"/>
              <a:t>b is the damping coefficient</a:t>
            </a:r>
          </a:p>
          <a:p>
            <a:r>
              <a:rPr lang="en-US" sz="2400"/>
              <a:t>Newton’s 2</a:t>
            </a:r>
            <a:r>
              <a:rPr lang="en-US" sz="2400" baseline="30000"/>
              <a:t>nd</a:t>
            </a:r>
            <a:r>
              <a:rPr lang="en-US" sz="2400"/>
              <a:t> law gives</a:t>
            </a:r>
          </a:p>
          <a:p>
            <a:endParaRPr lang="en-US" sz="2400"/>
          </a:p>
          <a:p>
            <a:endParaRPr lang="en-US" sz="2400"/>
          </a:p>
          <a:p>
            <a:endParaRPr lang="en-US" sz="2400"/>
          </a:p>
          <a:p>
            <a:endParaRPr lang="en-US" sz="2400"/>
          </a:p>
          <a:p>
            <a:r>
              <a:rPr lang="en-US" sz="2000"/>
              <a:t>This is another differential equation. It is harder to guess its solution</a:t>
            </a:r>
          </a:p>
        </p:txBody>
      </p:sp>
      <p:graphicFrame>
        <p:nvGraphicFramePr>
          <p:cNvPr id="241668" name="Object 4"/>
          <p:cNvGraphicFramePr>
            <a:graphicFrameLocks noChangeAspect="1"/>
          </p:cNvGraphicFramePr>
          <p:nvPr/>
        </p:nvGraphicFramePr>
        <p:xfrm>
          <a:off x="3890963" y="2168525"/>
          <a:ext cx="132556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2416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90963" y="2168525"/>
                        <a:ext cx="1325562" cy="504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1669" name="Rectangle 5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1670" name="Object 6"/>
          <p:cNvGraphicFramePr>
            <a:graphicFrameLocks noChangeAspect="1"/>
          </p:cNvGraphicFramePr>
          <p:nvPr/>
        </p:nvGraphicFramePr>
        <p:xfrm>
          <a:off x="3429000" y="3962400"/>
          <a:ext cx="2308225" cy="403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07880" imgH="228600" progId="Equation.3">
                  <p:embed/>
                </p:oleObj>
              </mc:Choice>
              <mc:Fallback>
                <p:oleObj name="Equation" r:id="rId4" imgW="1307880" imgH="228600" progId="Equation.3">
                  <p:embed/>
                  <p:pic>
                    <p:nvPicPr>
                      <p:cNvPr id="24167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3962400"/>
                        <a:ext cx="2308225" cy="403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1671" name="Object 7"/>
          <p:cNvGraphicFramePr>
            <a:graphicFrameLocks noChangeAspect="1"/>
          </p:cNvGraphicFramePr>
          <p:nvPr/>
        </p:nvGraphicFramePr>
        <p:xfrm>
          <a:off x="3581400" y="4648200"/>
          <a:ext cx="2076450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31366" imgH="418918" progId="Equation.3">
                  <p:embed/>
                </p:oleObj>
              </mc:Choice>
              <mc:Fallback>
                <p:oleObj name="Equation" r:id="rId6" imgW="1231366" imgH="418918" progId="Equation.3">
                  <p:embed/>
                  <p:pic>
                    <p:nvPicPr>
                      <p:cNvPr id="2416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1400" y="4648200"/>
                        <a:ext cx="2076450" cy="708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2426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23888" indent="-319088">
              <a:lnSpc>
                <a:spcPct val="90000"/>
              </a:lnSpc>
            </a:pPr>
            <a:endParaRPr lang="en-US" sz="1800"/>
          </a:p>
          <a:p>
            <a:pPr marL="623888" indent="-319088">
              <a:lnSpc>
                <a:spcPct val="90000"/>
              </a:lnSpc>
            </a:pPr>
            <a:endParaRPr lang="en-US" sz="1800"/>
          </a:p>
          <a:p>
            <a:pPr marL="623888" indent="-319088">
              <a:lnSpc>
                <a:spcPct val="90000"/>
              </a:lnSpc>
            </a:pPr>
            <a:r>
              <a:rPr lang="en-US" sz="1800"/>
              <a:t>Where</a:t>
            </a:r>
          </a:p>
          <a:p>
            <a:pPr marL="623888" indent="-319088">
              <a:lnSpc>
                <a:spcPct val="90000"/>
              </a:lnSpc>
            </a:pPr>
            <a:endParaRPr lang="en-US" sz="1800"/>
          </a:p>
          <a:p>
            <a:pPr marL="623888" indent="-319088">
              <a:lnSpc>
                <a:spcPct val="90000"/>
              </a:lnSpc>
            </a:pPr>
            <a:endParaRPr lang="en-US" sz="1800"/>
          </a:p>
          <a:p>
            <a:pPr marL="623888" indent="-319088">
              <a:lnSpc>
                <a:spcPct val="90000"/>
              </a:lnSpc>
            </a:pPr>
            <a:r>
              <a:rPr lang="en-US" sz="1800"/>
              <a:t>Three Cases</a:t>
            </a:r>
          </a:p>
          <a:p>
            <a:pPr marL="914400" lvl="1" indent="-176213">
              <a:lnSpc>
                <a:spcPct val="90000"/>
              </a:lnSpc>
              <a:buFontTx/>
              <a:buAutoNum type="arabicPeriod"/>
            </a:pPr>
            <a:r>
              <a:rPr lang="en-US" sz="1800"/>
              <a:t>The retarding force is small: (bv</a:t>
            </a:r>
            <a:r>
              <a:rPr lang="en-US" sz="1800" baseline="-25000"/>
              <a:t>max</a:t>
            </a:r>
            <a:r>
              <a:rPr lang="en-US" sz="1800"/>
              <a:t>&lt; kA), the system oscillates, but the amplitude is smaller as as time goes on. We call this "underdamped"</a:t>
            </a:r>
          </a:p>
          <a:p>
            <a:pPr marL="914400" lvl="1" indent="-176213">
              <a:lnSpc>
                <a:spcPct val="90000"/>
              </a:lnSpc>
              <a:buFontTx/>
              <a:buAutoNum type="arabicPeriod"/>
            </a:pPr>
            <a:r>
              <a:rPr lang="en-US" sz="1800"/>
              <a:t> The retarding force is large: (bv</a:t>
            </a:r>
            <a:r>
              <a:rPr lang="en-US" sz="1800" baseline="-25000"/>
              <a:t>max</a:t>
            </a:r>
            <a:r>
              <a:rPr lang="en-US" sz="1800"/>
              <a:t>&gt; kA), The system does not oscillate. we call this "overdamped." We can also say that             (after we define </a:t>
            </a:r>
            <a:r>
              <a:rPr lang="en-US" sz="1800">
                <a:sym typeface="Symbol" pitchFamily="18" charset="2"/>
              </a:rPr>
              <a:t></a:t>
            </a:r>
            <a:r>
              <a:rPr lang="en-US" sz="1800" baseline="-25000">
                <a:sym typeface="Symbol" pitchFamily="18" charset="2"/>
              </a:rPr>
              <a:t>o</a:t>
            </a:r>
            <a:r>
              <a:rPr lang="en-US" sz="1800"/>
              <a:t> below)</a:t>
            </a:r>
          </a:p>
          <a:p>
            <a:pPr marL="914400" lvl="1" indent="-176213">
              <a:lnSpc>
                <a:spcPct val="90000"/>
              </a:lnSpc>
              <a:buFontTx/>
              <a:buAutoNum type="arabicPeriod"/>
            </a:pPr>
            <a:r>
              <a:rPr lang="en-US" sz="1800"/>
              <a:t> Case The system is critically damped (see below)</a:t>
            </a:r>
          </a:p>
        </p:txBody>
      </p:sp>
      <p:sp>
        <p:nvSpPr>
          <p:cNvPr id="242692" name="Rectangle 4"/>
          <p:cNvSpPr>
            <a:spLocks noChangeArrowheads="1"/>
          </p:cNvSpPr>
          <p:nvPr/>
        </p:nvSpPr>
        <p:spPr bwMode="auto">
          <a:xfrm>
            <a:off x="0" y="32956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2693" name="Object 5"/>
          <p:cNvGraphicFramePr>
            <a:graphicFrameLocks noChangeAspect="1"/>
          </p:cNvGraphicFramePr>
          <p:nvPr/>
        </p:nvGraphicFramePr>
        <p:xfrm>
          <a:off x="3279775" y="1685925"/>
          <a:ext cx="34163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253800" progId="Equation.3">
                  <p:embed/>
                </p:oleObj>
              </mc:Choice>
              <mc:Fallback>
                <p:oleObj name="Equation" r:id="rId2" imgW="1511280" imgH="253800" progId="Equation.3">
                  <p:embed/>
                  <p:pic>
                    <p:nvPicPr>
                      <p:cNvPr id="24269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9775" y="1685925"/>
                        <a:ext cx="3416300" cy="5730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694" name="Rectangle 6"/>
          <p:cNvSpPr>
            <a:spLocks noChangeArrowheads="1"/>
          </p:cNvSpPr>
          <p:nvPr/>
        </p:nvSpPr>
        <p:spPr bwMode="auto">
          <a:xfrm>
            <a:off x="0" y="31003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2695" name="Object 7"/>
          <p:cNvGraphicFramePr>
            <a:graphicFrameLocks noChangeAspect="1"/>
          </p:cNvGraphicFramePr>
          <p:nvPr/>
        </p:nvGraphicFramePr>
        <p:xfrm>
          <a:off x="4298950" y="2479675"/>
          <a:ext cx="11176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440" imgH="507960" progId="Equation.3">
                  <p:embed/>
                </p:oleObj>
              </mc:Choice>
              <mc:Fallback>
                <p:oleObj name="Equation" r:id="rId4" imgW="1117440" imgH="507960" progId="Equation.3">
                  <p:embed/>
                  <p:pic>
                    <p:nvPicPr>
                      <p:cNvPr id="24269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8950" y="2479675"/>
                        <a:ext cx="1117600" cy="508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696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42697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2698" name="Object 10"/>
          <p:cNvGraphicFramePr>
            <a:graphicFrameLocks noChangeAspect="1"/>
          </p:cNvGraphicFramePr>
          <p:nvPr/>
        </p:nvGraphicFramePr>
        <p:xfrm>
          <a:off x="7445375" y="4281488"/>
          <a:ext cx="741363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228600" progId="Equation.3">
                  <p:embed/>
                </p:oleObj>
              </mc:Choice>
              <mc:Fallback>
                <p:oleObj name="Equation" r:id="rId6" imgW="495000" imgH="228600" progId="Equation.3">
                  <p:embed/>
                  <p:pic>
                    <p:nvPicPr>
                      <p:cNvPr id="24269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5375" y="4281488"/>
                        <a:ext cx="741363" cy="338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2437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5461000"/>
            <a:ext cx="8229600" cy="6651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sz="2000"/>
              <a:t>The gray lines are the “envelope” function</a:t>
            </a:r>
          </a:p>
          <a:p>
            <a:pPr lvl="1">
              <a:lnSpc>
                <a:spcPct val="80000"/>
              </a:lnSpc>
            </a:pPr>
            <a:r>
              <a:rPr lang="en-US" sz="1800"/>
              <a:t>They describe how the amplitude changes </a:t>
            </a:r>
          </a:p>
        </p:txBody>
      </p:sp>
      <p:sp>
        <p:nvSpPr>
          <p:cNvPr id="24371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3717" name="Object 5"/>
          <p:cNvGraphicFramePr>
            <a:graphicFrameLocks noChangeAspect="1"/>
          </p:cNvGraphicFramePr>
          <p:nvPr/>
        </p:nvGraphicFramePr>
        <p:xfrm>
          <a:off x="7194550" y="2784475"/>
          <a:ext cx="750888" cy="887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888840" progId="Equation.3">
                  <p:embed/>
                </p:oleObj>
              </mc:Choice>
              <mc:Fallback>
                <p:oleObj name="Equation" r:id="rId2" imgW="749160" imgH="888840" progId="Equation.3">
                  <p:embed/>
                  <p:pic>
                    <p:nvPicPr>
                      <p:cNvPr id="24371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94550" y="2784475"/>
                        <a:ext cx="750888" cy="887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718" name="Object 6"/>
          <p:cNvGraphicFramePr>
            <a:graphicFrameLocks noChangeAspect="1"/>
          </p:cNvGraphicFramePr>
          <p:nvPr/>
        </p:nvGraphicFramePr>
        <p:xfrm>
          <a:off x="6246813" y="5553075"/>
          <a:ext cx="679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228600" progId="Equation.3">
                  <p:embed/>
                </p:oleObj>
              </mc:Choice>
              <mc:Fallback>
                <p:oleObj name="Equation" r:id="rId4" imgW="533160" imgH="228600" progId="Equation.3">
                  <p:embed/>
                  <p:pic>
                    <p:nvPicPr>
                      <p:cNvPr id="2437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6813" y="5553075"/>
                        <a:ext cx="679450" cy="290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3719" name="Rectangle 7"/>
          <p:cNvSpPr>
            <a:spLocks noChangeArrowheads="1"/>
          </p:cNvSpPr>
          <p:nvPr/>
        </p:nvSpPr>
        <p:spPr bwMode="auto">
          <a:xfrm>
            <a:off x="0" y="26955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615950" y="1466850"/>
            <a:ext cx="5570538" cy="3689350"/>
            <a:chOff x="388" y="924"/>
            <a:chExt cx="3509" cy="2324"/>
          </a:xfrm>
        </p:grpSpPr>
        <p:pic>
          <p:nvPicPr>
            <p:cNvPr id="243721" name="Picture 9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03" y="924"/>
              <a:ext cx="3494" cy="2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3722" name="Text Box 10"/>
            <p:cNvSpPr txBox="1">
              <a:spLocks noChangeArrowheads="1"/>
            </p:cNvSpPr>
            <p:nvPr/>
          </p:nvSpPr>
          <p:spPr bwMode="auto">
            <a:xfrm>
              <a:off x="3664" y="2225"/>
              <a:ext cx="156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t</a:t>
              </a:r>
            </a:p>
          </p:txBody>
        </p:sp>
        <p:sp>
          <p:nvSpPr>
            <p:cNvPr id="243723" name="Text Box 11"/>
            <p:cNvSpPr txBox="1">
              <a:spLocks noChangeArrowheads="1"/>
            </p:cNvSpPr>
            <p:nvPr/>
          </p:nvSpPr>
          <p:spPr bwMode="auto">
            <a:xfrm>
              <a:off x="388" y="1014"/>
              <a:ext cx="188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Larger b-value</a:t>
            </a:r>
          </a:p>
        </p:txBody>
      </p:sp>
      <p:graphicFrame>
        <p:nvGraphicFramePr>
          <p:cNvPr id="244740" name="Object 4"/>
          <p:cNvGraphicFramePr>
            <a:graphicFrameLocks noChangeAspect="1"/>
          </p:cNvGraphicFramePr>
          <p:nvPr/>
        </p:nvGraphicFramePr>
        <p:xfrm>
          <a:off x="7394575" y="2840038"/>
          <a:ext cx="671513" cy="887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40" imgH="888840" progId="Equation.3">
                  <p:embed/>
                </p:oleObj>
              </mc:Choice>
              <mc:Fallback>
                <p:oleObj name="Equation" r:id="rId2" imgW="672840" imgH="888840" progId="Equation.3">
                  <p:embed/>
                  <p:pic>
                    <p:nvPicPr>
                      <p:cNvPr id="2447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4575" y="2840038"/>
                        <a:ext cx="671513" cy="8874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741" name="Rectangle 5"/>
          <p:cNvSpPr>
            <a:spLocks noChangeArrowheads="1"/>
          </p:cNvSpPr>
          <p:nvPr/>
        </p:nvSpPr>
        <p:spPr bwMode="auto">
          <a:xfrm>
            <a:off x="0" y="26955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44525" y="1450975"/>
            <a:ext cx="5564188" cy="3695700"/>
            <a:chOff x="406" y="914"/>
            <a:chExt cx="3505" cy="2328"/>
          </a:xfrm>
        </p:grpSpPr>
        <p:pic>
          <p:nvPicPr>
            <p:cNvPr id="244743" name="Picture 7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411" y="914"/>
              <a:ext cx="3500" cy="23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4744" name="Text Box 8"/>
            <p:cNvSpPr txBox="1">
              <a:spLocks noChangeArrowheads="1"/>
            </p:cNvSpPr>
            <p:nvPr/>
          </p:nvSpPr>
          <p:spPr bwMode="auto">
            <a:xfrm>
              <a:off x="3682" y="2216"/>
              <a:ext cx="156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t</a:t>
              </a:r>
            </a:p>
          </p:txBody>
        </p:sp>
        <p:sp>
          <p:nvSpPr>
            <p:cNvPr id="244745" name="Text Box 9"/>
            <p:cNvSpPr txBox="1">
              <a:spLocks noChangeArrowheads="1"/>
            </p:cNvSpPr>
            <p:nvPr/>
          </p:nvSpPr>
          <p:spPr bwMode="auto">
            <a:xfrm>
              <a:off x="406" y="1005"/>
              <a:ext cx="188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915988" y="1379538"/>
            <a:ext cx="5580062" cy="3627437"/>
            <a:chOff x="577" y="869"/>
            <a:chExt cx="3515" cy="2285"/>
          </a:xfrm>
        </p:grpSpPr>
        <p:pic>
          <p:nvPicPr>
            <p:cNvPr id="245763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03" y="869"/>
              <a:ext cx="3489" cy="22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5764" name="Text Box 4"/>
            <p:cNvSpPr txBox="1">
              <a:spLocks noChangeArrowheads="1"/>
            </p:cNvSpPr>
            <p:nvPr/>
          </p:nvSpPr>
          <p:spPr bwMode="auto">
            <a:xfrm>
              <a:off x="3853" y="2144"/>
              <a:ext cx="156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t</a:t>
              </a:r>
            </a:p>
          </p:txBody>
        </p:sp>
        <p:sp>
          <p:nvSpPr>
            <p:cNvPr id="245765" name="Text Box 5"/>
            <p:cNvSpPr txBox="1">
              <a:spLocks noChangeArrowheads="1"/>
            </p:cNvSpPr>
            <p:nvPr/>
          </p:nvSpPr>
          <p:spPr bwMode="auto">
            <a:xfrm>
              <a:off x="577" y="933"/>
              <a:ext cx="188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</p:grpSp>
      <p:sp>
        <p:nvSpPr>
          <p:cNvPr id="245766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 Larger b-value</a:t>
            </a:r>
          </a:p>
        </p:txBody>
      </p:sp>
      <p:sp>
        <p:nvSpPr>
          <p:cNvPr id="245767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2982913" y="5127625"/>
            <a:ext cx="5703887" cy="998538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sz="2000"/>
              <a:t>Oscillation has stopped, </a:t>
            </a:r>
          </a:p>
          <a:p>
            <a:pPr>
              <a:lnSpc>
                <a:spcPct val="80000"/>
              </a:lnSpc>
            </a:pPr>
            <a:r>
              <a:rPr lang="en-US" sz="2000"/>
              <a:t>Only the exponential decay is observed. </a:t>
            </a:r>
          </a:p>
          <a:p>
            <a:pPr>
              <a:lnSpc>
                <a:spcPct val="80000"/>
              </a:lnSpc>
            </a:pPr>
            <a:r>
              <a:rPr lang="en-US" sz="2000"/>
              <a:t>we are critically damped</a:t>
            </a:r>
          </a:p>
        </p:txBody>
      </p:sp>
      <p:graphicFrame>
        <p:nvGraphicFramePr>
          <p:cNvPr id="245768" name="Object 8"/>
          <p:cNvGraphicFramePr>
            <a:graphicFrameLocks noChangeAspect="1"/>
          </p:cNvGraphicFramePr>
          <p:nvPr/>
        </p:nvGraphicFramePr>
        <p:xfrm>
          <a:off x="7339013" y="2882900"/>
          <a:ext cx="584200" cy="887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83920" imgH="888840" progId="Equation.3">
                  <p:embed/>
                </p:oleObj>
              </mc:Choice>
              <mc:Fallback>
                <p:oleObj name="Equation" r:id="rId3" imgW="583920" imgH="888840" progId="Equation.3">
                  <p:embed/>
                  <p:pic>
                    <p:nvPicPr>
                      <p:cNvPr id="24576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9013" y="2882900"/>
                        <a:ext cx="584200" cy="887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769" name="Text Box 9"/>
          <p:cNvSpPr txBox="1">
            <a:spLocks noChangeArrowheads="1"/>
          </p:cNvSpPr>
          <p:nvPr/>
        </p:nvSpPr>
        <p:spPr bwMode="auto">
          <a:xfrm>
            <a:off x="3254375" y="3521075"/>
            <a:ext cx="22288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/>
              <a:t>Note Scale Change!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Critical Damping</a:t>
            </a:r>
          </a:p>
        </p:txBody>
      </p:sp>
      <p:sp>
        <p:nvSpPr>
          <p:cNvPr id="2467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57300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Condition for critical damping</a:t>
            </a:r>
          </a:p>
          <a:p>
            <a:endParaRPr lang="en-US" sz="2400" dirty="0"/>
          </a:p>
          <a:p>
            <a:r>
              <a:rPr lang="en-US" sz="2400" dirty="0"/>
              <a:t>Then</a:t>
            </a:r>
          </a:p>
          <a:p>
            <a:endParaRPr lang="en-US" sz="2400" dirty="0"/>
          </a:p>
          <a:p>
            <a:r>
              <a:rPr lang="en-US" sz="2400" dirty="0"/>
              <a:t>Where                    is the </a:t>
            </a:r>
            <a:r>
              <a:rPr lang="en-US" sz="2400" i="1" dirty="0"/>
              <a:t>natural frequency</a:t>
            </a:r>
            <a:r>
              <a:rPr lang="en-US" sz="2400" dirty="0"/>
              <a:t> of the system </a:t>
            </a:r>
          </a:p>
          <a:p>
            <a:endParaRPr lang="en-US" sz="2400" dirty="0"/>
          </a:p>
          <a:p>
            <a:r>
              <a:rPr lang="en-US" sz="2400" dirty="0"/>
              <a:t>We define</a:t>
            </a:r>
          </a:p>
          <a:p>
            <a:endParaRPr lang="en-US" sz="2400" dirty="0"/>
          </a:p>
          <a:p>
            <a:r>
              <a:rPr lang="en-US" sz="2400" dirty="0"/>
              <a:t>Remark </a:t>
            </a:r>
            <a:r>
              <a:rPr lang="en-US" sz="2400" i="1" dirty="0"/>
              <a:t>When            the solution in equation (damped solution) is not valid! </a:t>
            </a:r>
          </a:p>
          <a:p>
            <a:pPr lvl="1"/>
            <a:r>
              <a:rPr lang="en-US" sz="2000" i="1" dirty="0"/>
              <a:t>You will find out more about this situation in your advanced mechanics classes.</a:t>
            </a:r>
            <a:endParaRPr lang="en-US" sz="2000" dirty="0"/>
          </a:p>
        </p:txBody>
      </p:sp>
      <p:sp>
        <p:nvSpPr>
          <p:cNvPr id="246788" name="Rectangle 4"/>
          <p:cNvSpPr>
            <a:spLocks noChangeArrowheads="1"/>
          </p:cNvSpPr>
          <p:nvPr/>
        </p:nvSpPr>
        <p:spPr bwMode="auto">
          <a:xfrm>
            <a:off x="0" y="2838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6789" name="Object 5"/>
          <p:cNvGraphicFramePr>
            <a:graphicFrameLocks noChangeAspect="1"/>
          </p:cNvGraphicFramePr>
          <p:nvPr/>
        </p:nvGraphicFramePr>
        <p:xfrm>
          <a:off x="4495800" y="1219200"/>
          <a:ext cx="1296987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444240" progId="Equation.3">
                  <p:embed/>
                </p:oleObj>
              </mc:Choice>
              <mc:Fallback>
                <p:oleObj name="Equation" r:id="rId2" imgW="977760" imgH="444240" progId="Equation.3">
                  <p:embed/>
                  <p:pic>
                    <p:nvPicPr>
                      <p:cNvPr id="24678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5800" y="1219200"/>
                        <a:ext cx="1296987" cy="592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90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6791" name="Object 7"/>
          <p:cNvGraphicFramePr>
            <a:graphicFrameLocks noChangeAspect="1"/>
          </p:cNvGraphicFramePr>
          <p:nvPr/>
        </p:nvGraphicFramePr>
        <p:xfrm>
          <a:off x="1752600" y="1752600"/>
          <a:ext cx="1841500" cy="68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58900" imgH="508000" progId="Equation.3">
                  <p:embed/>
                </p:oleObj>
              </mc:Choice>
              <mc:Fallback>
                <p:oleObj name="Equation" r:id="rId4" imgW="1358900" imgH="508000" progId="Equation.3">
                  <p:embed/>
                  <p:pic>
                    <p:nvPicPr>
                      <p:cNvPr id="24679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752600"/>
                        <a:ext cx="1841500" cy="682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92" name="Rectangle 8"/>
          <p:cNvSpPr>
            <a:spLocks noChangeArrowheads="1"/>
          </p:cNvSpPr>
          <p:nvPr/>
        </p:nvSpPr>
        <p:spPr bwMode="auto">
          <a:xfrm>
            <a:off x="0" y="2838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6793" name="Object 9"/>
          <p:cNvGraphicFramePr>
            <a:graphicFrameLocks noChangeAspect="1"/>
          </p:cNvGraphicFramePr>
          <p:nvPr/>
        </p:nvGraphicFramePr>
        <p:xfrm>
          <a:off x="1828800" y="2590800"/>
          <a:ext cx="84455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480" imgH="444240" progId="Equation.3">
                  <p:embed/>
                </p:oleObj>
              </mc:Choice>
              <mc:Fallback>
                <p:oleObj name="Equation" r:id="rId6" imgW="609480" imgH="444240" progId="Equation.3">
                  <p:embed/>
                  <p:pic>
                    <p:nvPicPr>
                      <p:cNvPr id="24679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2590800"/>
                        <a:ext cx="844550" cy="615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94" name="Rectangle 10"/>
          <p:cNvSpPr>
            <a:spLocks noChangeArrowheads="1"/>
          </p:cNvSpPr>
          <p:nvPr/>
        </p:nvSpPr>
        <p:spPr bwMode="auto">
          <a:xfrm>
            <a:off x="0" y="29051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6795" name="Object 11"/>
          <p:cNvGraphicFramePr>
            <a:graphicFrameLocks noChangeAspect="1"/>
          </p:cNvGraphicFramePr>
          <p:nvPr/>
        </p:nvGraphicFramePr>
        <p:xfrm>
          <a:off x="2286000" y="3429000"/>
          <a:ext cx="1243012" cy="423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72840" imgH="228600" progId="Equation.3">
                  <p:embed/>
                </p:oleObj>
              </mc:Choice>
              <mc:Fallback>
                <p:oleObj name="Equation" r:id="rId8" imgW="672840" imgH="228600" progId="Equation.3">
                  <p:embed/>
                  <p:pic>
                    <p:nvPicPr>
                      <p:cNvPr id="24679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3429000"/>
                        <a:ext cx="1243012" cy="423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96" name="Rectangle 12"/>
          <p:cNvSpPr>
            <a:spLocks noChangeArrowheads="1"/>
          </p:cNvSpPr>
          <p:nvPr/>
        </p:nvSpPr>
        <p:spPr bwMode="auto">
          <a:xfrm>
            <a:off x="0" y="29479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46797" name="Object 13"/>
          <p:cNvGraphicFramePr>
            <a:graphicFrameLocks noChangeAspect="1"/>
          </p:cNvGraphicFramePr>
          <p:nvPr/>
        </p:nvGraphicFramePr>
        <p:xfrm>
          <a:off x="2514600" y="4267200"/>
          <a:ext cx="652462" cy="3098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82400" imgH="228600" progId="Equation.3">
                  <p:embed/>
                </p:oleObj>
              </mc:Choice>
              <mc:Fallback>
                <p:oleObj name="Equation" r:id="rId10" imgW="482400" imgH="228600" progId="Equation.3">
                  <p:embed/>
                  <p:pic>
                    <p:nvPicPr>
                      <p:cNvPr id="24679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267200"/>
                        <a:ext cx="652462" cy="30988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Driving Force</a:t>
            </a:r>
          </a:p>
        </p:txBody>
      </p:sp>
      <p:sp>
        <p:nvSpPr>
          <p:cNvPr id="2519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Last section we added a force              that killed our oscillation</a:t>
            </a:r>
          </a:p>
          <a:p>
            <a:endParaRPr lang="en-US" sz="2000"/>
          </a:p>
          <a:p>
            <a:r>
              <a:rPr lang="en-US" sz="2000"/>
              <a:t>Suppose we want to keep it going</a:t>
            </a:r>
          </a:p>
          <a:p>
            <a:endParaRPr lang="en-US" sz="2000"/>
          </a:p>
          <a:p>
            <a:r>
              <a:rPr lang="en-US" sz="2000"/>
              <a:t>Add a force </a:t>
            </a:r>
          </a:p>
          <a:p>
            <a:endParaRPr lang="en-US" sz="2000"/>
          </a:p>
          <a:p>
            <a:pPr>
              <a:buFontTx/>
              <a:buNone/>
            </a:pPr>
            <a:r>
              <a:rPr lang="en-US" sz="2000"/>
              <a:t>     where F</a:t>
            </a:r>
            <a:r>
              <a:rPr lang="en-US" sz="2000" baseline="-25000"/>
              <a:t>o</a:t>
            </a:r>
            <a:r>
              <a:rPr lang="en-US" sz="2000"/>
              <a:t> is a constant and where </a:t>
            </a:r>
            <a:r>
              <a:rPr lang="en-US" sz="2000">
                <a:sym typeface="Symbol" pitchFamily="18" charset="2"/>
              </a:rPr>
              <a:t></a:t>
            </a:r>
            <a:r>
              <a:rPr lang="en-US" sz="2000" baseline="-25000"/>
              <a:t>f</a:t>
            </a:r>
            <a:r>
              <a:rPr lang="en-US" sz="2000"/>
              <a:t> is the angular frequency of the driving force</a:t>
            </a:r>
          </a:p>
          <a:p>
            <a:pPr>
              <a:buFontTx/>
              <a:buNone/>
            </a:pPr>
            <a:endParaRPr lang="en-US" sz="2000"/>
          </a:p>
          <a:p>
            <a:pPr>
              <a:buFontTx/>
              <a:buNone/>
            </a:pPr>
            <a:endParaRPr lang="en-US" sz="2000"/>
          </a:p>
          <a:p>
            <a:pPr>
              <a:buFontTx/>
              <a:buNone/>
            </a:pPr>
            <a:endParaRPr lang="en-US" sz="2000"/>
          </a:p>
          <a:p>
            <a:r>
              <a:rPr lang="en-US" sz="2000"/>
              <a:t>This one is very hard to solve</a:t>
            </a:r>
          </a:p>
        </p:txBody>
      </p:sp>
      <p:sp>
        <p:nvSpPr>
          <p:cNvPr id="251908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1909" name="Object 5"/>
          <p:cNvGraphicFramePr>
            <a:graphicFrameLocks noChangeAspect="1"/>
          </p:cNvGraphicFramePr>
          <p:nvPr/>
        </p:nvGraphicFramePr>
        <p:xfrm>
          <a:off x="4465638" y="1676400"/>
          <a:ext cx="596900" cy="230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880" imgH="228600" progId="Equation.3">
                  <p:embed/>
                </p:oleObj>
              </mc:Choice>
              <mc:Fallback>
                <p:oleObj name="Equation" r:id="rId2" imgW="596880" imgH="228600" progId="Equation.3">
                  <p:embed/>
                  <p:pic>
                    <p:nvPicPr>
                      <p:cNvPr id="25190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65638" y="1676400"/>
                        <a:ext cx="596900" cy="230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1910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1911" name="Object 7"/>
          <p:cNvGraphicFramePr>
            <a:graphicFrameLocks noChangeAspect="1"/>
          </p:cNvGraphicFramePr>
          <p:nvPr/>
        </p:nvGraphicFramePr>
        <p:xfrm>
          <a:off x="3313113" y="3040063"/>
          <a:ext cx="1774825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04840" imgH="241200" progId="Equation.3">
                  <p:embed/>
                </p:oleObj>
              </mc:Choice>
              <mc:Fallback>
                <p:oleObj name="Equation" r:id="rId4" imgW="1104840" imgH="241200" progId="Equation.3">
                  <p:embed/>
                  <p:pic>
                    <p:nvPicPr>
                      <p:cNvPr id="25191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3113" y="3040063"/>
                        <a:ext cx="1774825" cy="388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1912" name="Object 8"/>
          <p:cNvGraphicFramePr>
            <a:graphicFrameLocks noChangeAspect="1"/>
          </p:cNvGraphicFramePr>
          <p:nvPr/>
        </p:nvGraphicFramePr>
        <p:xfrm>
          <a:off x="2836863" y="4692650"/>
          <a:ext cx="3757612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93680" imgH="241200" progId="Equation.3">
                  <p:embed/>
                </p:oleObj>
              </mc:Choice>
              <mc:Fallback>
                <p:oleObj name="Equation" r:id="rId6" imgW="1993680" imgH="241200" progId="Equation.3">
                  <p:embed/>
                  <p:pic>
                    <p:nvPicPr>
                      <p:cNvPr id="25191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36863" y="4692650"/>
                        <a:ext cx="3757612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B68B3-F190-43EA-A854-8ED9E672963E}" type="slidenum">
              <a:rPr lang="en-US"/>
              <a:pPr/>
              <a:t>53</a:t>
            </a:fld>
            <a:endParaRPr lang="en-US"/>
          </a:p>
        </p:txBody>
      </p:sp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Steady State</a:t>
            </a:r>
          </a:p>
        </p:txBody>
      </p:sp>
      <p:sp>
        <p:nvSpPr>
          <p:cNvPr id="2529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Let’s assume that we add in enough energy with the driving force that we make up for the energy lost in the damping force</a:t>
            </a:r>
          </a:p>
          <a:p>
            <a:endParaRPr lang="en-US" sz="2000"/>
          </a:p>
          <a:p>
            <a:r>
              <a:rPr lang="en-US" sz="2000"/>
              <a:t>Then the solution is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EXCEPT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We will drop the subscript </a:t>
            </a:r>
            <a:r>
              <a:rPr lang="en-US" sz="2000" i="1"/>
              <a:t>f</a:t>
            </a:r>
            <a:r>
              <a:rPr lang="en-US" sz="2000"/>
              <a:t> for convenience</a:t>
            </a:r>
          </a:p>
        </p:txBody>
      </p:sp>
      <p:sp>
        <p:nvSpPr>
          <p:cNvPr id="25293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2933" name="Object 5"/>
          <p:cNvGraphicFramePr>
            <a:graphicFrameLocks noChangeAspect="1"/>
          </p:cNvGraphicFramePr>
          <p:nvPr/>
        </p:nvGraphicFramePr>
        <p:xfrm>
          <a:off x="3300413" y="3124200"/>
          <a:ext cx="191611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120" imgH="241200" progId="Equation.3">
                  <p:embed/>
                </p:oleObj>
              </mc:Choice>
              <mc:Fallback>
                <p:oleObj name="Equation" r:id="rId2" imgW="1257120" imgH="241200" progId="Equation.3">
                  <p:embed/>
                  <p:pic>
                    <p:nvPicPr>
                      <p:cNvPr id="2529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0413" y="3124200"/>
                        <a:ext cx="1916112" cy="368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934" name="Rectangle 6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2935" name="Object 7"/>
          <p:cNvGraphicFramePr>
            <a:graphicFrameLocks noChangeAspect="1"/>
          </p:cNvGraphicFramePr>
          <p:nvPr/>
        </p:nvGraphicFramePr>
        <p:xfrm>
          <a:off x="3070225" y="3998913"/>
          <a:ext cx="2554288" cy="947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36480" imgH="571320" progId="Equation.3">
                  <p:embed/>
                </p:oleObj>
              </mc:Choice>
              <mc:Fallback>
                <p:oleObj name="Equation" r:id="rId4" imgW="1536480" imgH="571320" progId="Equation.3">
                  <p:embed/>
                  <p:pic>
                    <p:nvPicPr>
                      <p:cNvPr id="25293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0225" y="3998913"/>
                        <a:ext cx="2554288" cy="9477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936" name="Rectangle 8"/>
          <p:cNvSpPr>
            <a:spLocks noChangeArrowheads="1"/>
          </p:cNvSpPr>
          <p:nvPr/>
        </p:nvSpPr>
        <p:spPr bwMode="auto">
          <a:xfrm>
            <a:off x="0" y="31813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2937" name="Object 9"/>
          <p:cNvGraphicFramePr>
            <a:graphicFrameLocks noChangeAspect="1"/>
          </p:cNvGraphicFramePr>
          <p:nvPr/>
        </p:nvGraphicFramePr>
        <p:xfrm>
          <a:off x="6850063" y="4137025"/>
          <a:ext cx="6096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480" imgH="444240" progId="Equation.3">
                  <p:embed/>
                </p:oleObj>
              </mc:Choice>
              <mc:Fallback>
                <p:oleObj name="Equation" r:id="rId6" imgW="609480" imgH="444240" progId="Equation.3">
                  <p:embed/>
                  <p:pic>
                    <p:nvPicPr>
                      <p:cNvPr id="25293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0063" y="4137025"/>
                        <a:ext cx="609600" cy="444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2938" name="Object 10"/>
          <p:cNvGraphicFramePr>
            <a:graphicFrameLocks noChangeAspect="1"/>
          </p:cNvGraphicFramePr>
          <p:nvPr/>
        </p:nvGraphicFramePr>
        <p:xfrm>
          <a:off x="6723063" y="5878513"/>
          <a:ext cx="1312862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98320" imgH="533160" progId="Equation.3">
                  <p:embed/>
                </p:oleObj>
              </mc:Choice>
              <mc:Fallback>
                <p:oleObj name="Equation" r:id="rId8" imgW="1498320" imgH="533160" progId="Equation.3">
                  <p:embed/>
                  <p:pic>
                    <p:nvPicPr>
                      <p:cNvPr id="25293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3063" y="5878513"/>
                        <a:ext cx="1312862" cy="4683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2939" name="Object 11"/>
          <p:cNvGraphicFramePr>
            <a:graphicFrameLocks noChangeAspect="1"/>
          </p:cNvGraphicFramePr>
          <p:nvPr/>
        </p:nvGraphicFramePr>
        <p:xfrm>
          <a:off x="6629400" y="5511800"/>
          <a:ext cx="1195388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760" imgH="215640" progId="Equation.3">
                  <p:embed/>
                </p:oleObj>
              </mc:Choice>
              <mc:Fallback>
                <p:oleObj name="Equation" r:id="rId10" imgW="1193760" imgH="215640" progId="Equation.3">
                  <p:embed/>
                  <p:pic>
                    <p:nvPicPr>
                      <p:cNvPr id="25293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5511800"/>
                        <a:ext cx="1195388" cy="217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253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7866063" cy="939800"/>
          </a:xfrm>
        </p:spPr>
        <p:txBody>
          <a:bodyPr/>
          <a:lstStyle/>
          <a:p>
            <a:r>
              <a:rPr lang="en-US" sz="2400"/>
              <a:t>Notice that right at  </a:t>
            </a:r>
            <a:r>
              <a:rPr lang="en-US" sz="2400">
                <a:sym typeface="Symbol" pitchFamily="18" charset="2"/>
              </a:rPr>
              <a:t></a:t>
            </a:r>
            <a:r>
              <a:rPr lang="en-US" sz="2400" baseline="-25000">
                <a:sym typeface="Symbol" pitchFamily="18" charset="2"/>
              </a:rPr>
              <a:t>o</a:t>
            </a:r>
            <a:r>
              <a:rPr lang="en-US" sz="2400"/>
              <a:t> our solution gets very big </a:t>
            </a:r>
          </a:p>
        </p:txBody>
      </p:sp>
      <p:sp>
        <p:nvSpPr>
          <p:cNvPr id="253956" name="Rectangle 4"/>
          <p:cNvSpPr>
            <a:spLocks noChangeArrowheads="1"/>
          </p:cNvSpPr>
          <p:nvPr/>
        </p:nvSpPr>
        <p:spPr bwMode="auto">
          <a:xfrm>
            <a:off x="0" y="30670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3957" name="Object 5"/>
          <p:cNvGraphicFramePr>
            <a:graphicFrameLocks noChangeAspect="1"/>
          </p:cNvGraphicFramePr>
          <p:nvPr/>
        </p:nvGraphicFramePr>
        <p:xfrm>
          <a:off x="1250950" y="3028950"/>
          <a:ext cx="1501775" cy="534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8320" imgH="533160" progId="Equation.3">
                  <p:embed/>
                </p:oleObj>
              </mc:Choice>
              <mc:Fallback>
                <p:oleObj name="Equation" r:id="rId2" imgW="1498320" imgH="533160" progId="Equation.3">
                  <p:embed/>
                  <p:pic>
                    <p:nvPicPr>
                      <p:cNvPr id="2539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0950" y="3028950"/>
                        <a:ext cx="1501775" cy="5349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3958" name="Rectangle 6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53959" name="Rectangle 7"/>
          <p:cNvSpPr>
            <a:spLocks noChangeArrowheads="1"/>
          </p:cNvSpPr>
          <p:nvPr/>
        </p:nvSpPr>
        <p:spPr bwMode="auto">
          <a:xfrm>
            <a:off x="0" y="28098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3960" name="Object 8"/>
          <p:cNvGraphicFramePr>
            <a:graphicFrameLocks noChangeAspect="1"/>
          </p:cNvGraphicFramePr>
          <p:nvPr/>
        </p:nvGraphicFramePr>
        <p:xfrm>
          <a:off x="1633538" y="4275138"/>
          <a:ext cx="674687" cy="890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40" imgH="888840" progId="Equation.3">
                  <p:embed/>
                </p:oleObj>
              </mc:Choice>
              <mc:Fallback>
                <p:oleObj name="Equation" r:id="rId4" imgW="672840" imgH="888840" progId="Equation.3">
                  <p:embed/>
                  <p:pic>
                    <p:nvPicPr>
                      <p:cNvPr id="25396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3538" y="4275138"/>
                        <a:ext cx="674687" cy="890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460875" y="2922588"/>
            <a:ext cx="4133850" cy="2635250"/>
            <a:chOff x="2810" y="1841"/>
            <a:chExt cx="2604" cy="1660"/>
          </a:xfrm>
        </p:grpSpPr>
        <p:pic>
          <p:nvPicPr>
            <p:cNvPr id="253962" name="Picture 10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038" y="1860"/>
              <a:ext cx="2364" cy="154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53963" name="Text Box 11"/>
            <p:cNvSpPr txBox="1">
              <a:spLocks noChangeArrowheads="1"/>
            </p:cNvSpPr>
            <p:nvPr/>
          </p:nvSpPr>
          <p:spPr bwMode="auto">
            <a:xfrm>
              <a:off x="5199" y="3270"/>
              <a:ext cx="215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</a:t>
              </a:r>
            </a:p>
          </p:txBody>
        </p:sp>
        <p:sp>
          <p:nvSpPr>
            <p:cNvPr id="253964" name="Text Box 12"/>
            <p:cNvSpPr txBox="1">
              <a:spLocks noChangeArrowheads="1"/>
            </p:cNvSpPr>
            <p:nvPr/>
          </p:nvSpPr>
          <p:spPr bwMode="auto">
            <a:xfrm>
              <a:off x="2810" y="1841"/>
              <a:ext cx="212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A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Resonance</a:t>
            </a:r>
          </a:p>
        </p:txBody>
      </p:sp>
      <p:sp>
        <p:nvSpPr>
          <p:cNvPr id="2549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To see why resonance happens, think of the velocity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And our driving force is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rate at which work is done (power) is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 if  F and v are in phase, the power will be at a maximum!</a:t>
            </a:r>
          </a:p>
        </p:txBody>
      </p:sp>
      <p:sp>
        <p:nvSpPr>
          <p:cNvPr id="254980" name="Rectangle 4"/>
          <p:cNvSpPr>
            <a:spLocks noChangeArrowheads="1"/>
          </p:cNvSpPr>
          <p:nvPr/>
        </p:nvSpPr>
        <p:spPr bwMode="auto">
          <a:xfrm>
            <a:off x="0" y="31908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4981" name="Object 5"/>
          <p:cNvGraphicFramePr>
            <a:graphicFrameLocks noChangeAspect="1"/>
          </p:cNvGraphicFramePr>
          <p:nvPr/>
        </p:nvGraphicFramePr>
        <p:xfrm>
          <a:off x="3598863" y="2098675"/>
          <a:ext cx="199707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560" imgH="393480" progId="Equation.3">
                  <p:embed/>
                </p:oleObj>
              </mc:Choice>
              <mc:Fallback>
                <p:oleObj name="Equation" r:id="rId2" imgW="1447560" imgH="393480" progId="Equation.3">
                  <p:embed/>
                  <p:pic>
                    <p:nvPicPr>
                      <p:cNvPr id="25498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8863" y="2098675"/>
                        <a:ext cx="1997075" cy="546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4982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4983" name="Object 7"/>
          <p:cNvGraphicFramePr>
            <a:graphicFrameLocks noChangeAspect="1"/>
          </p:cNvGraphicFramePr>
          <p:nvPr/>
        </p:nvGraphicFramePr>
        <p:xfrm>
          <a:off x="3832225" y="3224213"/>
          <a:ext cx="1627188" cy="35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41120" imgH="228600" progId="Equation.3">
                  <p:embed/>
                </p:oleObj>
              </mc:Choice>
              <mc:Fallback>
                <p:oleObj name="Equation" r:id="rId4" imgW="1041120" imgH="228600" progId="Equation.3">
                  <p:embed/>
                  <p:pic>
                    <p:nvPicPr>
                      <p:cNvPr id="25498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32225" y="3224213"/>
                        <a:ext cx="1627188" cy="358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4984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54985" name="Object 9"/>
          <p:cNvGraphicFramePr>
            <a:graphicFrameLocks noChangeAspect="1"/>
          </p:cNvGraphicFramePr>
          <p:nvPr/>
        </p:nvGraphicFramePr>
        <p:xfrm>
          <a:off x="3705225" y="4184650"/>
          <a:ext cx="1957388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66680" imgH="393480" progId="Equation.3">
                  <p:embed/>
                </p:oleObj>
              </mc:Choice>
              <mc:Fallback>
                <p:oleObj name="Equation" r:id="rId6" imgW="1066680" imgH="393480" progId="Equation.3">
                  <p:embed/>
                  <p:pic>
                    <p:nvPicPr>
                      <p:cNvPr id="25498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5225" y="4184650"/>
                        <a:ext cx="1957388" cy="725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933825" cy="4525963"/>
          </a:xfrm>
        </p:spPr>
        <p:txBody>
          <a:bodyPr/>
          <a:lstStyle/>
          <a:p>
            <a:r>
              <a:rPr lang="en-US"/>
              <a:t>Resistive force is never really zero in real systems</a:t>
            </a:r>
          </a:p>
          <a:p>
            <a:r>
              <a:rPr lang="en-US"/>
              <a:t>It can be small</a:t>
            </a:r>
          </a:p>
          <a:p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919538" y="2314575"/>
            <a:ext cx="4702175" cy="3101975"/>
            <a:chOff x="2469" y="1458"/>
            <a:chExt cx="2962" cy="1954"/>
          </a:xfrm>
        </p:grpSpPr>
        <p:pic>
          <p:nvPicPr>
            <p:cNvPr id="256005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469" y="1472"/>
              <a:ext cx="2962" cy="19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56006" name="Text Box 6"/>
            <p:cNvSpPr txBox="1">
              <a:spLocks noChangeArrowheads="1"/>
            </p:cNvSpPr>
            <p:nvPr/>
          </p:nvSpPr>
          <p:spPr bwMode="auto">
            <a:xfrm>
              <a:off x="5199" y="3162"/>
              <a:ext cx="215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</a:t>
              </a:r>
            </a:p>
          </p:txBody>
        </p:sp>
        <p:sp>
          <p:nvSpPr>
            <p:cNvPr id="256007" name="Text Box 7"/>
            <p:cNvSpPr txBox="1">
              <a:spLocks noChangeArrowheads="1"/>
            </p:cNvSpPr>
            <p:nvPr/>
          </p:nvSpPr>
          <p:spPr bwMode="auto">
            <a:xfrm>
              <a:off x="2481" y="1458"/>
              <a:ext cx="212" cy="23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>
                  <a:sym typeface="Symbol" pitchFamily="18" charset="2"/>
                </a:rPr>
                <a:t>A</a:t>
              </a:r>
            </a:p>
          </p:txBody>
        </p:sp>
      </p:grpSp>
      <p:sp>
        <p:nvSpPr>
          <p:cNvPr id="256008" name="Line 8"/>
          <p:cNvSpPr>
            <a:spLocks noChangeShapeType="1"/>
          </p:cNvSpPr>
          <p:nvPr/>
        </p:nvSpPr>
        <p:spPr bwMode="auto">
          <a:xfrm flipH="1">
            <a:off x="5834063" y="4035425"/>
            <a:ext cx="682625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09" name="Text Box 9"/>
          <p:cNvSpPr txBox="1">
            <a:spLocks noChangeArrowheads="1"/>
          </p:cNvSpPr>
          <p:nvPr/>
        </p:nvSpPr>
        <p:spPr bwMode="auto">
          <a:xfrm>
            <a:off x="6532563" y="3781425"/>
            <a:ext cx="9588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/>
              <a:t>Large b</a:t>
            </a:r>
          </a:p>
        </p:txBody>
      </p:sp>
      <p:sp>
        <p:nvSpPr>
          <p:cNvPr id="256010" name="Line 10"/>
          <p:cNvSpPr>
            <a:spLocks noChangeShapeType="1"/>
          </p:cNvSpPr>
          <p:nvPr/>
        </p:nvSpPr>
        <p:spPr bwMode="auto">
          <a:xfrm flipH="1" flipV="1">
            <a:off x="5811838" y="2446338"/>
            <a:ext cx="81280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56011" name="Text Box 11"/>
          <p:cNvSpPr txBox="1">
            <a:spLocks noChangeArrowheads="1"/>
          </p:cNvSpPr>
          <p:nvPr/>
        </p:nvSpPr>
        <p:spPr bwMode="auto">
          <a:xfrm>
            <a:off x="6618288" y="2424113"/>
            <a:ext cx="9461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/>
              <a:t>Small 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Remember Tacoma Narrows? </a:t>
            </a:r>
          </a:p>
        </p:txBody>
      </p:sp>
      <p:sp>
        <p:nvSpPr>
          <p:cNvPr id="257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933825" cy="45259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sz="2800"/>
              <a:t>The wind gusts formed a periodic driving force that allowed a driving harmonic oscillation to form. </a:t>
            </a:r>
          </a:p>
          <a:p>
            <a:pPr>
              <a:lnSpc>
                <a:spcPct val="80000"/>
              </a:lnSpc>
            </a:pPr>
            <a:r>
              <a:rPr lang="en-US" sz="2800"/>
              <a:t>Since the bridge was resonant with the gust frequency, the amplitude grew until the bridge materials broke.</a:t>
            </a:r>
          </a:p>
        </p:txBody>
      </p:sp>
      <p:pic>
        <p:nvPicPr>
          <p:cNvPr id="257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56113" y="1652588"/>
            <a:ext cx="4165600" cy="287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258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8613" y="1671638"/>
            <a:ext cx="8229600" cy="452596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sz="1600" dirty="0"/>
              <a:t>SHM along a straight line can be thought of as a projection of a uniform circular motion along a diameter of a reference circle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Pendulum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Physical Pendulum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 err="1"/>
              <a:t>Torsoinal</a:t>
            </a:r>
            <a:r>
              <a:rPr lang="en-US" sz="1600" dirty="0"/>
              <a:t> Pendulum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Damped Oscillation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1600" dirty="0"/>
              <a:t>Forced Oscillation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  <a:p>
            <a:pPr>
              <a:lnSpc>
                <a:spcPct val="80000"/>
              </a:lnSpc>
            </a:pPr>
            <a:endParaRPr lang="en-US" sz="1600" dirty="0"/>
          </a:p>
        </p:txBody>
      </p:sp>
      <p:graphicFrame>
        <p:nvGraphicFramePr>
          <p:cNvPr id="258052" name="Object 4"/>
          <p:cNvGraphicFramePr>
            <a:graphicFrameLocks noChangeAspect="1"/>
          </p:cNvGraphicFramePr>
          <p:nvPr/>
        </p:nvGraphicFramePr>
        <p:xfrm>
          <a:off x="2019300" y="2333625"/>
          <a:ext cx="5461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25805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19300" y="2333625"/>
                        <a:ext cx="546100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3" name="Object 5"/>
          <p:cNvGraphicFramePr>
            <a:graphicFrameLocks noChangeAspect="1"/>
          </p:cNvGraphicFramePr>
          <p:nvPr/>
        </p:nvGraphicFramePr>
        <p:xfrm>
          <a:off x="2816225" y="2193925"/>
          <a:ext cx="94615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25805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2193925"/>
                        <a:ext cx="946150" cy="495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4" name="Object 6"/>
          <p:cNvGraphicFramePr>
            <a:graphicFrameLocks noChangeAspect="1"/>
          </p:cNvGraphicFramePr>
          <p:nvPr/>
        </p:nvGraphicFramePr>
        <p:xfrm>
          <a:off x="5927725" y="2311400"/>
          <a:ext cx="1514475" cy="258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46040" imgH="228600" progId="Equation.3">
                  <p:embed/>
                </p:oleObj>
              </mc:Choice>
              <mc:Fallback>
                <p:oleObj name="Equation" r:id="rId6" imgW="1346040" imgH="228600" progId="Equation.3">
                  <p:embed/>
                  <p:pic>
                    <p:nvPicPr>
                      <p:cNvPr id="25805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27725" y="2311400"/>
                        <a:ext cx="1514475" cy="258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5" name="Object 7"/>
          <p:cNvGraphicFramePr>
            <a:graphicFrameLocks noChangeAspect="1"/>
          </p:cNvGraphicFramePr>
          <p:nvPr/>
        </p:nvGraphicFramePr>
        <p:xfrm>
          <a:off x="3917950" y="2205038"/>
          <a:ext cx="5842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95000" imgH="393480" progId="Equation.3">
                  <p:embed/>
                </p:oleObj>
              </mc:Choice>
              <mc:Fallback>
                <p:oleObj name="Equation" r:id="rId8" imgW="495000" imgH="393480" progId="Equation.3">
                  <p:embed/>
                  <p:pic>
                    <p:nvPicPr>
                      <p:cNvPr id="25805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17950" y="2205038"/>
                        <a:ext cx="584200" cy="469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6" name="Object 8"/>
          <p:cNvGraphicFramePr>
            <a:graphicFrameLocks noChangeAspect="1"/>
          </p:cNvGraphicFramePr>
          <p:nvPr/>
        </p:nvGraphicFramePr>
        <p:xfrm>
          <a:off x="4787900" y="2244725"/>
          <a:ext cx="90805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79500" imgH="469900" progId="Equation.3">
                  <p:embed/>
                </p:oleObj>
              </mc:Choice>
              <mc:Fallback>
                <p:oleObj name="Equation" r:id="rId10" imgW="1079500" imgH="469900" progId="Equation.3">
                  <p:embed/>
                  <p:pic>
                    <p:nvPicPr>
                      <p:cNvPr id="25805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7900" y="2244725"/>
                        <a:ext cx="908050" cy="393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7" name="Object 9"/>
          <p:cNvGraphicFramePr>
            <a:graphicFrameLocks noChangeAspect="1"/>
          </p:cNvGraphicFramePr>
          <p:nvPr/>
        </p:nvGraphicFramePr>
        <p:xfrm>
          <a:off x="5854700" y="2859088"/>
          <a:ext cx="1238250" cy="211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46040" imgH="228600" progId="Equation.3">
                  <p:embed/>
                </p:oleObj>
              </mc:Choice>
              <mc:Fallback>
                <p:oleObj name="Equation" r:id="rId12" imgW="1346040" imgH="228600" progId="Equation.3">
                  <p:embed/>
                  <p:pic>
                    <p:nvPicPr>
                      <p:cNvPr id="25805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4700" y="2859088"/>
                        <a:ext cx="1238250" cy="211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8" name="Object 10"/>
          <p:cNvGraphicFramePr>
            <a:graphicFrameLocks noChangeAspect="1"/>
          </p:cNvGraphicFramePr>
          <p:nvPr/>
        </p:nvGraphicFramePr>
        <p:xfrm>
          <a:off x="2843213" y="2840038"/>
          <a:ext cx="866775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77900" imgH="419100" progId="Equation.3">
                  <p:embed/>
                </p:oleObj>
              </mc:Choice>
              <mc:Fallback>
                <p:oleObj name="Equation" r:id="rId13" imgW="977900" imgH="419100" progId="Equation.3">
                  <p:embed/>
                  <p:pic>
                    <p:nvPicPr>
                      <p:cNvPr id="25805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2840038"/>
                        <a:ext cx="866775" cy="371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59" name="Object 11"/>
          <p:cNvGraphicFramePr>
            <a:graphicFrameLocks noChangeAspect="1"/>
          </p:cNvGraphicFramePr>
          <p:nvPr/>
        </p:nvGraphicFramePr>
        <p:xfrm>
          <a:off x="3821113" y="2855913"/>
          <a:ext cx="665162" cy="38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672840" imgH="393480" progId="Equation.3">
                  <p:embed/>
                </p:oleObj>
              </mc:Choice>
              <mc:Fallback>
                <p:oleObj name="Equation" r:id="rId15" imgW="672840" imgH="393480" progId="Equation.3">
                  <p:embed/>
                  <p:pic>
                    <p:nvPicPr>
                      <p:cNvPr id="25805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1113" y="2855913"/>
                        <a:ext cx="665162" cy="3857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0" name="Object 12"/>
          <p:cNvGraphicFramePr>
            <a:graphicFrameLocks noChangeAspect="1"/>
          </p:cNvGraphicFramePr>
          <p:nvPr/>
        </p:nvGraphicFramePr>
        <p:xfrm>
          <a:off x="4659313" y="2773363"/>
          <a:ext cx="971550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901309" imgH="469696" progId="Equation.3">
                  <p:embed/>
                </p:oleObj>
              </mc:Choice>
              <mc:Fallback>
                <p:oleObj name="Equation" r:id="rId17" imgW="901309" imgH="469696" progId="Equation.3">
                  <p:embed/>
                  <p:pic>
                    <p:nvPicPr>
                      <p:cNvPr id="25806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9313" y="2773363"/>
                        <a:ext cx="971550" cy="501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1" name="Object 13"/>
          <p:cNvGraphicFramePr>
            <a:graphicFrameLocks noChangeAspect="1"/>
          </p:cNvGraphicFramePr>
          <p:nvPr/>
        </p:nvGraphicFramePr>
        <p:xfrm>
          <a:off x="5854700" y="3281363"/>
          <a:ext cx="1311275" cy="223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346040" imgH="228600" progId="Equation.3">
                  <p:embed/>
                </p:oleObj>
              </mc:Choice>
              <mc:Fallback>
                <p:oleObj name="Equation" r:id="rId19" imgW="1346040" imgH="228600" progId="Equation.3">
                  <p:embed/>
                  <p:pic>
                    <p:nvPicPr>
                      <p:cNvPr id="25806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54700" y="3281363"/>
                        <a:ext cx="1311275" cy="2238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2" name="Object 14"/>
          <p:cNvGraphicFramePr>
            <a:graphicFrameLocks noChangeAspect="1"/>
          </p:cNvGraphicFramePr>
          <p:nvPr/>
        </p:nvGraphicFramePr>
        <p:xfrm>
          <a:off x="2894013" y="3433763"/>
          <a:ext cx="703262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99920" imgH="419040" progId="Equation.3">
                  <p:embed/>
                </p:oleObj>
              </mc:Choice>
              <mc:Fallback>
                <p:oleObj name="Equation" r:id="rId20" imgW="799920" imgH="419040" progId="Equation.3">
                  <p:embed/>
                  <p:pic>
                    <p:nvPicPr>
                      <p:cNvPr id="258062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4013" y="3433763"/>
                        <a:ext cx="703262" cy="366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3" name="Object 15"/>
          <p:cNvGraphicFramePr>
            <a:graphicFrameLocks noChangeAspect="1"/>
          </p:cNvGraphicFramePr>
          <p:nvPr/>
        </p:nvGraphicFramePr>
        <p:xfrm>
          <a:off x="3771900" y="3330575"/>
          <a:ext cx="669925" cy="536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495000" imgH="393480" progId="Equation.3">
                  <p:embed/>
                </p:oleObj>
              </mc:Choice>
              <mc:Fallback>
                <p:oleObj name="Equation" r:id="rId22" imgW="495000" imgH="393480" progId="Equation.3">
                  <p:embed/>
                  <p:pic>
                    <p:nvPicPr>
                      <p:cNvPr id="25806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1900" y="3330575"/>
                        <a:ext cx="669925" cy="536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4" name="Object 16"/>
          <p:cNvGraphicFramePr>
            <a:graphicFrameLocks noChangeAspect="1"/>
          </p:cNvGraphicFramePr>
          <p:nvPr/>
        </p:nvGraphicFramePr>
        <p:xfrm>
          <a:off x="4762500" y="3362325"/>
          <a:ext cx="669925" cy="42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711000" imgH="444240" progId="Equation.3">
                  <p:embed/>
                </p:oleObj>
              </mc:Choice>
              <mc:Fallback>
                <p:oleObj name="Equation" r:id="rId24" imgW="711000" imgH="444240" progId="Equation.3">
                  <p:embed/>
                  <p:pic>
                    <p:nvPicPr>
                      <p:cNvPr id="2580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62500" y="3362325"/>
                        <a:ext cx="669925" cy="422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5" name="Object 17"/>
          <p:cNvGraphicFramePr>
            <a:graphicFrameLocks noChangeAspect="1"/>
          </p:cNvGraphicFramePr>
          <p:nvPr/>
        </p:nvGraphicFramePr>
        <p:xfrm>
          <a:off x="2919413" y="4256088"/>
          <a:ext cx="8318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96900" imgH="228600" progId="Equation.3">
                  <p:embed/>
                </p:oleObj>
              </mc:Choice>
              <mc:Fallback>
                <p:oleObj name="Equation" r:id="rId26" imgW="596900" imgH="228600" progId="Equation.3">
                  <p:embed/>
                  <p:pic>
                    <p:nvPicPr>
                      <p:cNvPr id="25806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19413" y="4256088"/>
                        <a:ext cx="831850" cy="317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6" name="Object 18"/>
          <p:cNvGraphicFramePr>
            <a:graphicFrameLocks noChangeAspect="1"/>
          </p:cNvGraphicFramePr>
          <p:nvPr/>
        </p:nvGraphicFramePr>
        <p:xfrm>
          <a:off x="3962400" y="4187825"/>
          <a:ext cx="142398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231366" imgH="418918" progId="Equation.3">
                  <p:embed/>
                </p:oleObj>
              </mc:Choice>
              <mc:Fallback>
                <p:oleObj name="Equation" r:id="rId28" imgW="1231366" imgH="418918" progId="Equation.3">
                  <p:embed/>
                  <p:pic>
                    <p:nvPicPr>
                      <p:cNvPr id="2580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4187825"/>
                        <a:ext cx="1423988" cy="485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7" name="Object 19"/>
          <p:cNvGraphicFramePr>
            <a:graphicFrameLocks noChangeAspect="1"/>
          </p:cNvGraphicFramePr>
          <p:nvPr/>
        </p:nvGraphicFramePr>
        <p:xfrm>
          <a:off x="5588000" y="4221163"/>
          <a:ext cx="1835150" cy="30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511280" imgH="253800" progId="Equation.3">
                  <p:embed/>
                </p:oleObj>
              </mc:Choice>
              <mc:Fallback>
                <p:oleObj name="Equation" r:id="rId30" imgW="1511280" imgH="253800" progId="Equation.3">
                  <p:embed/>
                  <p:pic>
                    <p:nvPicPr>
                      <p:cNvPr id="25806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8000" y="4221163"/>
                        <a:ext cx="1835150" cy="307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8" name="Object 20"/>
          <p:cNvGraphicFramePr>
            <a:graphicFrameLocks noChangeAspect="1"/>
          </p:cNvGraphicFramePr>
          <p:nvPr/>
        </p:nvGraphicFramePr>
        <p:xfrm>
          <a:off x="7521575" y="4173538"/>
          <a:ext cx="914400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193760" imgH="507960" progId="Equation.3">
                  <p:embed/>
                </p:oleObj>
              </mc:Choice>
              <mc:Fallback>
                <p:oleObj name="Equation" r:id="rId32" imgW="1193760" imgH="507960" progId="Equation.3">
                  <p:embed/>
                  <p:pic>
                    <p:nvPicPr>
                      <p:cNvPr id="25806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1575" y="4173538"/>
                        <a:ext cx="914400" cy="388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69" name="Object 21"/>
          <p:cNvGraphicFramePr>
            <a:graphicFrameLocks noChangeAspect="1"/>
          </p:cNvGraphicFramePr>
          <p:nvPr/>
        </p:nvGraphicFramePr>
        <p:xfrm>
          <a:off x="3165475" y="4686300"/>
          <a:ext cx="557213" cy="407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609480" imgH="444240" progId="Equation.3">
                  <p:embed/>
                </p:oleObj>
              </mc:Choice>
              <mc:Fallback>
                <p:oleObj name="Equation" r:id="rId34" imgW="609480" imgH="444240" progId="Equation.3">
                  <p:embed/>
                  <p:pic>
                    <p:nvPicPr>
                      <p:cNvPr id="2580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65475" y="4686300"/>
                        <a:ext cx="557213" cy="4079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70" name="Object 22"/>
          <p:cNvGraphicFramePr>
            <a:graphicFrameLocks noChangeAspect="1"/>
          </p:cNvGraphicFramePr>
          <p:nvPr/>
        </p:nvGraphicFramePr>
        <p:xfrm>
          <a:off x="4149725" y="4818063"/>
          <a:ext cx="750888" cy="255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672840" imgH="228600" progId="Equation.3">
                  <p:embed/>
                </p:oleObj>
              </mc:Choice>
              <mc:Fallback>
                <p:oleObj name="Equation" r:id="rId36" imgW="672840" imgH="228600" progId="Equation.3">
                  <p:embed/>
                  <p:pic>
                    <p:nvPicPr>
                      <p:cNvPr id="2580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9725" y="4818063"/>
                        <a:ext cx="750888" cy="255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71" name="Object 23"/>
          <p:cNvGraphicFramePr>
            <a:graphicFrameLocks noChangeAspect="1"/>
          </p:cNvGraphicFramePr>
          <p:nvPr/>
        </p:nvGraphicFramePr>
        <p:xfrm>
          <a:off x="2903538" y="5092700"/>
          <a:ext cx="1416050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1104840" imgH="241200" progId="Equation.3">
                  <p:embed/>
                </p:oleObj>
              </mc:Choice>
              <mc:Fallback>
                <p:oleObj name="Equation" r:id="rId38" imgW="1104840" imgH="241200" progId="Equation.3">
                  <p:embed/>
                  <p:pic>
                    <p:nvPicPr>
                      <p:cNvPr id="2580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3538" y="5092700"/>
                        <a:ext cx="1416050" cy="309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72" name="Object 24"/>
          <p:cNvGraphicFramePr>
            <a:graphicFrameLocks noChangeAspect="1"/>
          </p:cNvGraphicFramePr>
          <p:nvPr/>
        </p:nvGraphicFramePr>
        <p:xfrm>
          <a:off x="6257925" y="5032375"/>
          <a:ext cx="1312863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0" imgW="1498320" imgH="533160" progId="Equation.3">
                  <p:embed/>
                </p:oleObj>
              </mc:Choice>
              <mc:Fallback>
                <p:oleObj name="Equation" r:id="rId40" imgW="1498320" imgH="533160" progId="Equation.3">
                  <p:embed/>
                  <p:pic>
                    <p:nvPicPr>
                      <p:cNvPr id="2580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57925" y="5032375"/>
                        <a:ext cx="1312863" cy="4683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8073" name="Object 25"/>
          <p:cNvGraphicFramePr>
            <a:graphicFrameLocks noChangeAspect="1"/>
          </p:cNvGraphicFramePr>
          <p:nvPr/>
        </p:nvGraphicFramePr>
        <p:xfrm>
          <a:off x="4611688" y="5132388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2" imgW="1193760" imgH="215640" progId="Equation.3">
                  <p:embed/>
                </p:oleObj>
              </mc:Choice>
              <mc:Fallback>
                <p:oleObj name="Equation" r:id="rId42" imgW="1193760" imgH="215640" progId="Equation.3">
                  <p:embed/>
                  <p:pic>
                    <p:nvPicPr>
                      <p:cNvPr id="258073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11688" y="5132388"/>
                        <a:ext cx="11953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2129</Words>
  <Application>Microsoft Office PowerPoint</Application>
  <PresentationFormat>On-screen Show (4:3)</PresentationFormat>
  <Paragraphs>674</Paragraphs>
  <Slides>58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Arial</vt:lpstr>
      <vt:lpstr>Calibri</vt:lpstr>
      <vt:lpstr>Cambria Math</vt:lpstr>
      <vt:lpstr>Sylfaen</vt:lpstr>
      <vt:lpstr>Symbol</vt:lpstr>
      <vt:lpstr>Office Theme</vt:lpstr>
      <vt:lpstr>Equation</vt:lpstr>
      <vt:lpstr>Equation.3</vt:lpstr>
      <vt:lpstr>PowerPoint Presentation</vt:lpstr>
      <vt:lpstr>PowerPoint Presentation</vt:lpstr>
      <vt:lpstr>SHM Restoring Force</vt:lpstr>
      <vt:lpstr>SHM Acceleration</vt:lpstr>
      <vt:lpstr>Hanging Springs</vt:lpstr>
      <vt:lpstr>Start with a horizontal block-spring System</vt:lpstr>
      <vt:lpstr>Solutions to the DEQ</vt:lpstr>
      <vt:lpstr>The Solution!</vt:lpstr>
      <vt:lpstr>Solution Properties</vt:lpstr>
      <vt:lpstr>Period and Frequency</vt:lpstr>
      <vt:lpstr>Velocity and Acceleration</vt:lpstr>
      <vt:lpstr>SHM Acceleration</vt:lpstr>
      <vt:lpstr>SHM Velocity</vt:lpstr>
      <vt:lpstr>PowerPoint Presentation</vt:lpstr>
      <vt:lpstr>Comparison of position, velocity, acceleration</vt:lpstr>
      <vt:lpstr>Comparison: SHM Position and Velocity</vt:lpstr>
      <vt:lpstr>Example 1</vt:lpstr>
      <vt:lpstr>Example 1</vt:lpstr>
      <vt:lpstr>Concept Question</vt:lpstr>
      <vt:lpstr>Review</vt:lpstr>
      <vt:lpstr>Review</vt:lpstr>
      <vt:lpstr>Review</vt:lpstr>
      <vt:lpstr>PowerPoint Presentation</vt:lpstr>
      <vt:lpstr>Kinetic Energy</vt:lpstr>
      <vt:lpstr>Potential Energy</vt:lpstr>
      <vt:lpstr>Total Mechanical Energy</vt:lpstr>
      <vt:lpstr>PowerPoint Presentation</vt:lpstr>
      <vt:lpstr>Energy as a function of time</vt:lpstr>
      <vt:lpstr>Summary</vt:lpstr>
      <vt:lpstr>Trigonometry</vt:lpstr>
      <vt:lpstr>Trigonometry</vt:lpstr>
      <vt:lpstr>Relationship to SHM</vt:lpstr>
      <vt:lpstr>More Geometry</vt:lpstr>
      <vt:lpstr>Relationship to SHM</vt:lpstr>
      <vt:lpstr>Equations for the two SHOs</vt:lpstr>
      <vt:lpstr>Rotation and Velocity</vt:lpstr>
      <vt:lpstr>Rotation and Acceleration</vt:lpstr>
      <vt:lpstr>Pendulum</vt:lpstr>
      <vt:lpstr>Pendulum</vt:lpstr>
      <vt:lpstr>END</vt:lpstr>
      <vt:lpstr>Physical Pendulum</vt:lpstr>
      <vt:lpstr>Physical Pendulum</vt:lpstr>
      <vt:lpstr>Torsional Pendulum</vt:lpstr>
      <vt:lpstr>Motion of a Torsional Pendulum</vt:lpstr>
      <vt:lpstr>Torsional Pendulum</vt:lpstr>
      <vt:lpstr>Add a frictional force</vt:lpstr>
      <vt:lpstr>Solution</vt:lpstr>
      <vt:lpstr>Example</vt:lpstr>
      <vt:lpstr>Larger b-value</vt:lpstr>
      <vt:lpstr>Even Larger b-value</vt:lpstr>
      <vt:lpstr>Critical Damping</vt:lpstr>
      <vt:lpstr>Driving Force</vt:lpstr>
      <vt:lpstr>Steady State</vt:lpstr>
      <vt:lpstr>Example</vt:lpstr>
      <vt:lpstr>Resonance</vt:lpstr>
      <vt:lpstr>Example</vt:lpstr>
      <vt:lpstr>Remember Tacoma Narrows? </vt:lpstr>
      <vt:lpstr>Summary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SHM Restoring Force</dc:title>
  <dc:creator>rtlines</dc:creator>
  <cp:lastModifiedBy>Lines, Todd</cp:lastModifiedBy>
  <cp:revision>18</cp:revision>
  <dcterms:created xsi:type="dcterms:W3CDTF">2011-09-10T22:05:17Z</dcterms:created>
  <dcterms:modified xsi:type="dcterms:W3CDTF">2025-11-03T23:29:34Z</dcterms:modified>
</cp:coreProperties>
</file>