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642" r:id="rId3"/>
    <p:sldId id="274" r:id="rId4"/>
    <p:sldId id="258" r:id="rId5"/>
    <p:sldId id="259" r:id="rId6"/>
    <p:sldId id="281" r:id="rId7"/>
    <p:sldId id="1406" r:id="rId8"/>
    <p:sldId id="261" r:id="rId9"/>
    <p:sldId id="644" r:id="rId10"/>
    <p:sldId id="260" r:id="rId11"/>
    <p:sldId id="279" r:id="rId12"/>
    <p:sldId id="1265" r:id="rId13"/>
    <p:sldId id="266" r:id="rId14"/>
    <p:sldId id="267" r:id="rId15"/>
    <p:sldId id="268" r:id="rId16"/>
    <p:sldId id="269" r:id="rId17"/>
    <p:sldId id="270" r:id="rId18"/>
    <p:sldId id="275" r:id="rId19"/>
    <p:sldId id="1392" r:id="rId20"/>
    <p:sldId id="271" r:id="rId21"/>
    <p:sldId id="1394" r:id="rId22"/>
    <p:sldId id="273" r:id="rId23"/>
    <p:sldId id="1393" r:id="rId24"/>
    <p:sldId id="272" r:id="rId25"/>
    <p:sldId id="262" r:id="rId26"/>
    <p:sldId id="280" r:id="rId27"/>
    <p:sldId id="649" r:id="rId28"/>
    <p:sldId id="277" r:id="rId29"/>
    <p:sldId id="276" r:id="rId30"/>
    <p:sldId id="278" r:id="rId31"/>
    <p:sldId id="1401" r:id="rId32"/>
    <p:sldId id="1402" r:id="rId33"/>
    <p:sldId id="1403" r:id="rId34"/>
    <p:sldId id="1404" r:id="rId35"/>
    <p:sldId id="1405" r:id="rId36"/>
    <p:sldId id="263" r:id="rId37"/>
    <p:sldId id="264" r:id="rId38"/>
    <p:sldId id="265" r:id="rId39"/>
    <p:sldId id="1395" r:id="rId40"/>
    <p:sldId id="1396" r:id="rId41"/>
    <p:sldId id="1397" r:id="rId4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E00497-A284-441C-85AA-A8A495F5E348}" v="1" dt="2025-12-04T22:20:05.9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5-12-04T22:20:11.300" v="1" actId="21"/>
      <pc:docMkLst>
        <pc:docMk/>
      </pc:docMkLst>
      <pc:sldChg chg="delSp modSp mod">
        <pc:chgData name="Lines, Todd" userId="afaf7c3a-e8aa-4568-882a-02ad8f9e19b0" providerId="ADAL" clId="{5FF5AC1B-ABA9-43D7-A1E3-2D92732CD6E2}" dt="2025-12-04T22:20:11.300" v="1" actId="21"/>
        <pc:sldMkLst>
          <pc:docMk/>
          <pc:sldMk cId="0" sldId="278"/>
        </pc:sldMkLst>
        <pc:picChg chg="del mod">
          <ac:chgData name="Lines, Todd" userId="afaf7c3a-e8aa-4568-882a-02ad8f9e19b0" providerId="ADAL" clId="{5FF5AC1B-ABA9-43D7-A1E3-2D92732CD6E2}" dt="2025-12-04T22:20:11.300" v="1" actId="21"/>
          <ac:picMkLst>
            <pc:docMk/>
            <pc:sldMk cId="0" sldId="278"/>
            <ac:picMk id="5" creationId="{379FB37C-1664-0768-1F85-CA597395B80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Fall 2007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4A7099-A97C-42EB-8F29-163705505F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BB5B7A-3EC1-4CBC-A1FD-4B8F1F44BB01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FC413E-CE3D-4FD5-86C9-283CDF332BB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700A840-37AB-5DC4-DA53-64B2A029AC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F:\DCIM\100CASIO\CIMG0152.JPG"/>
          <p:cNvPicPr>
            <a:picLocks noChangeAspect="1" noChangeArrowheads="1"/>
          </p:cNvPicPr>
          <p:nvPr/>
        </p:nvPicPr>
        <p:blipFill>
          <a:blip r:embed="rId2" cstate="print"/>
          <a:srcRect t="31111"/>
          <a:stretch>
            <a:fillRect/>
          </a:stretch>
        </p:blipFill>
        <p:spPr bwMode="auto">
          <a:xfrm>
            <a:off x="0" y="914400"/>
            <a:ext cx="9144000" cy="4724400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CA282AE-F4A7-2ED6-0FB3-F6F49C5AD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913" y="47138"/>
            <a:ext cx="7996287" cy="1065226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Lecture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223.15.1</a:t>
            </a:r>
          </a:p>
        </p:txBody>
      </p:sp>
      <p:sp>
        <p:nvSpPr>
          <p:cNvPr id="166916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50292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Consider the prism to your right. If we illuminate it with white light, which color will be at the top of the rainbow?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Red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Yellow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Green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Blue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Violet</a:t>
            </a:r>
          </a:p>
        </p:txBody>
      </p:sp>
      <p:sp>
        <p:nvSpPr>
          <p:cNvPr id="1669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BB0475B-372D-42DB-B934-2D0A63485EDD}" type="slidenum">
              <a:rPr lang="en-US" smtClean="0"/>
              <a:pPr/>
              <a:t>2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9650EA-7249-33F4-BDC6-BB1A02E22798}"/>
              </a:ext>
            </a:extLst>
          </p:cNvPr>
          <p:cNvGrpSpPr/>
          <p:nvPr/>
        </p:nvGrpSpPr>
        <p:grpSpPr>
          <a:xfrm>
            <a:off x="3695307" y="3683524"/>
            <a:ext cx="3938532" cy="1987091"/>
            <a:chOff x="0" y="914400"/>
            <a:chExt cx="7696200" cy="4572000"/>
          </a:xfrm>
        </p:grpSpPr>
        <p:sp>
          <p:nvSpPr>
            <p:cNvPr id="2" name="Isosceles Triangle 1">
              <a:extLst>
                <a:ext uri="{FF2B5EF4-FFF2-40B4-BE49-F238E27FC236}">
                  <a16:creationId xmlns:a16="http://schemas.microsoft.com/office/drawing/2014/main" id="{9DEC2BA7-8395-DB01-2E41-A6D1831AC060}"/>
                </a:ext>
              </a:extLst>
            </p:cNvPr>
            <p:cNvSpPr/>
            <p:nvPr/>
          </p:nvSpPr>
          <p:spPr>
            <a:xfrm>
              <a:off x="2209800" y="914400"/>
              <a:ext cx="4495800" cy="4572000"/>
            </a:xfrm>
            <a:prstGeom prst="triangle">
              <a:avLst/>
            </a:prstGeom>
            <a:gradFill flip="none" rotWithShape="1">
              <a:gsLst>
                <a:gs pos="0">
                  <a:schemeClr val="tx2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tx2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tx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1BEDB1E-C789-723B-303F-59329052E523}"/>
                </a:ext>
              </a:extLst>
            </p:cNvPr>
            <p:cNvCxnSpPr/>
            <p:nvPr/>
          </p:nvCxnSpPr>
          <p:spPr>
            <a:xfrm flipV="1">
              <a:off x="3443288" y="1981200"/>
              <a:ext cx="3948112" cy="1019175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A824A6F-D27D-BF74-7F31-590F1F237C25}"/>
                </a:ext>
              </a:extLst>
            </p:cNvPr>
            <p:cNvCxnSpPr/>
            <p:nvPr/>
          </p:nvCxnSpPr>
          <p:spPr>
            <a:xfrm>
              <a:off x="3429000" y="2931719"/>
              <a:ext cx="2052272" cy="4008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819CFC2-BE55-C89C-390F-F092D190750D}"/>
                </a:ext>
              </a:extLst>
            </p:cNvPr>
            <p:cNvCxnSpPr/>
            <p:nvPr/>
          </p:nvCxnSpPr>
          <p:spPr>
            <a:xfrm>
              <a:off x="3429000" y="2971800"/>
              <a:ext cx="2438400" cy="8382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1369606-27CA-0876-0011-E73D5798357D}"/>
                </a:ext>
              </a:extLst>
            </p:cNvPr>
            <p:cNvCxnSpPr/>
            <p:nvPr/>
          </p:nvCxnSpPr>
          <p:spPr>
            <a:xfrm>
              <a:off x="5867400" y="3810000"/>
              <a:ext cx="1752600" cy="1143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38B7CEB-8D47-9CB8-7AF5-1FDD5BE2CB79}"/>
                </a:ext>
              </a:extLst>
            </p:cNvPr>
            <p:cNvCxnSpPr/>
            <p:nvPr/>
          </p:nvCxnSpPr>
          <p:spPr>
            <a:xfrm>
              <a:off x="5410200" y="2971800"/>
              <a:ext cx="2286000" cy="6096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810475E-1B1A-782E-7E99-8C0C2B8C0210}"/>
                </a:ext>
              </a:extLst>
            </p:cNvPr>
            <p:cNvSpPr/>
            <p:nvPr/>
          </p:nvSpPr>
          <p:spPr>
            <a:xfrm rot="6327316">
              <a:off x="6567281" y="3192964"/>
              <a:ext cx="391911" cy="327479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E76D5020-7100-D304-9A78-CC36CB3270D4}"/>
                </a:ext>
              </a:extLst>
            </p:cNvPr>
            <p:cNvSpPr/>
            <p:nvPr/>
          </p:nvSpPr>
          <p:spPr>
            <a:xfrm rot="7402833">
              <a:off x="6373187" y="4128580"/>
              <a:ext cx="391911" cy="327479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95358D-6F5E-C489-8446-EBE7B71DA6C8}"/>
                </a:ext>
              </a:extLst>
            </p:cNvPr>
            <p:cNvSpPr txBox="1"/>
            <p:nvPr/>
          </p:nvSpPr>
          <p:spPr>
            <a:xfrm>
              <a:off x="0" y="2514600"/>
              <a:ext cx="1828799" cy="191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White Light</a:t>
              </a:r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8951A5C-1038-6AD4-487A-1CAC3912694D}"/>
              </a:ext>
            </a:extLst>
          </p:cNvPr>
          <p:cNvCxnSpPr>
            <a:cxnSpLocks/>
          </p:cNvCxnSpPr>
          <p:nvPr/>
        </p:nvCxnSpPr>
        <p:spPr>
          <a:xfrm flipV="1">
            <a:off x="4514208" y="4570574"/>
            <a:ext cx="958684" cy="4202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876300"/>
            <a:ext cx="6096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/>
          <p:cNvSpPr/>
          <p:nvPr/>
        </p:nvSpPr>
        <p:spPr>
          <a:xfrm>
            <a:off x="2209800" y="914400"/>
            <a:ext cx="4495800" cy="4572000"/>
          </a:xfrm>
          <a:prstGeom prst="triangle">
            <a:avLst/>
          </a:prstGeom>
          <a:gradFill flip="none" rotWithShape="1">
            <a:gsLst>
              <a:gs pos="0">
                <a:schemeClr val="tx2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tx2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tx2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3443288" y="1981200"/>
            <a:ext cx="3948112" cy="1019175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29000" y="2931719"/>
            <a:ext cx="2052272" cy="40081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3429000" y="2971800"/>
            <a:ext cx="2438400" cy="83820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5867400" y="3810000"/>
            <a:ext cx="1752600" cy="114300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5410200" y="2971800"/>
            <a:ext cx="2286000" cy="6096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6327316">
            <a:off x="6567281" y="3192964"/>
            <a:ext cx="391911" cy="327479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Isosceles Triangle 23"/>
          <p:cNvSpPr/>
          <p:nvPr/>
        </p:nvSpPr>
        <p:spPr>
          <a:xfrm rot="7402833">
            <a:off x="6373187" y="4128580"/>
            <a:ext cx="391911" cy="327479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c 24"/>
          <p:cNvSpPr/>
          <p:nvPr/>
        </p:nvSpPr>
        <p:spPr>
          <a:xfrm>
            <a:off x="5486400" y="2286000"/>
            <a:ext cx="533400" cy="1143000"/>
          </a:xfrm>
          <a:prstGeom prst="arc">
            <a:avLst>
              <a:gd name="adj1" fmla="val 17932223"/>
              <a:gd name="adj2" fmla="val 153342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/>
          <p:cNvSpPr/>
          <p:nvPr/>
        </p:nvSpPr>
        <p:spPr>
          <a:xfrm>
            <a:off x="4191000" y="1524000"/>
            <a:ext cx="3124200" cy="3810000"/>
          </a:xfrm>
          <a:prstGeom prst="arc">
            <a:avLst>
              <a:gd name="adj1" fmla="val 18715325"/>
              <a:gd name="adj2" fmla="val 2374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0" y="2514600"/>
            <a:ext cx="1828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White Light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7200" y="3733800"/>
            <a:ext cx="8182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181600"/>
            <a:ext cx="9220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19800" y="2286000"/>
            <a:ext cx="1066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ym typeface="Symbol"/>
              </a:rPr>
              <a:t></a:t>
            </a:r>
            <a:r>
              <a:rPr lang="en-US" sz="4000" baseline="-25000" dirty="0">
                <a:sym typeface="Symbol"/>
              </a:rPr>
              <a:t>R</a:t>
            </a:r>
            <a:endParaRPr lang="en-US" sz="4000" baseline="-25000" dirty="0"/>
          </a:p>
        </p:txBody>
      </p:sp>
      <p:sp>
        <p:nvSpPr>
          <p:cNvPr id="31" name="TextBox 30"/>
          <p:cNvSpPr txBox="1"/>
          <p:nvPr/>
        </p:nvSpPr>
        <p:spPr>
          <a:xfrm>
            <a:off x="7391400" y="2667000"/>
            <a:ext cx="1066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ym typeface="Symbol"/>
              </a:rPr>
              <a:t></a:t>
            </a:r>
            <a:r>
              <a:rPr lang="en-US" sz="4000" baseline="-25000" dirty="0">
                <a:sym typeface="Symbol"/>
              </a:rPr>
              <a:t>B</a:t>
            </a:r>
            <a:endParaRPr lang="en-US" sz="4000" baseline="-25000" dirty="0"/>
          </a:p>
        </p:txBody>
      </p:sp>
      <p:sp>
        <p:nvSpPr>
          <p:cNvPr id="33" name="Freeform 32"/>
          <p:cNvSpPr/>
          <p:nvPr/>
        </p:nvSpPr>
        <p:spPr>
          <a:xfrm>
            <a:off x="1714499" y="2909888"/>
            <a:ext cx="1752600" cy="571500"/>
          </a:xfrm>
          <a:custGeom>
            <a:avLst/>
            <a:gdLst>
              <a:gd name="connsiteX0" fmla="*/ 0 w 1752600"/>
              <a:gd name="connsiteY0" fmla="*/ 447675 h 571500"/>
              <a:gd name="connsiteX1" fmla="*/ 747713 w 1752600"/>
              <a:gd name="connsiteY1" fmla="*/ 252413 h 571500"/>
              <a:gd name="connsiteX2" fmla="*/ 700088 w 1752600"/>
              <a:gd name="connsiteY2" fmla="*/ 109538 h 571500"/>
              <a:gd name="connsiteX3" fmla="*/ 1047750 w 1752600"/>
              <a:gd name="connsiteY3" fmla="*/ 176213 h 571500"/>
              <a:gd name="connsiteX4" fmla="*/ 1752600 w 1752600"/>
              <a:gd name="connsiteY4" fmla="*/ 0 h 571500"/>
              <a:gd name="connsiteX5" fmla="*/ 1666875 w 1752600"/>
              <a:gd name="connsiteY5" fmla="*/ 171450 h 571500"/>
              <a:gd name="connsiteX6" fmla="*/ 1047750 w 1752600"/>
              <a:gd name="connsiteY6" fmla="*/ 314325 h 571500"/>
              <a:gd name="connsiteX7" fmla="*/ 833438 w 1752600"/>
              <a:gd name="connsiteY7" fmla="*/ 519113 h 571500"/>
              <a:gd name="connsiteX8" fmla="*/ 776288 w 1752600"/>
              <a:gd name="connsiteY8" fmla="*/ 381000 h 571500"/>
              <a:gd name="connsiteX9" fmla="*/ 38100 w 1752600"/>
              <a:gd name="connsiteY9" fmla="*/ 571500 h 571500"/>
              <a:gd name="connsiteX10" fmla="*/ 0 w 1752600"/>
              <a:gd name="connsiteY10" fmla="*/ 447675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52600" h="571500">
                <a:moveTo>
                  <a:pt x="0" y="447675"/>
                </a:moveTo>
                <a:lnTo>
                  <a:pt x="747713" y="252413"/>
                </a:lnTo>
                <a:lnTo>
                  <a:pt x="700088" y="109538"/>
                </a:lnTo>
                <a:lnTo>
                  <a:pt x="1047750" y="176213"/>
                </a:lnTo>
                <a:lnTo>
                  <a:pt x="1752600" y="0"/>
                </a:lnTo>
                <a:lnTo>
                  <a:pt x="1666875" y="171450"/>
                </a:lnTo>
                <a:lnTo>
                  <a:pt x="1047750" y="314325"/>
                </a:lnTo>
                <a:lnTo>
                  <a:pt x="833438" y="519113"/>
                </a:lnTo>
                <a:lnTo>
                  <a:pt x="776288" y="381000"/>
                </a:lnTo>
                <a:lnTo>
                  <a:pt x="38100" y="571500"/>
                </a:lnTo>
                <a:lnTo>
                  <a:pt x="0" y="447675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Content Placeholder 20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2" name="Picture 1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0" y="1618938"/>
            <a:ext cx="6261666" cy="4507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1986D9-8438-D259-6C4F-DFB1359BB7E1}"/>
              </a:ext>
            </a:extLst>
          </p:cNvPr>
          <p:cNvCxnSpPr>
            <a:cxnSpLocks/>
          </p:cNvCxnSpPr>
          <p:nvPr/>
        </p:nvCxnSpPr>
        <p:spPr>
          <a:xfrm>
            <a:off x="5387420" y="3929094"/>
            <a:ext cx="1333892" cy="136653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38C8F3-A4F2-2433-E35E-ECFEACB138AD}"/>
              </a:ext>
            </a:extLst>
          </p:cNvPr>
          <p:cNvCxnSpPr>
            <a:cxnSpLocks/>
          </p:cNvCxnSpPr>
          <p:nvPr/>
        </p:nvCxnSpPr>
        <p:spPr>
          <a:xfrm>
            <a:off x="5387420" y="4199031"/>
            <a:ext cx="1051087" cy="159845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3416"/>
            <a:ext cx="8229600" cy="57627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Light of wavelength 700nm  is incident on the face of a fused quartz prism at an angle of 75.0℃  (with respect to the normal to the surface). The apex angle of the prism is 60.0℃ . Use the value of n=1.458 and calculate the angle</a:t>
            </a:r>
          </a:p>
          <a:p>
            <a:pPr marL="514350" indent="-514350">
              <a:buAutoNum type="alphaLcParenBoth"/>
            </a:pPr>
            <a:r>
              <a:rPr lang="en-US" dirty="0"/>
              <a:t>of refraction at this first surface,</a:t>
            </a:r>
          </a:p>
          <a:p>
            <a:pPr marL="514350" indent="-514350">
              <a:buAutoNum type="alphaLcParenBoth"/>
            </a:pPr>
            <a:r>
              <a:rPr lang="en-US" dirty="0"/>
              <a:t>of incidence at the second surface,</a:t>
            </a:r>
          </a:p>
          <a:p>
            <a:pPr marL="514350" indent="-514350">
              <a:buAutoNum type="alphaLcParenBoth"/>
            </a:pPr>
            <a:r>
              <a:rPr lang="en-US" dirty="0"/>
              <a:t>of refraction at the second surface, and</a:t>
            </a:r>
          </a:p>
          <a:p>
            <a:pPr marL="514350" indent="-514350">
              <a:buAutoNum type="alphaLcParenBoth"/>
            </a:pPr>
            <a:r>
              <a:rPr lang="en-US" dirty="0"/>
              <a:t>between the incident and emerging rays. </a:t>
            </a:r>
          </a:p>
        </p:txBody>
      </p:sp>
    </p:spTree>
    <p:extLst>
      <p:ext uri="{BB962C8B-B14F-4D97-AF65-F5344CB8AC3E}">
        <p14:creationId xmlns:p14="http://schemas.microsoft.com/office/powerpoint/2010/main" val="3542280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363416"/>
                <a:ext cx="8229600" cy="576274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If we have a prism shaped piece of material, we can easily measure the incident angle,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for light that strikes the material and then goes horizontally across the prism. We an also measure the angle between the incident and emerging rays, </a:t>
                </a:r>
                <a:r>
                  <a:rPr lang="en-US" dirty="0">
                    <a:sym typeface="Symbol" panose="05050102010706020507" pitchFamily="18" charset="2"/>
                  </a:rPr>
                  <a:t></a:t>
                </a:r>
                <a:r>
                  <a:rPr lang="en-US" dirty="0"/>
                  <a:t>. Knowing these angles and the dimensions of the prism</a:t>
                </a:r>
                <a:r>
                  <a:rPr lang="en-US"/>
                  <a:t>, design </a:t>
                </a:r>
                <a:r>
                  <a:rPr lang="en-US" dirty="0"/>
                  <a:t>a method that will allow you to find the index of refraction of </a:t>
                </a:r>
                <a:r>
                  <a:rPr lang="en-US"/>
                  <a:t>the material.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363416"/>
                <a:ext cx="8229600" cy="5762748"/>
              </a:xfrm>
              <a:blipFill>
                <a:blip r:embed="rId2"/>
                <a:stretch>
                  <a:fillRect l="-1852" t="-1376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1940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99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</a:t>
            </a:r>
            <a:r>
              <a:rPr lang="en-US">
                <a:sym typeface="Symbol" pitchFamily="18" charset="2"/>
              </a:rPr>
              <a:t>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440925" y="1289466"/>
            <a:ext cx="6597546" cy="4661531"/>
            <a:chOff x="1365510" y="1694819"/>
            <a:chExt cx="6597546" cy="3957403"/>
          </a:xfrm>
        </p:grpSpPr>
        <p:sp>
          <p:nvSpPr>
            <p:cNvPr id="37" name="Text Box 6"/>
            <p:cNvSpPr txBox="1">
              <a:spLocks noChangeArrowheads="1"/>
            </p:cNvSpPr>
            <p:nvPr/>
          </p:nvSpPr>
          <p:spPr bwMode="auto">
            <a:xfrm>
              <a:off x="4075606" y="3252467"/>
              <a:ext cx="303213" cy="31591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>
                  <a:sym typeface="Symbol" pitchFamily="18" charset="2"/>
                </a:rPr>
                <a:t></a:t>
              </a:r>
            </a:p>
          </p:txBody>
        </p:sp>
        <p:sp>
          <p:nvSpPr>
            <p:cNvPr id="38" name="Isosceles Triangle 37"/>
            <p:cNvSpPr/>
            <p:nvPr/>
          </p:nvSpPr>
          <p:spPr>
            <a:xfrm>
              <a:off x="2056306" y="2243005"/>
              <a:ext cx="4495800" cy="3409217"/>
            </a:xfrm>
            <a:prstGeom prst="triangle">
              <a:avLst/>
            </a:prstGeom>
            <a:gradFill flip="none" rotWithShape="1">
              <a:gsLst>
                <a:gs pos="0">
                  <a:schemeClr val="accent1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accent1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accent1">
                    <a:lumMod val="20000"/>
                    <a:lumOff val="80000"/>
                    <a:shade val="100000"/>
                    <a:satMod val="115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9" name="Straight Connector 38"/>
            <p:cNvCxnSpPr>
              <a:stCxn id="38" idx="1"/>
            </p:cNvCxnSpPr>
            <p:nvPr/>
          </p:nvCxnSpPr>
          <p:spPr>
            <a:xfrm flipH="1">
              <a:off x="1365510" y="3947614"/>
              <a:ext cx="1814746" cy="90396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38" idx="5"/>
            </p:cNvCxnSpPr>
            <p:nvPr/>
          </p:nvCxnSpPr>
          <p:spPr>
            <a:xfrm>
              <a:off x="5428156" y="3947614"/>
              <a:ext cx="1708567" cy="839391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>
              <a:stCxn id="38" idx="1"/>
              <a:endCxn id="38" idx="5"/>
            </p:cNvCxnSpPr>
            <p:nvPr/>
          </p:nvCxnSpPr>
          <p:spPr>
            <a:xfrm>
              <a:off x="3180256" y="3947614"/>
              <a:ext cx="2247900" cy="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/>
          </p:nvCxnSpPr>
          <p:spPr>
            <a:xfrm>
              <a:off x="4286717" y="1694819"/>
              <a:ext cx="12727" cy="168483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38" idx="1"/>
              <a:endCxn id="38" idx="1"/>
            </p:cNvCxnSpPr>
            <p:nvPr/>
          </p:nvCxnSpPr>
          <p:spPr>
            <a:xfrm>
              <a:off x="3180256" y="3947614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>
              <a:stCxn id="38" idx="1"/>
            </p:cNvCxnSpPr>
            <p:nvPr/>
          </p:nvCxnSpPr>
          <p:spPr>
            <a:xfrm flipV="1">
              <a:off x="3180256" y="1933077"/>
              <a:ext cx="3956467" cy="2014537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>
              <a:cxnSpLocks/>
            </p:cNvCxnSpPr>
            <p:nvPr/>
          </p:nvCxnSpPr>
          <p:spPr>
            <a:xfrm flipH="1" flipV="1">
              <a:off x="1472024" y="2992327"/>
              <a:ext cx="2761273" cy="15158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 flipV="1">
              <a:off x="4286717" y="3373600"/>
              <a:ext cx="1126761" cy="583269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Arc 48"/>
            <p:cNvSpPr/>
            <p:nvPr/>
          </p:nvSpPr>
          <p:spPr>
            <a:xfrm>
              <a:off x="3695856" y="1858392"/>
              <a:ext cx="3124200" cy="3282232"/>
            </a:xfrm>
            <a:prstGeom prst="arc">
              <a:avLst>
                <a:gd name="adj1" fmla="val 18715325"/>
                <a:gd name="adj2" fmla="val 2374383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896256" y="2843062"/>
              <a:ext cx="1066800" cy="556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sym typeface="Symbol"/>
                </a:rPr>
                <a:t></a:t>
              </a:r>
              <a:endParaRPr lang="en-US" sz="3600" baseline="-25000" dirty="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152603" y="3626425"/>
              <a:ext cx="1066800" cy="45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ym typeface="Symbol"/>
                </a:rPr>
                <a:t></a:t>
              </a:r>
              <a:r>
                <a:rPr lang="en-US" sz="2800" baseline="-25000" dirty="0">
                  <a:sym typeface="Symbol"/>
                </a:rPr>
                <a:t>1</a:t>
              </a:r>
              <a:endParaRPr lang="en-US" sz="2800" baseline="-25000" dirty="0"/>
            </a:p>
          </p:txBody>
        </p:sp>
        <p:sp>
          <p:nvSpPr>
            <p:cNvPr id="57" name="Arc 56"/>
            <p:cNvSpPr/>
            <p:nvPr/>
          </p:nvSpPr>
          <p:spPr>
            <a:xfrm>
              <a:off x="5410590" y="3560780"/>
              <a:ext cx="798226" cy="1020182"/>
            </a:xfrm>
            <a:prstGeom prst="arc">
              <a:avLst>
                <a:gd name="adj1" fmla="val 17876737"/>
                <a:gd name="adj2" fmla="val 1756075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/>
            <p:cNvSpPr/>
            <p:nvPr/>
          </p:nvSpPr>
          <p:spPr>
            <a:xfrm flipH="1">
              <a:off x="4840106" y="3750249"/>
              <a:ext cx="798226" cy="682275"/>
            </a:xfrm>
            <a:prstGeom prst="arc">
              <a:avLst>
                <a:gd name="adj1" fmla="val 20356979"/>
                <a:gd name="adj2" fmla="val 1371093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487836" y="4577803"/>
              <a:ext cx="1066800" cy="45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ym typeface="Symbol"/>
                </a:rPr>
                <a:t></a:t>
              </a:r>
              <a:r>
                <a:rPr lang="en-US" sz="2800" baseline="-25000" dirty="0">
                  <a:sym typeface="Symbol"/>
                </a:rPr>
                <a:t>2</a:t>
              </a:r>
              <a:endParaRPr lang="en-US" sz="2800" baseline="-25000" dirty="0"/>
            </a:p>
          </p:txBody>
        </p:sp>
        <p:sp>
          <p:nvSpPr>
            <p:cNvPr id="66" name="Freeform 65"/>
            <p:cNvSpPr/>
            <p:nvPr/>
          </p:nvSpPr>
          <p:spPr>
            <a:xfrm flipV="1">
              <a:off x="4648980" y="4135508"/>
              <a:ext cx="132413" cy="490720"/>
            </a:xfrm>
            <a:custGeom>
              <a:avLst/>
              <a:gdLst>
                <a:gd name="connsiteX0" fmla="*/ 102433 w 267325"/>
                <a:gd name="connsiteY0" fmla="*/ 0 h 704538"/>
                <a:gd name="connsiteX1" fmla="*/ 27482 w 267325"/>
                <a:gd name="connsiteY1" fmla="*/ 494676 h 704538"/>
                <a:gd name="connsiteX2" fmla="*/ 267325 w 267325"/>
                <a:gd name="connsiteY2" fmla="*/ 704538 h 70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325" h="704538">
                  <a:moveTo>
                    <a:pt x="102433" y="0"/>
                  </a:moveTo>
                  <a:cubicBezTo>
                    <a:pt x="51216" y="188626"/>
                    <a:pt x="0" y="377253"/>
                    <a:pt x="27482" y="494676"/>
                  </a:cubicBezTo>
                  <a:cubicBezTo>
                    <a:pt x="54964" y="612099"/>
                    <a:pt x="161144" y="658318"/>
                    <a:pt x="267325" y="704538"/>
                  </a:cubicBezTo>
                </a:path>
              </a:pathLst>
            </a:cu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Arc 66"/>
            <p:cNvSpPr/>
            <p:nvPr/>
          </p:nvSpPr>
          <p:spPr>
            <a:xfrm>
              <a:off x="2953844" y="3764887"/>
              <a:ext cx="798226" cy="682275"/>
            </a:xfrm>
            <a:prstGeom prst="arc">
              <a:avLst>
                <a:gd name="adj1" fmla="val 20356979"/>
                <a:gd name="adj2" fmla="val 1371093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411043" y="4579955"/>
              <a:ext cx="1066800" cy="45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ym typeface="Symbol"/>
                </a:rPr>
                <a:t></a:t>
              </a:r>
              <a:r>
                <a:rPr lang="en-US" sz="2800" baseline="-25000" dirty="0">
                  <a:sym typeface="Symbol"/>
                </a:rPr>
                <a:t>2</a:t>
              </a:r>
              <a:endParaRPr lang="en-US" sz="2800" baseline="-25000" dirty="0"/>
            </a:p>
          </p:txBody>
        </p:sp>
        <p:sp>
          <p:nvSpPr>
            <p:cNvPr id="77" name="Freeform 76"/>
            <p:cNvSpPr/>
            <p:nvPr/>
          </p:nvSpPr>
          <p:spPr>
            <a:xfrm flipH="1" flipV="1">
              <a:off x="3797040" y="4176401"/>
              <a:ext cx="132413" cy="490720"/>
            </a:xfrm>
            <a:custGeom>
              <a:avLst/>
              <a:gdLst>
                <a:gd name="connsiteX0" fmla="*/ 102433 w 267325"/>
                <a:gd name="connsiteY0" fmla="*/ 0 h 704538"/>
                <a:gd name="connsiteX1" fmla="*/ 27482 w 267325"/>
                <a:gd name="connsiteY1" fmla="*/ 494676 h 704538"/>
                <a:gd name="connsiteX2" fmla="*/ 267325 w 267325"/>
                <a:gd name="connsiteY2" fmla="*/ 704538 h 70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325" h="704538">
                  <a:moveTo>
                    <a:pt x="102433" y="0"/>
                  </a:moveTo>
                  <a:cubicBezTo>
                    <a:pt x="51216" y="188626"/>
                    <a:pt x="0" y="377253"/>
                    <a:pt x="27482" y="494676"/>
                  </a:cubicBezTo>
                  <a:cubicBezTo>
                    <a:pt x="54964" y="612099"/>
                    <a:pt x="161144" y="658318"/>
                    <a:pt x="267325" y="704538"/>
                  </a:cubicBezTo>
                </a:path>
              </a:pathLst>
            </a:cu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c 78"/>
            <p:cNvSpPr/>
            <p:nvPr/>
          </p:nvSpPr>
          <p:spPr>
            <a:xfrm>
              <a:off x="2822992" y="3495674"/>
              <a:ext cx="798226" cy="682275"/>
            </a:xfrm>
            <a:prstGeom prst="arc">
              <a:avLst>
                <a:gd name="adj1" fmla="val 20835322"/>
                <a:gd name="adj2" fmla="val 780224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 Box 7"/>
            <p:cNvSpPr txBox="1">
              <a:spLocks noChangeArrowheads="1"/>
            </p:cNvSpPr>
            <p:nvPr/>
          </p:nvSpPr>
          <p:spPr bwMode="auto">
            <a:xfrm>
              <a:off x="3989881" y="3096561"/>
              <a:ext cx="322263" cy="31591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</a:t>
              </a:r>
            </a:p>
          </p:txBody>
        </p:sp>
        <p:sp>
          <p:nvSpPr>
            <p:cNvPr id="81" name="Text Box 5"/>
            <p:cNvSpPr txBox="1">
              <a:spLocks noChangeArrowheads="1"/>
            </p:cNvSpPr>
            <p:nvPr/>
          </p:nvSpPr>
          <p:spPr bwMode="auto">
            <a:xfrm>
              <a:off x="4166093" y="3449401"/>
              <a:ext cx="309563" cy="31591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</a:t>
              </a:r>
            </a:p>
          </p:txBody>
        </p:sp>
        <p:sp>
          <p:nvSpPr>
            <p:cNvPr id="82" name="Text Box 7"/>
            <p:cNvSpPr txBox="1">
              <a:spLocks noChangeArrowheads="1"/>
            </p:cNvSpPr>
            <p:nvPr/>
          </p:nvSpPr>
          <p:spPr bwMode="auto">
            <a:xfrm>
              <a:off x="3575543" y="3642232"/>
              <a:ext cx="330540" cy="31817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</a:t>
              </a:r>
            </a:p>
          </p:txBody>
        </p:sp>
        <p:sp>
          <p:nvSpPr>
            <p:cNvPr id="83" name="Text Box 7"/>
            <p:cNvSpPr txBox="1">
              <a:spLocks noChangeArrowheads="1"/>
            </p:cNvSpPr>
            <p:nvPr/>
          </p:nvSpPr>
          <p:spPr bwMode="auto">
            <a:xfrm>
              <a:off x="4628055" y="3642232"/>
              <a:ext cx="330540" cy="31817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</a:t>
              </a:r>
            </a:p>
          </p:txBody>
        </p:sp>
        <p:sp>
          <p:nvSpPr>
            <p:cNvPr id="84" name="Arc 83"/>
            <p:cNvSpPr/>
            <p:nvPr/>
          </p:nvSpPr>
          <p:spPr>
            <a:xfrm flipH="1">
              <a:off x="4937542" y="3491571"/>
              <a:ext cx="798226" cy="682275"/>
            </a:xfrm>
            <a:prstGeom prst="arc">
              <a:avLst>
                <a:gd name="adj1" fmla="val 20835322"/>
                <a:gd name="adj2" fmla="val 780224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987367" y="3670009"/>
              <a:ext cx="1066800" cy="45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ym typeface="Symbol"/>
                </a:rPr>
                <a:t></a:t>
              </a:r>
              <a:r>
                <a:rPr lang="en-US" sz="2800" baseline="-25000" dirty="0">
                  <a:sym typeface="Symbol"/>
                </a:rPr>
                <a:t>1</a:t>
              </a:r>
              <a:endParaRPr lang="en-US" sz="2800" baseline="-25000" dirty="0"/>
            </a:p>
          </p:txBody>
        </p:sp>
        <p:sp>
          <p:nvSpPr>
            <p:cNvPr id="86" name="Arc 85"/>
            <p:cNvSpPr/>
            <p:nvPr/>
          </p:nvSpPr>
          <p:spPr>
            <a:xfrm flipH="1">
              <a:off x="2575341" y="3545579"/>
              <a:ext cx="798226" cy="1020182"/>
            </a:xfrm>
            <a:prstGeom prst="arc">
              <a:avLst>
                <a:gd name="adj1" fmla="val 18715325"/>
                <a:gd name="adj2" fmla="val 1371093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Arc 86"/>
            <p:cNvSpPr/>
            <p:nvPr/>
          </p:nvSpPr>
          <p:spPr>
            <a:xfrm rot="5400000">
              <a:off x="3787916" y="1996638"/>
              <a:ext cx="687654" cy="791982"/>
            </a:xfrm>
            <a:prstGeom prst="arc">
              <a:avLst>
                <a:gd name="adj1" fmla="val 20835322"/>
                <a:gd name="adj2" fmla="val 780224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 Box 7"/>
            <p:cNvSpPr txBox="1">
              <a:spLocks noChangeArrowheads="1"/>
            </p:cNvSpPr>
            <p:nvPr/>
          </p:nvSpPr>
          <p:spPr bwMode="auto">
            <a:xfrm>
              <a:off x="3018332" y="2641153"/>
              <a:ext cx="567784" cy="31817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/>
                </a:rPr>
                <a:t>/2</a:t>
              </a:r>
              <a:endParaRPr lang="en-US" i="1" dirty="0">
                <a:sym typeface="Symbol" pitchFamily="18" charset="2"/>
              </a:endParaRPr>
            </a:p>
          </p:txBody>
        </p:sp>
        <p:sp>
          <p:nvSpPr>
            <p:cNvPr id="89" name="Freeform 88"/>
            <p:cNvSpPr/>
            <p:nvPr/>
          </p:nvSpPr>
          <p:spPr>
            <a:xfrm>
              <a:off x="3570781" y="2788852"/>
              <a:ext cx="538163" cy="123084"/>
            </a:xfrm>
            <a:custGeom>
              <a:avLst/>
              <a:gdLst>
                <a:gd name="connsiteX0" fmla="*/ 0 w 671513"/>
                <a:gd name="connsiteY0" fmla="*/ 104775 h 184150"/>
                <a:gd name="connsiteX1" fmla="*/ 404813 w 671513"/>
                <a:gd name="connsiteY1" fmla="*/ 166688 h 184150"/>
                <a:gd name="connsiteX2" fmla="*/ 671513 w 671513"/>
                <a:gd name="connsiteY2" fmla="*/ 0 h 184150"/>
                <a:gd name="connsiteX3" fmla="*/ 671513 w 671513"/>
                <a:gd name="connsiteY3" fmla="*/ 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1513" h="184150">
                  <a:moveTo>
                    <a:pt x="0" y="104775"/>
                  </a:moveTo>
                  <a:cubicBezTo>
                    <a:pt x="146447" y="144462"/>
                    <a:pt x="292894" y="184150"/>
                    <a:pt x="404813" y="166688"/>
                  </a:cubicBezTo>
                  <a:cubicBezTo>
                    <a:pt x="516732" y="149226"/>
                    <a:pt x="671513" y="0"/>
                    <a:pt x="671513" y="0"/>
                  </a:cubicBezTo>
                  <a:lnTo>
                    <a:pt x="671513" y="0"/>
                  </a:lnTo>
                </a:path>
              </a:pathLst>
            </a:cu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103089" y="5150310"/>
              <a:ext cx="1066800" cy="45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ym typeface="Symbol"/>
                </a:rPr>
                <a:t>n</a:t>
              </a:r>
              <a:endParaRPr lang="en-US" sz="2800" baseline="-25000" dirty="0"/>
            </a:p>
          </p:txBody>
        </p:sp>
        <p:sp>
          <p:nvSpPr>
            <p:cNvPr id="91" name="Arc 90"/>
            <p:cNvSpPr/>
            <p:nvPr/>
          </p:nvSpPr>
          <p:spPr>
            <a:xfrm>
              <a:off x="2877644" y="3472806"/>
              <a:ext cx="798226" cy="682275"/>
            </a:xfrm>
            <a:prstGeom prst="arc">
              <a:avLst>
                <a:gd name="adj1" fmla="val 18144528"/>
                <a:gd name="adj2" fmla="val 20242324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462661" y="3314932"/>
              <a:ext cx="362600" cy="3181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</a:t>
              </a:r>
              <a:r>
                <a:rPr lang="en-US" i="1" dirty="0">
                  <a:sym typeface="Symbol"/>
                </a:rPr>
                <a:t></a:t>
              </a:r>
              <a:endParaRPr lang="en-US" i="1" dirty="0">
                <a:sym typeface="Symbol" pitchFamily="18" charset="2"/>
              </a:endParaRPr>
            </a:p>
          </p:txBody>
        </p:sp>
        <p:sp>
          <p:nvSpPr>
            <p:cNvPr id="93" name="Arc 92"/>
            <p:cNvSpPr/>
            <p:nvPr/>
          </p:nvSpPr>
          <p:spPr>
            <a:xfrm flipH="1">
              <a:off x="4901707" y="3460498"/>
              <a:ext cx="798226" cy="682275"/>
            </a:xfrm>
            <a:prstGeom prst="arc">
              <a:avLst>
                <a:gd name="adj1" fmla="val 18144528"/>
                <a:gd name="adj2" fmla="val 20242324"/>
              </a:avLst>
            </a:prstGeom>
            <a:ln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 flipH="1">
              <a:off x="4710436" y="3339549"/>
              <a:ext cx="362600" cy="3181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i="1" dirty="0">
                  <a:sym typeface="Symbol" pitchFamily="18" charset="2"/>
                </a:rPr>
                <a:t></a:t>
              </a:r>
              <a:r>
                <a:rPr lang="en-US" i="1" dirty="0">
                  <a:sym typeface="Symbol"/>
                </a:rPr>
                <a:t></a:t>
              </a:r>
              <a:endParaRPr lang="en-US" i="1" dirty="0">
                <a:sym typeface="Symbol" pitchFamily="18" charset="2"/>
              </a:endParaRPr>
            </a:p>
          </p:txBody>
        </p:sp>
      </p:grpSp>
      <p:cxnSp>
        <p:nvCxnSpPr>
          <p:cNvPr id="50" name="Straight Connector 49"/>
          <p:cNvCxnSpPr>
            <a:cxnSpLocks/>
          </p:cNvCxnSpPr>
          <p:nvPr/>
        </p:nvCxnSpPr>
        <p:spPr>
          <a:xfrm flipV="1">
            <a:off x="4307480" y="3449043"/>
            <a:ext cx="2109481" cy="115234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223.15.2</a:t>
            </a:r>
          </a:p>
        </p:txBody>
      </p:sp>
      <p:sp>
        <p:nvSpPr>
          <p:cNvPr id="16896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You build a prism out of a thin walled container filled with water. If the water prism is immersed in a tank of water, does it still make a rainbow?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6896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03A2B1E-9A93-408B-A81C-F5EF6D873263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66900" y="1028700"/>
            <a:ext cx="54102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http://www.nasa.gov/centers/goddard/images/content/95377main_ndvi_1999Aug10_m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94" y="1667107"/>
            <a:ext cx="3575825" cy="268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www.nasa.gov/centers/goddard/images/content/95379main_ndvi_2002Aug10_m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9819" y="1667107"/>
            <a:ext cx="3575826" cy="268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33994" y="6280646"/>
            <a:ext cx="7987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 courtesy NASA (http://www.nasa.gov/centers/goddard/news/topstory/2004/0510westdrought.html)</a:t>
            </a:r>
          </a:p>
        </p:txBody>
      </p:sp>
    </p:spTree>
    <p:extLst>
      <p:ext uri="{BB962C8B-B14F-4D97-AF65-F5344CB8AC3E}">
        <p14:creationId xmlns:p14="http://schemas.microsoft.com/office/powerpoint/2010/main" val="2993415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223.15.4</a:t>
            </a:r>
          </a:p>
        </p:txBody>
      </p:sp>
      <p:sp>
        <p:nvSpPr>
          <p:cNvPr id="185348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7829550" cy="4525963"/>
          </a:xfrm>
        </p:spPr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What type of lens is a simple magnifier?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Convex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Concave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Diverging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Converging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More than one of the above</a:t>
            </a:r>
          </a:p>
        </p:txBody>
      </p:sp>
      <p:sp>
        <p:nvSpPr>
          <p:cNvPr id="1853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03F159C-E831-4FD9-9DC8-B48438885749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4763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4763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92314" y="899410"/>
            <a:ext cx="1828800" cy="460198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2326833" y="1503076"/>
            <a:ext cx="1753849" cy="1259173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2758190" y="2758189"/>
            <a:ext cx="272821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4811687" y="3316184"/>
            <a:ext cx="272821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5884421" y="3308063"/>
            <a:ext cx="1753849" cy="1259173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4062413" y="2757488"/>
            <a:ext cx="1828800" cy="55245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7448474">
            <a:off x="2973187" y="1923478"/>
            <a:ext cx="201459" cy="239842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/>
          <p:cNvSpPr/>
          <p:nvPr/>
        </p:nvSpPr>
        <p:spPr>
          <a:xfrm rot="7746428">
            <a:off x="7536014" y="4461716"/>
            <a:ext cx="200957" cy="239842"/>
          </a:xfrm>
          <a:prstGeom prst="triangle">
            <a:avLst>
              <a:gd name="adj" fmla="val 42932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5760" y="831144"/>
            <a:ext cx="8549406" cy="485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223.15.6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6079728" y="427889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7078464" y="691957"/>
            <a:ext cx="372414" cy="1289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079729" y="2584922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43" name="Straight Connector 42"/>
          <p:cNvCxnSpPr/>
          <p:nvPr/>
        </p:nvCxnSpPr>
        <p:spPr>
          <a:xfrm>
            <a:off x="7078465" y="2848990"/>
            <a:ext cx="998734" cy="103162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785621" y="1236929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6079730" y="4671617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3" cy="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7078466" y="4935685"/>
            <a:ext cx="600151" cy="12892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5400000">
            <a:off x="1336561" y="1526953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6304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31617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223.15.8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6079728" y="427889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6" cy="908529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7078463" y="1406765"/>
            <a:ext cx="1104242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079729" y="2584922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330390"/>
              <a:ext cx="2766646" cy="2049466"/>
              <a:chOff x="890954" y="2330390"/>
              <a:chExt cx="2766646" cy="2049466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1066816" y="2330390"/>
                <a:ext cx="2184851" cy="2049466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785621" y="1236929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914400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6079730" y="4671617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996452"/>
              <a:chOff x="890954" y="2508738"/>
              <a:chExt cx="2766646" cy="99645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0" cy="961804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7045297" y="5671452"/>
            <a:ext cx="1031904" cy="37430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7739718">
            <a:off x="1367428" y="1998979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76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4763" y="755650"/>
            <a:ext cx="9153526" cy="5353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1514475"/>
            <a:ext cx="9153526" cy="3829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223.15.7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grpSp>
        <p:nvGrpSpPr>
          <p:cNvPr id="22" name="Group 21"/>
          <p:cNvGrpSpPr/>
          <p:nvPr/>
        </p:nvGrpSpPr>
        <p:grpSpPr>
          <a:xfrm>
            <a:off x="6079728" y="427889"/>
            <a:ext cx="1997471" cy="1957753"/>
            <a:chOff x="890954" y="2168770"/>
            <a:chExt cx="2766646" cy="2520462"/>
          </a:xfrm>
        </p:grpSpPr>
        <p:sp>
          <p:nvSpPr>
            <p:cNvPr id="23" name="Freeform 22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890954" y="2508738"/>
              <a:ext cx="2766646" cy="1389242"/>
              <a:chOff x="890954" y="2508738"/>
              <a:chExt cx="2766646" cy="1389242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/>
              <p:cNvCxnSpPr/>
              <p:nvPr/>
            </p:nvCxnSpPr>
            <p:spPr>
              <a:xfrm>
                <a:off x="890954" y="2508738"/>
                <a:ext cx="1383326" cy="138924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31" name="Straight Connector 30"/>
          <p:cNvCxnSpPr/>
          <p:nvPr/>
        </p:nvCxnSpPr>
        <p:spPr>
          <a:xfrm>
            <a:off x="7078466" y="1771042"/>
            <a:ext cx="1104242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079729" y="2584922"/>
            <a:ext cx="1997471" cy="1957753"/>
            <a:chOff x="890954" y="2168770"/>
            <a:chExt cx="2766646" cy="2520462"/>
          </a:xfrm>
        </p:grpSpPr>
        <p:sp>
          <p:nvSpPr>
            <p:cNvPr id="35" name="Freeform 34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/>
            <p:cNvGrpSpPr/>
            <p:nvPr/>
          </p:nvGrpSpPr>
          <p:grpSpPr>
            <a:xfrm>
              <a:off x="890954" y="2508738"/>
              <a:ext cx="2766646" cy="1389243"/>
              <a:chOff x="890954" y="2508738"/>
              <a:chExt cx="2766646" cy="1389243"/>
            </a:xfrm>
          </p:grpSpPr>
          <p:cxnSp>
            <p:nvCxnSpPr>
              <p:cNvPr id="39" name="Straight Connector 38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Oval 39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/>
              <p:cNvCxnSpPr/>
              <p:nvPr/>
            </p:nvCxnSpPr>
            <p:spPr>
              <a:xfrm>
                <a:off x="890954" y="2508738"/>
                <a:ext cx="1383321" cy="138924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43" name="Straight Connector 42"/>
          <p:cNvCxnSpPr/>
          <p:nvPr/>
        </p:nvCxnSpPr>
        <p:spPr>
          <a:xfrm flipV="1">
            <a:off x="7078466" y="2965938"/>
            <a:ext cx="811165" cy="96213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785621" y="1236929"/>
            <a:ext cx="2813364" cy="2643685"/>
            <a:chOff x="890954" y="2168770"/>
            <a:chExt cx="2766646" cy="2520462"/>
          </a:xfrm>
        </p:grpSpPr>
        <p:sp>
          <p:nvSpPr>
            <p:cNvPr id="46" name="Freeform 45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890954" y="2508738"/>
              <a:ext cx="2766646" cy="1389243"/>
              <a:chOff x="890954" y="2508738"/>
              <a:chExt cx="2766646" cy="1389243"/>
            </a:xfrm>
          </p:grpSpPr>
          <p:cxnSp>
            <p:nvCxnSpPr>
              <p:cNvPr id="50" name="Straight Connector 49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Oval 50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Connector 52"/>
              <p:cNvCxnSpPr/>
              <p:nvPr/>
            </p:nvCxnSpPr>
            <p:spPr>
              <a:xfrm>
                <a:off x="890954" y="2508738"/>
                <a:ext cx="1383323" cy="1389243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6079730" y="4671617"/>
            <a:ext cx="1997471" cy="1957753"/>
            <a:chOff x="890954" y="2168770"/>
            <a:chExt cx="2766646" cy="2520462"/>
          </a:xfrm>
        </p:grpSpPr>
        <p:sp>
          <p:nvSpPr>
            <p:cNvPr id="57" name="Freeform 56"/>
            <p:cNvSpPr/>
            <p:nvPr/>
          </p:nvSpPr>
          <p:spPr>
            <a:xfrm>
              <a:off x="2080841" y="2168770"/>
              <a:ext cx="386872" cy="2520462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/>
            <p:cNvGrpSpPr/>
            <p:nvPr/>
          </p:nvGrpSpPr>
          <p:grpSpPr>
            <a:xfrm>
              <a:off x="890954" y="2508738"/>
              <a:ext cx="2766646" cy="1389242"/>
              <a:chOff x="890954" y="2508738"/>
              <a:chExt cx="2766646" cy="1389242"/>
            </a:xfrm>
          </p:grpSpPr>
          <p:cxnSp>
            <p:nvCxnSpPr>
              <p:cNvPr id="61" name="Straight Connector 60"/>
              <p:cNvCxnSpPr/>
              <p:nvPr/>
            </p:nvCxnSpPr>
            <p:spPr>
              <a:xfrm>
                <a:off x="890954" y="3423138"/>
                <a:ext cx="2766646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2672867" y="3341066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758474" y="3352790"/>
                <a:ext cx="117231" cy="1524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" name="Straight Connector 63"/>
              <p:cNvCxnSpPr/>
              <p:nvPr/>
            </p:nvCxnSpPr>
            <p:spPr>
              <a:xfrm>
                <a:off x="890954" y="2508738"/>
                <a:ext cx="1383324" cy="1389242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TextBox 58"/>
            <p:cNvSpPr txBox="1"/>
            <p:nvPr/>
          </p:nvSpPr>
          <p:spPr>
            <a:xfrm>
              <a:off x="1688136" y="3528649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602531" y="3528650"/>
              <a:ext cx="2487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</p:grpSp>
      <p:cxnSp>
        <p:nvCxnSpPr>
          <p:cNvPr id="65" name="Straight Connector 64"/>
          <p:cNvCxnSpPr/>
          <p:nvPr/>
        </p:nvCxnSpPr>
        <p:spPr>
          <a:xfrm>
            <a:off x="7078466" y="6014770"/>
            <a:ext cx="811165" cy="37430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5089284" name="Isosceles Triangle 5089283"/>
          <p:cNvSpPr/>
          <p:nvPr/>
        </p:nvSpPr>
        <p:spPr>
          <a:xfrm rot="8224277">
            <a:off x="1190753" y="2024082"/>
            <a:ext cx="164124" cy="136598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95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730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3731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3732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-85725"/>
            <a:ext cx="7346950" cy="1143000"/>
          </a:xfrm>
        </p:spPr>
        <p:txBody>
          <a:bodyPr/>
          <a:lstStyle/>
          <a:p>
            <a:pPr eaLnBrk="1" hangingPunct="1"/>
            <a:r>
              <a:rPr lang="en-US" sz="3200" dirty="0"/>
              <a:t>Ray Diagram for Converging Lens, </a:t>
            </a:r>
            <a:r>
              <a:rPr lang="en-US" sz="3200" i="1" dirty="0"/>
              <a:t>s</a:t>
            </a:r>
            <a:r>
              <a:rPr lang="en-US" sz="3200" dirty="0"/>
              <a:t> &gt; </a:t>
            </a:r>
            <a:r>
              <a:rPr lang="en-US" sz="3200" i="1" dirty="0"/>
              <a:t>f</a:t>
            </a:r>
          </a:p>
        </p:txBody>
      </p:sp>
      <p:sp>
        <p:nvSpPr>
          <p:cNvPr id="7373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09600" y="5141384"/>
            <a:ext cx="7772400" cy="11430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real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inverted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back side of the lens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63" y="752475"/>
            <a:ext cx="9153526" cy="535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730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3731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3732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-85725"/>
            <a:ext cx="7346950" cy="1143000"/>
          </a:xfrm>
        </p:spPr>
        <p:txBody>
          <a:bodyPr/>
          <a:lstStyle/>
          <a:p>
            <a:pPr eaLnBrk="1" hangingPunct="1"/>
            <a:r>
              <a:rPr lang="en-US" sz="3200" dirty="0"/>
              <a:t>Ray Diagram for Converging Lens, </a:t>
            </a:r>
            <a:r>
              <a:rPr lang="en-US" sz="3200" i="1" dirty="0"/>
              <a:t>s</a:t>
            </a:r>
            <a:r>
              <a:rPr lang="en-US" sz="3200" dirty="0"/>
              <a:t> &gt; </a:t>
            </a:r>
            <a:r>
              <a:rPr lang="en-US" sz="3200" i="1" dirty="0"/>
              <a:t>f</a:t>
            </a:r>
          </a:p>
        </p:txBody>
      </p:sp>
      <p:sp>
        <p:nvSpPr>
          <p:cNvPr id="73733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09600" y="5141384"/>
            <a:ext cx="7772400" cy="11430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real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inverted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back side of the lens</a:t>
            </a:r>
          </a:p>
        </p:txBody>
      </p:sp>
    </p:spTree>
    <p:extLst>
      <p:ext uri="{BB962C8B-B14F-4D97-AF65-F5344CB8AC3E}">
        <p14:creationId xmlns:p14="http://schemas.microsoft.com/office/powerpoint/2010/main" val="1175270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223.15.3</a:t>
            </a:r>
          </a:p>
        </p:txBody>
      </p:sp>
      <p:sp>
        <p:nvSpPr>
          <p:cNvPr id="1679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You are building a camera with refractive lenses. Would you expect all colors of light to focus at the same point?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679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0D07768-D6B0-4518-800F-EC5E0B938D94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1039" y="889495"/>
            <a:ext cx="7982719" cy="5236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29628" y="530543"/>
            <a:ext cx="7635821" cy="5138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14839" y="3090863"/>
            <a:ext cx="277580" cy="5972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13760" y="1964055"/>
            <a:ext cx="1774508" cy="3324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223.15.12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22546" y="1236929"/>
            <a:ext cx="2882658" cy="2643685"/>
            <a:chOff x="822546" y="1236929"/>
            <a:chExt cx="2882658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5957254" y="147401"/>
            <a:ext cx="2424746" cy="2126821"/>
            <a:chOff x="822546" y="1236929"/>
            <a:chExt cx="2882658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7188311" y="729524"/>
            <a:ext cx="1652866" cy="70277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5936494" y="2425010"/>
            <a:ext cx="2424746" cy="2126821"/>
            <a:chOff x="822546" y="1236929"/>
            <a:chExt cx="2882658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>
            <a:off x="7167551" y="3007133"/>
            <a:ext cx="1214449" cy="15446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5936494" y="4731179"/>
            <a:ext cx="2424746" cy="2126821"/>
            <a:chOff x="822546" y="1236929"/>
            <a:chExt cx="2882658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</p:cNvCxnSpPr>
            <p:nvPr/>
          </p:nvCxnSpPr>
          <p:spPr>
            <a:xfrm>
              <a:off x="1523940" y="1960521"/>
              <a:ext cx="762147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12" name="Straight Connector 111"/>
          <p:cNvCxnSpPr/>
          <p:nvPr/>
        </p:nvCxnSpPr>
        <p:spPr>
          <a:xfrm flipV="1">
            <a:off x="7167551" y="4731179"/>
            <a:ext cx="1041052" cy="58212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9989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223.15.13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22546" y="1236929"/>
            <a:ext cx="2882658" cy="2643685"/>
            <a:chOff x="822546" y="1236929"/>
            <a:chExt cx="2882658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>
              <a:off x="1523940" y="1960521"/>
              <a:ext cx="762147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5957254" y="147401"/>
            <a:ext cx="2424746" cy="2126821"/>
            <a:chOff x="822546" y="1236929"/>
            <a:chExt cx="2882658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</p:cNvCxnSpPr>
            <p:nvPr/>
          </p:nvCxnSpPr>
          <p:spPr>
            <a:xfrm>
              <a:off x="1523940" y="1960521"/>
              <a:ext cx="737467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7188311" y="1210811"/>
            <a:ext cx="1498489" cy="2611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5936494" y="2425010"/>
            <a:ext cx="2424746" cy="2126821"/>
            <a:chOff x="822546" y="1236929"/>
            <a:chExt cx="2882658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</p:cNvCxnSpPr>
            <p:nvPr/>
          </p:nvCxnSpPr>
          <p:spPr>
            <a:xfrm>
              <a:off x="1523940" y="1960521"/>
              <a:ext cx="786828" cy="5982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 flipV="1">
            <a:off x="7188311" y="2856985"/>
            <a:ext cx="1020292" cy="63143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5936494" y="4731179"/>
            <a:ext cx="2424746" cy="2126821"/>
            <a:chOff x="822546" y="1236929"/>
            <a:chExt cx="2882658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</p:cNvCxnSpPr>
            <p:nvPr/>
          </p:nvCxnSpPr>
          <p:spPr>
            <a:xfrm>
              <a:off x="1523940" y="1960521"/>
              <a:ext cx="1677566" cy="133721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02298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223.15.13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22546" y="1236929"/>
            <a:ext cx="2882658" cy="2643685"/>
            <a:chOff x="822546" y="1236929"/>
            <a:chExt cx="2882658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5957254" y="147401"/>
            <a:ext cx="2424746" cy="2126821"/>
            <a:chOff x="822546" y="1236929"/>
            <a:chExt cx="2882658" cy="2643685"/>
          </a:xfrm>
        </p:grpSpPr>
        <p:sp>
          <p:nvSpPr>
            <p:cNvPr id="74" name="Freeform 7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" name="Straight Connector 7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" name="Straight Connector 77"/>
            <p:cNvCxnSpPr>
              <a:stCxn id="81" idx="2"/>
              <a:endCxn id="7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1" name="Down Arrow 8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7173449" y="14740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/>
          <p:cNvGrpSpPr/>
          <p:nvPr/>
        </p:nvGrpSpPr>
        <p:grpSpPr>
          <a:xfrm>
            <a:off x="5936494" y="2425010"/>
            <a:ext cx="2424746" cy="2126821"/>
            <a:chOff x="822546" y="1236929"/>
            <a:chExt cx="2882658" cy="2643685"/>
          </a:xfrm>
        </p:grpSpPr>
        <p:sp>
          <p:nvSpPr>
            <p:cNvPr id="94" name="Freeform 9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Oval 9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>
              <a:stCxn id="101" idx="2"/>
              <a:endCxn id="9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1" name="Down Arrow 10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2" name="Straight Connector 101"/>
          <p:cNvCxnSpPr/>
          <p:nvPr/>
        </p:nvCxnSpPr>
        <p:spPr>
          <a:xfrm>
            <a:off x="7188311" y="2425011"/>
            <a:ext cx="1334366" cy="130332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Group 102"/>
          <p:cNvGrpSpPr/>
          <p:nvPr/>
        </p:nvGrpSpPr>
        <p:grpSpPr>
          <a:xfrm>
            <a:off x="5936494" y="4731179"/>
            <a:ext cx="2424746" cy="2126821"/>
            <a:chOff x="822546" y="1236929"/>
            <a:chExt cx="2882658" cy="2643685"/>
          </a:xfrm>
        </p:grpSpPr>
        <p:sp>
          <p:nvSpPr>
            <p:cNvPr id="104" name="Freeform 103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/>
            <p:cNvCxnSpPr>
              <a:stCxn id="111" idx="2"/>
              <a:endCxn id="104" idx="0"/>
            </p:cNvCxnSpPr>
            <p:nvPr/>
          </p:nvCxnSpPr>
          <p:spPr>
            <a:xfrm flipV="1">
              <a:off x="1523940" y="1236929"/>
              <a:ext cx="769159" cy="723592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11" name="Down Arrow 110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4" name="Straight Connector 53"/>
          <p:cNvCxnSpPr/>
          <p:nvPr/>
        </p:nvCxnSpPr>
        <p:spPr>
          <a:xfrm>
            <a:off x="7188311" y="4731179"/>
            <a:ext cx="537197" cy="145914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228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223.15.14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2167" y="1232827"/>
            <a:ext cx="4038600" cy="24920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Three rays leave a glowing object and pass through a lens as shown. After passing through the lens, where do they meet?</a:t>
            </a:r>
          </a:p>
          <a:p>
            <a:pPr marL="514350" indent="-514350">
              <a:buAutoNum type="alphaLcParenR"/>
            </a:pPr>
            <a:r>
              <a:rPr lang="en-US" dirty="0"/>
              <a:t>At f</a:t>
            </a:r>
          </a:p>
          <a:p>
            <a:pPr marL="514350" indent="-514350">
              <a:buAutoNum type="alphaLcParenR"/>
            </a:pPr>
            <a:r>
              <a:rPr lang="en-US" dirty="0"/>
              <a:t>At the center of the lens</a:t>
            </a:r>
          </a:p>
          <a:p>
            <a:pPr marL="514350" indent="-514350">
              <a:buAutoNum type="alphaLcParenR"/>
            </a:pPr>
            <a:r>
              <a:rPr lang="en-US" dirty="0"/>
              <a:t>This is silly, they don’t meet anywhere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22546" y="1236929"/>
            <a:ext cx="2882658" cy="2643685"/>
            <a:chOff x="822546" y="1236929"/>
            <a:chExt cx="2882658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2286087" y="130162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3" idx="2"/>
          </p:cNvCxnSpPr>
          <p:nvPr/>
        </p:nvCxnSpPr>
        <p:spPr>
          <a:xfrm>
            <a:off x="1523940" y="1960521"/>
            <a:ext cx="2054770" cy="163554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2286087" y="1960521"/>
            <a:ext cx="1863882" cy="89646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536842" y="1941288"/>
            <a:ext cx="749245" cy="192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9530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144" y="98793"/>
            <a:ext cx="4583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223.15.15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2167" y="1232827"/>
            <a:ext cx="4038600" cy="24920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Three rays leave a glowing object and pass through a lens as shown. After passing through the lens, where does our brain think they meet?</a:t>
            </a:r>
          </a:p>
          <a:p>
            <a:pPr marL="514350" indent="-514350">
              <a:buAutoNum type="alphaLcParenR"/>
            </a:pPr>
            <a:r>
              <a:rPr lang="en-US" dirty="0"/>
              <a:t>At f</a:t>
            </a:r>
          </a:p>
          <a:p>
            <a:pPr marL="514350" indent="-514350">
              <a:buAutoNum type="alphaLcParenR"/>
            </a:pPr>
            <a:r>
              <a:rPr lang="en-US" dirty="0"/>
              <a:t>At the center of the lens</a:t>
            </a:r>
          </a:p>
          <a:p>
            <a:pPr marL="514350" indent="-514350">
              <a:buAutoNum type="alphaLcParenR"/>
            </a:pPr>
            <a:r>
              <a:rPr lang="en-US" dirty="0"/>
              <a:t>Somewhere behind the lens off to the left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22546" y="1236929"/>
            <a:ext cx="2882658" cy="2643685"/>
            <a:chOff x="822546" y="1236929"/>
            <a:chExt cx="2882658" cy="2643685"/>
          </a:xfrm>
        </p:grpSpPr>
        <p:sp>
          <p:nvSpPr>
            <p:cNvPr id="46" name="Freeform 45"/>
            <p:cNvSpPr/>
            <p:nvPr/>
          </p:nvSpPr>
          <p:spPr>
            <a:xfrm>
              <a:off x="2089385" y="1236929"/>
              <a:ext cx="393405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523741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894072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>
              <a:stCxn id="3" idx="2"/>
            </p:cNvCxnSpPr>
            <p:nvPr/>
          </p:nvCxnSpPr>
          <p:spPr>
            <a:xfrm flipV="1">
              <a:off x="1523940" y="1294897"/>
              <a:ext cx="762147" cy="665624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822546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452217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3" name="Down Arrow 2"/>
            <p:cNvSpPr/>
            <p:nvPr/>
          </p:nvSpPr>
          <p:spPr>
            <a:xfrm flipV="1">
              <a:off x="1380332" y="1960521"/>
              <a:ext cx="287216" cy="592101"/>
            </a:xfrm>
            <a:prstGeom prst="down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Connector 81"/>
          <p:cNvCxnSpPr/>
          <p:nvPr/>
        </p:nvCxnSpPr>
        <p:spPr>
          <a:xfrm>
            <a:off x="2286087" y="1301621"/>
            <a:ext cx="149848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3" idx="2"/>
          </p:cNvCxnSpPr>
          <p:nvPr/>
        </p:nvCxnSpPr>
        <p:spPr>
          <a:xfrm>
            <a:off x="1523940" y="1960521"/>
            <a:ext cx="2054770" cy="163554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2286087" y="1960521"/>
            <a:ext cx="1863882" cy="89646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536842" y="1941288"/>
            <a:ext cx="749245" cy="1923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996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4755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4756" name="Rectangle 2"/>
          <p:cNvSpPr>
            <a:spLocks noGrp="1" noChangeArrowheads="1"/>
          </p:cNvSpPr>
          <p:nvPr>
            <p:ph type="title"/>
          </p:nvPr>
        </p:nvSpPr>
        <p:spPr>
          <a:xfrm>
            <a:off x="1600200" y="0"/>
            <a:ext cx="7543800" cy="1143000"/>
          </a:xfrm>
        </p:spPr>
        <p:txBody>
          <a:bodyPr/>
          <a:lstStyle/>
          <a:p>
            <a:pPr eaLnBrk="1" hangingPunct="1"/>
            <a:r>
              <a:rPr lang="en-US" sz="3200"/>
              <a:t>Ray Diagram for Converging Lens, </a:t>
            </a:r>
            <a:r>
              <a:rPr lang="en-US" sz="3200" i="1"/>
              <a:t>p</a:t>
            </a:r>
            <a:r>
              <a:rPr lang="en-US" sz="3200"/>
              <a:t> &lt; </a:t>
            </a:r>
            <a:r>
              <a:rPr lang="en-US" sz="3200" i="1"/>
              <a:t>f</a:t>
            </a:r>
          </a:p>
        </p:txBody>
      </p:sp>
      <p:pic>
        <p:nvPicPr>
          <p:cNvPr id="6297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3466" y="1739372"/>
            <a:ext cx="7011193" cy="455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4757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37067" y="4842933"/>
            <a:ext cx="7772400" cy="1143000"/>
          </a:xfrm>
        </p:spPr>
        <p:txBody>
          <a:bodyPr>
            <a:normAutofit fontScale="850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virtual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upright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larger than the object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front side of the lens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577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5780" name="Rectangle 2"/>
          <p:cNvSpPr>
            <a:spLocks noGrp="1" noChangeArrowheads="1"/>
          </p:cNvSpPr>
          <p:nvPr>
            <p:ph type="title"/>
          </p:nvPr>
        </p:nvSpPr>
        <p:spPr>
          <a:xfrm>
            <a:off x="1179513" y="0"/>
            <a:ext cx="7964487" cy="1143000"/>
          </a:xfrm>
        </p:spPr>
        <p:txBody>
          <a:bodyPr/>
          <a:lstStyle/>
          <a:p>
            <a:pPr eaLnBrk="1" hangingPunct="1"/>
            <a:r>
              <a:rPr lang="en-US" sz="3200"/>
              <a:t>Ray Diagrams for Thin Lenses – Diverging </a:t>
            </a:r>
          </a:p>
        </p:txBody>
      </p:sp>
      <p:sp>
        <p:nvSpPr>
          <p:cNvPr id="7578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600"/>
              <a:t>For a diverging lens, the following three rays are drawn:</a:t>
            </a:r>
          </a:p>
          <a:p>
            <a:pPr lvl="1" eaLnBrk="1" hangingPunct="1"/>
            <a:r>
              <a:rPr lang="en-US" sz="2200"/>
              <a:t>Ray 1 is drawn parallel to the principal axis and emerges directed away from the focal point on the front side of the lens</a:t>
            </a:r>
          </a:p>
          <a:p>
            <a:pPr lvl="1" eaLnBrk="1" hangingPunct="1"/>
            <a:r>
              <a:rPr lang="en-US" sz="2200"/>
              <a:t>Ray 2 is drawn through the center of the lens and continues in a straight line</a:t>
            </a:r>
          </a:p>
          <a:p>
            <a:pPr lvl="1" eaLnBrk="1" hangingPunct="1"/>
            <a:r>
              <a:rPr lang="en-US" sz="2200"/>
              <a:t>Ray 3 is drawn in the direction toward the focal point on the back side of the lens and emerges from the lens parallel to the principal axis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Fall 2007</a:t>
            </a:r>
          </a:p>
        </p:txBody>
      </p:sp>
      <p:sp>
        <p:nvSpPr>
          <p:cNvPr id="76803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>
                <a:latin typeface="Arial" charset="0"/>
              </a:rPr>
              <a:t>R. Todd Lines</a:t>
            </a:r>
          </a:p>
        </p:txBody>
      </p:sp>
      <p:sp>
        <p:nvSpPr>
          <p:cNvPr id="76804" name="Rectangle 2"/>
          <p:cNvSpPr>
            <a:spLocks noGrp="1" noChangeArrowheads="1"/>
          </p:cNvSpPr>
          <p:nvPr>
            <p:ph type="title"/>
          </p:nvPr>
        </p:nvSpPr>
        <p:spPr>
          <a:xfrm>
            <a:off x="1179513" y="0"/>
            <a:ext cx="7964487" cy="1143000"/>
          </a:xfrm>
        </p:spPr>
        <p:txBody>
          <a:bodyPr/>
          <a:lstStyle/>
          <a:p>
            <a:pPr eaLnBrk="1" hangingPunct="1"/>
            <a:r>
              <a:rPr lang="en-US"/>
              <a:t>Ray Diagram for Diverging Lens</a:t>
            </a:r>
          </a:p>
        </p:txBody>
      </p:sp>
      <p:pic>
        <p:nvPicPr>
          <p:cNvPr id="6277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4982" y="1612636"/>
            <a:ext cx="6912973" cy="36327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6805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685800" y="4648200"/>
            <a:ext cx="7772400" cy="1143000"/>
          </a:xfrm>
        </p:spPr>
        <p:txBody>
          <a:bodyPr>
            <a:normAutofit fontScale="850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virtual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upright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smaller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The image is on the front side of the lens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883" y="129099"/>
            <a:ext cx="418513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223.15.9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85621" y="1236929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/>
          <p:cNvGrpSpPr/>
          <p:nvPr/>
        </p:nvGrpSpPr>
        <p:grpSpPr>
          <a:xfrm>
            <a:off x="6037560" y="725723"/>
            <a:ext cx="2092168" cy="1601646"/>
            <a:chOff x="785621" y="1236929"/>
            <a:chExt cx="2860256" cy="2678855"/>
          </a:xfrm>
        </p:grpSpPr>
        <p:sp>
          <p:nvSpPr>
            <p:cNvPr id="78" name="Rectangle 77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5" name="Isosceles Triangle 84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 85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6061007" y="2964817"/>
            <a:ext cx="2092168" cy="1601646"/>
            <a:chOff x="785621" y="1236929"/>
            <a:chExt cx="2860256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6" name="Isosceles Triangle 95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6072731" y="5016343"/>
            <a:ext cx="2092168" cy="1601646"/>
            <a:chOff x="785621" y="1236929"/>
            <a:chExt cx="2860256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Connector 103"/>
            <p:cNvCxnSpPr/>
            <p:nvPr/>
          </p:nvCxnSpPr>
          <p:spPr>
            <a:xfrm>
              <a:off x="785621" y="1593518"/>
              <a:ext cx="1405344" cy="301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7" name="Isosceles Triangle 106"/>
            <p:cNvSpPr/>
            <p:nvPr/>
          </p:nvSpPr>
          <p:spPr>
            <a:xfrm rot="5400000">
              <a:off x="1232520" y="154030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/>
          <p:nvPr/>
        </p:nvCxnSpPr>
        <p:spPr>
          <a:xfrm>
            <a:off x="6981551" y="962879"/>
            <a:ext cx="1183348" cy="84725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7076838" y="2348803"/>
            <a:ext cx="1183348" cy="847257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/>
          <p:nvPr/>
        </p:nvCxnSpPr>
        <p:spPr>
          <a:xfrm flipH="1" flipV="1">
            <a:off x="7065115" y="5247586"/>
            <a:ext cx="1692023" cy="4351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1721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882" y="129099"/>
            <a:ext cx="4709317" cy="1143000"/>
          </a:xfrm>
        </p:spPr>
        <p:txBody>
          <a:bodyPr>
            <a:normAutofit/>
          </a:bodyPr>
          <a:lstStyle/>
          <a:p>
            <a:r>
              <a:rPr lang="en-US" dirty="0"/>
              <a:t>Question 223.15.10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85621" y="1236929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34651" cy="1000423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7756031">
              <a:off x="1351616" y="1971946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/>
          <p:cNvGrpSpPr/>
          <p:nvPr/>
        </p:nvGrpSpPr>
        <p:grpSpPr>
          <a:xfrm>
            <a:off x="6037560" y="725723"/>
            <a:ext cx="2092168" cy="1601646"/>
            <a:chOff x="785621" y="1236929"/>
            <a:chExt cx="2860256" cy="2678855"/>
          </a:xfrm>
        </p:grpSpPr>
        <p:sp>
          <p:nvSpPr>
            <p:cNvPr id="78" name="Rectangle 77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785621" y="1593518"/>
              <a:ext cx="1424426" cy="9591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6" name="Freeform 85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6061007" y="2964817"/>
            <a:ext cx="2092168" cy="1601646"/>
            <a:chOff x="785621" y="1236929"/>
            <a:chExt cx="2860256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785621" y="1593518"/>
              <a:ext cx="1421519" cy="9591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6072731" y="5016343"/>
            <a:ext cx="2197569" cy="1601646"/>
            <a:chOff x="785621" y="1236929"/>
            <a:chExt cx="3004352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>
            <a:xfrm>
              <a:off x="785621" y="1593518"/>
              <a:ext cx="3004352" cy="199821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/>
          <p:nvPr/>
        </p:nvCxnSpPr>
        <p:spPr>
          <a:xfrm flipV="1">
            <a:off x="7086952" y="1512356"/>
            <a:ext cx="1183348" cy="105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7124241" y="3178016"/>
            <a:ext cx="917790" cy="58035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297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883" y="129099"/>
            <a:ext cx="443968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223.15.11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48413" y="4138240"/>
            <a:ext cx="4038600" cy="24920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ray enters a lens as shown above. Which of the choices to the right shows how the ray will exit the lens?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sp>
        <p:nvSpPr>
          <p:cNvPr id="5089280" name="TextBox 5089279"/>
          <p:cNvSpPr txBox="1"/>
          <p:nvPr/>
        </p:nvSpPr>
        <p:spPr>
          <a:xfrm>
            <a:off x="5509846" y="125436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9847" y="341139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9848" y="54980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85621" y="1236929"/>
            <a:ext cx="2860256" cy="2678855"/>
            <a:chOff x="785621" y="1236929"/>
            <a:chExt cx="2860256" cy="2678855"/>
          </a:xfrm>
        </p:grpSpPr>
        <p:sp>
          <p:nvSpPr>
            <p:cNvPr id="6" name="Rectangle 5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/>
            <p:cNvCxnSpPr/>
            <p:nvPr/>
          </p:nvCxnSpPr>
          <p:spPr>
            <a:xfrm>
              <a:off x="785621" y="1593518"/>
              <a:ext cx="1453574" cy="60675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5089284" name="Isosceles Triangle 5089283"/>
            <p:cNvSpPr/>
            <p:nvPr/>
          </p:nvSpPr>
          <p:spPr>
            <a:xfrm rot="6913568">
              <a:off x="1349390" y="1793519"/>
              <a:ext cx="164124" cy="136598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 53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/>
          <p:cNvGrpSpPr/>
          <p:nvPr/>
        </p:nvGrpSpPr>
        <p:grpSpPr>
          <a:xfrm>
            <a:off x="5898357" y="725723"/>
            <a:ext cx="2231371" cy="1601646"/>
            <a:chOff x="595313" y="1236929"/>
            <a:chExt cx="3050564" cy="2678855"/>
          </a:xfrm>
        </p:grpSpPr>
        <p:sp>
          <p:nvSpPr>
            <p:cNvPr id="78" name="Rectangle 77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Oval 79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/>
            <p:cNvCxnSpPr/>
            <p:nvPr/>
          </p:nvCxnSpPr>
          <p:spPr>
            <a:xfrm>
              <a:off x="595313" y="1272100"/>
              <a:ext cx="1643882" cy="87867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86" name="Freeform 85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Connector 86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/>
          <p:cNvGrpSpPr/>
          <p:nvPr/>
        </p:nvGrpSpPr>
        <p:grpSpPr>
          <a:xfrm>
            <a:off x="6095307" y="2964817"/>
            <a:ext cx="2057868" cy="1601646"/>
            <a:chOff x="832513" y="1236929"/>
            <a:chExt cx="2813364" cy="2678855"/>
          </a:xfrm>
        </p:grpSpPr>
        <p:sp>
          <p:nvSpPr>
            <p:cNvPr id="89" name="Rectangle 88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3" name="Straight Connector 92"/>
            <p:cNvCxnSpPr/>
            <p:nvPr/>
          </p:nvCxnSpPr>
          <p:spPr>
            <a:xfrm>
              <a:off x="832513" y="1380539"/>
              <a:ext cx="1397986" cy="69831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TextBox 93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97" name="Freeform 96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>
            <a:off x="6107031" y="5016343"/>
            <a:ext cx="2057868" cy="1601646"/>
            <a:chOff x="832513" y="1236929"/>
            <a:chExt cx="2813364" cy="2678855"/>
          </a:xfrm>
        </p:grpSpPr>
        <p:sp>
          <p:nvSpPr>
            <p:cNvPr id="100" name="Rectangle 99"/>
            <p:cNvSpPr/>
            <p:nvPr/>
          </p:nvSpPr>
          <p:spPr>
            <a:xfrm>
              <a:off x="2028092" y="1236929"/>
              <a:ext cx="384360" cy="25438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875694" y="123692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/>
            <p:cNvSpPr/>
            <p:nvPr/>
          </p:nvSpPr>
          <p:spPr>
            <a:xfrm>
              <a:off x="3101713" y="2466538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/>
            <p:cNvSpPr/>
            <p:nvPr/>
          </p:nvSpPr>
          <p:spPr>
            <a:xfrm>
              <a:off x="1398161" y="2478835"/>
              <a:ext cx="119211" cy="15985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Connector 103"/>
            <p:cNvCxnSpPr/>
            <p:nvPr/>
          </p:nvCxnSpPr>
          <p:spPr>
            <a:xfrm>
              <a:off x="832513" y="1434902"/>
              <a:ext cx="1345479" cy="607786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TextBox 104"/>
            <p:cNvSpPr txBox="1"/>
            <p:nvPr/>
          </p:nvSpPr>
          <p:spPr>
            <a:xfrm>
              <a:off x="1326635" y="2663291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3030189" y="2663292"/>
              <a:ext cx="252987" cy="387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</a:t>
              </a: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2262554" y="1272099"/>
              <a:ext cx="302298" cy="2643685"/>
            </a:xfrm>
            <a:custGeom>
              <a:avLst/>
              <a:gdLst>
                <a:gd name="connsiteX0" fmla="*/ 339981 w 656557"/>
                <a:gd name="connsiteY0" fmla="*/ 0 h 6752492"/>
                <a:gd name="connsiteX1" fmla="*/ 12 w 656557"/>
                <a:gd name="connsiteY1" fmla="*/ 3446584 h 6752492"/>
                <a:gd name="connsiteX2" fmla="*/ 328258 w 656557"/>
                <a:gd name="connsiteY2" fmla="*/ 6752492 h 6752492"/>
                <a:gd name="connsiteX3" fmla="*/ 656504 w 656557"/>
                <a:gd name="connsiteY3" fmla="*/ 3446584 h 6752492"/>
                <a:gd name="connsiteX4" fmla="*/ 339981 w 656557"/>
                <a:gd name="connsiteY4" fmla="*/ 0 h 6752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6557" h="6752492">
                  <a:moveTo>
                    <a:pt x="339981" y="0"/>
                  </a:moveTo>
                  <a:cubicBezTo>
                    <a:pt x="230566" y="0"/>
                    <a:pt x="1966" y="2321169"/>
                    <a:pt x="12" y="3446584"/>
                  </a:cubicBezTo>
                  <a:cubicBezTo>
                    <a:pt x="-1942" y="4571999"/>
                    <a:pt x="218843" y="6752492"/>
                    <a:pt x="328258" y="6752492"/>
                  </a:cubicBezTo>
                  <a:cubicBezTo>
                    <a:pt x="437673" y="6752492"/>
                    <a:pt x="652596" y="4566138"/>
                    <a:pt x="656504" y="3446584"/>
                  </a:cubicBezTo>
                  <a:cubicBezTo>
                    <a:pt x="660412" y="2327030"/>
                    <a:pt x="449396" y="0"/>
                    <a:pt x="33998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9" name="Straight Connector 108"/>
            <p:cNvCxnSpPr/>
            <p:nvPr/>
          </p:nvCxnSpPr>
          <p:spPr>
            <a:xfrm>
              <a:off x="832513" y="2552623"/>
              <a:ext cx="281336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/>
          <p:cNvCxnSpPr/>
          <p:nvPr/>
        </p:nvCxnSpPr>
        <p:spPr>
          <a:xfrm flipV="1">
            <a:off x="7086952" y="1272099"/>
            <a:ext cx="1183348" cy="105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/>
          <p:nvPr/>
        </p:nvCxnSpPr>
        <p:spPr>
          <a:xfrm flipH="1">
            <a:off x="7117881" y="3178016"/>
            <a:ext cx="924150" cy="29017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>
            <a:stCxn id="4" idx="0"/>
          </p:cNvCxnSpPr>
          <p:nvPr/>
        </p:nvCxnSpPr>
        <p:spPr>
          <a:xfrm flipH="1" flipV="1">
            <a:off x="7104862" y="5498094"/>
            <a:ext cx="515138" cy="85825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746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</TotalTime>
  <Words>1019</Words>
  <Application>Microsoft Office PowerPoint</Application>
  <PresentationFormat>On-screen Show (4:3)</PresentationFormat>
  <Paragraphs>231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Symbol</vt:lpstr>
      <vt:lpstr>Office Theme</vt:lpstr>
      <vt:lpstr>Lecture 15</vt:lpstr>
      <vt:lpstr>Question 223.15.1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Finding </vt:lpstr>
      <vt:lpstr>Question 223.15.2</vt:lpstr>
      <vt:lpstr>PowerPoint Presentation</vt:lpstr>
      <vt:lpstr>PowerPoint Presentation</vt:lpstr>
      <vt:lpstr>Question 223.15.4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223.15.6</vt:lpstr>
      <vt:lpstr>PowerPoint Presentation</vt:lpstr>
      <vt:lpstr>Question 223.15.8</vt:lpstr>
      <vt:lpstr>PowerPoint Presentation</vt:lpstr>
      <vt:lpstr>Question 223.15.7</vt:lpstr>
      <vt:lpstr>PowerPoint Presentation</vt:lpstr>
      <vt:lpstr>Ray Diagram for Converging Lens, s &gt; f</vt:lpstr>
      <vt:lpstr>Ray Diagram for Converging Lens, s &gt; f</vt:lpstr>
      <vt:lpstr>Question 223.15.3</vt:lpstr>
      <vt:lpstr>PowerPoint Presentation</vt:lpstr>
      <vt:lpstr>PowerPoint Presentation</vt:lpstr>
      <vt:lpstr>PowerPoint Presentation</vt:lpstr>
      <vt:lpstr>Question 223.15.12</vt:lpstr>
      <vt:lpstr>Question 223.15.13</vt:lpstr>
      <vt:lpstr>Question 223.15.13</vt:lpstr>
      <vt:lpstr>Question 223.15.14</vt:lpstr>
      <vt:lpstr>Question 223.15.15</vt:lpstr>
      <vt:lpstr>Ray Diagram for Converging Lens, p &lt; f</vt:lpstr>
      <vt:lpstr>Ray Diagrams for Thin Lenses – Diverging </vt:lpstr>
      <vt:lpstr>Ray Diagram for Diverging Lens</vt:lpstr>
      <vt:lpstr>Question 223.15.9</vt:lpstr>
      <vt:lpstr>Question 223.15.10</vt:lpstr>
      <vt:lpstr>Question 223.15.11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17</cp:revision>
  <dcterms:created xsi:type="dcterms:W3CDTF">2011-10-04T18:24:10Z</dcterms:created>
  <dcterms:modified xsi:type="dcterms:W3CDTF">2025-12-04T22:20:16Z</dcterms:modified>
</cp:coreProperties>
</file>