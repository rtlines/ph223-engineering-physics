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1388" r:id="rId2"/>
    <p:sldId id="1390" r:id="rId3"/>
    <p:sldId id="258" r:id="rId4"/>
    <p:sldId id="256" r:id="rId5"/>
    <p:sldId id="259" r:id="rId6"/>
    <p:sldId id="1391" r:id="rId7"/>
    <p:sldId id="257" r:id="rId8"/>
    <p:sldId id="261" r:id="rId9"/>
    <p:sldId id="262" r:id="rId10"/>
    <p:sldId id="260" r:id="rId11"/>
    <p:sldId id="264" r:id="rId12"/>
    <p:sldId id="265" r:id="rId13"/>
    <p:sldId id="1392" r:id="rId14"/>
    <p:sldId id="292" r:id="rId15"/>
    <p:sldId id="266" r:id="rId16"/>
    <p:sldId id="267" r:id="rId17"/>
    <p:sldId id="1393" r:id="rId18"/>
    <p:sldId id="268" r:id="rId19"/>
    <p:sldId id="1387" r:id="rId20"/>
    <p:sldId id="305" r:id="rId21"/>
    <p:sldId id="269" r:id="rId22"/>
    <p:sldId id="299" r:id="rId23"/>
    <p:sldId id="300" r:id="rId24"/>
    <p:sldId id="290" r:id="rId25"/>
    <p:sldId id="302" r:id="rId26"/>
    <p:sldId id="303" r:id="rId27"/>
    <p:sldId id="304" r:id="rId28"/>
    <p:sldId id="294" r:id="rId29"/>
    <p:sldId id="297" r:id="rId30"/>
    <p:sldId id="301" r:id="rId31"/>
    <p:sldId id="298" r:id="rId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146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modSld">
      <pc:chgData name="Lines, Todd" userId="afaf7c3a-e8aa-4568-882a-02ad8f9e19b0" providerId="ADAL" clId="{5FF5AC1B-ABA9-43D7-A1E3-2D92732CD6E2}" dt="2025-10-28T21:40:39.618" v="5" actId="14100"/>
      <pc:docMkLst>
        <pc:docMk/>
      </pc:docMkLst>
      <pc:sldChg chg="modSp mod">
        <pc:chgData name="Lines, Todd" userId="afaf7c3a-e8aa-4568-882a-02ad8f9e19b0" providerId="ADAL" clId="{5FF5AC1B-ABA9-43D7-A1E3-2D92732CD6E2}" dt="2025-10-28T21:39:36.814" v="1" actId="14100"/>
        <pc:sldMkLst>
          <pc:docMk/>
          <pc:sldMk cId="0" sldId="262"/>
        </pc:sldMkLst>
        <pc:picChg chg="mod">
          <ac:chgData name="Lines, Todd" userId="afaf7c3a-e8aa-4568-882a-02ad8f9e19b0" providerId="ADAL" clId="{5FF5AC1B-ABA9-43D7-A1E3-2D92732CD6E2}" dt="2025-10-28T21:39:36.814" v="1" actId="14100"/>
          <ac:picMkLst>
            <pc:docMk/>
            <pc:sldMk cId="0" sldId="262"/>
            <ac:picMk id="57353" creationId="{00000000-0000-0000-0000-000000000000}"/>
          </ac:picMkLst>
        </pc:picChg>
      </pc:sldChg>
      <pc:sldChg chg="modSp mod">
        <pc:chgData name="Lines, Todd" userId="afaf7c3a-e8aa-4568-882a-02ad8f9e19b0" providerId="ADAL" clId="{5FF5AC1B-ABA9-43D7-A1E3-2D92732CD6E2}" dt="2025-10-28T21:40:39.618" v="5" actId="14100"/>
        <pc:sldMkLst>
          <pc:docMk/>
          <pc:sldMk cId="0" sldId="267"/>
        </pc:sldMkLst>
        <pc:picChg chg="mod">
          <ac:chgData name="Lines, Todd" userId="afaf7c3a-e8aa-4568-882a-02ad8f9e19b0" providerId="ADAL" clId="{5FF5AC1B-ABA9-43D7-A1E3-2D92732CD6E2}" dt="2025-10-28T21:40:39.618" v="5" actId="14100"/>
          <ac:picMkLst>
            <pc:docMk/>
            <pc:sldMk cId="0" sldId="267"/>
            <ac:picMk id="28674" creationId="{00000000-0000-0000-0000-000000000000}"/>
          </ac:picMkLst>
        </pc:picChg>
      </pc:sldChg>
    </pc:docChg>
  </pc:docChgLst>
  <pc:docChgLst>
    <pc:chgData name="Lines, Todd" userId="afaf7c3a-e8aa-4568-882a-02ad8f9e19b0" providerId="ADAL" clId="{63800CE7-8C60-43B0-9F00-B562DD0F0099}"/>
    <pc:docChg chg="undo custSel addSld delSld modSld sldOrd">
      <pc:chgData name="Lines, Todd" userId="afaf7c3a-e8aa-4568-882a-02ad8f9e19b0" providerId="ADAL" clId="{63800CE7-8C60-43B0-9F00-B562DD0F0099}" dt="2023-09-26T23:51:48.121" v="772" actId="478"/>
      <pc:docMkLst>
        <pc:docMk/>
      </pc:docMkLst>
      <pc:sldChg chg="delSp mod">
        <pc:chgData name="Lines, Todd" userId="afaf7c3a-e8aa-4568-882a-02ad8f9e19b0" providerId="ADAL" clId="{63800CE7-8C60-43B0-9F00-B562DD0F0099}" dt="2023-09-26T23:51:48.121" v="772" actId="478"/>
        <pc:sldMkLst>
          <pc:docMk/>
          <pc:sldMk cId="0" sldId="269"/>
        </pc:sldMkLst>
      </pc:sldChg>
      <pc:sldChg chg="add">
        <pc:chgData name="Lines, Todd" userId="afaf7c3a-e8aa-4568-882a-02ad8f9e19b0" providerId="ADAL" clId="{63800CE7-8C60-43B0-9F00-B562DD0F0099}" dt="2023-09-25T23:32:56.326" v="11"/>
        <pc:sldMkLst>
          <pc:docMk/>
          <pc:sldMk cId="0" sldId="1238"/>
        </pc:sldMkLst>
      </pc:sldChg>
      <pc:sldChg chg="add ord">
        <pc:chgData name="Lines, Todd" userId="afaf7c3a-e8aa-4568-882a-02ad8f9e19b0" providerId="ADAL" clId="{63800CE7-8C60-43B0-9F00-B562DD0F0099}" dt="2023-09-25T23:32:31.596" v="10"/>
        <pc:sldMkLst>
          <pc:docMk/>
          <pc:sldMk cId="2555118250" sldId="1387"/>
        </pc:sldMkLst>
      </pc:sldChg>
      <pc:sldChg chg="modSp new mod">
        <pc:chgData name="Lines, Todd" userId="afaf7c3a-e8aa-4568-882a-02ad8f9e19b0" providerId="ADAL" clId="{63800CE7-8C60-43B0-9F00-B562DD0F0099}" dt="2023-09-26T16:33:34.532" v="22" actId="20577"/>
        <pc:sldMkLst>
          <pc:docMk/>
          <pc:sldMk cId="3935541707" sldId="1388"/>
        </pc:sldMkLst>
      </pc:sldChg>
      <pc:sldChg chg="new del">
        <pc:chgData name="Lines, Todd" userId="afaf7c3a-e8aa-4568-882a-02ad8f9e19b0" providerId="ADAL" clId="{63800CE7-8C60-43B0-9F00-B562DD0F0099}" dt="2023-09-26T16:35:53.791" v="266" actId="47"/>
        <pc:sldMkLst>
          <pc:docMk/>
          <pc:sldMk cId="3097508261" sldId="1389"/>
        </pc:sldMkLst>
      </pc:sldChg>
      <pc:sldChg chg="addSp modSp add mod">
        <pc:chgData name="Lines, Todd" userId="afaf7c3a-e8aa-4568-882a-02ad8f9e19b0" providerId="ADAL" clId="{63800CE7-8C60-43B0-9F00-B562DD0F0099}" dt="2023-09-26T16:35:50.509" v="265" actId="14100"/>
        <pc:sldMkLst>
          <pc:docMk/>
          <pc:sldMk cId="2432076691" sldId="1390"/>
        </pc:sldMkLst>
      </pc:sldChg>
      <pc:sldChg chg="addSp modSp add mod">
        <pc:chgData name="Lines, Todd" userId="afaf7c3a-e8aa-4568-882a-02ad8f9e19b0" providerId="ADAL" clId="{63800CE7-8C60-43B0-9F00-B562DD0F0099}" dt="2023-09-26T16:39:53.331" v="469" actId="20577"/>
        <pc:sldMkLst>
          <pc:docMk/>
          <pc:sldMk cId="807199054" sldId="1391"/>
        </pc:sldMkLst>
      </pc:sldChg>
      <pc:sldChg chg="addSp modSp add mod">
        <pc:chgData name="Lines, Todd" userId="afaf7c3a-e8aa-4568-882a-02ad8f9e19b0" providerId="ADAL" clId="{63800CE7-8C60-43B0-9F00-B562DD0F0099}" dt="2023-09-26T16:41:34.250" v="509" actId="1038"/>
        <pc:sldMkLst>
          <pc:docMk/>
          <pc:sldMk cId="3655617250" sldId="1392"/>
        </pc:sldMkLst>
      </pc:sldChg>
      <pc:sldChg chg="addSp delSp modSp new mod">
        <pc:chgData name="Lines, Todd" userId="afaf7c3a-e8aa-4568-882a-02ad8f9e19b0" providerId="ADAL" clId="{63800CE7-8C60-43B0-9F00-B562DD0F0099}" dt="2023-09-26T16:45:01.521" v="771" actId="1038"/>
        <pc:sldMkLst>
          <pc:docMk/>
          <pc:sldMk cId="2985780737" sldId="1393"/>
        </pc:sldMkLst>
      </pc:sldChg>
    </pc:docChg>
  </pc:docChgLst>
  <pc:docChgLst>
    <pc:chgData name="Lines, Todd" userId="afaf7c3a-e8aa-4568-882a-02ad8f9e19b0" providerId="ADAL" clId="{FE68C6AC-5748-448B-8616-F7416454C16D}"/>
    <pc:docChg chg="delSld">
      <pc:chgData name="Lines, Todd" userId="afaf7c3a-e8aa-4568-882a-02ad8f9e19b0" providerId="ADAL" clId="{FE68C6AC-5748-448B-8616-F7416454C16D}" dt="2024-10-01T17:08:34.910" v="11" actId="47"/>
      <pc:docMkLst>
        <pc:docMk/>
      </pc:docMkLst>
      <pc:sldChg chg="del">
        <pc:chgData name="Lines, Todd" userId="afaf7c3a-e8aa-4568-882a-02ad8f9e19b0" providerId="ADAL" clId="{FE68C6AC-5748-448B-8616-F7416454C16D}" dt="2024-10-01T17:06:20.143" v="0" actId="47"/>
        <pc:sldMkLst>
          <pc:docMk/>
          <pc:sldMk cId="0" sldId="270"/>
        </pc:sldMkLst>
      </pc:sldChg>
      <pc:sldChg chg="del">
        <pc:chgData name="Lines, Todd" userId="afaf7c3a-e8aa-4568-882a-02ad8f9e19b0" providerId="ADAL" clId="{FE68C6AC-5748-448B-8616-F7416454C16D}" dt="2024-10-01T17:06:23.445" v="1" actId="47"/>
        <pc:sldMkLst>
          <pc:docMk/>
          <pc:sldMk cId="0" sldId="271"/>
        </pc:sldMkLst>
      </pc:sldChg>
      <pc:sldChg chg="del">
        <pc:chgData name="Lines, Todd" userId="afaf7c3a-e8aa-4568-882a-02ad8f9e19b0" providerId="ADAL" clId="{FE68C6AC-5748-448B-8616-F7416454C16D}" dt="2024-10-01T17:06:27.748" v="2" actId="47"/>
        <pc:sldMkLst>
          <pc:docMk/>
          <pc:sldMk cId="0" sldId="272"/>
        </pc:sldMkLst>
      </pc:sldChg>
      <pc:sldChg chg="del">
        <pc:chgData name="Lines, Todd" userId="afaf7c3a-e8aa-4568-882a-02ad8f9e19b0" providerId="ADAL" clId="{FE68C6AC-5748-448B-8616-F7416454C16D}" dt="2024-10-01T17:06:39.223" v="3" actId="47"/>
        <pc:sldMkLst>
          <pc:docMk/>
          <pc:sldMk cId="0" sldId="274"/>
        </pc:sldMkLst>
      </pc:sldChg>
      <pc:sldChg chg="del">
        <pc:chgData name="Lines, Todd" userId="afaf7c3a-e8aa-4568-882a-02ad8f9e19b0" providerId="ADAL" clId="{FE68C6AC-5748-448B-8616-F7416454C16D}" dt="2024-10-01T17:06:47.239" v="4" actId="47"/>
        <pc:sldMkLst>
          <pc:docMk/>
          <pc:sldMk cId="0" sldId="276"/>
        </pc:sldMkLst>
      </pc:sldChg>
      <pc:sldChg chg="del">
        <pc:chgData name="Lines, Todd" userId="afaf7c3a-e8aa-4568-882a-02ad8f9e19b0" providerId="ADAL" clId="{FE68C6AC-5748-448B-8616-F7416454C16D}" dt="2024-10-01T17:06:52.869" v="5" actId="47"/>
        <pc:sldMkLst>
          <pc:docMk/>
          <pc:sldMk cId="0" sldId="277"/>
        </pc:sldMkLst>
      </pc:sldChg>
      <pc:sldChg chg="del">
        <pc:chgData name="Lines, Todd" userId="afaf7c3a-e8aa-4568-882a-02ad8f9e19b0" providerId="ADAL" clId="{FE68C6AC-5748-448B-8616-F7416454C16D}" dt="2024-10-01T17:08:34.910" v="11" actId="47"/>
        <pc:sldMkLst>
          <pc:docMk/>
          <pc:sldMk cId="0" sldId="278"/>
        </pc:sldMkLst>
      </pc:sldChg>
      <pc:sldChg chg="del">
        <pc:chgData name="Lines, Todd" userId="afaf7c3a-e8aa-4568-882a-02ad8f9e19b0" providerId="ADAL" clId="{FE68C6AC-5748-448B-8616-F7416454C16D}" dt="2024-10-01T17:08:02.485" v="6" actId="47"/>
        <pc:sldMkLst>
          <pc:docMk/>
          <pc:sldMk cId="0" sldId="279"/>
        </pc:sldMkLst>
      </pc:sldChg>
      <pc:sldChg chg="del">
        <pc:chgData name="Lines, Todd" userId="afaf7c3a-e8aa-4568-882a-02ad8f9e19b0" providerId="ADAL" clId="{FE68C6AC-5748-448B-8616-F7416454C16D}" dt="2024-10-01T17:08:09.433" v="8" actId="47"/>
        <pc:sldMkLst>
          <pc:docMk/>
          <pc:sldMk cId="0" sldId="280"/>
        </pc:sldMkLst>
      </pc:sldChg>
      <pc:sldChg chg="del">
        <pc:chgData name="Lines, Todd" userId="afaf7c3a-e8aa-4568-882a-02ad8f9e19b0" providerId="ADAL" clId="{FE68C6AC-5748-448B-8616-F7416454C16D}" dt="2024-10-01T17:08:15.749" v="9" actId="47"/>
        <pc:sldMkLst>
          <pc:docMk/>
          <pc:sldMk cId="0" sldId="291"/>
        </pc:sldMkLst>
      </pc:sldChg>
      <pc:sldChg chg="del">
        <pc:chgData name="Lines, Todd" userId="afaf7c3a-e8aa-4568-882a-02ad8f9e19b0" providerId="ADAL" clId="{FE68C6AC-5748-448B-8616-F7416454C16D}" dt="2024-10-01T17:08:18.631" v="10" actId="47"/>
        <pc:sldMkLst>
          <pc:docMk/>
          <pc:sldMk cId="0" sldId="293"/>
        </pc:sldMkLst>
      </pc:sldChg>
      <pc:sldChg chg="del">
        <pc:chgData name="Lines, Todd" userId="afaf7c3a-e8aa-4568-882a-02ad8f9e19b0" providerId="ADAL" clId="{FE68C6AC-5748-448B-8616-F7416454C16D}" dt="2024-10-01T17:08:04.668" v="7" actId="47"/>
        <pc:sldMkLst>
          <pc:docMk/>
          <pc:sldMk cId="0" sldId="123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1D7B0D-279D-4F93-970A-63C79FA4C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B662AB-104C-4491-AAF7-2D7772FB2490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CD9EC0-F945-4DDA-9A46-643CC6EC799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w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.bin"/><Relationship Id="rId3" Type="http://schemas.openxmlformats.org/officeDocument/2006/relationships/image" Target="../media/image17.wmf"/><Relationship Id="rId7" Type="http://schemas.openxmlformats.org/officeDocument/2006/relationships/image" Target="../media/image19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18.wmf"/><Relationship Id="rId4" Type="http://schemas.openxmlformats.org/officeDocument/2006/relationships/oleObject" Target="../embeddings/oleObject4.bin"/><Relationship Id="rId9" Type="http://schemas.openxmlformats.org/officeDocument/2006/relationships/image" Target="../media/image20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wmf"/><Relationship Id="rId4" Type="http://schemas.openxmlformats.org/officeDocument/2006/relationships/oleObject" Target="../embeddings/oleObject11.bin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A0EF4-AA94-CB81-643C-0815C0F417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307DB-80B9-9B17-B1FC-B3E06DC343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541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4584357" cy="1143000"/>
          </a:xfrm>
        </p:spPr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4497859" cy="45259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At point A, there will be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Partial constructive interference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Partial destructive interference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9838" y="274638"/>
            <a:ext cx="3287653" cy="584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F33C2B-F1CD-21D3-C981-131CF70D97F4}"/>
              </a:ext>
            </a:extLst>
          </p:cNvPr>
          <p:cNvSpPr txBox="1"/>
          <p:nvPr/>
        </p:nvSpPr>
        <p:spPr>
          <a:xfrm>
            <a:off x="7946897" y="243428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432076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52400"/>
            <a:ext cx="3287653" cy="584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09688" y="785813"/>
            <a:ext cx="6524625" cy="528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0"/>
            <a:ext cx="3819263" cy="652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4584357" cy="1143000"/>
          </a:xfrm>
        </p:spPr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4497859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Which will be a brighter spot, pint A or point B?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B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will be the same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9838" y="274638"/>
            <a:ext cx="3287653" cy="584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F33C2B-F1CD-21D3-C981-131CF70D97F4}"/>
              </a:ext>
            </a:extLst>
          </p:cNvPr>
          <p:cNvSpPr txBox="1"/>
          <p:nvPr/>
        </p:nvSpPr>
        <p:spPr>
          <a:xfrm>
            <a:off x="7946897" y="243428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DBFF4C-BCD8-13B6-07F3-6BB27892273A}"/>
              </a:ext>
            </a:extLst>
          </p:cNvPr>
          <p:cNvSpPr txBox="1"/>
          <p:nvPr/>
        </p:nvSpPr>
        <p:spPr>
          <a:xfrm>
            <a:off x="8223415" y="297374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BE7A73-7D94-3A7B-556F-4DC4E6DF4FE3}"/>
              </a:ext>
            </a:extLst>
          </p:cNvPr>
          <p:cNvSpPr/>
          <p:nvPr/>
        </p:nvSpPr>
        <p:spPr>
          <a:xfrm>
            <a:off x="8157038" y="3310701"/>
            <a:ext cx="87177" cy="1112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199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8488" y="1828800"/>
            <a:ext cx="2081319" cy="5151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6323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0"/>
            <a:ext cx="7304088" cy="11430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Diffraction Grating Spectrometer</a:t>
            </a:r>
          </a:p>
        </p:txBody>
      </p:sp>
      <p:sp>
        <p:nvSpPr>
          <p:cNvPr id="5632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609600" y="1371600"/>
            <a:ext cx="4154488" cy="4611687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collimated beam is incident on the grating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diffracted light leaves the gratings and the telescope is used to view the image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wavelength can be determined by measuring the precise angles at which the images of the slit appear for the various orders</a:t>
            </a:r>
          </a:p>
        </p:txBody>
      </p:sp>
      <p:pic>
        <p:nvPicPr>
          <p:cNvPr id="8193" name="Picture 1"/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286000"/>
            <a:ext cx="4033837" cy="19349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Details</a:t>
            </a:r>
          </a:p>
        </p:txBody>
      </p:sp>
      <p:pic>
        <p:nvPicPr>
          <p:cNvPr id="71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1905000"/>
            <a:ext cx="7267575" cy="348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7353" name="Picture 8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0" y="5029200"/>
            <a:ext cx="3543300" cy="14287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5299" name="Rectangle 2"/>
          <p:cNvSpPr>
            <a:spLocks noGrp="1" noChangeArrowheads="1"/>
          </p:cNvSpPr>
          <p:nvPr>
            <p:ph type="title"/>
          </p:nvPr>
        </p:nvSpPr>
        <p:spPr>
          <a:xfrm>
            <a:off x="1236663" y="0"/>
            <a:ext cx="7362825" cy="11430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Diffraction Grating, Intensity, cont.</a:t>
            </a:r>
          </a:p>
        </p:txBody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Characteristics of the intensity pattern</a:t>
            </a:r>
          </a:p>
          <a:p>
            <a:pPr lvl="1" eaLnBrk="1" hangingPunct="1"/>
            <a:r>
              <a:rPr lang="en-US"/>
              <a:t>The sharp peaks are in contrast to the broad, bright fringes characteristic of the two-slit interference pattern</a:t>
            </a:r>
          </a:p>
          <a:p>
            <a:pPr lvl="1" eaLnBrk="1" hangingPunct="1"/>
            <a:r>
              <a:rPr lang="en-US"/>
              <a:t>Because the principle maxima are so sharp, they are much brighter than two-slit interference patterns</a:t>
            </a:r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Grating Light Valve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0" y="1481138"/>
            <a:ext cx="4230688" cy="4459287"/>
          </a:xfrm>
        </p:spPr>
        <p:txBody>
          <a:bodyPr/>
          <a:lstStyle/>
          <a:p>
            <a:pPr eaLnBrk="1" hangingPunct="1"/>
            <a:r>
              <a:rPr lang="en-US" sz="2200"/>
              <a:t>A grating light valve consists of a silicon microchip fitted with an array of parallel silicon nitride ribbons coated with a thin layer of aluminum</a:t>
            </a:r>
          </a:p>
          <a:p>
            <a:pPr eaLnBrk="1" hangingPunct="1"/>
            <a:r>
              <a:rPr lang="en-US" sz="2200"/>
              <a:t>When a voltage is applied between a ribbon and the electrode on the silicon substrate, an electric force pulls the ribbon down</a:t>
            </a:r>
          </a:p>
          <a:p>
            <a:pPr eaLnBrk="1" hangingPunct="1"/>
            <a:r>
              <a:rPr lang="en-US" sz="2200"/>
              <a:t>The array of ribbons acts as a diffraction grating</a:t>
            </a:r>
          </a:p>
        </p:txBody>
      </p:sp>
      <p:pic>
        <p:nvPicPr>
          <p:cNvPr id="59397" name="Picture 4" descr="38-19"/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4652963" y="2190750"/>
            <a:ext cx="4033837" cy="3343275"/>
          </a:xfr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>
          <a:xfrm>
            <a:off x="1266825" y="0"/>
            <a:ext cx="7551738" cy="1143000"/>
          </a:xfrm>
        </p:spPr>
        <p:txBody>
          <a:bodyPr/>
          <a:lstStyle/>
          <a:p>
            <a:pPr eaLnBrk="1" hangingPunct="1"/>
            <a:r>
              <a:rPr lang="en-US" sz="3200"/>
              <a:t>Resolving Power of a Diffraction Grating</a:t>
            </a:r>
          </a:p>
        </p:txBody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For two nearly equal wavelengths, </a:t>
            </a:r>
            <a:r>
              <a:rPr lang="en-US" sz="2800" i="1">
                <a:cs typeface="Arial" charset="0"/>
              </a:rPr>
              <a:t>λ</a:t>
            </a:r>
            <a:r>
              <a:rPr lang="en-US" sz="2800" baseline="-25000"/>
              <a:t>1</a:t>
            </a:r>
            <a:r>
              <a:rPr lang="en-US" sz="2800"/>
              <a:t> and </a:t>
            </a:r>
            <a:r>
              <a:rPr lang="en-US" sz="2800" i="1">
                <a:cs typeface="Arial" charset="0"/>
              </a:rPr>
              <a:t>λ</a:t>
            </a:r>
            <a:r>
              <a:rPr lang="en-US" sz="2800" baseline="-25000"/>
              <a:t>2</a:t>
            </a:r>
            <a:r>
              <a:rPr lang="en-US" sz="2800"/>
              <a:t>, between which a diffraction grating can just barely distinguish, the </a:t>
            </a:r>
            <a:r>
              <a:rPr lang="en-US" sz="2800" b="1"/>
              <a:t>resolving power</a:t>
            </a:r>
            <a:r>
              <a:rPr lang="en-US" sz="2800"/>
              <a:t>, </a:t>
            </a:r>
            <a:r>
              <a:rPr lang="en-US" sz="2800" i="1"/>
              <a:t>R</a:t>
            </a:r>
            <a:r>
              <a:rPr lang="en-US" sz="2800"/>
              <a:t>, of the grating is defined as </a:t>
            </a:r>
          </a:p>
          <a:p>
            <a:pPr eaLnBrk="1" hangingPunct="1">
              <a:lnSpc>
                <a:spcPct val="90000"/>
              </a:lnSpc>
            </a:pPr>
            <a:endParaRPr lang="en-US" sz="2800"/>
          </a:p>
          <a:p>
            <a:pPr eaLnBrk="1" hangingPunct="1">
              <a:lnSpc>
                <a:spcPct val="90000"/>
              </a:lnSpc>
            </a:pPr>
            <a:endParaRPr lang="en-US" sz="2800"/>
          </a:p>
          <a:p>
            <a:pPr eaLnBrk="1" hangingPunct="1">
              <a:lnSpc>
                <a:spcPct val="90000"/>
              </a:lnSpc>
            </a:pPr>
            <a:r>
              <a:rPr lang="en-US" sz="2800"/>
              <a:t>Therefore, a grating with a high resolution can distinguish between small differences in wavelength</a:t>
            </a:r>
          </a:p>
        </p:txBody>
      </p:sp>
      <p:graphicFrame>
        <p:nvGraphicFramePr>
          <p:cNvPr id="15362" name="Object 4"/>
          <p:cNvGraphicFramePr>
            <a:graphicFrameLocks noChangeAspect="1"/>
          </p:cNvGraphicFramePr>
          <p:nvPr/>
        </p:nvGraphicFramePr>
        <p:xfrm>
          <a:off x="3352800" y="3251200"/>
          <a:ext cx="2381250" cy="954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79280" imgH="431640" progId="">
                  <p:embed/>
                </p:oleObj>
              </mc:Choice>
              <mc:Fallback>
                <p:oleObj name="Equation" r:id="rId2" imgW="1079280" imgH="431640" progId="">
                  <p:embed/>
                  <p:pic>
                    <p:nvPicPr>
                      <p:cNvPr id="1536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2800" y="3251200"/>
                        <a:ext cx="2381250" cy="9540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5E0A8329-D581-D634-3B7A-576DD2D2B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44803" y="3904063"/>
            <a:ext cx="2308386" cy="2707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4584357" cy="1143000"/>
          </a:xfrm>
        </p:spPr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4497859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Which will be a narrower, pint A or point B?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B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will be the same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89839" y="274638"/>
            <a:ext cx="2062900" cy="36656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F33C2B-F1CD-21D3-C981-131CF70D97F4}"/>
              </a:ext>
            </a:extLst>
          </p:cNvPr>
          <p:cNvSpPr txBox="1"/>
          <p:nvPr/>
        </p:nvSpPr>
        <p:spPr>
          <a:xfrm>
            <a:off x="6947595" y="1563130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DBFF4C-BCD8-13B6-07F3-6BB27892273A}"/>
              </a:ext>
            </a:extLst>
          </p:cNvPr>
          <p:cNvSpPr txBox="1"/>
          <p:nvPr/>
        </p:nvSpPr>
        <p:spPr>
          <a:xfrm>
            <a:off x="7204362" y="4905636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BE7A73-7D94-3A7B-556F-4DC4E6DF4FE3}"/>
              </a:ext>
            </a:extLst>
          </p:cNvPr>
          <p:cNvSpPr/>
          <p:nvPr/>
        </p:nvSpPr>
        <p:spPr>
          <a:xfrm>
            <a:off x="7167667" y="5203178"/>
            <a:ext cx="87177" cy="1112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172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31035" y="243840"/>
            <a:ext cx="5221473" cy="640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Straight Arrow Connector 7"/>
          <p:cNvCxnSpPr>
            <a:stCxn id="9" idx="3"/>
          </p:cNvCxnSpPr>
          <p:nvPr/>
        </p:nvCxnSpPr>
        <p:spPr>
          <a:xfrm>
            <a:off x="2869774" y="428953"/>
            <a:ext cx="391586" cy="16540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198120"/>
            <a:ext cx="2595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Single Slit Envelope</a:t>
            </a:r>
          </a:p>
        </p:txBody>
      </p:sp>
      <p:cxnSp>
        <p:nvCxnSpPr>
          <p:cNvPr id="10" name="Straight Arrow Connector 9"/>
          <p:cNvCxnSpPr>
            <a:stCxn id="12" idx="3"/>
          </p:cNvCxnSpPr>
          <p:nvPr/>
        </p:nvCxnSpPr>
        <p:spPr>
          <a:xfrm flipV="1">
            <a:off x="2592604" y="929641"/>
            <a:ext cx="546836" cy="44419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9080" y="1143000"/>
            <a:ext cx="2333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Intensity pattern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638" y="518160"/>
            <a:ext cx="893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 slits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9638" y="1584960"/>
            <a:ext cx="893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3 slits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9638" y="2667000"/>
            <a:ext cx="893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4 slits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9638" y="3749040"/>
            <a:ext cx="893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5 slits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2618" y="4831080"/>
            <a:ext cx="1048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 slits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0" y="5867400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slits</a:t>
            </a:r>
          </a:p>
        </p:txBody>
      </p:sp>
      <p:graphicFrame>
        <p:nvGraphicFramePr>
          <p:cNvPr id="21" name="Object 20"/>
          <p:cNvGraphicFramePr>
            <a:graphicFrameLocks noChangeAspect="1"/>
          </p:cNvGraphicFramePr>
          <p:nvPr/>
        </p:nvGraphicFramePr>
        <p:xfrm>
          <a:off x="6963409" y="6521450"/>
          <a:ext cx="811679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20560" imgH="215640" progId="Equation.3">
                  <p:embed/>
                </p:oleObj>
              </mc:Choice>
              <mc:Fallback>
                <p:oleObj name="Equation" r:id="rId3" imgW="520560" imgH="215640" progId="Equation.3">
                  <p:embed/>
                  <p:pic>
                    <p:nvPicPr>
                      <p:cNvPr id="21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63409" y="6521450"/>
                        <a:ext cx="811679" cy="3365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0419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-142875"/>
            <a:ext cx="6477000" cy="11430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Resolving Power of a Diffraction Grating, cont</a:t>
            </a:r>
          </a:p>
        </p:txBody>
      </p:sp>
      <p:sp>
        <p:nvSpPr>
          <p:cNvPr id="604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The resolving power in the </a:t>
            </a:r>
            <a:r>
              <a:rPr lang="en-US" i="1"/>
              <a:t>m</a:t>
            </a:r>
            <a:r>
              <a:rPr lang="en-US"/>
              <a:t>th-order diffraction is </a:t>
            </a:r>
            <a:r>
              <a:rPr lang="en-US" i="1"/>
              <a:t>R</a:t>
            </a:r>
            <a:r>
              <a:rPr lang="en-US"/>
              <a:t> = </a:t>
            </a:r>
            <a:r>
              <a:rPr lang="en-US" i="1"/>
              <a:t>Nm</a:t>
            </a:r>
          </a:p>
          <a:p>
            <a:pPr lvl="1" eaLnBrk="1" hangingPunct="1"/>
            <a:r>
              <a:rPr lang="en-US" i="1"/>
              <a:t>N</a:t>
            </a:r>
            <a:r>
              <a:rPr lang="en-US"/>
              <a:t> is the number of slits</a:t>
            </a:r>
          </a:p>
          <a:p>
            <a:pPr lvl="1" eaLnBrk="1" hangingPunct="1"/>
            <a:r>
              <a:rPr lang="en-US" i="1"/>
              <a:t>m</a:t>
            </a:r>
            <a:r>
              <a:rPr lang="en-US"/>
              <a:t> is the order number</a:t>
            </a:r>
          </a:p>
          <a:p>
            <a:pPr eaLnBrk="1" hangingPunct="1"/>
            <a:r>
              <a:rPr lang="en-US"/>
              <a:t>Resolving power increases with increasing order number and with increasing number of illuminated slits</a:t>
            </a:r>
          </a:p>
          <a:p>
            <a:pPr lvl="1" eaLnBrk="1" hangingPunct="1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-177292"/>
            <a:ext cx="8229600" cy="1143000"/>
          </a:xfrm>
        </p:spPr>
        <p:txBody>
          <a:bodyPr/>
          <a:lstStyle/>
          <a:p>
            <a:pPr eaLnBrk="1" hangingPunct="1"/>
            <a:r>
              <a:rPr lang="en-US" dirty="0"/>
              <a:t>AIRS</a:t>
            </a:r>
          </a:p>
        </p:txBody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61445" name="Picture 4" descr="airsinst4_th2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679133"/>
            <a:ext cx="4244975" cy="2854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46" name="Picture 5" descr="Scan_Geo_th30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06538" y="3252470"/>
            <a:ext cx="3810000" cy="267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19775" y="3629025"/>
            <a:ext cx="3019425" cy="3000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692968" y="944880"/>
            <a:ext cx="3629025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5439-E1A5-749B-55C4-5D6E9CC9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B696E-FA4F-4439-3586-93A5B853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72249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Light goes through just one slit. Will there be spots of destructive interference?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could that work with just one light source?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40B40E-0A64-504F-15E6-6BA33EA6DDC9}"/>
              </a:ext>
            </a:extLst>
          </p:cNvPr>
          <p:cNvSpPr/>
          <p:nvPr/>
        </p:nvSpPr>
        <p:spPr>
          <a:xfrm>
            <a:off x="6790664" y="160020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7F6478-7692-8461-583C-4A3768383BEE}"/>
              </a:ext>
            </a:extLst>
          </p:cNvPr>
          <p:cNvSpPr/>
          <p:nvPr/>
        </p:nvSpPr>
        <p:spPr>
          <a:xfrm>
            <a:off x="6790664" y="495300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79D3EBD-AAB0-A4D6-2D1C-A3728FA9D3B5}"/>
              </a:ext>
            </a:extLst>
          </p:cNvPr>
          <p:cNvCxnSpPr/>
          <p:nvPr/>
        </p:nvCxnSpPr>
        <p:spPr>
          <a:xfrm>
            <a:off x="5165133" y="1600200"/>
            <a:ext cx="0" cy="44958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061B62-C967-BC1D-1214-2DEDFE3D0B67}"/>
              </a:ext>
            </a:extLst>
          </p:cNvPr>
          <p:cNvCxnSpPr/>
          <p:nvPr/>
        </p:nvCxnSpPr>
        <p:spPr>
          <a:xfrm>
            <a:off x="5614095" y="1600200"/>
            <a:ext cx="0" cy="44958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10AFE9-AA18-5403-CBDA-232E98026C01}"/>
              </a:ext>
            </a:extLst>
          </p:cNvPr>
          <p:cNvCxnSpPr/>
          <p:nvPr/>
        </p:nvCxnSpPr>
        <p:spPr>
          <a:xfrm>
            <a:off x="6063057" y="1618006"/>
            <a:ext cx="0" cy="44958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90E27E-5B02-F3E1-6185-AE592E6B5180}"/>
              </a:ext>
            </a:extLst>
          </p:cNvPr>
          <p:cNvCxnSpPr/>
          <p:nvPr/>
        </p:nvCxnSpPr>
        <p:spPr>
          <a:xfrm>
            <a:off x="6520264" y="1616673"/>
            <a:ext cx="0" cy="44958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780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6350" y="650875"/>
            <a:ext cx="6591300" cy="556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223.11.0.1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320800"/>
            <a:ext cx="3795486" cy="54854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the path difference between ray 1 and ray 2?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d)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9354257" flipH="1">
            <a:off x="6001817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Triangle 5"/>
          <p:cNvSpPr/>
          <p:nvPr/>
        </p:nvSpPr>
        <p:spPr>
          <a:xfrm rot="19354257" flipH="1">
            <a:off x="6001818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6230069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230069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5201369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5125169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353769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4515569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15569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515569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4515569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4515569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25169" y="3398520"/>
            <a:ext cx="381836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5658569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01569" y="3246120"/>
            <a:ext cx="3978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Symbol"/>
              </a:rPr>
              <a:t></a:t>
            </a:r>
            <a:endParaRPr lang="en-US" sz="3200" dirty="0"/>
          </a:p>
        </p:txBody>
      </p:sp>
      <p:sp>
        <p:nvSpPr>
          <p:cNvPr id="20" name="Oval 19"/>
          <p:cNvSpPr/>
          <p:nvPr/>
        </p:nvSpPr>
        <p:spPr>
          <a:xfrm>
            <a:off x="6268169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268169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6268169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5810969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506169" y="2941320"/>
            <a:ext cx="606256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6344369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6344369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6344369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6818238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6477719" y="4948714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6537250" y="4655820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889138" y="676002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7889138" y="1702888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7889138" y="2698206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graphicFrame>
        <p:nvGraphicFramePr>
          <p:cNvPr id="62" name="Object 61"/>
          <p:cNvGraphicFramePr>
            <a:graphicFrameLocks noChangeAspect="1"/>
          </p:cNvGraphicFramePr>
          <p:nvPr/>
        </p:nvGraphicFramePr>
        <p:xfrm>
          <a:off x="1244600" y="4017706"/>
          <a:ext cx="874486" cy="75241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393529" progId="Equation.3">
                  <p:embed/>
                </p:oleObj>
              </mc:Choice>
              <mc:Fallback>
                <p:oleObj name="Equation" r:id="rId2" imgW="457002" imgH="393529" progId="Equation.3">
                  <p:embed/>
                  <p:pic>
                    <p:nvPicPr>
                      <p:cNvPr id="62" name="Object 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4600" y="4017706"/>
                        <a:ext cx="874486" cy="75241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/>
          <p:cNvGraphicFramePr>
            <a:graphicFrameLocks noChangeAspect="1"/>
          </p:cNvGraphicFramePr>
          <p:nvPr/>
        </p:nvGraphicFramePr>
        <p:xfrm>
          <a:off x="1167720" y="3119770"/>
          <a:ext cx="1125538" cy="4629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31640" imgH="177480" progId="Equation.3">
                  <p:embed/>
                </p:oleObj>
              </mc:Choice>
              <mc:Fallback>
                <p:oleObj name="Equation" r:id="rId4" imgW="431640" imgH="177480" progId="Equation.3">
                  <p:embed/>
                  <p:pic>
                    <p:nvPicPr>
                      <p:cNvPr id="63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67720" y="3119770"/>
                        <a:ext cx="1125538" cy="46292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/>
          <p:cNvGraphicFramePr>
            <a:graphicFrameLocks noChangeAspect="1"/>
          </p:cNvGraphicFramePr>
          <p:nvPr/>
        </p:nvGraphicFramePr>
        <p:xfrm>
          <a:off x="1338943" y="4948714"/>
          <a:ext cx="874713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57200" imgH="393480" progId="Equation.3">
                  <p:embed/>
                </p:oleObj>
              </mc:Choice>
              <mc:Fallback>
                <p:oleObj name="Equation" r:id="rId6" imgW="457200" imgH="393480" progId="Equation.3">
                  <p:embed/>
                  <p:pic>
                    <p:nvPicPr>
                      <p:cNvPr id="64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8943" y="4948714"/>
                        <a:ext cx="874713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/>
          <p:cNvGraphicFramePr>
            <a:graphicFrameLocks noChangeAspect="1"/>
          </p:cNvGraphicFramePr>
          <p:nvPr/>
        </p:nvGraphicFramePr>
        <p:xfrm>
          <a:off x="1239838" y="6196013"/>
          <a:ext cx="971550" cy="339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07960" imgH="177480" progId="Equation.3">
                  <p:embed/>
                </p:oleObj>
              </mc:Choice>
              <mc:Fallback>
                <p:oleObj name="Equation" r:id="rId8" imgW="507960" imgH="177480" progId="Equation.3">
                  <p:embed/>
                  <p:pic>
                    <p:nvPicPr>
                      <p:cNvPr id="65" name="Object 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39838" y="6196013"/>
                        <a:ext cx="971550" cy="339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5118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ight Triangle 37"/>
          <p:cNvSpPr/>
          <p:nvPr/>
        </p:nvSpPr>
        <p:spPr>
          <a:xfrm rot="19354257" flipH="1">
            <a:off x="3955128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Triangle 36"/>
          <p:cNvSpPr/>
          <p:nvPr/>
        </p:nvSpPr>
        <p:spPr>
          <a:xfrm rot="19354257" flipH="1">
            <a:off x="3955129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83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83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3154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078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3307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2468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2468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468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2468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2468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78480" y="3398520"/>
            <a:ext cx="381836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3611880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54880" y="3246120"/>
            <a:ext cx="3978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Symbol"/>
              </a:rPr>
              <a:t></a:t>
            </a:r>
            <a:endParaRPr lang="en-US" sz="3200" dirty="0"/>
          </a:p>
        </p:txBody>
      </p:sp>
      <p:sp>
        <p:nvSpPr>
          <p:cNvPr id="25" name="Oval 24"/>
          <p:cNvSpPr/>
          <p:nvPr/>
        </p:nvSpPr>
        <p:spPr>
          <a:xfrm>
            <a:off x="4221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4221480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221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3764280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59480" y="2941320"/>
            <a:ext cx="606256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4297680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4297680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4297680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4771549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4431030" y="4948714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4490561" y="4655820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Object 49"/>
          <p:cNvGraphicFramePr>
            <a:graphicFrameLocks noChangeAspect="1"/>
          </p:cNvGraphicFramePr>
          <p:nvPr/>
        </p:nvGraphicFramePr>
        <p:xfrm>
          <a:off x="4800600" y="4908549"/>
          <a:ext cx="624840" cy="538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200" imgH="393480" progId="Equation.3">
                  <p:embed/>
                </p:oleObj>
              </mc:Choice>
              <mc:Fallback>
                <p:oleObj name="Equation" r:id="rId2" imgW="457200" imgH="393480" progId="Equation.3">
                  <p:embed/>
                  <p:pic>
                    <p:nvPicPr>
                      <p:cNvPr id="5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4908549"/>
                        <a:ext cx="624840" cy="53805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Diffraction Pattern, Single Slit</a:t>
            </a:r>
          </a:p>
        </p:txBody>
      </p:sp>
      <p:sp>
        <p:nvSpPr>
          <p:cNvPr id="21508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7391400" cy="4525963"/>
          </a:xfrm>
        </p:spPr>
        <p:txBody>
          <a:bodyPr/>
          <a:lstStyle/>
          <a:p>
            <a:pPr eaLnBrk="1" hangingPunct="1"/>
            <a:r>
              <a:rPr lang="en-US" sz="2800" dirty="0"/>
              <a:t>The diffraction pattern consists of the central maximum and a series of secondary maxima and minima</a:t>
            </a:r>
          </a:p>
          <a:p>
            <a:pPr eaLnBrk="1" hangingPunct="1"/>
            <a:r>
              <a:rPr lang="en-US" sz="2800" dirty="0"/>
              <a:t>The pattern is similar to an interference pattern</a:t>
            </a:r>
          </a:p>
          <a:p>
            <a:pPr eaLnBrk="1" hangingPunct="1"/>
            <a:endParaRPr lang="en-US" sz="2800" dirty="0"/>
          </a:p>
        </p:txBody>
      </p:sp>
      <p:pic>
        <p:nvPicPr>
          <p:cNvPr id="6" name="Picture 5" descr="034.JPG"/>
          <p:cNvPicPr>
            <a:picLocks noChangeAspect="1"/>
          </p:cNvPicPr>
          <p:nvPr/>
        </p:nvPicPr>
        <p:blipFill>
          <a:blip r:embed="rId2" cstate="print"/>
          <a:srcRect l="22140" t="31927" r="18011" b="41055"/>
          <a:stretch>
            <a:fillRect/>
          </a:stretch>
        </p:blipFill>
        <p:spPr>
          <a:xfrm rot="120000">
            <a:off x="2393157" y="4040577"/>
            <a:ext cx="4512460" cy="18528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ight Triangle 37"/>
          <p:cNvSpPr/>
          <p:nvPr/>
        </p:nvSpPr>
        <p:spPr>
          <a:xfrm rot="19354257" flipH="1">
            <a:off x="3955128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Triangle 36"/>
          <p:cNvSpPr/>
          <p:nvPr/>
        </p:nvSpPr>
        <p:spPr>
          <a:xfrm rot="19354257" flipH="1">
            <a:off x="3955129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83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83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3154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078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3307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2468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2468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468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2468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2468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78480" y="3398520"/>
            <a:ext cx="381836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3611880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78730" y="3448050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/>
          <p:cNvSpPr/>
          <p:nvPr/>
        </p:nvSpPr>
        <p:spPr>
          <a:xfrm>
            <a:off x="4221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ight Triangle 43"/>
          <p:cNvSpPr/>
          <p:nvPr/>
        </p:nvSpPr>
        <p:spPr>
          <a:xfrm rot="19354257" flipH="1">
            <a:off x="3955128" y="3303549"/>
            <a:ext cx="609600" cy="834530"/>
          </a:xfrm>
          <a:prstGeom prst="rt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4221480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221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3764280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59480" y="2941320"/>
            <a:ext cx="606256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4297680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4297680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4297680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4771549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4431030" y="4948714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4490561" y="4655820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Object 49"/>
          <p:cNvGraphicFramePr>
            <a:graphicFrameLocks noChangeAspect="1"/>
          </p:cNvGraphicFramePr>
          <p:nvPr/>
        </p:nvGraphicFramePr>
        <p:xfrm>
          <a:off x="4800600" y="4908549"/>
          <a:ext cx="624840" cy="538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200" imgH="393480" progId="Equation.3">
                  <p:embed/>
                </p:oleObj>
              </mc:Choice>
              <mc:Fallback>
                <p:oleObj name="Equation" r:id="rId2" imgW="457200" imgH="393480" progId="Equation.3">
                  <p:embed/>
                  <p:pic>
                    <p:nvPicPr>
                      <p:cNvPr id="5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4908549"/>
                        <a:ext cx="624840" cy="53805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Oval 29"/>
          <p:cNvSpPr/>
          <p:nvPr/>
        </p:nvSpPr>
        <p:spPr>
          <a:xfrm>
            <a:off x="4211955" y="31546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/>
          <p:cNvSpPr/>
          <p:nvPr/>
        </p:nvSpPr>
        <p:spPr>
          <a:xfrm>
            <a:off x="4202430" y="42500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Arrow Connector 44"/>
          <p:cNvCxnSpPr/>
          <p:nvPr/>
        </p:nvCxnSpPr>
        <p:spPr>
          <a:xfrm flipV="1">
            <a:off x="4288155" y="25698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V="1">
            <a:off x="4278630" y="15792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94120" y="944880"/>
            <a:ext cx="28886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</a:t>
            </a:r>
          </a:p>
          <a:p>
            <a:endParaRPr lang="en-US" sz="1600" dirty="0"/>
          </a:p>
          <a:p>
            <a:r>
              <a:rPr lang="en-US" sz="1600" dirty="0"/>
              <a:t>4</a:t>
            </a:r>
          </a:p>
          <a:p>
            <a:endParaRPr lang="en-US" sz="1600" dirty="0"/>
          </a:p>
          <a:p>
            <a:r>
              <a:rPr lang="en-US" sz="1600" dirty="0"/>
              <a:t>3</a:t>
            </a:r>
          </a:p>
          <a:p>
            <a:endParaRPr lang="en-US" sz="1600" dirty="0"/>
          </a:p>
          <a:p>
            <a:r>
              <a:rPr lang="en-US" sz="1600" dirty="0"/>
              <a:t>2</a:t>
            </a:r>
          </a:p>
          <a:p>
            <a:endParaRPr lang="en-US" sz="1600" dirty="0"/>
          </a:p>
          <a:p>
            <a:r>
              <a:rPr lang="en-US" sz="1600" dirty="0"/>
              <a:t>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ight Triangle 92"/>
          <p:cNvSpPr/>
          <p:nvPr/>
        </p:nvSpPr>
        <p:spPr>
          <a:xfrm rot="19354257" flipH="1">
            <a:off x="4193266" y="3431663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ight Triangle 93"/>
          <p:cNvSpPr/>
          <p:nvPr/>
        </p:nvSpPr>
        <p:spPr>
          <a:xfrm rot="19354257" flipH="1">
            <a:off x="4193266" y="3793613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ight Triangle 94"/>
          <p:cNvSpPr/>
          <p:nvPr/>
        </p:nvSpPr>
        <p:spPr>
          <a:xfrm rot="19354257" flipH="1">
            <a:off x="4188502" y="4141276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ight Triangle 95"/>
          <p:cNvSpPr/>
          <p:nvPr/>
        </p:nvSpPr>
        <p:spPr>
          <a:xfrm rot="19354257" flipH="1">
            <a:off x="4186120" y="4472270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ight Triangle 91"/>
          <p:cNvSpPr/>
          <p:nvPr/>
        </p:nvSpPr>
        <p:spPr>
          <a:xfrm rot="19354257" flipH="1">
            <a:off x="4186124" y="3048281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Triangle 37"/>
          <p:cNvSpPr/>
          <p:nvPr/>
        </p:nvSpPr>
        <p:spPr>
          <a:xfrm rot="19354257" flipH="1">
            <a:off x="4176602" y="273157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83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83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3154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078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3307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2468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2468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468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2468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2468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78480" y="3398520"/>
            <a:ext cx="381836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3587115" y="337709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34463" y="3792855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/>
          <p:cNvSpPr/>
          <p:nvPr/>
        </p:nvSpPr>
        <p:spPr>
          <a:xfrm>
            <a:off x="4221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221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4311968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4311968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4464367" y="4646294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4431030" y="4948714"/>
            <a:ext cx="114776" cy="1495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4481036" y="4886325"/>
            <a:ext cx="167164" cy="13620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Object 49"/>
          <p:cNvGraphicFramePr>
            <a:graphicFrameLocks noChangeAspect="1"/>
          </p:cNvGraphicFramePr>
          <p:nvPr/>
        </p:nvGraphicFramePr>
        <p:xfrm>
          <a:off x="4660106" y="5006180"/>
          <a:ext cx="624840" cy="538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200" imgH="393480" progId="Equation.3">
                  <p:embed/>
                </p:oleObj>
              </mc:Choice>
              <mc:Fallback>
                <p:oleObj name="Equation" r:id="rId2" imgW="457200" imgH="393480" progId="Equation.3">
                  <p:embed/>
                  <p:pic>
                    <p:nvPicPr>
                      <p:cNvPr id="5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60106" y="5006180"/>
                        <a:ext cx="624840" cy="53805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Oval 29"/>
          <p:cNvSpPr/>
          <p:nvPr/>
        </p:nvSpPr>
        <p:spPr>
          <a:xfrm>
            <a:off x="4211955" y="328803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/>
          <p:cNvSpPr/>
          <p:nvPr/>
        </p:nvSpPr>
        <p:spPr>
          <a:xfrm>
            <a:off x="4202430" y="40309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6" name="Straight Arrow Connector 45"/>
          <p:cNvCxnSpPr/>
          <p:nvPr/>
        </p:nvCxnSpPr>
        <p:spPr>
          <a:xfrm flipV="1">
            <a:off x="4311968" y="243459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3587115" y="4112895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701766" y="1863567"/>
            <a:ext cx="50206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a/6</a:t>
            </a:r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3655219" y="2632710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H="1">
            <a:off x="3652838" y="3004185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3650457" y="337804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3648076" y="3742374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 flipH="1">
            <a:off x="3655219" y="263509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/>
          <p:nvPr/>
        </p:nvCxnSpPr>
        <p:spPr>
          <a:xfrm flipH="1">
            <a:off x="3652838" y="3006566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2987041" y="2179320"/>
            <a:ext cx="609600" cy="640080"/>
          </a:xfrm>
          <a:custGeom>
            <a:avLst/>
            <a:gdLst>
              <a:gd name="connsiteX0" fmla="*/ 0 w 476250"/>
              <a:gd name="connsiteY0" fmla="*/ 0 h 419100"/>
              <a:gd name="connsiteX1" fmla="*/ 223838 w 476250"/>
              <a:gd name="connsiteY1" fmla="*/ 126206 h 419100"/>
              <a:gd name="connsiteX2" fmla="*/ 133350 w 476250"/>
              <a:gd name="connsiteY2" fmla="*/ 145256 h 419100"/>
              <a:gd name="connsiteX3" fmla="*/ 476250 w 476250"/>
              <a:gd name="connsiteY3" fmla="*/ 419100 h 419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6250" h="419100">
                <a:moveTo>
                  <a:pt x="0" y="0"/>
                </a:moveTo>
                <a:cubicBezTo>
                  <a:pt x="100806" y="50998"/>
                  <a:pt x="201613" y="101997"/>
                  <a:pt x="223838" y="126206"/>
                </a:cubicBezTo>
                <a:cubicBezTo>
                  <a:pt x="246063" y="150415"/>
                  <a:pt x="91281" y="96440"/>
                  <a:pt x="133350" y="145256"/>
                </a:cubicBezTo>
                <a:cubicBezTo>
                  <a:pt x="175419" y="194072"/>
                  <a:pt x="419894" y="374253"/>
                  <a:pt x="476250" y="419100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/>
          <p:nvPr/>
        </p:nvCxnSpPr>
        <p:spPr>
          <a:xfrm>
            <a:off x="3587115" y="301133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3587115" y="3753328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4226242" y="293179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Arrow Connector 83"/>
          <p:cNvCxnSpPr/>
          <p:nvPr/>
        </p:nvCxnSpPr>
        <p:spPr>
          <a:xfrm flipV="1">
            <a:off x="4307206" y="1688784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216718" y="36785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6" name="Straight Arrow Connector 85"/>
          <p:cNvCxnSpPr/>
          <p:nvPr/>
        </p:nvCxnSpPr>
        <p:spPr>
          <a:xfrm flipV="1">
            <a:off x="4311968" y="207216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4216718" y="438816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/>
          <p:cNvCxnSpPr/>
          <p:nvPr/>
        </p:nvCxnSpPr>
        <p:spPr>
          <a:xfrm>
            <a:off x="3586639" y="4477223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 flipV="1">
            <a:off x="4302444" y="278463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 flipH="1">
            <a:off x="3648552" y="411337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 flipH="1">
            <a:off x="3646171" y="447294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4311968" y="134350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1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Intensity</a:t>
            </a:r>
          </a:p>
        </p:txBody>
      </p:sp>
      <p:sp>
        <p:nvSpPr>
          <p:cNvPr id="615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The intensity can also be expressed as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  <a:p>
            <a:pPr eaLnBrk="1" hangingPunct="1"/>
            <a:endParaRPr lang="en-US"/>
          </a:p>
          <a:p>
            <a:pPr eaLnBrk="1" hangingPunct="1"/>
            <a:r>
              <a:rPr lang="en-US"/>
              <a:t>Minima occur at</a:t>
            </a:r>
          </a:p>
        </p:txBody>
      </p:sp>
      <p:graphicFrame>
        <p:nvGraphicFramePr>
          <p:cNvPr id="6146" name="Object 4"/>
          <p:cNvGraphicFramePr>
            <a:graphicFrameLocks noChangeAspect="1"/>
          </p:cNvGraphicFramePr>
          <p:nvPr/>
        </p:nvGraphicFramePr>
        <p:xfrm>
          <a:off x="2482850" y="2478088"/>
          <a:ext cx="4262438" cy="1247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77680" imgH="520560" progId="">
                  <p:embed/>
                </p:oleObj>
              </mc:Choice>
              <mc:Fallback>
                <p:oleObj name="Equation" r:id="rId2" imgW="1777680" imgH="520560" progId="">
                  <p:embed/>
                  <p:pic>
                    <p:nvPicPr>
                      <p:cNvPr id="614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2850" y="2478088"/>
                        <a:ext cx="4262438" cy="1247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7" name="Object 5"/>
          <p:cNvGraphicFramePr>
            <a:graphicFrameLocks noChangeAspect="1"/>
          </p:cNvGraphicFramePr>
          <p:nvPr/>
        </p:nvGraphicFramePr>
        <p:xfrm>
          <a:off x="1524000" y="5105400"/>
          <a:ext cx="6629400" cy="1025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52400" imgH="393480" progId="">
                  <p:embed/>
                </p:oleObj>
              </mc:Choice>
              <mc:Fallback>
                <p:oleObj name="Equation" r:id="rId4" imgW="2552400" imgH="393480" progId="">
                  <p:embed/>
                  <p:pic>
                    <p:nvPicPr>
                      <p:cNvPr id="614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5105400"/>
                        <a:ext cx="6629400" cy="10255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sinc</a:t>
            </a:r>
            <a:r>
              <a:rPr lang="en-US" dirty="0"/>
              <a:t>(x)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01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1960" y="2270621"/>
            <a:ext cx="8366759" cy="2580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</a:t>
            </a:r>
            <a:r>
              <a:rPr lang="en-US" dirty="0" err="1"/>
              <a:t>sinc</a:t>
            </a:r>
            <a:r>
              <a:rPr lang="en-US" dirty="0"/>
              <a:t>(x))</a:t>
            </a:r>
            <a:r>
              <a:rPr lang="en-US" baseline="30000" dirty="0"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" y="1447800"/>
            <a:ext cx="8503919" cy="4450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84743" y="2572385"/>
            <a:ext cx="4549457" cy="153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22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417445" y="4297680"/>
            <a:ext cx="440055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TextBox 10"/>
          <p:cNvSpPr txBox="1"/>
          <p:nvPr/>
        </p:nvSpPr>
        <p:spPr>
          <a:xfrm>
            <a:off x="5486400" y="3931920"/>
            <a:ext cx="2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68440" y="39319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2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301240" y="393192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-2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44240" y="3931920"/>
            <a:ext cx="365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18960" y="379476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/2</a:t>
            </a:r>
            <a:endParaRPr lang="en-US" dirty="0"/>
          </a:p>
        </p:txBody>
      </p:sp>
      <p:cxnSp>
        <p:nvCxnSpPr>
          <p:cNvPr id="17" name="Straight Arrow Connector 16"/>
          <p:cNvCxnSpPr/>
          <p:nvPr/>
        </p:nvCxnSpPr>
        <p:spPr>
          <a:xfrm flipH="1">
            <a:off x="5318760" y="2971800"/>
            <a:ext cx="381000" cy="441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06240" y="228600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59680" y="2237155"/>
            <a:ext cx="2895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Interference fringes:</a:t>
            </a:r>
          </a:p>
          <a:p>
            <a:r>
              <a:rPr lang="en-US" dirty="0"/>
              <a:t> due to having a single slit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717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Intensity Equation</a:t>
            </a:r>
          </a:p>
        </p:txBody>
      </p:sp>
      <p:sp>
        <p:nvSpPr>
          <p:cNvPr id="717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To determine the maximum intensity: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  <a:p>
            <a:pPr lvl="1" eaLnBrk="1" hangingPunct="1"/>
            <a:r>
              <a:rPr lang="en-US"/>
              <a:t>The factor in the square brackets represents the single-slit diffraction pattern</a:t>
            </a:r>
          </a:p>
          <a:p>
            <a:pPr lvl="2" eaLnBrk="1" hangingPunct="1"/>
            <a:r>
              <a:rPr lang="en-US"/>
              <a:t>This acts as the envelope</a:t>
            </a:r>
          </a:p>
          <a:p>
            <a:pPr lvl="1" eaLnBrk="1" hangingPunct="1"/>
            <a:r>
              <a:rPr lang="en-US"/>
              <a:t>The two-slit interference term is the cos</a:t>
            </a:r>
            <a:r>
              <a:rPr lang="en-US" baseline="30000"/>
              <a:t>2</a:t>
            </a:r>
            <a:r>
              <a:rPr lang="en-US"/>
              <a:t> term</a:t>
            </a:r>
          </a:p>
        </p:txBody>
      </p:sp>
      <p:graphicFrame>
        <p:nvGraphicFramePr>
          <p:cNvPr id="7170" name="Object 4"/>
          <p:cNvGraphicFramePr>
            <a:graphicFrameLocks noChangeAspect="1"/>
          </p:cNvGraphicFramePr>
          <p:nvPr/>
        </p:nvGraphicFramePr>
        <p:xfrm>
          <a:off x="1524000" y="2159000"/>
          <a:ext cx="6096000" cy="1093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908080" imgH="520560" progId="">
                  <p:embed/>
                </p:oleObj>
              </mc:Choice>
              <mc:Fallback>
                <p:oleObj name="Equation" r:id="rId2" imgW="2908080" imgH="520560" progId="">
                  <p:embed/>
                  <p:pic>
                    <p:nvPicPr>
                      <p:cNvPr id="717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2159000"/>
                        <a:ext cx="6096000" cy="1093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819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Missing Maxima</a:t>
            </a:r>
          </a:p>
        </p:txBody>
      </p:sp>
      <p:sp>
        <p:nvSpPr>
          <p:cNvPr id="819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82688" y="2017713"/>
            <a:ext cx="7772400" cy="4611687"/>
          </a:xfrm>
        </p:spPr>
        <p:txBody>
          <a:bodyPr/>
          <a:lstStyle/>
          <a:p>
            <a:pPr eaLnBrk="1" hangingPunct="1"/>
            <a:r>
              <a:rPr lang="en-US" sz="2800"/>
              <a:t>To find which interference maximum coincides with the first diffraction minimum</a:t>
            </a:r>
          </a:p>
          <a:p>
            <a:pPr eaLnBrk="1" hangingPunct="1"/>
            <a:endParaRPr lang="en-US" sz="2800"/>
          </a:p>
          <a:p>
            <a:pPr eaLnBrk="1" hangingPunct="1"/>
            <a:endParaRPr lang="en-US" sz="2800"/>
          </a:p>
          <a:p>
            <a:pPr lvl="1" eaLnBrk="1" hangingPunct="1"/>
            <a:endParaRPr lang="en-US" sz="2400"/>
          </a:p>
          <a:p>
            <a:pPr lvl="1" eaLnBrk="1" hangingPunct="1"/>
            <a:r>
              <a:rPr lang="en-US" sz="2400"/>
              <a:t>The conditions for the first interference maximum</a:t>
            </a:r>
          </a:p>
          <a:p>
            <a:pPr lvl="2" eaLnBrk="1" hangingPunct="1"/>
            <a:r>
              <a:rPr lang="en-US" i="1"/>
              <a:t>d</a:t>
            </a:r>
            <a:r>
              <a:rPr lang="en-US"/>
              <a:t> sin </a:t>
            </a:r>
            <a:r>
              <a:rPr lang="en-US" i="1">
                <a:cs typeface="Arial" charset="0"/>
              </a:rPr>
              <a:t>θ</a:t>
            </a:r>
            <a:r>
              <a:rPr lang="en-US"/>
              <a:t> = </a:t>
            </a:r>
            <a:r>
              <a:rPr lang="en-US" i="1"/>
              <a:t>m</a:t>
            </a:r>
            <a:r>
              <a:rPr lang="en-US" i="1">
                <a:cs typeface="Arial" charset="0"/>
              </a:rPr>
              <a:t>λ</a:t>
            </a:r>
            <a:endParaRPr lang="en-US">
              <a:latin typeface="Symbol" pitchFamily="18" charset="2"/>
            </a:endParaRPr>
          </a:p>
          <a:p>
            <a:pPr lvl="1" eaLnBrk="1" hangingPunct="1"/>
            <a:r>
              <a:rPr lang="en-US" sz="2400"/>
              <a:t>The conditions for the first diffraction minimum</a:t>
            </a:r>
          </a:p>
          <a:p>
            <a:pPr lvl="2" eaLnBrk="1" hangingPunct="1"/>
            <a:r>
              <a:rPr lang="en-US" i="1"/>
              <a:t>a</a:t>
            </a:r>
            <a:r>
              <a:rPr lang="en-US"/>
              <a:t> sin </a:t>
            </a:r>
            <a:r>
              <a:rPr lang="en-US" i="1">
                <a:cs typeface="Arial" charset="0"/>
              </a:rPr>
              <a:t>θ</a:t>
            </a:r>
            <a:r>
              <a:rPr lang="en-US"/>
              <a:t> = </a:t>
            </a:r>
            <a:r>
              <a:rPr lang="en-US" i="1">
                <a:cs typeface="Arial" charset="0"/>
              </a:rPr>
              <a:t>λ</a:t>
            </a:r>
          </a:p>
        </p:txBody>
      </p:sp>
      <p:graphicFrame>
        <p:nvGraphicFramePr>
          <p:cNvPr id="8194" name="Object 4"/>
          <p:cNvGraphicFramePr>
            <a:graphicFrameLocks noChangeAspect="1"/>
          </p:cNvGraphicFramePr>
          <p:nvPr/>
        </p:nvGraphicFramePr>
        <p:xfrm>
          <a:off x="2705100" y="3005138"/>
          <a:ext cx="3733800" cy="957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36480" imgH="393480" progId="">
                  <p:embed/>
                </p:oleObj>
              </mc:Choice>
              <mc:Fallback>
                <p:oleObj name="Equation" r:id="rId2" imgW="1536480" imgH="393480" progId="">
                  <p:embed/>
                  <p:pic>
                    <p:nvPicPr>
                      <p:cNvPr id="819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5100" y="3005138"/>
                        <a:ext cx="3733800" cy="9572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 l="14298" t="28617" r="15657" b="23033"/>
          <a:stretch>
            <a:fillRect/>
          </a:stretch>
        </p:blipFill>
        <p:spPr bwMode="auto">
          <a:xfrm>
            <a:off x="1478280" y="3581400"/>
            <a:ext cx="5897880" cy="1280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91640" y="1752600"/>
            <a:ext cx="5334000" cy="1386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5897880" y="31013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5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02480" y="3101340"/>
            <a:ext cx="2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181600" y="31013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3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017520" y="310134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-3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10000" y="3101340"/>
            <a:ext cx="365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346960" y="310134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-5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934200" y="292608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/2</a:t>
            </a:r>
            <a:endParaRPr lang="en-US" dirty="0"/>
          </a:p>
        </p:txBody>
      </p:sp>
      <p:cxnSp>
        <p:nvCxnSpPr>
          <p:cNvPr id="14" name="Straight Arrow Connector 13"/>
          <p:cNvCxnSpPr/>
          <p:nvPr/>
        </p:nvCxnSpPr>
        <p:spPr>
          <a:xfrm flipH="1">
            <a:off x="5196840" y="1844040"/>
            <a:ext cx="914400" cy="2743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187440" y="1584960"/>
            <a:ext cx="2118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Interference fringes:</a:t>
            </a:r>
          </a:p>
          <a:p>
            <a:r>
              <a:rPr lang="en-US" sz="1600" dirty="0"/>
              <a:t> due to having two slits.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8120" y="146304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7720" y="1727835"/>
            <a:ext cx="7421880" cy="3067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3" cstate="print"/>
          <a:srcRect t="60773" b="11108"/>
          <a:stretch/>
        </p:blipFill>
        <p:spPr bwMode="auto">
          <a:xfrm>
            <a:off x="670561" y="5217459"/>
            <a:ext cx="7528560" cy="87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>
            <a:off x="3413760" y="1950720"/>
            <a:ext cx="807720" cy="3200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4587240" y="2209800"/>
            <a:ext cx="868680" cy="4724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2520" y="1630680"/>
            <a:ext cx="21640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Diffraction envelope: </a:t>
            </a:r>
          </a:p>
          <a:p>
            <a:pPr algn="r"/>
            <a:r>
              <a:rPr lang="en-US" dirty="0"/>
              <a:t>The single slit pattern due to shape of the individual slits.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62600" y="1767840"/>
            <a:ext cx="22707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Interference fringes:</a:t>
            </a:r>
          </a:p>
          <a:p>
            <a:r>
              <a:rPr lang="en-US" dirty="0"/>
              <a:t> due to having two slits.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84320" y="164592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1240" y="475488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227320" y="4754880"/>
            <a:ext cx="2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010400" y="475488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3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45080" y="475488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-2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459480" y="4754880"/>
            <a:ext cx="365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630680" y="475488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-3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38160" y="460248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/2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671</Words>
  <Application>Microsoft Office PowerPoint</Application>
  <PresentationFormat>On-screen Show (4:3)</PresentationFormat>
  <Paragraphs>164</Paragraphs>
  <Slides>31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Symbol</vt:lpstr>
      <vt:lpstr>Times New Roman</vt:lpstr>
      <vt:lpstr>Office Theme</vt:lpstr>
      <vt:lpstr>Equation</vt:lpstr>
      <vt:lpstr>Lecture 11</vt:lpstr>
      <vt:lpstr>Question</vt:lpstr>
      <vt:lpstr>PowerPoint Presentation</vt:lpstr>
      <vt:lpstr>PowerPoint Presentation</vt:lpstr>
      <vt:lpstr>PowerPoint Presentation</vt:lpstr>
      <vt:lpstr>Question</vt:lpstr>
      <vt:lpstr>PowerPoint Presentation</vt:lpstr>
      <vt:lpstr>Diffraction Grating Spectrometer</vt:lpstr>
      <vt:lpstr>Details</vt:lpstr>
      <vt:lpstr>Diffraction Grating, Intensity, cont.</vt:lpstr>
      <vt:lpstr>Grating Light Valve</vt:lpstr>
      <vt:lpstr>Resolving Power of a Diffraction Grating</vt:lpstr>
      <vt:lpstr>Question</vt:lpstr>
      <vt:lpstr>PowerPoint Presentation</vt:lpstr>
      <vt:lpstr>Resolving Power of a Diffraction Grating, cont</vt:lpstr>
      <vt:lpstr>AIRS</vt:lpstr>
      <vt:lpstr>Question</vt:lpstr>
      <vt:lpstr>PowerPoint Presentation</vt:lpstr>
      <vt:lpstr>Question 223.11.0.1</vt:lpstr>
      <vt:lpstr>Single-Slit Diffraction</vt:lpstr>
      <vt:lpstr>Diffraction Pattern, Single Slit</vt:lpstr>
      <vt:lpstr>Single-Slit Diffraction</vt:lpstr>
      <vt:lpstr>Single-Slit Diffraction</vt:lpstr>
      <vt:lpstr>Intensity</vt:lpstr>
      <vt:lpstr>sinc(x)</vt:lpstr>
      <vt:lpstr>(sinc(x))2</vt:lpstr>
      <vt:lpstr>PowerPoint Presentation</vt:lpstr>
      <vt:lpstr>Intensity Equation</vt:lpstr>
      <vt:lpstr>Missing Maxima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13</cp:revision>
  <dcterms:created xsi:type="dcterms:W3CDTF">2011-09-28T14:22:13Z</dcterms:created>
  <dcterms:modified xsi:type="dcterms:W3CDTF">2025-10-28T21:40:43Z</dcterms:modified>
</cp:coreProperties>
</file>