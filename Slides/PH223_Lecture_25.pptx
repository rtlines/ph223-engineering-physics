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921" r:id="rId2"/>
    <p:sldId id="922" r:id="rId3"/>
    <p:sldId id="923" r:id="rId4"/>
    <p:sldId id="924" r:id="rId5"/>
    <p:sldId id="257" r:id="rId6"/>
    <p:sldId id="1185" r:id="rId7"/>
    <p:sldId id="258" r:id="rId8"/>
    <p:sldId id="925" r:id="rId9"/>
    <p:sldId id="926" r:id="rId10"/>
    <p:sldId id="927" r:id="rId11"/>
    <p:sldId id="928" r:id="rId12"/>
    <p:sldId id="929" r:id="rId13"/>
    <p:sldId id="930" r:id="rId14"/>
    <p:sldId id="931" r:id="rId15"/>
    <p:sldId id="932" r:id="rId16"/>
    <p:sldId id="933" r:id="rId17"/>
    <p:sldId id="934" r:id="rId18"/>
    <p:sldId id="935" r:id="rId19"/>
    <p:sldId id="936" r:id="rId20"/>
    <p:sldId id="937" r:id="rId21"/>
    <p:sldId id="938" r:id="rId22"/>
    <p:sldId id="939" r:id="rId23"/>
    <p:sldId id="940" r:id="rId24"/>
    <p:sldId id="1184" r:id="rId25"/>
    <p:sldId id="941" r:id="rId26"/>
    <p:sldId id="942" r:id="rId27"/>
    <p:sldId id="943" r:id="rId28"/>
    <p:sldId id="944" r:id="rId29"/>
    <p:sldId id="945" r:id="rId30"/>
    <p:sldId id="946" r:id="rId31"/>
    <p:sldId id="947" r:id="rId32"/>
    <p:sldId id="948" r:id="rId33"/>
    <p:sldId id="949" r:id="rId34"/>
    <p:sldId id="950" r:id="rId35"/>
    <p:sldId id="951" r:id="rId36"/>
    <p:sldId id="952" r:id="rId37"/>
    <p:sldId id="259" r:id="rId38"/>
    <p:sldId id="260" r:id="rId39"/>
    <p:sldId id="261" r:id="rId40"/>
    <p:sldId id="1182" r:id="rId41"/>
    <p:sldId id="1183" r:id="rId4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20EC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608F83-30C0-4EEC-9FA4-7C8307086A26}" v="5" dt="2025-11-10T22:26:02.8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50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modSld">
      <pc:chgData name="Lines, Todd" userId="afaf7c3a-e8aa-4568-882a-02ad8f9e19b0" providerId="ADAL" clId="{5FF5AC1B-ABA9-43D7-A1E3-2D92732CD6E2}" dt="2025-11-10T22:26:08.825" v="30" actId="21"/>
      <pc:docMkLst>
        <pc:docMk/>
      </pc:docMkLst>
      <pc:sldChg chg="addSp delSp modSp mod">
        <pc:chgData name="Lines, Todd" userId="afaf7c3a-e8aa-4568-882a-02ad8f9e19b0" providerId="ADAL" clId="{5FF5AC1B-ABA9-43D7-A1E3-2D92732CD6E2}" dt="2025-10-24T21:51:45.318" v="7" actId="21"/>
        <pc:sldMkLst>
          <pc:docMk/>
          <pc:sldMk cId="0" sldId="258"/>
        </pc:sldMkLst>
        <pc:spChg chg="add mod">
          <ac:chgData name="Lines, Todd" userId="afaf7c3a-e8aa-4568-882a-02ad8f9e19b0" providerId="ADAL" clId="{5FF5AC1B-ABA9-43D7-A1E3-2D92732CD6E2}" dt="2025-10-24T21:51:30.150" v="5" actId="1076"/>
          <ac:spMkLst>
            <pc:docMk/>
            <pc:sldMk cId="0" sldId="258"/>
            <ac:spMk id="2" creationId="{50D7B946-4EAA-722C-CBCF-BB2F87D15AF8}"/>
          </ac:spMkLst>
        </pc:spChg>
        <pc:spChg chg="add mod">
          <ac:chgData name="Lines, Todd" userId="afaf7c3a-e8aa-4568-882a-02ad8f9e19b0" providerId="ADAL" clId="{5FF5AC1B-ABA9-43D7-A1E3-2D92732CD6E2}" dt="2025-10-24T21:51:24.240" v="4" actId="2085"/>
          <ac:spMkLst>
            <pc:docMk/>
            <pc:sldMk cId="0" sldId="258"/>
            <ac:spMk id="3" creationId="{985502D8-3D42-0739-EA1B-B06BE698E4FB}"/>
          </ac:spMkLst>
        </pc:spChg>
      </pc:sldChg>
      <pc:sldChg chg="addSp delSp modSp mod">
        <pc:chgData name="Lines, Todd" userId="afaf7c3a-e8aa-4568-882a-02ad8f9e19b0" providerId="ADAL" clId="{5FF5AC1B-ABA9-43D7-A1E3-2D92732CD6E2}" dt="2025-11-10T22:26:08.825" v="30" actId="21"/>
        <pc:sldMkLst>
          <pc:docMk/>
          <pc:sldMk cId="2131632869" sldId="931"/>
        </pc:sldMkLst>
        <pc:spChg chg="add mod">
          <ac:chgData name="Lines, Todd" userId="afaf7c3a-e8aa-4568-882a-02ad8f9e19b0" providerId="ADAL" clId="{5FF5AC1B-ABA9-43D7-A1E3-2D92732CD6E2}" dt="2025-11-10T22:25:39.086" v="22" actId="1038"/>
          <ac:spMkLst>
            <pc:docMk/>
            <pc:sldMk cId="2131632869" sldId="931"/>
            <ac:spMk id="3" creationId="{4F5B2C47-7F74-4798-DF98-D8E48700472E}"/>
          </ac:spMkLst>
        </pc:spChg>
        <pc:spChg chg="add mod">
          <ac:chgData name="Lines, Todd" userId="afaf7c3a-e8aa-4568-882a-02ad8f9e19b0" providerId="ADAL" clId="{5FF5AC1B-ABA9-43D7-A1E3-2D92732CD6E2}" dt="2025-11-10T22:25:50.959" v="28" actId="1036"/>
          <ac:spMkLst>
            <pc:docMk/>
            <pc:sldMk cId="2131632869" sldId="931"/>
            <ac:spMk id="4" creationId="{EB98C4D3-1259-5634-EA84-9C586592CFD2}"/>
          </ac:spMkLst>
        </pc:spChg>
        <pc:picChg chg="del mod">
          <ac:chgData name="Lines, Todd" userId="afaf7c3a-e8aa-4568-882a-02ad8f9e19b0" providerId="ADAL" clId="{5FF5AC1B-ABA9-43D7-A1E3-2D92732CD6E2}" dt="2025-11-10T22:26:08.825" v="30" actId="21"/>
          <ac:picMkLst>
            <pc:docMk/>
            <pc:sldMk cId="2131632869" sldId="931"/>
            <ac:picMk id="5" creationId="{C0C9A59A-2B71-2C98-236E-2A892202C52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AD34DB-6607-480E-A586-E3653CA777C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1036F2-92B8-4F2B-A7F1-EDDBE2F011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63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139A1F5-9EF1-4FE0-874F-D7CBD7C96460}" type="slidenum">
              <a:rPr lang="en-US"/>
              <a:pPr/>
              <a:t>3</a:t>
            </a:fld>
            <a:endParaRPr lang="en-US"/>
          </a:p>
        </p:txBody>
      </p:sp>
      <p:sp>
        <p:nvSpPr>
          <p:cNvPr id="18114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1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C9CE15C-D526-49E7-B9B9-ACD4337232F6}" type="slidenum">
              <a:rPr lang="en-US"/>
              <a:pPr/>
              <a:t>4</a:t>
            </a:fld>
            <a:endParaRPr lang="en-US"/>
          </a:p>
        </p:txBody>
      </p:sp>
      <p:sp>
        <p:nvSpPr>
          <p:cNvPr id="1813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3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092B3D3-0726-4A3C-A028-F76029C36345}" type="slidenum">
              <a:rPr lang="en-US"/>
              <a:pPr/>
              <a:t>8</a:t>
            </a:fld>
            <a:endParaRPr lang="en-US"/>
          </a:p>
        </p:txBody>
      </p:sp>
      <p:sp>
        <p:nvSpPr>
          <p:cNvPr id="1815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15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8718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9610FC6-F105-4F17-8C19-18F5ABFEBFEF}" type="slidenum">
              <a:rPr lang="en-US"/>
              <a:pPr/>
              <a:t>9</a:t>
            </a:fld>
            <a:endParaRPr lang="en-US"/>
          </a:p>
        </p:txBody>
      </p:sp>
      <p:sp>
        <p:nvSpPr>
          <p:cNvPr id="1817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17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5993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5B57AD7-D222-450C-881C-ACD08E2BC324}" type="slidenum">
              <a:rPr lang="en-US"/>
              <a:pPr/>
              <a:t>10</a:t>
            </a:fld>
            <a:endParaRPr lang="en-US"/>
          </a:p>
        </p:txBody>
      </p:sp>
      <p:sp>
        <p:nvSpPr>
          <p:cNvPr id="18196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96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947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5E59F14-60D1-4A89-AADA-CE0614E854F3}" type="slidenum">
              <a:rPr lang="en-US"/>
              <a:pPr/>
              <a:t>11</a:t>
            </a:fld>
            <a:endParaRPr lang="en-US"/>
          </a:p>
        </p:txBody>
      </p:sp>
      <p:sp>
        <p:nvSpPr>
          <p:cNvPr id="1821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16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6996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7C3EE5F-A1B1-48A3-B457-D4A2FA261647}" type="slidenum">
              <a:rPr lang="en-US"/>
              <a:pPr/>
              <a:t>12</a:t>
            </a:fld>
            <a:endParaRPr lang="en-US"/>
          </a:p>
        </p:txBody>
      </p:sp>
      <p:sp>
        <p:nvSpPr>
          <p:cNvPr id="1823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3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8782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F9538A-02FF-44C5-BFA1-5DD97ED3EAD1}" type="slidenum">
              <a:rPr lang="en-US"/>
              <a:pPr/>
              <a:t>13</a:t>
            </a:fld>
            <a:endParaRPr lang="en-US"/>
          </a:p>
        </p:txBody>
      </p:sp>
      <p:sp>
        <p:nvSpPr>
          <p:cNvPr id="1825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5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1432" tIns="45716" rIns="91432" bIns="4571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538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47143CA-E62D-41E8-98E9-A0A5029806FF}" type="slidenum">
              <a:rPr lang="en-US"/>
              <a:pPr/>
              <a:t>14</a:t>
            </a:fld>
            <a:endParaRPr lang="en-US"/>
          </a:p>
        </p:txBody>
      </p:sp>
      <p:sp>
        <p:nvSpPr>
          <p:cNvPr id="18278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7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1822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A172B8C-726D-4273-B28D-15CD4910E72D}" type="slidenum">
              <a:rPr lang="en-US"/>
              <a:pPr/>
              <a:t>15</a:t>
            </a:fld>
            <a:endParaRPr lang="en-US"/>
          </a:p>
        </p:txBody>
      </p:sp>
      <p:sp>
        <p:nvSpPr>
          <p:cNvPr id="18298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29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0890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5C0FA6-6595-4B40-89A3-C7979A9F3A6C}" type="slidenum">
              <a:rPr lang="en-US"/>
              <a:pPr/>
              <a:t>16</a:t>
            </a:fld>
            <a:endParaRPr lang="en-US"/>
          </a:p>
        </p:txBody>
      </p:sp>
      <p:sp>
        <p:nvSpPr>
          <p:cNvPr id="18319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19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8364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CC63F14-19F9-4BAA-9DA7-86E0AAB85E75}" type="slidenum">
              <a:rPr lang="en-US"/>
              <a:pPr/>
              <a:t>17</a:t>
            </a:fld>
            <a:endParaRPr lang="en-US"/>
          </a:p>
        </p:txBody>
      </p:sp>
      <p:sp>
        <p:nvSpPr>
          <p:cNvPr id="1833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3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150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18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0485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342278-32A2-40E7-9E58-CE62C25C40E8}" type="slidenum">
              <a:rPr lang="en-US"/>
              <a:pPr/>
              <a:t>19</a:t>
            </a:fld>
            <a:endParaRPr lang="en-US"/>
          </a:p>
        </p:txBody>
      </p:sp>
      <p:sp>
        <p:nvSpPr>
          <p:cNvPr id="1838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8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1157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BC74B84-C84D-4546-834C-A070F5EF0760}" type="slidenum">
              <a:rPr lang="en-US"/>
              <a:pPr/>
              <a:t>20</a:t>
            </a:fld>
            <a:endParaRPr lang="en-US"/>
          </a:p>
        </p:txBody>
      </p:sp>
      <p:sp>
        <p:nvSpPr>
          <p:cNvPr id="1840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40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932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E9D7C75-8BF9-4588-837A-363FBCF288AF}" type="slidenum">
              <a:rPr lang="en-US"/>
              <a:pPr/>
              <a:t>21</a:t>
            </a:fld>
            <a:endParaRPr lang="en-US"/>
          </a:p>
        </p:txBody>
      </p:sp>
      <p:sp>
        <p:nvSpPr>
          <p:cNvPr id="1842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6825" y="727075"/>
            <a:ext cx="4781550" cy="3586163"/>
          </a:xfrm>
          <a:ln/>
        </p:spPr>
      </p:sp>
      <p:sp>
        <p:nvSpPr>
          <p:cNvPr id="1842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640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7A6C6A1-C49F-461D-BC66-9D336BB8726E}" type="slidenum">
              <a:rPr lang="en-US"/>
              <a:pPr/>
              <a:t>22</a:t>
            </a:fld>
            <a:endParaRPr lang="en-US"/>
          </a:p>
        </p:txBody>
      </p:sp>
      <p:sp>
        <p:nvSpPr>
          <p:cNvPr id="1844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0601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FBBE0C8-8178-4EF1-AF93-0A3C723F3A6C}" type="slidenum">
              <a:rPr lang="en-US"/>
              <a:pPr/>
              <a:t>23</a:t>
            </a:fld>
            <a:endParaRPr lang="en-US"/>
          </a:p>
        </p:txBody>
      </p:sp>
      <p:sp>
        <p:nvSpPr>
          <p:cNvPr id="1846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795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DFC702F-79F9-403A-BECF-07D14CFAAF9D}" type="slidenum">
              <a:rPr lang="en-US"/>
              <a:pPr/>
              <a:t>25</a:t>
            </a:fld>
            <a:endParaRPr lang="en-US"/>
          </a:p>
        </p:txBody>
      </p:sp>
      <p:sp>
        <p:nvSpPr>
          <p:cNvPr id="1848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8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13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6BBB446-FE7D-452B-BFFB-068FB05760D3}" type="slidenum">
              <a:rPr lang="en-US"/>
              <a:pPr/>
              <a:t>26</a:t>
            </a:fld>
            <a:endParaRPr lang="en-US"/>
          </a:p>
        </p:txBody>
      </p:sp>
      <p:sp>
        <p:nvSpPr>
          <p:cNvPr id="18503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905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C06DE83-FB80-471C-BE4B-37F8540B1D76}" type="slidenum">
              <a:rPr lang="en-US"/>
              <a:pPr/>
              <a:t>27</a:t>
            </a:fld>
            <a:endParaRPr lang="en-US"/>
          </a:p>
        </p:txBody>
      </p:sp>
      <p:sp>
        <p:nvSpPr>
          <p:cNvPr id="1852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24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753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B5035C6-DE91-4023-8A34-DF74D6BBDB88}" type="slidenum">
              <a:rPr lang="en-US"/>
              <a:pPr/>
              <a:t>28</a:t>
            </a:fld>
            <a:endParaRPr lang="en-US"/>
          </a:p>
        </p:txBody>
      </p:sp>
      <p:sp>
        <p:nvSpPr>
          <p:cNvPr id="1854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940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03E4B1C-6296-44DC-A454-0BA69E7AE228}" type="slidenum">
              <a:rPr lang="en-US"/>
              <a:pPr/>
              <a:t>29</a:t>
            </a:fld>
            <a:endParaRPr lang="en-US"/>
          </a:p>
        </p:txBody>
      </p:sp>
      <p:sp>
        <p:nvSpPr>
          <p:cNvPr id="1856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65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6085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E91FF75-78D3-49F5-BAC1-C60D002131B0}" type="slidenum">
              <a:rPr lang="en-US"/>
              <a:pPr/>
              <a:t>30</a:t>
            </a:fld>
            <a:endParaRPr lang="en-US"/>
          </a:p>
        </p:txBody>
      </p:sp>
      <p:sp>
        <p:nvSpPr>
          <p:cNvPr id="1858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8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9741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9B25CB45-8D7E-4F27-BC8F-FE81EFD4061E}" type="slidenum">
              <a:rPr lang="en-US"/>
              <a:pPr/>
              <a:t>31</a:t>
            </a:fld>
            <a:endParaRPr lang="en-US"/>
          </a:p>
        </p:txBody>
      </p:sp>
      <p:sp>
        <p:nvSpPr>
          <p:cNvPr id="1860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06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8066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8F38CAB-08B3-4443-8F2B-3D435A4C289F}" type="slidenum">
              <a:rPr lang="en-US"/>
              <a:pPr/>
              <a:t>32</a:t>
            </a:fld>
            <a:endParaRPr lang="en-US"/>
          </a:p>
        </p:txBody>
      </p:sp>
      <p:sp>
        <p:nvSpPr>
          <p:cNvPr id="1862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26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362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AAECB4-ADA3-4D11-A3D3-7A122649CDCD}" type="slidenum">
              <a:rPr lang="en-US"/>
              <a:pPr/>
              <a:t>33</a:t>
            </a:fld>
            <a:endParaRPr lang="en-US"/>
          </a:p>
        </p:txBody>
      </p:sp>
      <p:sp>
        <p:nvSpPr>
          <p:cNvPr id="1864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4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r>
              <a:rPr lang="en-US"/>
              <a:t>[CORRECT 5 ANSWER]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2141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B766D7A-0D0B-4F5D-9379-E9C728CCFED3}" type="slidenum">
              <a:rPr lang="en-US"/>
              <a:pPr/>
              <a:t>34</a:t>
            </a:fld>
            <a:endParaRPr lang="en-US"/>
          </a:p>
        </p:txBody>
      </p:sp>
      <p:sp>
        <p:nvSpPr>
          <p:cNvPr id="18667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6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59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6107511-ECC2-423C-A67E-871E39FD4C90}" type="slidenum">
              <a:rPr lang="en-US"/>
              <a:pPr/>
              <a:t>35</a:t>
            </a:fld>
            <a:endParaRPr lang="en-US"/>
          </a:p>
        </p:txBody>
      </p:sp>
      <p:sp>
        <p:nvSpPr>
          <p:cNvPr id="18688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8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r>
              <a:rPr lang="en-US"/>
              <a:t>[CORRECT 5 ANSWER]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898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EF9918F-269A-44D1-B685-37CEB498F7D4}" type="slidenum">
              <a:rPr lang="en-US"/>
              <a:pPr/>
              <a:t>36</a:t>
            </a:fld>
            <a:endParaRPr lang="en-US"/>
          </a:p>
        </p:txBody>
      </p:sp>
      <p:sp>
        <p:nvSpPr>
          <p:cNvPr id="1870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70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9159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40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AFF0680-329D-4663-8D93-2043B5A3A74A}" type="slidenum">
              <a:rPr lang="en-US"/>
              <a:pPr/>
              <a:t>41</a:t>
            </a:fld>
            <a:endParaRPr lang="en-US"/>
          </a:p>
        </p:txBody>
      </p:sp>
      <p:sp>
        <p:nvSpPr>
          <p:cNvPr id="1836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36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 lIns="96653" tIns="48326" rIns="96653" bIns="48326"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990278-80F4-4D7C-AF07-D80DC8C7521E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0EEDE-00BB-4AF9-A92F-D94E95C665AF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wmf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3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223.44.1</a:t>
            </a:r>
          </a:p>
        </p:txBody>
      </p:sp>
      <p:sp>
        <p:nvSpPr>
          <p:cNvPr id="24238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81000" indent="-381000">
              <a:buFont typeface="Monotype Sorts" pitchFamily="2" charset="2"/>
              <a:buNone/>
            </a:pPr>
            <a:r>
              <a:rPr lang="en-US" sz="2800" dirty="0"/>
              <a:t>Can a changing magnetic field create an electric current?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Yes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No</a:t>
            </a:r>
          </a:p>
          <a:p>
            <a:pPr marL="381000" indent="-381000">
              <a:buFont typeface="Monotype Sorts" pitchFamily="2" charset="2"/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5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223.44.2</a:t>
            </a:r>
          </a:p>
        </p:txBody>
      </p:sp>
      <p:sp>
        <p:nvSpPr>
          <p:cNvPr id="24258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81000" indent="-381000">
              <a:buFont typeface="Monotype Sorts" pitchFamily="2" charset="2"/>
              <a:buNone/>
            </a:pPr>
            <a:r>
              <a:rPr lang="en-US" sz="2800" dirty="0"/>
              <a:t>Can a changing magnetic field create an electric field?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Yes</a:t>
            </a:r>
          </a:p>
          <a:p>
            <a:pPr marL="381000" indent="-381000">
              <a:buFont typeface="Monotype Sorts" pitchFamily="2" charset="2"/>
              <a:buAutoNum type="alphaLcParenR"/>
            </a:pPr>
            <a:r>
              <a:rPr lang="en-US" sz="2800" dirty="0"/>
              <a:t>No</a:t>
            </a:r>
          </a:p>
          <a:p>
            <a:pPr marL="381000" indent="-381000">
              <a:buFont typeface="Monotype Sorts" pitchFamily="2" charset="2"/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435" name="Rectangle 3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0436" name="Rectangle 4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  <p:sp>
        <p:nvSpPr>
          <p:cNvPr id="1810437" name="Rectangle 5"/>
          <p:cNvSpPr>
            <a:spLocks noChangeArrowheads="1"/>
          </p:cNvSpPr>
          <p:nvPr/>
        </p:nvSpPr>
        <p:spPr bwMode="auto">
          <a:xfrm>
            <a:off x="4222750" y="793750"/>
            <a:ext cx="4741863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drop the magnet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move the magnet upwards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move the magnet sideways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pic>
        <p:nvPicPr>
          <p:cNvPr id="1810438" name="Picture 6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3436938" y="3267075"/>
            <a:ext cx="2417762" cy="3590925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482" name="AutoShape 2"/>
          <p:cNvSpPr>
            <a:spLocks noChangeArrowheads="1"/>
          </p:cNvSpPr>
          <p:nvPr/>
        </p:nvSpPr>
        <p:spPr bwMode="auto">
          <a:xfrm>
            <a:off x="228600" y="3930650"/>
            <a:ext cx="5667375" cy="14874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12483" name="Rectangle 3"/>
          <p:cNvSpPr>
            <a:spLocks noChangeArrowheads="1"/>
          </p:cNvSpPr>
          <p:nvPr/>
        </p:nvSpPr>
        <p:spPr bwMode="auto">
          <a:xfrm>
            <a:off x="228600" y="3910013"/>
            <a:ext cx="5672138" cy="1360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b="1">
                <a:solidFill>
                  <a:schemeClr val="bg2"/>
                </a:solidFill>
              </a:rPr>
              <a:t>   </a:t>
            </a:r>
            <a:r>
              <a:rPr lang="en-US" sz="2000" b="1">
                <a:solidFill>
                  <a:schemeClr val="bg2"/>
                </a:solidFill>
              </a:rPr>
              <a:t>Moving the magnet in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any direction</a:t>
            </a:r>
            <a:r>
              <a:rPr lang="en-US" sz="2000" b="1">
                <a:solidFill>
                  <a:schemeClr val="bg2"/>
                </a:solidFill>
              </a:rPr>
              <a:t> would change the magnetic field through the loop and thus the magnetic flux.</a:t>
            </a:r>
          </a:p>
        </p:txBody>
      </p:sp>
      <p:sp>
        <p:nvSpPr>
          <p:cNvPr id="1812485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2487" name="Rectangle 7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  <p:sp>
        <p:nvSpPr>
          <p:cNvPr id="1812486" name="Oval 6"/>
          <p:cNvSpPr>
            <a:spLocks noChangeArrowheads="1"/>
          </p:cNvSpPr>
          <p:nvPr/>
        </p:nvSpPr>
        <p:spPr bwMode="auto">
          <a:xfrm>
            <a:off x="3878263" y="2444750"/>
            <a:ext cx="3792537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12488" name="Rectangle 8"/>
          <p:cNvSpPr>
            <a:spLocks noChangeArrowheads="1"/>
          </p:cNvSpPr>
          <p:nvPr/>
        </p:nvSpPr>
        <p:spPr bwMode="auto">
          <a:xfrm>
            <a:off x="4222750" y="793750"/>
            <a:ext cx="4741863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drop the magnet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move the magnet upwards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move the magnet sideways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pic>
        <p:nvPicPr>
          <p:cNvPr id="1812489" name="Picture 9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6470650" y="3260725"/>
            <a:ext cx="2417763" cy="3590925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469563" y="2030979"/>
            <a:ext cx="3672840" cy="2446883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6" name="Rectangle 5"/>
          <p:cNvSpPr/>
          <p:nvPr/>
        </p:nvSpPr>
        <p:spPr>
          <a:xfrm>
            <a:off x="2578912" y="2143295"/>
            <a:ext cx="3574445" cy="22222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grpSp>
        <p:nvGrpSpPr>
          <p:cNvPr id="7" name="Group 5"/>
          <p:cNvGrpSpPr/>
          <p:nvPr/>
        </p:nvGrpSpPr>
        <p:grpSpPr>
          <a:xfrm rot="2700000">
            <a:off x="2561221" y="1719356"/>
            <a:ext cx="204979" cy="177992"/>
            <a:chOff x="883920" y="396240"/>
            <a:chExt cx="929640" cy="929640"/>
          </a:xfrm>
        </p:grpSpPr>
        <p:sp>
          <p:nvSpPr>
            <p:cNvPr id="73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4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" name="Group 6"/>
          <p:cNvGrpSpPr/>
          <p:nvPr/>
        </p:nvGrpSpPr>
        <p:grpSpPr>
          <a:xfrm rot="2700000">
            <a:off x="2561221" y="2657996"/>
            <a:ext cx="204979" cy="177992"/>
            <a:chOff x="883920" y="396240"/>
            <a:chExt cx="929640" cy="929640"/>
          </a:xfrm>
        </p:grpSpPr>
        <p:sp>
          <p:nvSpPr>
            <p:cNvPr id="71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2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9" name="Group 9"/>
          <p:cNvGrpSpPr/>
          <p:nvPr/>
        </p:nvGrpSpPr>
        <p:grpSpPr>
          <a:xfrm rot="2700000">
            <a:off x="2554789" y="3628727"/>
            <a:ext cx="204979" cy="177992"/>
            <a:chOff x="883920" y="396240"/>
            <a:chExt cx="929640" cy="929640"/>
          </a:xfrm>
        </p:grpSpPr>
        <p:sp>
          <p:nvSpPr>
            <p:cNvPr id="69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0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0" name="Group 12"/>
          <p:cNvGrpSpPr/>
          <p:nvPr/>
        </p:nvGrpSpPr>
        <p:grpSpPr>
          <a:xfrm rot="2700000">
            <a:off x="2554789" y="4583412"/>
            <a:ext cx="204979" cy="177992"/>
            <a:chOff x="883920" y="396240"/>
            <a:chExt cx="929640" cy="929640"/>
          </a:xfrm>
        </p:grpSpPr>
        <p:sp>
          <p:nvSpPr>
            <p:cNvPr id="67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8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1" name="Group 15"/>
          <p:cNvGrpSpPr/>
          <p:nvPr/>
        </p:nvGrpSpPr>
        <p:grpSpPr>
          <a:xfrm rot="2700000">
            <a:off x="3313799" y="1719356"/>
            <a:ext cx="204979" cy="177992"/>
            <a:chOff x="883920" y="396240"/>
            <a:chExt cx="929640" cy="929640"/>
          </a:xfrm>
        </p:grpSpPr>
        <p:sp>
          <p:nvSpPr>
            <p:cNvPr id="65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6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2" name="Group 18"/>
          <p:cNvGrpSpPr/>
          <p:nvPr/>
        </p:nvGrpSpPr>
        <p:grpSpPr>
          <a:xfrm rot="2700000">
            <a:off x="3313799" y="2657996"/>
            <a:ext cx="204979" cy="177992"/>
            <a:chOff x="883920" y="396240"/>
            <a:chExt cx="929640" cy="929640"/>
          </a:xfrm>
        </p:grpSpPr>
        <p:sp>
          <p:nvSpPr>
            <p:cNvPr id="63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4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3" name="Group 21"/>
          <p:cNvGrpSpPr/>
          <p:nvPr/>
        </p:nvGrpSpPr>
        <p:grpSpPr>
          <a:xfrm rot="2700000">
            <a:off x="3307367" y="3628727"/>
            <a:ext cx="204979" cy="177992"/>
            <a:chOff x="883920" y="396240"/>
            <a:chExt cx="929640" cy="929640"/>
          </a:xfrm>
        </p:grpSpPr>
        <p:sp>
          <p:nvSpPr>
            <p:cNvPr id="61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2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4" name="Group 24"/>
          <p:cNvGrpSpPr/>
          <p:nvPr/>
        </p:nvGrpSpPr>
        <p:grpSpPr>
          <a:xfrm rot="2700000">
            <a:off x="3307367" y="4583412"/>
            <a:ext cx="204979" cy="177992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5" name="Group 27"/>
          <p:cNvGrpSpPr/>
          <p:nvPr/>
        </p:nvGrpSpPr>
        <p:grpSpPr>
          <a:xfrm rot="2700000">
            <a:off x="4104971" y="1719356"/>
            <a:ext cx="204979" cy="177992"/>
            <a:chOff x="883920" y="396240"/>
            <a:chExt cx="929640" cy="929640"/>
          </a:xfrm>
        </p:grpSpPr>
        <p:sp>
          <p:nvSpPr>
            <p:cNvPr id="57" name="Rectangle 5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8" name="Rectangle 5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6" name="Group 30"/>
          <p:cNvGrpSpPr/>
          <p:nvPr/>
        </p:nvGrpSpPr>
        <p:grpSpPr>
          <a:xfrm rot="2700000">
            <a:off x="4104971" y="2657996"/>
            <a:ext cx="204979" cy="177992"/>
            <a:chOff x="883920" y="396240"/>
            <a:chExt cx="929640" cy="929640"/>
          </a:xfrm>
        </p:grpSpPr>
        <p:sp>
          <p:nvSpPr>
            <p:cNvPr id="55" name="Rectangle 5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6" name="Rectangle 5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7" name="Group 33"/>
          <p:cNvGrpSpPr/>
          <p:nvPr/>
        </p:nvGrpSpPr>
        <p:grpSpPr>
          <a:xfrm rot="2700000">
            <a:off x="4098539" y="3628727"/>
            <a:ext cx="204979" cy="177992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8" name="Group 36"/>
          <p:cNvGrpSpPr/>
          <p:nvPr/>
        </p:nvGrpSpPr>
        <p:grpSpPr>
          <a:xfrm rot="2700000">
            <a:off x="4098539" y="4583412"/>
            <a:ext cx="204979" cy="177992"/>
            <a:chOff x="883920" y="396240"/>
            <a:chExt cx="929640" cy="929640"/>
          </a:xfrm>
        </p:grpSpPr>
        <p:sp>
          <p:nvSpPr>
            <p:cNvPr id="51" name="Rectangle 5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2" name="Rectangle 5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9" name="Group 39"/>
          <p:cNvGrpSpPr/>
          <p:nvPr/>
        </p:nvGrpSpPr>
        <p:grpSpPr>
          <a:xfrm rot="2700000">
            <a:off x="4870415" y="1719356"/>
            <a:ext cx="204979" cy="177992"/>
            <a:chOff x="883920" y="396240"/>
            <a:chExt cx="929640" cy="929640"/>
          </a:xfrm>
        </p:grpSpPr>
        <p:sp>
          <p:nvSpPr>
            <p:cNvPr id="49" name="Rectangle 4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0" name="Rectangle 4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0" name="Group 42"/>
          <p:cNvGrpSpPr/>
          <p:nvPr/>
        </p:nvGrpSpPr>
        <p:grpSpPr>
          <a:xfrm rot="2700000">
            <a:off x="4870414" y="2657996"/>
            <a:ext cx="204979" cy="177992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1" name="Group 45"/>
          <p:cNvGrpSpPr/>
          <p:nvPr/>
        </p:nvGrpSpPr>
        <p:grpSpPr>
          <a:xfrm rot="2700000">
            <a:off x="4863982" y="3628727"/>
            <a:ext cx="204979" cy="177992"/>
            <a:chOff x="883920" y="396240"/>
            <a:chExt cx="929640" cy="929640"/>
          </a:xfrm>
        </p:grpSpPr>
        <p:sp>
          <p:nvSpPr>
            <p:cNvPr id="45" name="Rectangle 4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6" name="Rectangle 4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2" name="Group 48"/>
          <p:cNvGrpSpPr/>
          <p:nvPr/>
        </p:nvGrpSpPr>
        <p:grpSpPr>
          <a:xfrm rot="2700000">
            <a:off x="4863982" y="4583412"/>
            <a:ext cx="204979" cy="177992"/>
            <a:chOff x="883920" y="396240"/>
            <a:chExt cx="929640" cy="929640"/>
          </a:xfrm>
        </p:grpSpPr>
        <p:sp>
          <p:nvSpPr>
            <p:cNvPr id="43" name="Rectangle 4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4" name="Rectangle 4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3" name="Group 51"/>
          <p:cNvGrpSpPr/>
          <p:nvPr/>
        </p:nvGrpSpPr>
        <p:grpSpPr>
          <a:xfrm rot="2700000">
            <a:off x="5629425" y="1719356"/>
            <a:ext cx="204979" cy="177992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4" name="Group 54"/>
          <p:cNvGrpSpPr/>
          <p:nvPr/>
        </p:nvGrpSpPr>
        <p:grpSpPr>
          <a:xfrm rot="2700000">
            <a:off x="5629425" y="2657996"/>
            <a:ext cx="204979" cy="177992"/>
            <a:chOff x="883920" y="396240"/>
            <a:chExt cx="929640" cy="929640"/>
          </a:xfrm>
        </p:grpSpPr>
        <p:sp>
          <p:nvSpPr>
            <p:cNvPr id="39" name="Rectangle 3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0" name="Rectangle 3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5" name="Group 57"/>
          <p:cNvGrpSpPr/>
          <p:nvPr/>
        </p:nvGrpSpPr>
        <p:grpSpPr>
          <a:xfrm rot="2700000">
            <a:off x="5622993" y="3628727"/>
            <a:ext cx="204979" cy="177992"/>
            <a:chOff x="883920" y="396240"/>
            <a:chExt cx="929640" cy="929640"/>
          </a:xfrm>
        </p:grpSpPr>
        <p:sp>
          <p:nvSpPr>
            <p:cNvPr id="37" name="Rectangle 3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38" name="Rectangle 3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6" name="Group 60"/>
          <p:cNvGrpSpPr/>
          <p:nvPr/>
        </p:nvGrpSpPr>
        <p:grpSpPr>
          <a:xfrm rot="2700000">
            <a:off x="5622993" y="4583412"/>
            <a:ext cx="204979" cy="177992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sp>
        <p:nvSpPr>
          <p:cNvPr id="27" name="Rectangle 26"/>
          <p:cNvSpPr/>
          <p:nvPr/>
        </p:nvSpPr>
        <p:spPr>
          <a:xfrm>
            <a:off x="4361069" y="1854483"/>
            <a:ext cx="353776" cy="273569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8" name="Right Arrow 27"/>
          <p:cNvSpPr/>
          <p:nvPr/>
        </p:nvSpPr>
        <p:spPr>
          <a:xfrm>
            <a:off x="4740575" y="3009733"/>
            <a:ext cx="456693" cy="184519"/>
          </a:xfrm>
          <a:prstGeom prst="rightArrow">
            <a:avLst>
              <a:gd name="adj1" fmla="val 50000"/>
              <a:gd name="adj2" fmla="val 7187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9" name="TextBox 28"/>
          <p:cNvSpPr txBox="1"/>
          <p:nvPr/>
        </p:nvSpPr>
        <p:spPr>
          <a:xfrm>
            <a:off x="5107215" y="2674351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65141" y="1329746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75" name="Right Arrow 74"/>
          <p:cNvSpPr/>
          <p:nvPr/>
        </p:nvSpPr>
        <p:spPr>
          <a:xfrm rot="10800000" flipH="1">
            <a:off x="3068655" y="4768242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76" name="TextBox 75"/>
          <p:cNvSpPr txBox="1"/>
          <p:nvPr/>
        </p:nvSpPr>
        <p:spPr>
          <a:xfrm>
            <a:off x="3258581" y="4924177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grpSp>
        <p:nvGrpSpPr>
          <p:cNvPr id="79" name="Group 5"/>
          <p:cNvGrpSpPr/>
          <p:nvPr/>
        </p:nvGrpSpPr>
        <p:grpSpPr>
          <a:xfrm rot="2700000">
            <a:off x="1922037" y="1721628"/>
            <a:ext cx="204979" cy="177992"/>
            <a:chOff x="883920" y="396240"/>
            <a:chExt cx="929640" cy="929640"/>
          </a:xfrm>
        </p:grpSpPr>
        <p:sp>
          <p:nvSpPr>
            <p:cNvPr id="80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1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2" name="Group 6"/>
          <p:cNvGrpSpPr/>
          <p:nvPr/>
        </p:nvGrpSpPr>
        <p:grpSpPr>
          <a:xfrm rot="2700000">
            <a:off x="1922037" y="2660268"/>
            <a:ext cx="204979" cy="177992"/>
            <a:chOff x="883920" y="396240"/>
            <a:chExt cx="929640" cy="929640"/>
          </a:xfrm>
        </p:grpSpPr>
        <p:sp>
          <p:nvSpPr>
            <p:cNvPr id="83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4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5" name="Group 9"/>
          <p:cNvGrpSpPr/>
          <p:nvPr/>
        </p:nvGrpSpPr>
        <p:grpSpPr>
          <a:xfrm rot="2700000">
            <a:off x="1915605" y="3630999"/>
            <a:ext cx="204979" cy="177992"/>
            <a:chOff x="883920" y="396240"/>
            <a:chExt cx="929640" cy="929640"/>
          </a:xfrm>
        </p:grpSpPr>
        <p:sp>
          <p:nvSpPr>
            <p:cNvPr id="86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7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8" name="Group 12"/>
          <p:cNvGrpSpPr/>
          <p:nvPr/>
        </p:nvGrpSpPr>
        <p:grpSpPr>
          <a:xfrm rot="2700000">
            <a:off x="1915605" y="4585684"/>
            <a:ext cx="204979" cy="177992"/>
            <a:chOff x="883920" y="396240"/>
            <a:chExt cx="929640" cy="929640"/>
          </a:xfrm>
        </p:grpSpPr>
        <p:sp>
          <p:nvSpPr>
            <p:cNvPr id="89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0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A3BA8D1-D057-5685-F6C5-53D8F896446A}"/>
              </a:ext>
            </a:extLst>
          </p:cNvPr>
          <p:cNvSpPr/>
          <p:nvPr/>
        </p:nvSpPr>
        <p:spPr>
          <a:xfrm>
            <a:off x="964870" y="3429000"/>
            <a:ext cx="6077305" cy="18288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1CB0E37-D5B1-012B-81F0-A7BAF5EC4873}"/>
              </a:ext>
            </a:extLst>
          </p:cNvPr>
          <p:cNvSpPr/>
          <p:nvPr/>
        </p:nvSpPr>
        <p:spPr>
          <a:xfrm>
            <a:off x="1046375" y="3525625"/>
            <a:ext cx="5891753" cy="16496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1FC8A27-134B-49EC-4B68-CE1CD4351166}"/>
              </a:ext>
            </a:extLst>
          </p:cNvPr>
          <p:cNvCxnSpPr>
            <a:cxnSpLocks/>
          </p:cNvCxnSpPr>
          <p:nvPr/>
        </p:nvCxnSpPr>
        <p:spPr>
          <a:xfrm>
            <a:off x="3866048" y="1102935"/>
            <a:ext cx="0" cy="28806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69FF1BE-C18E-AE0D-FA4F-ED7C3B49E443}"/>
              </a:ext>
            </a:extLst>
          </p:cNvPr>
          <p:cNvCxnSpPr>
            <a:cxnSpLocks/>
          </p:cNvCxnSpPr>
          <p:nvPr/>
        </p:nvCxnSpPr>
        <p:spPr>
          <a:xfrm flipV="1">
            <a:off x="1112363" y="3983609"/>
            <a:ext cx="2753685" cy="1625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7C414A5-503C-CD12-050D-3F699C91CA9C}"/>
              </a:ext>
            </a:extLst>
          </p:cNvPr>
          <p:cNvCxnSpPr>
            <a:cxnSpLocks/>
          </p:cNvCxnSpPr>
          <p:nvPr/>
        </p:nvCxnSpPr>
        <p:spPr>
          <a:xfrm flipH="1" flipV="1">
            <a:off x="3866048" y="3983609"/>
            <a:ext cx="3072080" cy="128833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9475D0B-49B5-CC99-51E4-D4832AC94470}"/>
              </a:ext>
            </a:extLst>
          </p:cNvPr>
          <p:cNvSpPr txBox="1"/>
          <p:nvPr/>
        </p:nvSpPr>
        <p:spPr>
          <a:xfrm>
            <a:off x="3670955" y="312563"/>
            <a:ext cx="1950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848B7B-1B20-E957-F7E5-CB1948751201}"/>
              </a:ext>
            </a:extLst>
          </p:cNvPr>
          <p:cNvSpPr txBox="1"/>
          <p:nvPr/>
        </p:nvSpPr>
        <p:spPr>
          <a:xfrm>
            <a:off x="765007" y="5271939"/>
            <a:ext cx="3473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D6105A-CDE7-F2A1-996B-29A31E893A60}"/>
              </a:ext>
            </a:extLst>
          </p:cNvPr>
          <p:cNvSpPr txBox="1"/>
          <p:nvPr/>
        </p:nvSpPr>
        <p:spPr>
          <a:xfrm>
            <a:off x="6894684" y="5000482"/>
            <a:ext cx="3473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y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42F174E-1EBC-EDD0-3AF5-2972AFB0DE60}"/>
              </a:ext>
            </a:extLst>
          </p:cNvPr>
          <p:cNvSpPr/>
          <p:nvPr/>
        </p:nvSpPr>
        <p:spPr>
          <a:xfrm rot="16200000">
            <a:off x="2572119" y="3344809"/>
            <a:ext cx="1593128" cy="535846"/>
          </a:xfrm>
          <a:prstGeom prst="rightArrow">
            <a:avLst>
              <a:gd name="adj1" fmla="val 50000"/>
              <a:gd name="adj2" fmla="val 118610"/>
            </a:avLst>
          </a:prstGeom>
          <a:solidFill>
            <a:srgbClr val="2A20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BDA122-6173-6AA0-70A8-20509A069D7F}"/>
              </a:ext>
            </a:extLst>
          </p:cNvPr>
          <p:cNvSpPr txBox="1"/>
          <p:nvPr/>
        </p:nvSpPr>
        <p:spPr>
          <a:xfrm>
            <a:off x="2611470" y="1985170"/>
            <a:ext cx="18840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rgbClr val="2A20EC"/>
                </a:solidFill>
              </a:rPr>
              <a:t>B</a:t>
            </a:r>
            <a:r>
              <a:rPr lang="en-US" sz="4800" baseline="-25000" dirty="0" err="1">
                <a:solidFill>
                  <a:srgbClr val="2A20EC"/>
                </a:solidFill>
              </a:rPr>
              <a:t>external</a:t>
            </a:r>
            <a:endParaRPr lang="en-US" sz="4800" baseline="-25000" dirty="0">
              <a:solidFill>
                <a:srgbClr val="2A20EC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02C2FE4-1D76-7864-1ED3-C7E0A7D92ED6}"/>
              </a:ext>
            </a:extLst>
          </p:cNvPr>
          <p:cNvCxnSpPr>
            <a:cxnSpLocks/>
          </p:cNvCxnSpPr>
          <p:nvPr/>
        </p:nvCxnSpPr>
        <p:spPr>
          <a:xfrm>
            <a:off x="2701634" y="2121030"/>
            <a:ext cx="277236" cy="0"/>
          </a:xfrm>
          <a:prstGeom prst="straightConnector1">
            <a:avLst/>
          </a:prstGeom>
          <a:ln>
            <a:solidFill>
              <a:srgbClr val="2A20E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953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41969" y="605411"/>
            <a:ext cx="6323108" cy="58682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D7B946-4EAA-722C-CBCF-BB2F87D15AF8}"/>
              </a:ext>
            </a:extLst>
          </p:cNvPr>
          <p:cNvSpPr txBox="1"/>
          <p:nvPr/>
        </p:nvSpPr>
        <p:spPr>
          <a:xfrm>
            <a:off x="1783990" y="1503813"/>
            <a:ext cx="18840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 err="1">
                <a:solidFill>
                  <a:srgbClr val="2A20EC"/>
                </a:solidFill>
              </a:rPr>
              <a:t>B</a:t>
            </a:r>
            <a:r>
              <a:rPr lang="en-US" sz="4800" baseline="-25000" dirty="0" err="1">
                <a:solidFill>
                  <a:srgbClr val="2A20EC"/>
                </a:solidFill>
              </a:rPr>
              <a:t>external</a:t>
            </a:r>
            <a:endParaRPr lang="en-US" sz="4800" baseline="-25000" dirty="0">
              <a:solidFill>
                <a:srgbClr val="2A20EC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5502D8-3D42-0739-EA1B-B06BE698E4FB}"/>
              </a:ext>
            </a:extLst>
          </p:cNvPr>
          <p:cNvSpPr/>
          <p:nvPr/>
        </p:nvSpPr>
        <p:spPr>
          <a:xfrm>
            <a:off x="2569029" y="2322286"/>
            <a:ext cx="551542" cy="110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531" name="Rectangle 3"/>
          <p:cNvSpPr>
            <a:spLocks noChangeArrowheads="1"/>
          </p:cNvSpPr>
          <p:nvPr/>
        </p:nvSpPr>
        <p:spPr bwMode="auto">
          <a:xfrm>
            <a:off x="4605338" y="762000"/>
            <a:ext cx="3819525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tilt the loop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change the loop area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use thicker wires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pic>
        <p:nvPicPr>
          <p:cNvPr id="1814532" name="Picture 4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3289300" y="3267075"/>
            <a:ext cx="2417763" cy="3590925"/>
          </a:xfrm>
          <a:prstGeom prst="rect">
            <a:avLst/>
          </a:prstGeom>
          <a:noFill/>
        </p:spPr>
      </p:pic>
      <p:sp>
        <p:nvSpPr>
          <p:cNvPr id="1814533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4534" name="Rectangle 6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</p:spTree>
    <p:extLst>
      <p:ext uri="{BB962C8B-B14F-4D97-AF65-F5344CB8AC3E}">
        <p14:creationId xmlns:p14="http://schemas.microsoft.com/office/powerpoint/2010/main" val="4268906658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579" name="Oval 3"/>
          <p:cNvSpPr>
            <a:spLocks noChangeArrowheads="1"/>
          </p:cNvSpPr>
          <p:nvPr/>
        </p:nvSpPr>
        <p:spPr bwMode="auto">
          <a:xfrm>
            <a:off x="4248150" y="1968500"/>
            <a:ext cx="3673475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16580" name="Rectangle 4"/>
          <p:cNvSpPr>
            <a:spLocks noChangeArrowheads="1"/>
          </p:cNvSpPr>
          <p:nvPr/>
        </p:nvSpPr>
        <p:spPr bwMode="auto">
          <a:xfrm>
            <a:off x="4605338" y="762000"/>
            <a:ext cx="3819525" cy="20748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tilt the loop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change the loop area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use thicker wires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 only (a) and (b)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e)   all of the above</a:t>
            </a:r>
          </a:p>
        </p:txBody>
      </p:sp>
      <p:pic>
        <p:nvPicPr>
          <p:cNvPr id="1816581" name="Picture 5" descr="FG21_02B"/>
          <p:cNvPicPr>
            <a:picLocks noChangeAspect="1" noChangeArrowheads="1"/>
          </p:cNvPicPr>
          <p:nvPr/>
        </p:nvPicPr>
        <p:blipFill>
          <a:blip r:embed="rId3" cstate="print">
            <a:lum bright="-60000" contrast="84000"/>
          </a:blip>
          <a:srcRect l="33464" r="31453"/>
          <a:stretch>
            <a:fillRect/>
          </a:stretch>
        </p:blipFill>
        <p:spPr bwMode="auto">
          <a:xfrm>
            <a:off x="6470650" y="3267075"/>
            <a:ext cx="2417763" cy="3590925"/>
          </a:xfrm>
          <a:prstGeom prst="rect">
            <a:avLst/>
          </a:prstGeom>
          <a:noFill/>
        </p:spPr>
      </p:pic>
      <p:sp>
        <p:nvSpPr>
          <p:cNvPr id="1816582" name="AutoShape 6"/>
          <p:cNvSpPr>
            <a:spLocks noChangeArrowheads="1"/>
          </p:cNvSpPr>
          <p:nvPr/>
        </p:nvSpPr>
        <p:spPr bwMode="auto">
          <a:xfrm>
            <a:off x="695325" y="3598863"/>
            <a:ext cx="4881563" cy="20177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16583" name="Rectangle 7"/>
          <p:cNvSpPr>
            <a:spLocks noChangeArrowheads="1"/>
          </p:cNvSpPr>
          <p:nvPr/>
        </p:nvSpPr>
        <p:spPr bwMode="auto">
          <a:xfrm>
            <a:off x="609600" y="3660775"/>
            <a:ext cx="4870450" cy="1757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 Since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Symbol" pitchFamily="18" charset="2"/>
              </a:rPr>
              <a:t>F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 A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cos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Symbol" pitchFamily="18" charset="2"/>
              </a:rPr>
              <a:t>q</a:t>
            </a:r>
            <a:r>
              <a:rPr lang="en-US" sz="2000" b="1">
                <a:solidFill>
                  <a:schemeClr val="bg2"/>
                </a:solidFill>
              </a:rPr>
              <a:t> ,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changing the area </a:t>
            </a:r>
            <a:r>
              <a:rPr lang="en-US" sz="2000" b="1">
                <a:solidFill>
                  <a:srgbClr val="000000"/>
                </a:solidFill>
              </a:rPr>
              <a:t>or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tilting the loop</a:t>
            </a:r>
            <a:r>
              <a:rPr lang="en-US" sz="2000" b="1">
                <a:solidFill>
                  <a:schemeClr val="bg2"/>
                </a:solidFill>
              </a:rPr>
              <a:t> (which varies the projected area) would change the magnetic flux through the loop.</a:t>
            </a:r>
            <a:r>
              <a:rPr lang="en-US" b="1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816584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6585" name="Rectangle 9"/>
          <p:cNvSpPr>
            <a:spLocks noGrp="1" noChangeArrowheads="1"/>
          </p:cNvSpPr>
          <p:nvPr>
            <p:ph idx="1"/>
          </p:nvPr>
        </p:nvSpPr>
        <p:spPr>
          <a:xfrm>
            <a:off x="0" y="858838"/>
            <a:ext cx="3454400" cy="205422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In order to change the magnetic flux through the loop, what would you have to do?</a:t>
            </a:r>
          </a:p>
        </p:txBody>
      </p:sp>
    </p:spTree>
    <p:extLst>
      <p:ext uri="{BB962C8B-B14F-4D97-AF65-F5344CB8AC3E}">
        <p14:creationId xmlns:p14="http://schemas.microsoft.com/office/powerpoint/2010/main" val="86838644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8165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165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3" presetClass="entr" presetSubtype="52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816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6579" grpId="0" animBg="1"/>
      <p:bldP spid="1816582" grpId="0" animBg="1" autoUpdateAnimBg="0"/>
      <p:bldP spid="1816583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8632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18627" name="Rectangle 3"/>
          <p:cNvSpPr>
            <a:spLocks noGrp="1" noChangeArrowheads="1"/>
          </p:cNvSpPr>
          <p:nvPr>
            <p:ph idx="1"/>
          </p:nvPr>
        </p:nvSpPr>
        <p:spPr>
          <a:xfrm>
            <a:off x="0" y="949325"/>
            <a:ext cx="4973638" cy="1585913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from above the page, in what direction is the induced current? </a:t>
            </a:r>
          </a:p>
        </p:txBody>
      </p:sp>
      <p:sp>
        <p:nvSpPr>
          <p:cNvPr id="1818628" name="Rectangle 4"/>
          <p:cNvSpPr>
            <a:spLocks noChangeArrowheads="1"/>
          </p:cNvSpPr>
          <p:nvPr/>
        </p:nvSpPr>
        <p:spPr bwMode="auto">
          <a:xfrm>
            <a:off x="5781675" y="1116013"/>
            <a:ext cx="3362325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973388" y="3444875"/>
            <a:ext cx="3648075" cy="2036763"/>
            <a:chOff x="2616" y="2463"/>
            <a:chExt cx="2485" cy="1432"/>
          </a:xfrm>
        </p:grpSpPr>
        <p:pic>
          <p:nvPicPr>
            <p:cNvPr id="1818630" name="Picture 6" descr="FG21_007"/>
            <p:cNvPicPr>
              <a:picLocks noChangeAspect="1" noChangeArrowheads="1"/>
            </p:cNvPicPr>
            <p:nvPr/>
          </p:nvPicPr>
          <p:blipFill>
            <a:blip r:embed="rId3" cstate="print">
              <a:lum bright="-54000" contrast="72000"/>
            </a:blip>
            <a:srcRect r="71130" b="73788"/>
            <a:stretch>
              <a:fillRect/>
            </a:stretch>
          </p:blipFill>
          <p:spPr bwMode="auto">
            <a:xfrm>
              <a:off x="2616" y="2463"/>
              <a:ext cx="2485" cy="1432"/>
            </a:xfrm>
            <a:prstGeom prst="rect">
              <a:avLst/>
            </a:prstGeom>
            <a:noFill/>
          </p:spPr>
        </p:pic>
        <p:sp>
          <p:nvSpPr>
            <p:cNvPr id="1818631" name="Oval 7"/>
            <p:cNvSpPr>
              <a:spLocks noChangeArrowheads="1"/>
            </p:cNvSpPr>
            <p:nvPr/>
          </p:nvSpPr>
          <p:spPr bwMode="auto">
            <a:xfrm>
              <a:off x="3139" y="2497"/>
              <a:ext cx="1422" cy="1354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5764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675" name="Oval 3"/>
          <p:cNvSpPr>
            <a:spLocks noChangeArrowheads="1"/>
          </p:cNvSpPr>
          <p:nvPr/>
        </p:nvSpPr>
        <p:spPr bwMode="auto">
          <a:xfrm>
            <a:off x="5292725" y="1439863"/>
            <a:ext cx="3851275" cy="468312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20683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0676" name="Rectangle 4"/>
          <p:cNvSpPr>
            <a:spLocks noGrp="1" noChangeArrowheads="1"/>
          </p:cNvSpPr>
          <p:nvPr>
            <p:ph idx="1"/>
          </p:nvPr>
        </p:nvSpPr>
        <p:spPr>
          <a:xfrm>
            <a:off x="0" y="949325"/>
            <a:ext cx="4973638" cy="1585913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from above the page, in what direction is the induced current? </a:t>
            </a:r>
          </a:p>
        </p:txBody>
      </p:sp>
      <p:sp>
        <p:nvSpPr>
          <p:cNvPr id="1820677" name="Rectangle 5"/>
          <p:cNvSpPr>
            <a:spLocks noChangeArrowheads="1"/>
          </p:cNvSpPr>
          <p:nvPr/>
        </p:nvSpPr>
        <p:spPr bwMode="auto">
          <a:xfrm>
            <a:off x="5781675" y="1116013"/>
            <a:ext cx="3362325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278438" y="3557588"/>
            <a:ext cx="3648075" cy="2036762"/>
            <a:chOff x="2616" y="2463"/>
            <a:chExt cx="2485" cy="1432"/>
          </a:xfrm>
        </p:grpSpPr>
        <p:pic>
          <p:nvPicPr>
            <p:cNvPr id="1820679" name="Picture 7" descr="FG21_007"/>
            <p:cNvPicPr>
              <a:picLocks noChangeAspect="1" noChangeArrowheads="1"/>
            </p:cNvPicPr>
            <p:nvPr/>
          </p:nvPicPr>
          <p:blipFill>
            <a:blip r:embed="rId3" cstate="print">
              <a:lum bright="-54000" contrast="72000"/>
            </a:blip>
            <a:srcRect r="71130" b="73788"/>
            <a:stretch>
              <a:fillRect/>
            </a:stretch>
          </p:blipFill>
          <p:spPr bwMode="auto">
            <a:xfrm>
              <a:off x="2616" y="2463"/>
              <a:ext cx="2485" cy="1432"/>
            </a:xfrm>
            <a:prstGeom prst="rect">
              <a:avLst/>
            </a:prstGeom>
            <a:noFill/>
          </p:spPr>
        </p:pic>
        <p:sp>
          <p:nvSpPr>
            <p:cNvPr id="1820680" name="Oval 8"/>
            <p:cNvSpPr>
              <a:spLocks noChangeArrowheads="1"/>
            </p:cNvSpPr>
            <p:nvPr/>
          </p:nvSpPr>
          <p:spPr bwMode="auto">
            <a:xfrm>
              <a:off x="3139" y="2497"/>
              <a:ext cx="1422" cy="1354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0681" name="AutoShape 9"/>
          <p:cNvSpPr>
            <a:spLocks noChangeArrowheads="1"/>
          </p:cNvSpPr>
          <p:nvPr/>
        </p:nvSpPr>
        <p:spPr bwMode="auto">
          <a:xfrm>
            <a:off x="0" y="2979738"/>
            <a:ext cx="5029200" cy="3030537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0682" name="Rectangle 10"/>
          <p:cNvSpPr>
            <a:spLocks noChangeArrowheads="1"/>
          </p:cNvSpPr>
          <p:nvPr/>
        </p:nvSpPr>
        <p:spPr bwMode="auto">
          <a:xfrm>
            <a:off x="0" y="3003550"/>
            <a:ext cx="5005388" cy="301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magnetic field of the moving bar magnet is pointing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 and getting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larger</a:t>
            </a:r>
            <a:r>
              <a:rPr lang="en-US" sz="2000" b="1">
                <a:solidFill>
                  <a:schemeClr val="bg2"/>
                </a:solidFill>
              </a:rPr>
              <a:t> as the magnet moves closer to the loop.  Thus the induced magnetic field has to point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out of the page</a:t>
            </a:r>
            <a:r>
              <a:rPr lang="en-US" sz="2000" b="1">
                <a:solidFill>
                  <a:schemeClr val="bg2"/>
                </a:solidFill>
              </a:rPr>
              <a:t>.   A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counterclockwise</a:t>
            </a:r>
            <a:r>
              <a:rPr lang="en-US" sz="2000" b="1">
                <a:solidFill>
                  <a:schemeClr val="bg2"/>
                </a:solidFill>
              </a:rPr>
              <a:t> induced current will give just such an induced magnetic field.</a:t>
            </a:r>
          </a:p>
        </p:txBody>
      </p:sp>
      <p:sp>
        <p:nvSpPr>
          <p:cNvPr id="1820684" name="Text Box 12"/>
          <p:cNvSpPr txBox="1">
            <a:spLocks noChangeArrowheads="1"/>
          </p:cNvSpPr>
          <p:nvPr/>
        </p:nvSpPr>
        <p:spPr bwMode="auto">
          <a:xfrm>
            <a:off x="0" y="6210300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if the magnet is stationary but the loop moves?</a:t>
            </a:r>
          </a:p>
        </p:txBody>
      </p:sp>
    </p:spTree>
    <p:extLst>
      <p:ext uri="{BB962C8B-B14F-4D97-AF65-F5344CB8AC3E}">
        <p14:creationId xmlns:p14="http://schemas.microsoft.com/office/powerpoint/2010/main" val="1283231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2723" name="Picture 3" descr="FG21_007"/>
          <p:cNvPicPr>
            <a:picLocks noChangeAspect="1" noChangeArrowheads="1"/>
          </p:cNvPicPr>
          <p:nvPr/>
        </p:nvPicPr>
        <p:blipFill>
          <a:blip r:embed="rId3" cstate="print">
            <a:lum bright="-48000" contrast="72000"/>
          </a:blip>
          <a:srcRect l="26994" t="1405" r="41345" b="71509"/>
          <a:stretch>
            <a:fillRect/>
          </a:stretch>
        </p:blipFill>
        <p:spPr bwMode="auto">
          <a:xfrm>
            <a:off x="2673350" y="3862388"/>
            <a:ext cx="3711575" cy="2117725"/>
          </a:xfrm>
          <a:prstGeom prst="rect">
            <a:avLst/>
          </a:prstGeom>
          <a:noFill/>
        </p:spPr>
      </p:pic>
      <p:sp>
        <p:nvSpPr>
          <p:cNvPr id="1822726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2724" name="Rectangle 4"/>
          <p:cNvSpPr>
            <a:spLocks noGrp="1" noChangeArrowheads="1"/>
          </p:cNvSpPr>
          <p:nvPr>
            <p:ph idx="1"/>
          </p:nvPr>
        </p:nvSpPr>
        <p:spPr>
          <a:xfrm>
            <a:off x="0" y="1003300"/>
            <a:ext cx="4387850" cy="18700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in the plane of the page, in what direction is the induced current? </a:t>
            </a:r>
          </a:p>
        </p:txBody>
      </p:sp>
      <p:sp>
        <p:nvSpPr>
          <p:cNvPr id="1822725" name="Rectangle 5"/>
          <p:cNvSpPr>
            <a:spLocks noChangeArrowheads="1"/>
          </p:cNvSpPr>
          <p:nvPr/>
        </p:nvSpPr>
        <p:spPr bwMode="auto">
          <a:xfrm>
            <a:off x="5164138" y="1144588"/>
            <a:ext cx="3763962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  <p:extLst>
      <p:ext uri="{BB962C8B-B14F-4D97-AF65-F5344CB8AC3E}">
        <p14:creationId xmlns:p14="http://schemas.microsoft.com/office/powerpoint/2010/main" val="3729140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2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4770" name="AutoShape 2"/>
          <p:cNvSpPr>
            <a:spLocks noChangeArrowheads="1"/>
          </p:cNvSpPr>
          <p:nvPr/>
        </p:nvSpPr>
        <p:spPr bwMode="auto">
          <a:xfrm>
            <a:off x="142875" y="3946525"/>
            <a:ext cx="4881563" cy="20431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4771" name="Rectangle 3"/>
          <p:cNvSpPr>
            <a:spLocks noChangeArrowheads="1"/>
          </p:cNvSpPr>
          <p:nvPr/>
        </p:nvSpPr>
        <p:spPr bwMode="auto">
          <a:xfrm>
            <a:off x="0" y="3962400"/>
            <a:ext cx="4843463" cy="192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Since the magnet is moving parallel to the loop, there is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magnetic flux through the loop</a:t>
            </a:r>
            <a:r>
              <a:rPr lang="en-US" sz="2000" b="1">
                <a:solidFill>
                  <a:schemeClr val="bg2"/>
                </a:solidFill>
              </a:rPr>
              <a:t>.  Thus the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is zero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24773" name="Oval 5"/>
          <p:cNvSpPr>
            <a:spLocks noChangeArrowheads="1"/>
          </p:cNvSpPr>
          <p:nvPr/>
        </p:nvSpPr>
        <p:spPr bwMode="auto">
          <a:xfrm>
            <a:off x="4819650" y="1911350"/>
            <a:ext cx="3689350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24774" name="Picture 6" descr="FG21_007"/>
          <p:cNvPicPr>
            <a:picLocks noChangeAspect="1" noChangeArrowheads="1"/>
          </p:cNvPicPr>
          <p:nvPr/>
        </p:nvPicPr>
        <p:blipFill>
          <a:blip r:embed="rId3" cstate="print">
            <a:lum bright="-48000" contrast="72000"/>
          </a:blip>
          <a:srcRect l="26994" t="1405" r="41345" b="71509"/>
          <a:stretch>
            <a:fillRect/>
          </a:stretch>
        </p:blipFill>
        <p:spPr bwMode="auto">
          <a:xfrm>
            <a:off x="5211763" y="3889375"/>
            <a:ext cx="3711575" cy="2117725"/>
          </a:xfrm>
          <a:prstGeom prst="rect">
            <a:avLst/>
          </a:prstGeom>
          <a:noFill/>
        </p:spPr>
      </p:pic>
      <p:sp>
        <p:nvSpPr>
          <p:cNvPr id="1824777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4775" name="Rectangle 7"/>
          <p:cNvSpPr>
            <a:spLocks noGrp="1" noChangeArrowheads="1"/>
          </p:cNvSpPr>
          <p:nvPr>
            <p:ph idx="1"/>
          </p:nvPr>
        </p:nvSpPr>
        <p:spPr>
          <a:xfrm>
            <a:off x="0" y="1003300"/>
            <a:ext cx="4387850" cy="18700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North pole moves toward the loop in the plane of the page, in what direction is the induced current? </a:t>
            </a:r>
          </a:p>
        </p:txBody>
      </p:sp>
      <p:sp>
        <p:nvSpPr>
          <p:cNvPr id="1824776" name="Rectangle 8"/>
          <p:cNvSpPr>
            <a:spLocks noChangeArrowheads="1"/>
          </p:cNvSpPr>
          <p:nvPr/>
        </p:nvSpPr>
        <p:spPr bwMode="auto">
          <a:xfrm>
            <a:off x="5164138" y="1144588"/>
            <a:ext cx="3763962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  <p:extLst>
      <p:ext uri="{BB962C8B-B14F-4D97-AF65-F5344CB8AC3E}">
        <p14:creationId xmlns:p14="http://schemas.microsoft.com/office/powerpoint/2010/main" val="599451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4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3092450" y="3311525"/>
            <a:ext cx="3268663" cy="2824163"/>
            <a:chOff x="3506" y="2293"/>
            <a:chExt cx="2059" cy="1779"/>
          </a:xfrm>
        </p:grpSpPr>
        <p:sp>
          <p:nvSpPr>
            <p:cNvPr id="1826820" name="Rectangle 4"/>
            <p:cNvSpPr>
              <a:spLocks noChangeArrowheads="1"/>
            </p:cNvSpPr>
            <p:nvPr/>
          </p:nvSpPr>
          <p:spPr bwMode="auto">
            <a:xfrm>
              <a:off x="3506" y="2293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endParaRPr lang="en-US" sz="2000" dirty="0"/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endParaRPr lang="en-US" sz="2000" dirty="0"/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endParaRPr lang="en-US" sz="2000" dirty="0"/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endParaRPr lang="en-US" sz="2000" dirty="0"/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endParaRPr lang="en-US" sz="2000" dirty="0"/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endParaRPr lang="en-US" sz="2000" dirty="0"/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 dirty="0"/>
                <a:t>x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r>
                <a:rPr lang="en-US" sz="2000" dirty="0"/>
                <a:t>  </a:t>
              </a:r>
              <a:r>
                <a:rPr lang="en-US" sz="2000" dirty="0" err="1"/>
                <a:t>x</a:t>
              </a:r>
              <a:endParaRPr lang="en-US" sz="2000" dirty="0"/>
            </a:p>
          </p:txBody>
        </p:sp>
        <p:sp>
          <p:nvSpPr>
            <p:cNvPr id="1826821" name="Line 5"/>
            <p:cNvSpPr>
              <a:spLocks noChangeShapeType="1"/>
            </p:cNvSpPr>
            <p:nvPr/>
          </p:nvSpPr>
          <p:spPr bwMode="auto">
            <a:xfrm>
              <a:off x="4608" y="308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6822" name="Rectangle 6"/>
            <p:cNvSpPr>
              <a:spLocks noChangeArrowheads="1"/>
            </p:cNvSpPr>
            <p:nvPr/>
          </p:nvSpPr>
          <p:spPr bwMode="auto">
            <a:xfrm>
              <a:off x="3729" y="285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6825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6823" name="Rectangle 7"/>
          <p:cNvSpPr>
            <a:spLocks noGrp="1" noChangeArrowheads="1"/>
          </p:cNvSpPr>
          <p:nvPr>
            <p:ph idx="1"/>
          </p:nvPr>
        </p:nvSpPr>
        <p:spPr>
          <a:xfrm>
            <a:off x="195263" y="855663"/>
            <a:ext cx="4070350" cy="19843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uniform magnetic field.   What is the direction of the induced current? </a:t>
            </a:r>
          </a:p>
        </p:txBody>
      </p:sp>
      <p:sp>
        <p:nvSpPr>
          <p:cNvPr id="1826824" name="Rectangle 8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4F5B2C47-7F74-4798-DF98-D8E4870047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8857" y="3314854"/>
            <a:ext cx="3268663" cy="282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1570" tIns="40628" rIns="101570" bIns="40628">
            <a:spAutoFit/>
          </a:bodyPr>
          <a:lstStyle/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B98C4D3-1259-5634-EA84-9C586592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395" y="3314854"/>
            <a:ext cx="3268663" cy="282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01570" tIns="40628" rIns="101570" bIns="40628">
            <a:spAutoFit/>
          </a:bodyPr>
          <a:lstStyle/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  <a:p>
            <a:pPr marL="385763" indent="-385763" defTabSz="1028700">
              <a:lnSpc>
                <a:spcPct val="90000"/>
              </a:lnSpc>
              <a:spcBef>
                <a:spcPct val="45000"/>
              </a:spcBef>
            </a:pPr>
            <a:r>
              <a:rPr lang="en-US" sz="2000" dirty="0"/>
              <a:t>x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r>
              <a:rPr lang="en-US" sz="2000" dirty="0"/>
              <a:t>  </a:t>
            </a:r>
            <a:r>
              <a:rPr lang="en-US" sz="2000" dirty="0" err="1"/>
              <a:t>x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1632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8866" name="AutoShape 2"/>
          <p:cNvSpPr>
            <a:spLocks noChangeArrowheads="1"/>
          </p:cNvSpPr>
          <p:nvPr/>
        </p:nvSpPr>
        <p:spPr bwMode="auto">
          <a:xfrm>
            <a:off x="0" y="3749675"/>
            <a:ext cx="5281613" cy="18653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28867" name="Rectangle 3"/>
          <p:cNvSpPr>
            <a:spLocks noChangeArrowheads="1"/>
          </p:cNvSpPr>
          <p:nvPr/>
        </p:nvSpPr>
        <p:spPr bwMode="auto">
          <a:xfrm>
            <a:off x="0" y="3795713"/>
            <a:ext cx="5272088" cy="155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6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Since the magnetic field is uniform, 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magnetic flux through the loop is not changing</a:t>
            </a:r>
            <a:r>
              <a:rPr lang="en-US" sz="2000" b="1">
                <a:solidFill>
                  <a:schemeClr val="bg2"/>
                </a:solidFill>
              </a:rPr>
              <a:t>.  Thus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current is induced</a:t>
            </a:r>
            <a:r>
              <a:rPr lang="en-US" sz="2000" b="1">
                <a:solidFill>
                  <a:schemeClr val="bg2"/>
                </a:solidFill>
              </a:rPr>
              <a:t>.</a:t>
            </a:r>
            <a:endParaRPr lang="en-US" sz="2200" b="1">
              <a:solidFill>
                <a:schemeClr val="bg2"/>
              </a:solidFill>
            </a:endParaRPr>
          </a:p>
        </p:txBody>
      </p:sp>
      <p:sp>
        <p:nvSpPr>
          <p:cNvPr id="1828869" name="Oval 5"/>
          <p:cNvSpPr>
            <a:spLocks noChangeArrowheads="1"/>
          </p:cNvSpPr>
          <p:nvPr/>
        </p:nvSpPr>
        <p:spPr bwMode="auto">
          <a:xfrm>
            <a:off x="4730750" y="2030413"/>
            <a:ext cx="3902075" cy="473075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565775" y="3275013"/>
            <a:ext cx="3268663" cy="2824162"/>
            <a:chOff x="3506" y="2293"/>
            <a:chExt cx="2059" cy="1779"/>
          </a:xfrm>
        </p:grpSpPr>
        <p:sp>
          <p:nvSpPr>
            <p:cNvPr id="1828871" name="Rectangle 7"/>
            <p:cNvSpPr>
              <a:spLocks noChangeArrowheads="1"/>
            </p:cNvSpPr>
            <p:nvPr/>
          </p:nvSpPr>
          <p:spPr bwMode="auto">
            <a:xfrm>
              <a:off x="3506" y="2293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sp>
          <p:nvSpPr>
            <p:cNvPr id="1828872" name="Line 8"/>
            <p:cNvSpPr>
              <a:spLocks noChangeShapeType="1"/>
            </p:cNvSpPr>
            <p:nvPr/>
          </p:nvSpPr>
          <p:spPr bwMode="auto">
            <a:xfrm>
              <a:off x="4608" y="308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28873" name="Rectangle 9"/>
            <p:cNvSpPr>
              <a:spLocks noChangeArrowheads="1"/>
            </p:cNvSpPr>
            <p:nvPr/>
          </p:nvSpPr>
          <p:spPr bwMode="auto">
            <a:xfrm>
              <a:off x="3729" y="285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28876" name="Rectangle 12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28874" name="Rectangle 10"/>
          <p:cNvSpPr>
            <a:spLocks noGrp="1" noChangeArrowheads="1"/>
          </p:cNvSpPr>
          <p:nvPr>
            <p:ph idx="1"/>
          </p:nvPr>
        </p:nvSpPr>
        <p:spPr>
          <a:xfrm>
            <a:off x="195263" y="855663"/>
            <a:ext cx="4070350" cy="1984375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uniform magnetic field.   What is the direction of the induced current? </a:t>
            </a:r>
          </a:p>
        </p:txBody>
      </p:sp>
      <p:sp>
        <p:nvSpPr>
          <p:cNvPr id="1828875" name="Rectangle 11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28877" name="Text Box 13"/>
          <p:cNvSpPr txBox="1">
            <a:spLocks noChangeArrowheads="1"/>
          </p:cNvSpPr>
          <p:nvPr/>
        </p:nvSpPr>
        <p:spPr bwMode="auto">
          <a:xfrm>
            <a:off x="0" y="6283325"/>
            <a:ext cx="7558088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if the loop moves out of the page?</a:t>
            </a:r>
          </a:p>
        </p:txBody>
      </p:sp>
    </p:spTree>
    <p:extLst>
      <p:ext uri="{BB962C8B-B14F-4D97-AF65-F5344CB8AC3E}">
        <p14:creationId xmlns:p14="http://schemas.microsoft.com/office/powerpoint/2010/main" val="18597051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0915" name="Rectangle 3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0921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223.44.8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0916" name="Rectangle 4"/>
          <p:cNvSpPr>
            <a:spLocks noGrp="1" noChangeArrowheads="1"/>
          </p:cNvSpPr>
          <p:nvPr>
            <p:ph idx="1"/>
          </p:nvPr>
        </p:nvSpPr>
        <p:spPr>
          <a:xfrm>
            <a:off x="233362" y="721520"/>
            <a:ext cx="4097338" cy="240665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uniform magnetic field that suddenly ends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.  What is the direction of the induced current?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141663" y="3573463"/>
            <a:ext cx="2840037" cy="2824162"/>
            <a:chOff x="3326" y="2323"/>
            <a:chExt cx="1789" cy="1779"/>
          </a:xfrm>
        </p:grpSpPr>
        <p:sp>
          <p:nvSpPr>
            <p:cNvPr id="1830918" name="Rectangle 6"/>
            <p:cNvSpPr>
              <a:spLocks noChangeArrowheads="1"/>
            </p:cNvSpPr>
            <p:nvPr/>
          </p:nvSpPr>
          <p:spPr bwMode="auto">
            <a:xfrm>
              <a:off x="3326" y="2323"/>
              <a:ext cx="906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</p:txBody>
        </p:sp>
        <p:sp>
          <p:nvSpPr>
            <p:cNvPr id="1830919" name="Line 7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0920" name="Rectangle 8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48409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63" name="Rectangle 3"/>
          <p:cNvSpPr>
            <a:spLocks noChangeArrowheads="1"/>
          </p:cNvSpPr>
          <p:nvPr/>
        </p:nvSpPr>
        <p:spPr bwMode="auto">
          <a:xfrm>
            <a:off x="5146675" y="1227138"/>
            <a:ext cx="3763963" cy="1220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2972" name="Rectangle 12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223.44.8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2964" name="Rectangle 4"/>
          <p:cNvSpPr>
            <a:spLocks noGrp="1" noChangeArrowheads="1"/>
          </p:cNvSpPr>
          <p:nvPr>
            <p:ph idx="1"/>
          </p:nvPr>
        </p:nvSpPr>
        <p:spPr>
          <a:xfrm>
            <a:off x="0" y="808038"/>
            <a:ext cx="4097338" cy="240665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A wire loop is being pulled through a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uniform magnetic field that suddenly ends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.  What is the direction of the induced current? </a:t>
            </a:r>
          </a:p>
        </p:txBody>
      </p:sp>
      <p:sp>
        <p:nvSpPr>
          <p:cNvPr id="1832965" name="AutoShape 5"/>
          <p:cNvSpPr>
            <a:spLocks noChangeArrowheads="1"/>
          </p:cNvSpPr>
          <p:nvPr/>
        </p:nvSpPr>
        <p:spPr bwMode="auto">
          <a:xfrm>
            <a:off x="0" y="3656013"/>
            <a:ext cx="5822950" cy="254952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32966" name="Rectangle 6"/>
          <p:cNvSpPr>
            <a:spLocks noChangeArrowheads="1"/>
          </p:cNvSpPr>
          <p:nvPr/>
        </p:nvSpPr>
        <p:spPr bwMode="auto">
          <a:xfrm>
            <a:off x="0" y="3662363"/>
            <a:ext cx="5692775" cy="237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into the page</a:t>
            </a:r>
            <a:r>
              <a:rPr lang="en-US" sz="2000" b="1">
                <a:solidFill>
                  <a:schemeClr val="bg2"/>
                </a:solidFill>
              </a:rPr>
              <a:t> is disappearing in the loop, so it must be compensated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flux also into the page</a:t>
            </a:r>
            <a:r>
              <a:rPr lang="en-US" sz="2000" b="1">
                <a:solidFill>
                  <a:schemeClr val="bg2"/>
                </a:solidFill>
              </a:rPr>
              <a:t>.   This can be accomplished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in the clockwise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direction</a:t>
            </a:r>
            <a:r>
              <a:rPr lang="en-US" sz="2000" b="1">
                <a:solidFill>
                  <a:schemeClr val="bg2"/>
                </a:solidFill>
              </a:rPr>
              <a:t> in the wire loop.</a:t>
            </a:r>
            <a:endParaRPr lang="en-US" sz="2200" b="1">
              <a:solidFill>
                <a:schemeClr val="bg2"/>
              </a:solidFill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6303963" y="3508375"/>
            <a:ext cx="2840037" cy="2824163"/>
            <a:chOff x="3326" y="2323"/>
            <a:chExt cx="1789" cy="1779"/>
          </a:xfrm>
        </p:grpSpPr>
        <p:sp>
          <p:nvSpPr>
            <p:cNvPr id="1832968" name="Rectangle 8"/>
            <p:cNvSpPr>
              <a:spLocks noChangeArrowheads="1"/>
            </p:cNvSpPr>
            <p:nvPr/>
          </p:nvSpPr>
          <p:spPr bwMode="auto">
            <a:xfrm>
              <a:off x="3326" y="2323"/>
              <a:ext cx="906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</a:t>
              </a:r>
            </a:p>
          </p:txBody>
        </p:sp>
        <p:sp>
          <p:nvSpPr>
            <p:cNvPr id="1832969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2970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2971" name="Oval 11"/>
          <p:cNvSpPr>
            <a:spLocks noChangeArrowheads="1"/>
          </p:cNvSpPr>
          <p:nvPr/>
        </p:nvSpPr>
        <p:spPr bwMode="auto">
          <a:xfrm>
            <a:off x="4786313" y="1160463"/>
            <a:ext cx="2830512" cy="509587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32973" name="Text Box 13"/>
          <p:cNvSpPr txBox="1">
            <a:spLocks noChangeArrowheads="1"/>
          </p:cNvSpPr>
          <p:nvPr/>
        </p:nvSpPr>
        <p:spPr bwMode="auto">
          <a:xfrm>
            <a:off x="0" y="6451600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when the loop is completely out of the field?</a:t>
            </a:r>
          </a:p>
        </p:txBody>
      </p:sp>
    </p:spTree>
    <p:extLst>
      <p:ext uri="{BB962C8B-B14F-4D97-AF65-F5344CB8AC3E}">
        <p14:creationId xmlns:p14="http://schemas.microsoft.com/office/powerpoint/2010/main" val="209290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329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297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0" y="8159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direction of the induced current if the </a:t>
            </a:r>
            <a:r>
              <a:rPr lang="en-US" sz="2000" b="1" i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suddenly increases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while the loop is in the region?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974975" y="3116263"/>
            <a:ext cx="3268663" cy="2824162"/>
            <a:chOff x="3551" y="2224"/>
            <a:chExt cx="2059" cy="1779"/>
          </a:xfrm>
        </p:grpSpPr>
        <p:sp>
          <p:nvSpPr>
            <p:cNvPr id="1835014" name="Rectangle 6"/>
            <p:cNvSpPr>
              <a:spLocks noChangeArrowheads="1"/>
            </p:cNvSpPr>
            <p:nvPr/>
          </p:nvSpPr>
          <p:spPr bwMode="auto">
            <a:xfrm>
              <a:off x="3551" y="2224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3551" y="2224"/>
              <a:ext cx="1789" cy="1779"/>
              <a:chOff x="3326" y="2323"/>
              <a:chExt cx="1789" cy="1779"/>
            </a:xfrm>
          </p:grpSpPr>
          <p:sp>
            <p:nvSpPr>
              <p:cNvPr id="1835016" name="Rectangle 8"/>
              <p:cNvSpPr>
                <a:spLocks noChangeArrowheads="1"/>
              </p:cNvSpPr>
              <p:nvPr/>
            </p:nvSpPr>
            <p:spPr bwMode="auto">
              <a:xfrm>
                <a:off x="3326" y="2323"/>
                <a:ext cx="906" cy="17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101570" tIns="40628" rIns="101570" bIns="40628">
                <a:spAutoFit/>
              </a:bodyPr>
              <a:lstStyle/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</p:txBody>
          </p:sp>
          <p:sp>
            <p:nvSpPr>
              <p:cNvPr id="1835017" name="Line 9"/>
              <p:cNvSpPr>
                <a:spLocks noChangeShapeType="1"/>
              </p:cNvSpPr>
              <p:nvPr/>
            </p:nvSpPr>
            <p:spPr bwMode="auto">
              <a:xfrm>
                <a:off x="4448" y="3105"/>
                <a:ext cx="667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35018" name="Rectangle 10"/>
              <p:cNvSpPr>
                <a:spLocks noChangeArrowheads="1"/>
              </p:cNvSpPr>
              <p:nvPr/>
            </p:nvSpPr>
            <p:spPr bwMode="auto">
              <a:xfrm>
                <a:off x="3529" y="2884"/>
                <a:ext cx="881" cy="644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223.44.9</a:t>
            </a:r>
            <a:endParaRPr lang="en-US" sz="28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7604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7059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7060" name="Rectangle 4"/>
          <p:cNvSpPr>
            <a:spLocks noChangeArrowheads="1"/>
          </p:cNvSpPr>
          <p:nvPr/>
        </p:nvSpPr>
        <p:spPr bwMode="auto">
          <a:xfrm>
            <a:off x="0" y="8159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direction of the induced current if the </a:t>
            </a:r>
            <a:r>
              <a:rPr lang="en-US" sz="2000" b="1" i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suddenly increases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while the loop is in the region? </a:t>
            </a:r>
          </a:p>
        </p:txBody>
      </p:sp>
      <p:sp>
        <p:nvSpPr>
          <p:cNvPr id="1837061" name="AutoShape 5"/>
          <p:cNvSpPr>
            <a:spLocks noChangeArrowheads="1"/>
          </p:cNvSpPr>
          <p:nvPr/>
        </p:nvSpPr>
        <p:spPr bwMode="auto">
          <a:xfrm>
            <a:off x="268288" y="3076575"/>
            <a:ext cx="4927600" cy="293846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37062" name="Rectangle 6"/>
          <p:cNvSpPr>
            <a:spLocks noChangeArrowheads="1"/>
          </p:cNvSpPr>
          <p:nvPr/>
        </p:nvSpPr>
        <p:spPr bwMode="auto">
          <a:xfrm>
            <a:off x="268288" y="3067050"/>
            <a:ext cx="4786312" cy="283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 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increasing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field into the page</a:t>
            </a:r>
            <a:r>
              <a:rPr lang="en-US" sz="2000" b="1">
                <a:solidFill>
                  <a:schemeClr val="bg2"/>
                </a:solidFill>
              </a:rPr>
              <a:t> must be countered by an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flux out of the page</a:t>
            </a:r>
            <a:r>
              <a:rPr lang="en-US" sz="2000" b="1">
                <a:solidFill>
                  <a:schemeClr val="bg2"/>
                </a:solidFill>
              </a:rPr>
              <a:t>.   This can be accomplished by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 in the counterclockwise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direction</a:t>
            </a:r>
            <a:r>
              <a:rPr lang="en-US" sz="2000" b="1">
                <a:solidFill>
                  <a:schemeClr val="bg2"/>
                </a:solidFill>
              </a:rPr>
              <a:t> in the wire loop.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588000" y="3163888"/>
            <a:ext cx="3268663" cy="2824162"/>
            <a:chOff x="3551" y="2224"/>
            <a:chExt cx="2059" cy="1779"/>
          </a:xfrm>
        </p:grpSpPr>
        <p:sp>
          <p:nvSpPr>
            <p:cNvPr id="1837064" name="Rectangle 8"/>
            <p:cNvSpPr>
              <a:spLocks noChangeArrowheads="1"/>
            </p:cNvSpPr>
            <p:nvPr/>
          </p:nvSpPr>
          <p:spPr bwMode="auto">
            <a:xfrm>
              <a:off x="3551" y="2224"/>
              <a:ext cx="2059" cy="17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101570" tIns="40628" rIns="101570" bIns="40628">
              <a:spAutoFit/>
            </a:bodyPr>
            <a:lstStyle/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  <a:p>
              <a:pPr marL="385763" indent="-385763" defTabSz="1028700">
                <a:lnSpc>
                  <a:spcPct val="90000"/>
                </a:lnSpc>
                <a:spcBef>
                  <a:spcPct val="45000"/>
                </a:spcBef>
              </a:pPr>
              <a:r>
                <a:rPr lang="en-US" sz="2000"/>
                <a:t>x  x  x  x  x  x  x  x  x  x  x  x</a:t>
              </a:r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3551" y="2224"/>
              <a:ext cx="1789" cy="1779"/>
              <a:chOff x="3326" y="2323"/>
              <a:chExt cx="1789" cy="1779"/>
            </a:xfrm>
          </p:grpSpPr>
          <p:sp>
            <p:nvSpPr>
              <p:cNvPr id="1837066" name="Rectangle 10"/>
              <p:cNvSpPr>
                <a:spLocks noChangeArrowheads="1"/>
              </p:cNvSpPr>
              <p:nvPr/>
            </p:nvSpPr>
            <p:spPr bwMode="auto">
              <a:xfrm>
                <a:off x="3326" y="2323"/>
                <a:ext cx="906" cy="17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101570" tIns="40628" rIns="101570" bIns="40628">
                <a:spAutoFit/>
              </a:bodyPr>
              <a:lstStyle/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  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  <a:p>
                <a:pPr marL="385763" indent="-385763" defTabSz="1028700">
                  <a:lnSpc>
                    <a:spcPct val="90000"/>
                  </a:lnSpc>
                  <a:spcBef>
                    <a:spcPct val="45000"/>
                  </a:spcBef>
                </a:pPr>
                <a:r>
                  <a:rPr lang="en-US" sz="2000"/>
                  <a:t>x  x  x  x  x</a:t>
                </a:r>
              </a:p>
            </p:txBody>
          </p:sp>
          <p:sp>
            <p:nvSpPr>
              <p:cNvPr id="1837067" name="Line 11"/>
              <p:cNvSpPr>
                <a:spLocks noChangeShapeType="1"/>
              </p:cNvSpPr>
              <p:nvPr/>
            </p:nvSpPr>
            <p:spPr bwMode="auto">
              <a:xfrm>
                <a:off x="4448" y="3105"/>
                <a:ext cx="667" cy="0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37068" name="Rectangle 12"/>
              <p:cNvSpPr>
                <a:spLocks noChangeArrowheads="1"/>
              </p:cNvSpPr>
              <p:nvPr/>
            </p:nvSpPr>
            <p:spPr bwMode="auto">
              <a:xfrm>
                <a:off x="3529" y="2884"/>
                <a:ext cx="881" cy="644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37069" name="Oval 13"/>
          <p:cNvSpPr>
            <a:spLocks noChangeArrowheads="1"/>
          </p:cNvSpPr>
          <p:nvPr/>
        </p:nvSpPr>
        <p:spPr bwMode="auto">
          <a:xfrm>
            <a:off x="4914900" y="1404938"/>
            <a:ext cx="3806825" cy="522287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37070" name="Rectangle 1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223.44.9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7071" name="Text Box 15"/>
          <p:cNvSpPr txBox="1">
            <a:spLocks noChangeArrowheads="1"/>
          </p:cNvSpPr>
          <p:nvPr/>
        </p:nvSpPr>
        <p:spPr bwMode="auto">
          <a:xfrm>
            <a:off x="352425" y="6210300"/>
            <a:ext cx="8450263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if the loop stops moving while the field increases?</a:t>
            </a:r>
          </a:p>
        </p:txBody>
      </p:sp>
    </p:spTree>
    <p:extLst>
      <p:ext uri="{BB962C8B-B14F-4D97-AF65-F5344CB8AC3E}">
        <p14:creationId xmlns:p14="http://schemas.microsoft.com/office/powerpoint/2010/main" val="7661805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9107" name="Picture 3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60000"/>
          </a:blip>
          <a:srcRect l="33180" t="47484" r="36722" b="22243"/>
          <a:stretch>
            <a:fillRect/>
          </a:stretch>
        </p:blipFill>
        <p:spPr bwMode="auto">
          <a:xfrm>
            <a:off x="2808288" y="3459163"/>
            <a:ext cx="3629025" cy="2433637"/>
          </a:xfrm>
          <a:prstGeom prst="rect">
            <a:avLst/>
          </a:prstGeom>
          <a:noFill/>
        </p:spPr>
      </p:pic>
      <p:sp>
        <p:nvSpPr>
          <p:cNvPr id="1839108" name="Rectangle 4"/>
          <p:cNvSpPr>
            <a:spLocks noChangeArrowheads="1"/>
          </p:cNvSpPr>
          <p:nvPr/>
        </p:nvSpPr>
        <p:spPr bwMode="auto">
          <a:xfrm>
            <a:off x="5380038" y="1177925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39110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223.44.10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39109" name="Rectangle 5"/>
          <p:cNvSpPr>
            <a:spLocks noGrp="1" noChangeArrowheads="1"/>
          </p:cNvSpPr>
          <p:nvPr>
            <p:ph idx="1"/>
          </p:nvPr>
        </p:nvSpPr>
        <p:spPr>
          <a:xfrm>
            <a:off x="409575" y="865188"/>
            <a:ext cx="3927475" cy="20589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coil is shrinking in a magnetic field pointing into the page, in what direction is the induced current? </a:t>
            </a:r>
          </a:p>
        </p:txBody>
      </p:sp>
    </p:spTree>
    <p:extLst>
      <p:ext uri="{BB962C8B-B14F-4D97-AF65-F5344CB8AC3E}">
        <p14:creationId xmlns:p14="http://schemas.microsoft.com/office/powerpoint/2010/main" val="10498826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154" name="AutoShape 2"/>
          <p:cNvSpPr>
            <a:spLocks noChangeArrowheads="1"/>
          </p:cNvSpPr>
          <p:nvPr/>
        </p:nvSpPr>
        <p:spPr bwMode="auto">
          <a:xfrm>
            <a:off x="0" y="3321050"/>
            <a:ext cx="5381625" cy="27701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1155" name="Rectangle 3"/>
          <p:cNvSpPr>
            <a:spLocks noChangeArrowheads="1"/>
          </p:cNvSpPr>
          <p:nvPr/>
        </p:nvSpPr>
        <p:spPr bwMode="auto">
          <a:xfrm>
            <a:off x="0" y="3368675"/>
            <a:ext cx="5380038" cy="2647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The magnetic flux through the loop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decreasing</a:t>
            </a:r>
            <a:r>
              <a:rPr lang="en-US" sz="2000" b="1">
                <a:solidFill>
                  <a:schemeClr val="bg2"/>
                </a:solidFill>
              </a:rPr>
              <a:t>, so the induced B field must try to reinforce it and therefore points in the same direction  </a:t>
            </a:r>
            <a:r>
              <a:rPr lang="en-US" sz="2000" b="1">
                <a:solidFill>
                  <a:schemeClr val="bg2"/>
                </a:solidFill>
                <a:cs typeface="Arial" charset="0"/>
              </a:rPr>
              <a:t>— </a:t>
            </a:r>
            <a:r>
              <a:rPr lang="en-US" sz="2000" b="1">
                <a:solidFill>
                  <a:schemeClr val="bg2"/>
                </a:solidFill>
              </a:rPr>
              <a:t>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.  According to the right-hand rule,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clockwise</a:t>
            </a:r>
            <a:r>
              <a:rPr lang="en-US" sz="2000" b="1">
                <a:solidFill>
                  <a:schemeClr val="bg2"/>
                </a:solidFill>
              </a:rPr>
              <a:t> current will generate a magnetic field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41157" name="Oval 5"/>
          <p:cNvSpPr>
            <a:spLocks noChangeArrowheads="1"/>
          </p:cNvSpPr>
          <p:nvPr/>
        </p:nvSpPr>
        <p:spPr bwMode="auto">
          <a:xfrm>
            <a:off x="5046663" y="1092200"/>
            <a:ext cx="2922587" cy="5270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pic>
        <p:nvPicPr>
          <p:cNvPr id="1841158" name="Picture 6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60000"/>
          </a:blip>
          <a:srcRect l="33180" t="47484" r="36722" b="22243"/>
          <a:stretch>
            <a:fillRect/>
          </a:stretch>
        </p:blipFill>
        <p:spPr bwMode="auto">
          <a:xfrm>
            <a:off x="5514975" y="3570288"/>
            <a:ext cx="3629025" cy="2433637"/>
          </a:xfrm>
          <a:prstGeom prst="rect">
            <a:avLst/>
          </a:prstGeom>
          <a:noFill/>
        </p:spPr>
      </p:pic>
      <p:sp>
        <p:nvSpPr>
          <p:cNvPr id="1841159" name="Rectangle 7"/>
          <p:cNvSpPr>
            <a:spLocks noChangeArrowheads="1"/>
          </p:cNvSpPr>
          <p:nvPr/>
        </p:nvSpPr>
        <p:spPr bwMode="auto">
          <a:xfrm>
            <a:off x="5380038" y="1177925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41161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223.44.10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1160" name="Rectangle 8"/>
          <p:cNvSpPr>
            <a:spLocks noGrp="1" noChangeArrowheads="1"/>
          </p:cNvSpPr>
          <p:nvPr>
            <p:ph idx="1"/>
          </p:nvPr>
        </p:nvSpPr>
        <p:spPr>
          <a:xfrm>
            <a:off x="409575" y="865188"/>
            <a:ext cx="3927475" cy="20589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If a coil is shrinking in a magnetic field pointing into the page, in what direction is the induced current? </a:t>
            </a:r>
          </a:p>
        </p:txBody>
      </p:sp>
      <p:sp>
        <p:nvSpPr>
          <p:cNvPr id="1841162" name="Text Box 10"/>
          <p:cNvSpPr txBox="1">
            <a:spLocks noChangeArrowheads="1"/>
          </p:cNvSpPr>
          <p:nvPr/>
        </p:nvSpPr>
        <p:spPr bwMode="auto">
          <a:xfrm>
            <a:off x="0" y="6283325"/>
            <a:ext cx="9144000" cy="4064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if the </a:t>
            </a:r>
            <a:r>
              <a:rPr lang="en-US" sz="2000" b="1" i="1">
                <a:effectLst>
                  <a:outerShdw blurRad="38100" dist="38100" dir="2700000" algn="tl">
                    <a:srgbClr val="000000"/>
                  </a:outerShdw>
                </a:effectLst>
              </a:rPr>
              <a:t>B 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field is oriented at 90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  <a:cs typeface="Arial" charset="0"/>
              </a:rPr>
              <a:t>°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to its present direction?</a:t>
            </a:r>
          </a:p>
        </p:txBody>
      </p:sp>
    </p:spTree>
    <p:extLst>
      <p:ext uri="{BB962C8B-B14F-4D97-AF65-F5344CB8AC3E}">
        <p14:creationId xmlns:p14="http://schemas.microsoft.com/office/powerpoint/2010/main" val="14262384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06" name="Rectangle 6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3203" name="Rectangle 3"/>
          <p:cNvSpPr>
            <a:spLocks noGrp="1" noChangeArrowheads="1"/>
          </p:cNvSpPr>
          <p:nvPr>
            <p:ph idx="1"/>
          </p:nvPr>
        </p:nvSpPr>
        <p:spPr>
          <a:xfrm>
            <a:off x="0" y="935038"/>
            <a:ext cx="4083050" cy="196850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If a coil is rotated as shown, in a magnetic field pointing to the left, in what direction is the induced current? </a:t>
            </a:r>
          </a:p>
        </p:txBody>
      </p:sp>
      <p:sp>
        <p:nvSpPr>
          <p:cNvPr id="1843204" name="Rectangle 4"/>
          <p:cNvSpPr>
            <a:spLocks noChangeArrowheads="1"/>
          </p:cNvSpPr>
          <p:nvPr/>
        </p:nvSpPr>
        <p:spPr bwMode="auto">
          <a:xfrm>
            <a:off x="5180013" y="1325563"/>
            <a:ext cx="3763962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pic>
        <p:nvPicPr>
          <p:cNvPr id="1843205" name="Picture 5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72000"/>
          </a:blip>
          <a:srcRect l="69902" t="11778" r="8018" b="58762"/>
          <a:stretch>
            <a:fillRect/>
          </a:stretch>
        </p:blipFill>
        <p:spPr bwMode="auto">
          <a:xfrm>
            <a:off x="2921000" y="3671888"/>
            <a:ext cx="3068638" cy="27305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0408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3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250" name="AutoShape 2"/>
          <p:cNvSpPr>
            <a:spLocks noChangeArrowheads="1"/>
          </p:cNvSpPr>
          <p:nvPr/>
        </p:nvSpPr>
        <p:spPr bwMode="auto">
          <a:xfrm>
            <a:off x="212725" y="3644900"/>
            <a:ext cx="5375275" cy="2974975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5251" name="Rectangle 3"/>
          <p:cNvSpPr>
            <a:spLocks noChangeArrowheads="1"/>
          </p:cNvSpPr>
          <p:nvPr/>
        </p:nvSpPr>
        <p:spPr bwMode="auto">
          <a:xfrm>
            <a:off x="263525" y="3692525"/>
            <a:ext cx="5235575" cy="287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As the coil is rotated into the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field, the magnetic flux through it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increases</a:t>
            </a:r>
            <a:r>
              <a:rPr lang="en-US" sz="2000" b="1">
                <a:solidFill>
                  <a:schemeClr val="bg2"/>
                </a:solidFill>
              </a:rPr>
              <a:t>.  According to Lenz’s Law, the induced B field has to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oppose this increase</a:t>
            </a:r>
            <a:r>
              <a:rPr lang="en-US" sz="2000" b="1">
                <a:solidFill>
                  <a:schemeClr val="bg2"/>
                </a:solidFill>
              </a:rPr>
              <a:t>, thus the new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points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to the right</a:t>
            </a:r>
            <a:r>
              <a:rPr lang="en-US" sz="2000" b="1">
                <a:solidFill>
                  <a:schemeClr val="bg2"/>
                </a:solidFill>
              </a:rPr>
              <a:t>. 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counterclockwise</a:t>
            </a:r>
            <a:r>
              <a:rPr lang="en-US" sz="2000" b="1">
                <a:solidFill>
                  <a:schemeClr val="bg2"/>
                </a:solidFill>
              </a:rPr>
              <a:t> current produces just such a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field.</a:t>
            </a:r>
          </a:p>
        </p:txBody>
      </p:sp>
      <p:sp>
        <p:nvSpPr>
          <p:cNvPr id="1845253" name="Oval 5"/>
          <p:cNvSpPr>
            <a:spLocks noChangeArrowheads="1"/>
          </p:cNvSpPr>
          <p:nvPr/>
        </p:nvSpPr>
        <p:spPr bwMode="auto">
          <a:xfrm>
            <a:off x="4792663" y="1625600"/>
            <a:ext cx="3700462" cy="509588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45257" name="Rectangle 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223.44.11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5254" name="Rectangle 6"/>
          <p:cNvSpPr>
            <a:spLocks noGrp="1" noChangeArrowheads="1"/>
          </p:cNvSpPr>
          <p:nvPr>
            <p:ph idx="1"/>
          </p:nvPr>
        </p:nvSpPr>
        <p:spPr>
          <a:xfrm>
            <a:off x="0" y="935038"/>
            <a:ext cx="4083050" cy="1968500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40000"/>
              </a:lnSpc>
              <a:buFont typeface="Monotype Sorts" pitchFamily="2" charset="2"/>
              <a:buNone/>
            </a:pP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	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If a coil is rotated as shown, in a magnetic field pointing to the left, in what direction is the induced current? </a:t>
            </a:r>
          </a:p>
        </p:txBody>
      </p:sp>
      <p:sp>
        <p:nvSpPr>
          <p:cNvPr id="1845255" name="Rectangle 7"/>
          <p:cNvSpPr>
            <a:spLocks noChangeArrowheads="1"/>
          </p:cNvSpPr>
          <p:nvPr/>
        </p:nvSpPr>
        <p:spPr bwMode="auto">
          <a:xfrm>
            <a:off x="5180013" y="1325563"/>
            <a:ext cx="3763962" cy="11455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8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pic>
        <p:nvPicPr>
          <p:cNvPr id="1845256" name="Picture 8" descr="FG21_007"/>
          <p:cNvPicPr>
            <a:picLocks noChangeAspect="1" noChangeArrowheads="1"/>
          </p:cNvPicPr>
          <p:nvPr/>
        </p:nvPicPr>
        <p:blipFill>
          <a:blip r:embed="rId3" cstate="print">
            <a:lum bright="-42000" contrast="72000"/>
          </a:blip>
          <a:srcRect l="69902" t="11778" r="8018" b="58762"/>
          <a:stretch>
            <a:fillRect/>
          </a:stretch>
        </p:blipFill>
        <p:spPr bwMode="auto">
          <a:xfrm>
            <a:off x="5795963" y="3746500"/>
            <a:ext cx="3068637" cy="27305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82829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45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469563" y="2030979"/>
            <a:ext cx="3672840" cy="2446883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6" name="Rectangle 5"/>
          <p:cNvSpPr/>
          <p:nvPr/>
        </p:nvSpPr>
        <p:spPr>
          <a:xfrm>
            <a:off x="2578912" y="2143295"/>
            <a:ext cx="3574445" cy="22222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grpSp>
        <p:nvGrpSpPr>
          <p:cNvPr id="7" name="Group 5"/>
          <p:cNvGrpSpPr/>
          <p:nvPr/>
        </p:nvGrpSpPr>
        <p:grpSpPr>
          <a:xfrm rot="2700000">
            <a:off x="2561221" y="1719356"/>
            <a:ext cx="204979" cy="177992"/>
            <a:chOff x="883920" y="396240"/>
            <a:chExt cx="929640" cy="929640"/>
          </a:xfrm>
        </p:grpSpPr>
        <p:sp>
          <p:nvSpPr>
            <p:cNvPr id="73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4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" name="Group 6"/>
          <p:cNvGrpSpPr/>
          <p:nvPr/>
        </p:nvGrpSpPr>
        <p:grpSpPr>
          <a:xfrm rot="2700000">
            <a:off x="2561221" y="2657996"/>
            <a:ext cx="204979" cy="177992"/>
            <a:chOff x="883920" y="396240"/>
            <a:chExt cx="929640" cy="929640"/>
          </a:xfrm>
        </p:grpSpPr>
        <p:sp>
          <p:nvSpPr>
            <p:cNvPr id="71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2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9" name="Group 9"/>
          <p:cNvGrpSpPr/>
          <p:nvPr/>
        </p:nvGrpSpPr>
        <p:grpSpPr>
          <a:xfrm rot="2700000">
            <a:off x="2554789" y="3628727"/>
            <a:ext cx="204979" cy="177992"/>
            <a:chOff x="883920" y="396240"/>
            <a:chExt cx="929640" cy="929640"/>
          </a:xfrm>
        </p:grpSpPr>
        <p:sp>
          <p:nvSpPr>
            <p:cNvPr id="69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0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0" name="Group 12"/>
          <p:cNvGrpSpPr/>
          <p:nvPr/>
        </p:nvGrpSpPr>
        <p:grpSpPr>
          <a:xfrm rot="2700000">
            <a:off x="2554789" y="4583412"/>
            <a:ext cx="204979" cy="177992"/>
            <a:chOff x="883920" y="396240"/>
            <a:chExt cx="929640" cy="929640"/>
          </a:xfrm>
        </p:grpSpPr>
        <p:sp>
          <p:nvSpPr>
            <p:cNvPr id="67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8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1" name="Group 15"/>
          <p:cNvGrpSpPr/>
          <p:nvPr/>
        </p:nvGrpSpPr>
        <p:grpSpPr>
          <a:xfrm rot="2700000">
            <a:off x="3313799" y="1719356"/>
            <a:ext cx="204979" cy="177992"/>
            <a:chOff x="883920" y="396240"/>
            <a:chExt cx="929640" cy="929640"/>
          </a:xfrm>
        </p:grpSpPr>
        <p:sp>
          <p:nvSpPr>
            <p:cNvPr id="65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6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2" name="Group 18"/>
          <p:cNvGrpSpPr/>
          <p:nvPr/>
        </p:nvGrpSpPr>
        <p:grpSpPr>
          <a:xfrm rot="2700000">
            <a:off x="3313799" y="2657996"/>
            <a:ext cx="204979" cy="177992"/>
            <a:chOff x="883920" y="396240"/>
            <a:chExt cx="929640" cy="929640"/>
          </a:xfrm>
        </p:grpSpPr>
        <p:sp>
          <p:nvSpPr>
            <p:cNvPr id="63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4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3" name="Group 21"/>
          <p:cNvGrpSpPr/>
          <p:nvPr/>
        </p:nvGrpSpPr>
        <p:grpSpPr>
          <a:xfrm rot="2700000">
            <a:off x="3307367" y="3628727"/>
            <a:ext cx="204979" cy="177992"/>
            <a:chOff x="883920" y="396240"/>
            <a:chExt cx="929640" cy="929640"/>
          </a:xfrm>
        </p:grpSpPr>
        <p:sp>
          <p:nvSpPr>
            <p:cNvPr id="61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2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4" name="Group 24"/>
          <p:cNvGrpSpPr/>
          <p:nvPr/>
        </p:nvGrpSpPr>
        <p:grpSpPr>
          <a:xfrm rot="2700000">
            <a:off x="3307367" y="4583412"/>
            <a:ext cx="204979" cy="177992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5" name="Group 27"/>
          <p:cNvGrpSpPr/>
          <p:nvPr/>
        </p:nvGrpSpPr>
        <p:grpSpPr>
          <a:xfrm rot="2700000">
            <a:off x="4104971" y="1719356"/>
            <a:ext cx="204979" cy="177992"/>
            <a:chOff x="883920" y="396240"/>
            <a:chExt cx="929640" cy="929640"/>
          </a:xfrm>
        </p:grpSpPr>
        <p:sp>
          <p:nvSpPr>
            <p:cNvPr id="57" name="Rectangle 5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8" name="Rectangle 5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6" name="Group 30"/>
          <p:cNvGrpSpPr/>
          <p:nvPr/>
        </p:nvGrpSpPr>
        <p:grpSpPr>
          <a:xfrm rot="2700000">
            <a:off x="4104971" y="2657996"/>
            <a:ext cx="204979" cy="177992"/>
            <a:chOff x="883920" y="396240"/>
            <a:chExt cx="929640" cy="929640"/>
          </a:xfrm>
        </p:grpSpPr>
        <p:sp>
          <p:nvSpPr>
            <p:cNvPr id="55" name="Rectangle 5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6" name="Rectangle 5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7" name="Group 33"/>
          <p:cNvGrpSpPr/>
          <p:nvPr/>
        </p:nvGrpSpPr>
        <p:grpSpPr>
          <a:xfrm rot="2700000">
            <a:off x="4098539" y="3628727"/>
            <a:ext cx="204979" cy="177992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8" name="Group 36"/>
          <p:cNvGrpSpPr/>
          <p:nvPr/>
        </p:nvGrpSpPr>
        <p:grpSpPr>
          <a:xfrm rot="2700000">
            <a:off x="4098539" y="4583412"/>
            <a:ext cx="204979" cy="177992"/>
            <a:chOff x="883920" y="396240"/>
            <a:chExt cx="929640" cy="929640"/>
          </a:xfrm>
        </p:grpSpPr>
        <p:sp>
          <p:nvSpPr>
            <p:cNvPr id="51" name="Rectangle 5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2" name="Rectangle 5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9" name="Group 39"/>
          <p:cNvGrpSpPr/>
          <p:nvPr/>
        </p:nvGrpSpPr>
        <p:grpSpPr>
          <a:xfrm rot="2700000">
            <a:off x="4870415" y="1719356"/>
            <a:ext cx="204979" cy="177992"/>
            <a:chOff x="883920" y="396240"/>
            <a:chExt cx="929640" cy="929640"/>
          </a:xfrm>
        </p:grpSpPr>
        <p:sp>
          <p:nvSpPr>
            <p:cNvPr id="49" name="Rectangle 4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0" name="Rectangle 4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0" name="Group 42"/>
          <p:cNvGrpSpPr/>
          <p:nvPr/>
        </p:nvGrpSpPr>
        <p:grpSpPr>
          <a:xfrm rot="2700000">
            <a:off x="4870414" y="2657996"/>
            <a:ext cx="204979" cy="177992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1" name="Group 45"/>
          <p:cNvGrpSpPr/>
          <p:nvPr/>
        </p:nvGrpSpPr>
        <p:grpSpPr>
          <a:xfrm rot="2700000">
            <a:off x="4863982" y="3628727"/>
            <a:ext cx="204979" cy="177992"/>
            <a:chOff x="883920" y="396240"/>
            <a:chExt cx="929640" cy="929640"/>
          </a:xfrm>
        </p:grpSpPr>
        <p:sp>
          <p:nvSpPr>
            <p:cNvPr id="45" name="Rectangle 4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6" name="Rectangle 4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2" name="Group 48"/>
          <p:cNvGrpSpPr/>
          <p:nvPr/>
        </p:nvGrpSpPr>
        <p:grpSpPr>
          <a:xfrm rot="2700000">
            <a:off x="4863982" y="4583412"/>
            <a:ext cx="204979" cy="177992"/>
            <a:chOff x="883920" y="396240"/>
            <a:chExt cx="929640" cy="929640"/>
          </a:xfrm>
        </p:grpSpPr>
        <p:sp>
          <p:nvSpPr>
            <p:cNvPr id="43" name="Rectangle 4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4" name="Rectangle 4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3" name="Group 51"/>
          <p:cNvGrpSpPr/>
          <p:nvPr/>
        </p:nvGrpSpPr>
        <p:grpSpPr>
          <a:xfrm rot="2700000">
            <a:off x="5629425" y="1719356"/>
            <a:ext cx="204979" cy="177992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4" name="Group 54"/>
          <p:cNvGrpSpPr/>
          <p:nvPr/>
        </p:nvGrpSpPr>
        <p:grpSpPr>
          <a:xfrm rot="2700000">
            <a:off x="5629425" y="2657996"/>
            <a:ext cx="204979" cy="177992"/>
            <a:chOff x="883920" y="396240"/>
            <a:chExt cx="929640" cy="929640"/>
          </a:xfrm>
        </p:grpSpPr>
        <p:sp>
          <p:nvSpPr>
            <p:cNvPr id="39" name="Rectangle 3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0" name="Rectangle 3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5" name="Group 57"/>
          <p:cNvGrpSpPr/>
          <p:nvPr/>
        </p:nvGrpSpPr>
        <p:grpSpPr>
          <a:xfrm rot="2700000">
            <a:off x="5622993" y="3628727"/>
            <a:ext cx="204979" cy="177992"/>
            <a:chOff x="883920" y="396240"/>
            <a:chExt cx="929640" cy="929640"/>
          </a:xfrm>
        </p:grpSpPr>
        <p:sp>
          <p:nvSpPr>
            <p:cNvPr id="37" name="Rectangle 3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38" name="Rectangle 3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6" name="Group 60"/>
          <p:cNvGrpSpPr/>
          <p:nvPr/>
        </p:nvGrpSpPr>
        <p:grpSpPr>
          <a:xfrm rot="2700000">
            <a:off x="5622993" y="4583412"/>
            <a:ext cx="204979" cy="177992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sp>
        <p:nvSpPr>
          <p:cNvPr id="27" name="Rectangle 26"/>
          <p:cNvSpPr/>
          <p:nvPr/>
        </p:nvSpPr>
        <p:spPr>
          <a:xfrm>
            <a:off x="4361069" y="1854483"/>
            <a:ext cx="353776" cy="273569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8" name="Right Arrow 27"/>
          <p:cNvSpPr/>
          <p:nvPr/>
        </p:nvSpPr>
        <p:spPr>
          <a:xfrm>
            <a:off x="4740575" y="3009733"/>
            <a:ext cx="456693" cy="184519"/>
          </a:xfrm>
          <a:prstGeom prst="rightArrow">
            <a:avLst>
              <a:gd name="adj1" fmla="val 50000"/>
              <a:gd name="adj2" fmla="val 7187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9" name="TextBox 28"/>
          <p:cNvSpPr txBox="1"/>
          <p:nvPr/>
        </p:nvSpPr>
        <p:spPr>
          <a:xfrm>
            <a:off x="5107215" y="2674351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65141" y="1329746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75" name="Right Arrow 74"/>
          <p:cNvSpPr/>
          <p:nvPr/>
        </p:nvSpPr>
        <p:spPr>
          <a:xfrm rot="10800000" flipH="1">
            <a:off x="3068655" y="4768242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76" name="TextBox 75"/>
          <p:cNvSpPr txBox="1"/>
          <p:nvPr/>
        </p:nvSpPr>
        <p:spPr>
          <a:xfrm>
            <a:off x="3258581" y="4924177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grpSp>
        <p:nvGrpSpPr>
          <p:cNvPr id="79" name="Group 5"/>
          <p:cNvGrpSpPr/>
          <p:nvPr/>
        </p:nvGrpSpPr>
        <p:grpSpPr>
          <a:xfrm rot="2700000">
            <a:off x="1922037" y="1721628"/>
            <a:ext cx="204979" cy="177992"/>
            <a:chOff x="883920" y="396240"/>
            <a:chExt cx="929640" cy="929640"/>
          </a:xfrm>
        </p:grpSpPr>
        <p:sp>
          <p:nvSpPr>
            <p:cNvPr id="80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1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2" name="Group 6"/>
          <p:cNvGrpSpPr/>
          <p:nvPr/>
        </p:nvGrpSpPr>
        <p:grpSpPr>
          <a:xfrm rot="2700000">
            <a:off x="1922037" y="2660268"/>
            <a:ext cx="204979" cy="177992"/>
            <a:chOff x="883920" y="396240"/>
            <a:chExt cx="929640" cy="929640"/>
          </a:xfrm>
        </p:grpSpPr>
        <p:sp>
          <p:nvSpPr>
            <p:cNvPr id="83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4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5" name="Group 9"/>
          <p:cNvGrpSpPr/>
          <p:nvPr/>
        </p:nvGrpSpPr>
        <p:grpSpPr>
          <a:xfrm rot="2700000">
            <a:off x="1915605" y="3630999"/>
            <a:ext cx="204979" cy="177992"/>
            <a:chOff x="883920" y="396240"/>
            <a:chExt cx="929640" cy="929640"/>
          </a:xfrm>
        </p:grpSpPr>
        <p:sp>
          <p:nvSpPr>
            <p:cNvPr id="86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7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8" name="Group 12"/>
          <p:cNvGrpSpPr/>
          <p:nvPr/>
        </p:nvGrpSpPr>
        <p:grpSpPr>
          <a:xfrm rot="2700000">
            <a:off x="1915605" y="4585684"/>
            <a:ext cx="204979" cy="177992"/>
            <a:chOff x="883920" y="396240"/>
            <a:chExt cx="929640" cy="929640"/>
          </a:xfrm>
        </p:grpSpPr>
        <p:sp>
          <p:nvSpPr>
            <p:cNvPr id="89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0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370392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684463" y="3248025"/>
            <a:ext cx="4181475" cy="3397250"/>
            <a:chOff x="3003" y="404"/>
            <a:chExt cx="2654" cy="2140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47301" name="Arc 5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02" name="Arc 6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7303" name="Rectangle 7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04" name="Text Box 8"/>
            <p:cNvSpPr txBox="1">
              <a:spLocks noChangeArrowheads="1"/>
            </p:cNvSpPr>
            <p:nvPr/>
          </p:nvSpPr>
          <p:spPr bwMode="auto">
            <a:xfrm>
              <a:off x="3272" y="1461"/>
              <a:ext cx="266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7305" name="Text Box 9"/>
            <p:cNvSpPr txBox="1">
              <a:spLocks noChangeArrowheads="1"/>
            </p:cNvSpPr>
            <p:nvPr/>
          </p:nvSpPr>
          <p:spPr bwMode="auto">
            <a:xfrm>
              <a:off x="3285" y="932"/>
              <a:ext cx="240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7306" name="Rectangle 10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07" name="Text Box 11"/>
            <p:cNvSpPr txBox="1">
              <a:spLocks noChangeArrowheads="1"/>
            </p:cNvSpPr>
            <p:nvPr/>
          </p:nvSpPr>
          <p:spPr bwMode="auto">
            <a:xfrm>
              <a:off x="4904" y="1461"/>
              <a:ext cx="266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7308" name="Text Box 12"/>
            <p:cNvSpPr txBox="1">
              <a:spLocks noChangeArrowheads="1"/>
            </p:cNvSpPr>
            <p:nvPr/>
          </p:nvSpPr>
          <p:spPr bwMode="auto">
            <a:xfrm>
              <a:off x="4917" y="932"/>
              <a:ext cx="240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7309" name="Line 13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10" name="Line 14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7311" name="Freeform 15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312" name="Freeform 16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313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47314" name="WordArt 18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47315" name="Line 19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0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47317" name="Arc 21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18" name="Arc 22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19" name="Arc 23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7320" name="Arc 24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7321" name="Line 25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47322" name="Rectangle 26"/>
          <p:cNvSpPr>
            <a:spLocks noChangeArrowheads="1"/>
          </p:cNvSpPr>
          <p:nvPr/>
        </p:nvSpPr>
        <p:spPr bwMode="auto">
          <a:xfrm>
            <a:off x="6376988" y="881063"/>
            <a:ext cx="2767012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47324" name="Rectangle 2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223.44.12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7323" name="Rectangle 27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voltages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</p:spTree>
    <p:extLst>
      <p:ext uri="{BB962C8B-B14F-4D97-AF65-F5344CB8AC3E}">
        <p14:creationId xmlns:p14="http://schemas.microsoft.com/office/powerpoint/2010/main" val="32807021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346" name="AutoShape 2"/>
          <p:cNvSpPr>
            <a:spLocks noChangeArrowheads="1"/>
          </p:cNvSpPr>
          <p:nvPr/>
        </p:nvSpPr>
        <p:spPr bwMode="auto">
          <a:xfrm>
            <a:off x="0" y="3529013"/>
            <a:ext cx="4786313" cy="229235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49347" name="Rectangle 3"/>
          <p:cNvSpPr>
            <a:spLocks noChangeArrowheads="1"/>
          </p:cNvSpPr>
          <p:nvPr/>
        </p:nvSpPr>
        <p:spPr bwMode="auto">
          <a:xfrm>
            <a:off x="0" y="3803650"/>
            <a:ext cx="4611688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Faraday’s law: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endParaRPr lang="en-US" sz="1000" b="1">
              <a:solidFill>
                <a:schemeClr val="bg2"/>
              </a:solidFill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depends on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</a:t>
            </a:r>
            <a:r>
              <a:rPr lang="en-US" sz="2000" b="1">
                <a:solidFill>
                  <a:schemeClr val="bg2"/>
                </a:solidFill>
              </a:rPr>
              <a:t>  (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number of loops</a:t>
            </a:r>
            <a:r>
              <a:rPr lang="en-US" sz="2000" b="1">
                <a:solidFill>
                  <a:schemeClr val="bg2"/>
                </a:solidFill>
              </a:rPr>
              <a:t>) so the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emf is twice as large in the wire with 2 loops</a:t>
            </a:r>
            <a:r>
              <a:rPr lang="en-US" sz="2000" b="1">
                <a:solidFill>
                  <a:schemeClr val="bg2"/>
                </a:solidFill>
              </a:rPr>
              <a:t>.  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765675" y="3238500"/>
            <a:ext cx="4181475" cy="3397250"/>
            <a:chOff x="3003" y="404"/>
            <a:chExt cx="2654" cy="2140"/>
          </a:xfrm>
        </p:grpSpPr>
        <p:grpSp>
          <p:nvGrpSpPr>
            <p:cNvPr id="3" name="Group 6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49351" name="Arc 7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52" name="Arc 8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9353" name="Rectangle 9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54" name="Text Box 10"/>
            <p:cNvSpPr txBox="1">
              <a:spLocks noChangeArrowheads="1"/>
            </p:cNvSpPr>
            <p:nvPr/>
          </p:nvSpPr>
          <p:spPr bwMode="auto">
            <a:xfrm>
              <a:off x="3272" y="1461"/>
              <a:ext cx="266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9355" name="Text Box 11"/>
            <p:cNvSpPr txBox="1">
              <a:spLocks noChangeArrowheads="1"/>
            </p:cNvSpPr>
            <p:nvPr/>
          </p:nvSpPr>
          <p:spPr bwMode="auto">
            <a:xfrm>
              <a:off x="3285" y="932"/>
              <a:ext cx="240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9356" name="Rectangle 12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57" name="Text Box 13"/>
            <p:cNvSpPr txBox="1">
              <a:spLocks noChangeArrowheads="1"/>
            </p:cNvSpPr>
            <p:nvPr/>
          </p:nvSpPr>
          <p:spPr bwMode="auto">
            <a:xfrm>
              <a:off x="4904" y="1461"/>
              <a:ext cx="266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49358" name="Text Box 14"/>
            <p:cNvSpPr txBox="1">
              <a:spLocks noChangeArrowheads="1"/>
            </p:cNvSpPr>
            <p:nvPr/>
          </p:nvSpPr>
          <p:spPr bwMode="auto">
            <a:xfrm>
              <a:off x="4917" y="932"/>
              <a:ext cx="240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49359" name="Line 15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60" name="Line 16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9361" name="Freeform 17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362" name="Freeform 18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363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49364" name="WordArt 20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49365" name="Line 21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2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49367" name="Arc 23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68" name="Arc 24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69" name="Arc 25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9370" name="Arc 26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9371" name="Line 27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49372" name="Oval 28"/>
          <p:cNvSpPr>
            <a:spLocks noChangeArrowheads="1"/>
          </p:cNvSpPr>
          <p:nvPr/>
        </p:nvSpPr>
        <p:spPr bwMode="auto">
          <a:xfrm>
            <a:off x="6049963" y="1320800"/>
            <a:ext cx="2601912" cy="490538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49374" name="Rectangle 30"/>
          <p:cNvSpPr>
            <a:spLocks noChangeArrowheads="1"/>
          </p:cNvSpPr>
          <p:nvPr/>
        </p:nvSpPr>
        <p:spPr bwMode="auto">
          <a:xfrm>
            <a:off x="2430463" y="3652839"/>
            <a:ext cx="2030412" cy="808037"/>
          </a:xfrm>
          <a:prstGeom prst="rect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849376" name="Rectangle 32"/>
          <p:cNvSpPr>
            <a:spLocks noChangeArrowheads="1"/>
          </p:cNvSpPr>
          <p:nvPr/>
        </p:nvSpPr>
        <p:spPr bwMode="auto">
          <a:xfrm>
            <a:off x="6376988" y="881063"/>
            <a:ext cx="2767012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V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49378" name="Rectangle 3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223.44.12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49377" name="Rectangle 33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 dirty="0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voltages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  <p:graphicFrame>
        <p:nvGraphicFramePr>
          <p:cNvPr id="35" name="Object 34"/>
          <p:cNvGraphicFramePr>
            <a:graphicFrameLocks noChangeAspect="1"/>
          </p:cNvGraphicFramePr>
          <p:nvPr/>
        </p:nvGraphicFramePr>
        <p:xfrm>
          <a:off x="4114800" y="3321050"/>
          <a:ext cx="9144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14400" imgH="215640" progId="Equation.3">
                  <p:embed/>
                </p:oleObj>
              </mc:Choice>
              <mc:Fallback>
                <p:oleObj name="Equation" r:id="rId3" imgW="914400" imgH="215640" progId="Equation.3">
                  <p:embed/>
                  <p:pic>
                    <p:nvPicPr>
                      <p:cNvPr id="35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3321050"/>
                        <a:ext cx="914400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35"/>
          <p:cNvGraphicFramePr>
            <a:graphicFrameLocks noChangeAspect="1"/>
          </p:cNvGraphicFramePr>
          <p:nvPr/>
        </p:nvGraphicFramePr>
        <p:xfrm>
          <a:off x="2604542" y="3705809"/>
          <a:ext cx="1626264" cy="6887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79280" imgH="457200" progId="Equation.3">
                  <p:embed/>
                </p:oleObj>
              </mc:Choice>
              <mc:Fallback>
                <p:oleObj name="Equation" r:id="rId5" imgW="1079280" imgH="457200" progId="Equation.3">
                  <p:embed/>
                  <p:pic>
                    <p:nvPicPr>
                      <p:cNvPr id="36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04542" y="3705809"/>
                        <a:ext cx="1626264" cy="68877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0987219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2540000" y="3294063"/>
            <a:ext cx="4213225" cy="3397250"/>
            <a:chOff x="3003" y="404"/>
            <a:chExt cx="2654" cy="2140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51397" name="Arc 5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398" name="Arc 6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1399" name="Rectangle 7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0" name="Text Box 8"/>
            <p:cNvSpPr txBox="1">
              <a:spLocks noChangeArrowheads="1"/>
            </p:cNvSpPr>
            <p:nvPr/>
          </p:nvSpPr>
          <p:spPr bwMode="auto">
            <a:xfrm>
              <a:off x="3272" y="1461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1401" name="Text Box 9"/>
            <p:cNvSpPr txBox="1">
              <a:spLocks noChangeArrowheads="1"/>
            </p:cNvSpPr>
            <p:nvPr/>
          </p:nvSpPr>
          <p:spPr bwMode="auto">
            <a:xfrm>
              <a:off x="3285" y="932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1402" name="Rectangle 10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3" name="Text Box 11"/>
            <p:cNvSpPr txBox="1">
              <a:spLocks noChangeArrowheads="1"/>
            </p:cNvSpPr>
            <p:nvPr/>
          </p:nvSpPr>
          <p:spPr bwMode="auto">
            <a:xfrm>
              <a:off x="4904" y="1461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1404" name="Text Box 12"/>
            <p:cNvSpPr txBox="1">
              <a:spLocks noChangeArrowheads="1"/>
            </p:cNvSpPr>
            <p:nvPr/>
          </p:nvSpPr>
          <p:spPr bwMode="auto">
            <a:xfrm>
              <a:off x="4917" y="932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1405" name="Line 13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6" name="Line 14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1407" name="Freeform 15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408" name="Freeform 16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409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51410" name="WordArt 18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1411" name="Line 19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0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51413" name="Arc 21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4" name="Arc 22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5" name="Arc 23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1416" name="Arc 24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1417" name="Line 25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51418" name="Rectangle 26"/>
          <p:cNvSpPr>
            <a:spLocks noChangeArrowheads="1"/>
          </p:cNvSpPr>
          <p:nvPr/>
        </p:nvSpPr>
        <p:spPr bwMode="auto">
          <a:xfrm>
            <a:off x="6376988" y="881063"/>
            <a:ext cx="2452687" cy="188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51419" name="Rectangle 2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1420" name="Rectangle 28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</p:spTree>
    <p:extLst>
      <p:ext uri="{BB962C8B-B14F-4D97-AF65-F5344CB8AC3E}">
        <p14:creationId xmlns:p14="http://schemas.microsoft.com/office/powerpoint/2010/main" val="16864099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42" name="AutoShape 2"/>
          <p:cNvSpPr>
            <a:spLocks noChangeArrowheads="1"/>
          </p:cNvSpPr>
          <p:nvPr/>
        </p:nvSpPr>
        <p:spPr bwMode="auto">
          <a:xfrm>
            <a:off x="0" y="3317875"/>
            <a:ext cx="4881563" cy="33639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53443" name="Rectangle 3"/>
          <p:cNvSpPr>
            <a:spLocks noChangeArrowheads="1"/>
          </p:cNvSpPr>
          <p:nvPr/>
        </p:nvSpPr>
        <p:spPr bwMode="auto">
          <a:xfrm>
            <a:off x="0" y="3429000"/>
            <a:ext cx="4721225" cy="316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Faraday’s law: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endParaRPr lang="en-US" sz="1000" b="1">
              <a:solidFill>
                <a:schemeClr val="bg2"/>
              </a:solidFill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says that 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emf is</a:t>
            </a:r>
            <a:r>
              <a:rPr lang="en-US" sz="2000" b="1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twice</a:t>
            </a:r>
            <a:r>
              <a:rPr lang="en-US" sz="2000" b="1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as large in the wire with 2 loops</a:t>
            </a:r>
            <a:r>
              <a:rPr lang="en-US" sz="2000" b="1">
                <a:solidFill>
                  <a:schemeClr val="bg2"/>
                </a:solidFill>
              </a:rPr>
              <a:t>.  The current is given by Ohm’s law: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 = V/R</a:t>
            </a:r>
            <a:r>
              <a:rPr lang="en-US" sz="2000" b="1" i="1">
                <a:solidFill>
                  <a:srgbClr val="000000"/>
                </a:solidFill>
              </a:rPr>
              <a:t>.</a:t>
            </a:r>
            <a:r>
              <a:rPr lang="en-US" sz="2000" b="1" i="1">
                <a:solidFill>
                  <a:srgbClr val="800000"/>
                </a:solidFill>
              </a:rPr>
              <a:t>   </a:t>
            </a:r>
            <a:r>
              <a:rPr lang="en-US" sz="2000" b="1">
                <a:solidFill>
                  <a:schemeClr val="bg2"/>
                </a:solidFill>
              </a:rPr>
              <a:t>Since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 is twice as long as wire #1, it has</a:t>
            </a:r>
            <a:r>
              <a:rPr lang="en-US" sz="2000" b="1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twice</a:t>
            </a:r>
            <a:r>
              <a:rPr lang="en-US" sz="2000" b="1">
                <a:solidFill>
                  <a:srgbClr val="0066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the resistance</a:t>
            </a:r>
            <a:r>
              <a:rPr lang="en-US" sz="2000" b="1">
                <a:solidFill>
                  <a:schemeClr val="bg2"/>
                </a:solidFill>
              </a:rPr>
              <a:t>, so the current in both wires is the same.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4733925" y="3238500"/>
            <a:ext cx="4213225" cy="3397250"/>
            <a:chOff x="3003" y="404"/>
            <a:chExt cx="2654" cy="2140"/>
          </a:xfrm>
        </p:grpSpPr>
        <p:grpSp>
          <p:nvGrpSpPr>
            <p:cNvPr id="3" name="Group 6"/>
            <p:cNvGrpSpPr>
              <a:grpSpLocks/>
            </p:cNvGrpSpPr>
            <p:nvPr/>
          </p:nvGrpSpPr>
          <p:grpSpPr bwMode="auto">
            <a:xfrm rot="-5400000">
              <a:off x="4939" y="1626"/>
              <a:ext cx="194" cy="719"/>
              <a:chOff x="2403" y="1778"/>
              <a:chExt cx="194" cy="719"/>
            </a:xfrm>
          </p:grpSpPr>
          <p:sp>
            <p:nvSpPr>
              <p:cNvPr id="1853447" name="Arc 7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48" name="Arc 8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3449" name="Rectangle 9"/>
            <p:cNvSpPr>
              <a:spLocks noChangeArrowheads="1"/>
            </p:cNvSpPr>
            <p:nvPr/>
          </p:nvSpPr>
          <p:spPr bwMode="auto">
            <a:xfrm>
              <a:off x="3284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0" name="Text Box 10"/>
            <p:cNvSpPr txBox="1">
              <a:spLocks noChangeArrowheads="1"/>
            </p:cNvSpPr>
            <p:nvPr/>
          </p:nvSpPr>
          <p:spPr bwMode="auto">
            <a:xfrm>
              <a:off x="3272" y="1461"/>
              <a:ext cx="264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3451" name="Text Box 11"/>
            <p:cNvSpPr txBox="1">
              <a:spLocks noChangeArrowheads="1"/>
            </p:cNvSpPr>
            <p:nvPr/>
          </p:nvSpPr>
          <p:spPr bwMode="auto">
            <a:xfrm>
              <a:off x="3285" y="932"/>
              <a:ext cx="238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3452" name="Rectangle 12"/>
            <p:cNvSpPr>
              <a:spLocks noChangeArrowheads="1"/>
            </p:cNvSpPr>
            <p:nvPr/>
          </p:nvSpPr>
          <p:spPr bwMode="auto">
            <a:xfrm>
              <a:off x="4916" y="932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3" name="Text Box 13"/>
            <p:cNvSpPr txBox="1">
              <a:spLocks noChangeArrowheads="1"/>
            </p:cNvSpPr>
            <p:nvPr/>
          </p:nvSpPr>
          <p:spPr bwMode="auto">
            <a:xfrm>
              <a:off x="4904" y="1461"/>
              <a:ext cx="264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3454" name="Text Box 14"/>
            <p:cNvSpPr txBox="1">
              <a:spLocks noChangeArrowheads="1"/>
            </p:cNvSpPr>
            <p:nvPr/>
          </p:nvSpPr>
          <p:spPr bwMode="auto">
            <a:xfrm>
              <a:off x="4917" y="932"/>
              <a:ext cx="238" cy="29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3455" name="Line 15"/>
            <p:cNvSpPr>
              <a:spLocks noChangeShapeType="1"/>
            </p:cNvSpPr>
            <p:nvPr/>
          </p:nvSpPr>
          <p:spPr bwMode="auto">
            <a:xfrm>
              <a:off x="5036" y="1700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6" name="Line 16"/>
            <p:cNvSpPr>
              <a:spLocks noChangeShapeType="1"/>
            </p:cNvSpPr>
            <p:nvPr/>
          </p:nvSpPr>
          <p:spPr bwMode="auto">
            <a:xfrm>
              <a:off x="5036" y="2072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3457" name="Freeform 17"/>
            <p:cNvSpPr>
              <a:spLocks/>
            </p:cNvSpPr>
            <p:nvPr/>
          </p:nvSpPr>
          <p:spPr bwMode="auto">
            <a:xfrm>
              <a:off x="3200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458" name="Freeform 18"/>
            <p:cNvSpPr>
              <a:spLocks/>
            </p:cNvSpPr>
            <p:nvPr/>
          </p:nvSpPr>
          <p:spPr bwMode="auto">
            <a:xfrm>
              <a:off x="4831" y="404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459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82" y="1800"/>
              <a:ext cx="175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1</a:t>
              </a:r>
            </a:p>
          </p:txBody>
        </p:sp>
        <p:sp>
          <p:nvSpPr>
            <p:cNvPr id="1853460" name="WordArt 20"/>
            <p:cNvSpPr>
              <a:spLocks noChangeArrowheads="1" noChangeShapeType="1" noTextEdit="1"/>
            </p:cNvSpPr>
            <p:nvPr/>
          </p:nvSpPr>
          <p:spPr bwMode="auto">
            <a:xfrm>
              <a:off x="3957" y="1800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3461" name="Line 21"/>
            <p:cNvSpPr>
              <a:spLocks noChangeShapeType="1"/>
            </p:cNvSpPr>
            <p:nvPr/>
          </p:nvSpPr>
          <p:spPr bwMode="auto">
            <a:xfrm>
              <a:off x="3412" y="2160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22"/>
            <p:cNvGrpSpPr>
              <a:grpSpLocks/>
            </p:cNvGrpSpPr>
            <p:nvPr/>
          </p:nvGrpSpPr>
          <p:grpSpPr bwMode="auto">
            <a:xfrm>
              <a:off x="3003" y="1868"/>
              <a:ext cx="770" cy="292"/>
              <a:chOff x="2591" y="1867"/>
              <a:chExt cx="770" cy="292"/>
            </a:xfrm>
          </p:grpSpPr>
          <p:sp>
            <p:nvSpPr>
              <p:cNvPr id="1853463" name="Arc 23"/>
              <p:cNvSpPr>
                <a:spLocks/>
              </p:cNvSpPr>
              <p:nvPr/>
            </p:nvSpPr>
            <p:spPr bwMode="gray">
              <a:xfrm rot="365812" flipH="1">
                <a:off x="2644" y="1879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4" name="Arc 24"/>
              <p:cNvSpPr>
                <a:spLocks/>
              </p:cNvSpPr>
              <p:nvPr/>
            </p:nvSpPr>
            <p:spPr bwMode="auto">
              <a:xfrm flipH="1" flipV="1">
                <a:off x="2636" y="2055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5" name="Arc 25"/>
              <p:cNvSpPr>
                <a:spLocks/>
              </p:cNvSpPr>
              <p:nvPr/>
            </p:nvSpPr>
            <p:spPr bwMode="auto">
              <a:xfrm flipH="1" flipV="1">
                <a:off x="2615" y="1941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3466" name="Arc 26"/>
              <p:cNvSpPr>
                <a:spLocks/>
              </p:cNvSpPr>
              <p:nvPr/>
            </p:nvSpPr>
            <p:spPr bwMode="gray">
              <a:xfrm rot="21058410" flipH="1">
                <a:off x="2591" y="1867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3467" name="Line 27"/>
            <p:cNvSpPr>
              <a:spLocks noChangeShapeType="1"/>
            </p:cNvSpPr>
            <p:nvPr/>
          </p:nvSpPr>
          <p:spPr bwMode="auto">
            <a:xfrm>
              <a:off x="3402" y="1718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53468" name="Oval 28"/>
          <p:cNvSpPr>
            <a:spLocks noChangeArrowheads="1"/>
          </p:cNvSpPr>
          <p:nvPr/>
        </p:nvSpPr>
        <p:spPr bwMode="auto">
          <a:xfrm>
            <a:off x="6053138" y="1806575"/>
            <a:ext cx="2652712" cy="563563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53470" name="Rectangle 30"/>
          <p:cNvSpPr>
            <a:spLocks noChangeArrowheads="1"/>
          </p:cNvSpPr>
          <p:nvPr/>
        </p:nvSpPr>
        <p:spPr bwMode="auto">
          <a:xfrm>
            <a:off x="2347913" y="3394075"/>
            <a:ext cx="2030412" cy="808038"/>
          </a:xfrm>
          <a:prstGeom prst="rect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853472" name="Rectangle 32"/>
          <p:cNvSpPr>
            <a:spLocks noChangeArrowheads="1"/>
          </p:cNvSpPr>
          <p:nvPr/>
        </p:nvSpPr>
        <p:spPr bwMode="auto">
          <a:xfrm>
            <a:off x="6376988" y="881063"/>
            <a:ext cx="2452687" cy="188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&gt;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&lt;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  0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d)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=  </a:t>
            </a:r>
            <a:r>
              <a:rPr lang="en-US" sz="2000" b="1" i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</a:t>
            </a:r>
            <a:r>
              <a:rPr lang="en-US" sz="2000" b="1" i="1" baseline="-25000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</a:t>
            </a: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sym typeface="Symbol" pitchFamily="18" charset="2"/>
              </a:rPr>
              <a:t>=  0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53473" name="Rectangle 33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223.44.13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3474" name="Rectangle 34"/>
          <p:cNvSpPr>
            <a:spLocks noGrp="1" noChangeArrowheads="1"/>
          </p:cNvSpPr>
          <p:nvPr>
            <p:ph idx="1"/>
          </p:nvPr>
        </p:nvSpPr>
        <p:spPr>
          <a:xfrm>
            <a:off x="0" y="765175"/>
            <a:ext cx="5732463" cy="256698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	Wire #1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 i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one-turn loop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, and a bar magnet is dropped through. 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Wire #2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(length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  <a:r>
              <a:rPr lang="en-US" b="1" i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) forms a </a:t>
            </a:r>
            <a:r>
              <a:rPr lang="en-US" b="1">
                <a:solidFill>
                  <a:srgbClr val="FF99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two-turn loop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, and the same magnet is dropped through.  Compare the magnitude of the </a:t>
            </a:r>
            <a:r>
              <a:rPr lang="en-US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induced currents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in these two cases. </a:t>
            </a:r>
          </a:p>
        </p:txBody>
      </p:sp>
      <p:graphicFrame>
        <p:nvGraphicFramePr>
          <p:cNvPr id="257027" name="Object 3"/>
          <p:cNvGraphicFramePr>
            <a:graphicFrameLocks noChangeAspect="1"/>
          </p:cNvGraphicFramePr>
          <p:nvPr/>
        </p:nvGraphicFramePr>
        <p:xfrm>
          <a:off x="2495906" y="3459565"/>
          <a:ext cx="16256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79280" imgH="457200" progId="Equation.3">
                  <p:embed/>
                </p:oleObj>
              </mc:Choice>
              <mc:Fallback>
                <p:oleObj name="Equation" r:id="rId3" imgW="1079280" imgH="457200" progId="Equation.3">
                  <p:embed/>
                  <p:pic>
                    <p:nvPicPr>
                      <p:cNvPr id="25702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95906" y="3459565"/>
                        <a:ext cx="1625600" cy="688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29276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5512" name="Rectangle 24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5491" name="Rectangle 3"/>
          <p:cNvSpPr>
            <a:spLocks noGrp="1" noChangeArrowheads="1"/>
          </p:cNvSpPr>
          <p:nvPr>
            <p:ph idx="1"/>
          </p:nvPr>
        </p:nvSpPr>
        <p:spPr>
          <a:xfrm>
            <a:off x="0" y="679450"/>
            <a:ext cx="5089525" cy="239553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/>
              <a:t>	A bar magnet is held above the floor and dropped.  In 1, there is nothing between the magnet and the floor.   In 2, the magnet falls through a copper loop.   How will the magnet in case 2 fall in comparison to case 1?</a:t>
            </a:r>
            <a:r>
              <a:rPr lang="en-US" sz="1800" b="1">
                <a:solidFill>
                  <a:schemeClr val="hlink"/>
                </a:solidFill>
              </a:rPr>
              <a:t>  </a:t>
            </a: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022600" y="3359150"/>
            <a:ext cx="3554413" cy="3257550"/>
            <a:chOff x="3521" y="1915"/>
            <a:chExt cx="2239" cy="2052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 rot="-5400000">
              <a:off x="5067" y="3137"/>
              <a:ext cx="194" cy="719"/>
              <a:chOff x="2403" y="1778"/>
              <a:chExt cx="194" cy="719"/>
            </a:xfrm>
          </p:grpSpPr>
          <p:sp>
            <p:nvSpPr>
              <p:cNvPr id="1855494" name="Arc 6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5495" name="Arc 7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5496" name="Text Box 8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sp>
          <p:nvSpPr>
            <p:cNvPr id="1855497" name="Rectangle 9"/>
            <p:cNvSpPr>
              <a:spLocks noChangeArrowheads="1"/>
            </p:cNvSpPr>
            <p:nvPr/>
          </p:nvSpPr>
          <p:spPr bwMode="auto">
            <a:xfrm>
              <a:off x="5044" y="2443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498" name="Text Box 10"/>
            <p:cNvSpPr txBox="1">
              <a:spLocks noChangeArrowheads="1"/>
            </p:cNvSpPr>
            <p:nvPr/>
          </p:nvSpPr>
          <p:spPr bwMode="auto">
            <a:xfrm>
              <a:off x="5032" y="2972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5499" name="Text Box 11"/>
            <p:cNvSpPr txBox="1">
              <a:spLocks noChangeArrowheads="1"/>
            </p:cNvSpPr>
            <p:nvPr/>
          </p:nvSpPr>
          <p:spPr bwMode="auto">
            <a:xfrm>
              <a:off x="5045" y="2443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5500" name="Line 12"/>
            <p:cNvSpPr>
              <a:spLocks noChangeShapeType="1"/>
            </p:cNvSpPr>
            <p:nvPr/>
          </p:nvSpPr>
          <p:spPr bwMode="auto">
            <a:xfrm>
              <a:off x="5164" y="3211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501" name="Line 13"/>
            <p:cNvSpPr>
              <a:spLocks noChangeShapeType="1"/>
            </p:cNvSpPr>
            <p:nvPr/>
          </p:nvSpPr>
          <p:spPr bwMode="auto">
            <a:xfrm>
              <a:off x="5164" y="3583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5502" name="Freeform 14"/>
            <p:cNvSpPr>
              <a:spLocks/>
            </p:cNvSpPr>
            <p:nvPr/>
          </p:nvSpPr>
          <p:spPr bwMode="auto">
            <a:xfrm>
              <a:off x="4959" y="1915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5503" name="WordArt 15"/>
            <p:cNvSpPr>
              <a:spLocks noChangeArrowheads="1" noChangeShapeType="1" noTextEdit="1"/>
            </p:cNvSpPr>
            <p:nvPr/>
          </p:nvSpPr>
          <p:spPr bwMode="auto">
            <a:xfrm>
              <a:off x="5448" y="2674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grpSp>
          <p:nvGrpSpPr>
            <p:cNvPr id="4" name="Group 16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5505" name="Rectangle 17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5506" name="Text Box 18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5507" name="Text Box 19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5508" name="Freeform 20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5509" name="WordArt 21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5510" name="Line 22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55511" name="Rectangle 23"/>
          <p:cNvSpPr>
            <a:spLocks noChangeArrowheads="1"/>
          </p:cNvSpPr>
          <p:nvPr/>
        </p:nvSpPr>
        <p:spPr bwMode="auto">
          <a:xfrm>
            <a:off x="5722938" y="1038225"/>
            <a:ext cx="3421062" cy="1399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it will fall slower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it will fall faster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it will fall the same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76755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7538" name="AutoShape 2"/>
          <p:cNvSpPr>
            <a:spLocks noChangeArrowheads="1"/>
          </p:cNvSpPr>
          <p:nvPr/>
        </p:nvSpPr>
        <p:spPr bwMode="auto">
          <a:xfrm>
            <a:off x="0" y="3314700"/>
            <a:ext cx="5345113" cy="28448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57539" name="Rectangle 3"/>
          <p:cNvSpPr>
            <a:spLocks noChangeArrowheads="1"/>
          </p:cNvSpPr>
          <p:nvPr/>
        </p:nvSpPr>
        <p:spPr bwMode="auto">
          <a:xfrm>
            <a:off x="0" y="3306763"/>
            <a:ext cx="5349875" cy="278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When the magnet is falling from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above</a:t>
            </a:r>
            <a:r>
              <a:rPr lang="en-US" sz="2000" b="1">
                <a:solidFill>
                  <a:schemeClr val="bg2"/>
                </a:solidFill>
              </a:rPr>
              <a:t> the loop in 2, the induced current will produce a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North pole on top of the loop</a:t>
            </a:r>
            <a:r>
              <a:rPr lang="en-US" sz="2000" b="1">
                <a:solidFill>
                  <a:schemeClr val="bg2"/>
                </a:solidFill>
              </a:rPr>
              <a:t>, which repels the magnet.  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>
                <a:solidFill>
                  <a:schemeClr val="bg2"/>
                </a:solidFill>
              </a:rPr>
              <a:t> 	When the magnet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below</a:t>
            </a:r>
            <a:r>
              <a:rPr lang="en-US" sz="2000" b="1" i="1">
                <a:solidFill>
                  <a:srgbClr val="FF0000"/>
                </a:solidFill>
              </a:rPr>
              <a:t> </a:t>
            </a:r>
            <a:r>
              <a:rPr lang="en-US" sz="2000" b="1">
                <a:solidFill>
                  <a:schemeClr val="bg2"/>
                </a:solidFill>
              </a:rPr>
              <a:t>the loop, the induced current will produce a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North pole on the bottom of the loop</a:t>
            </a:r>
            <a:r>
              <a:rPr lang="en-US" sz="2000" b="1">
                <a:solidFill>
                  <a:schemeClr val="bg2"/>
                </a:solidFill>
              </a:rPr>
              <a:t>, which attracts the South pole of the magnet.</a:t>
            </a:r>
          </a:p>
        </p:txBody>
      </p:sp>
      <p:sp>
        <p:nvSpPr>
          <p:cNvPr id="1857563" name="Rectangle 2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223.44.14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7541" name="Rectangle 5"/>
          <p:cNvSpPr>
            <a:spLocks noGrp="1" noChangeArrowheads="1"/>
          </p:cNvSpPr>
          <p:nvPr>
            <p:ph idx="1"/>
          </p:nvPr>
        </p:nvSpPr>
        <p:spPr>
          <a:xfrm>
            <a:off x="0" y="679450"/>
            <a:ext cx="5089525" cy="2395538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/>
              <a:t>	A bar magnet is held above the floor and dropped.  In 1, there is nothing between the magnet and the floor.   In 2, the magnet falls through a copper loop.   How will the magnet in case 2 fall in comparison to case 1?</a:t>
            </a:r>
            <a:r>
              <a:rPr lang="en-US" sz="1800" b="1">
                <a:solidFill>
                  <a:schemeClr val="hlink"/>
                </a:solidFill>
              </a:rPr>
              <a:t>  </a:t>
            </a:r>
            <a:r>
              <a:rPr lang="en-US" sz="2400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5589588" y="3406775"/>
            <a:ext cx="3554412" cy="3257550"/>
            <a:chOff x="3521" y="1915"/>
            <a:chExt cx="2239" cy="2052"/>
          </a:xfrm>
        </p:grpSpPr>
        <p:grpSp>
          <p:nvGrpSpPr>
            <p:cNvPr id="3" name="Group 7"/>
            <p:cNvGrpSpPr>
              <a:grpSpLocks/>
            </p:cNvGrpSpPr>
            <p:nvPr/>
          </p:nvGrpSpPr>
          <p:grpSpPr bwMode="auto">
            <a:xfrm rot="-5400000">
              <a:off x="5067" y="3137"/>
              <a:ext cx="194" cy="719"/>
              <a:chOff x="2403" y="1778"/>
              <a:chExt cx="194" cy="719"/>
            </a:xfrm>
          </p:grpSpPr>
          <p:sp>
            <p:nvSpPr>
              <p:cNvPr id="1857544" name="Arc 8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7545" name="Arc 9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7546" name="Text Box 10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sp>
          <p:nvSpPr>
            <p:cNvPr id="1857547" name="Rectangle 11"/>
            <p:cNvSpPr>
              <a:spLocks noChangeArrowheads="1"/>
            </p:cNvSpPr>
            <p:nvPr/>
          </p:nvSpPr>
          <p:spPr bwMode="auto">
            <a:xfrm>
              <a:off x="5044" y="2443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48" name="Text Box 12"/>
            <p:cNvSpPr txBox="1">
              <a:spLocks noChangeArrowheads="1"/>
            </p:cNvSpPr>
            <p:nvPr/>
          </p:nvSpPr>
          <p:spPr bwMode="auto">
            <a:xfrm>
              <a:off x="5032" y="2972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7549" name="Text Box 13"/>
            <p:cNvSpPr txBox="1">
              <a:spLocks noChangeArrowheads="1"/>
            </p:cNvSpPr>
            <p:nvPr/>
          </p:nvSpPr>
          <p:spPr bwMode="auto">
            <a:xfrm>
              <a:off x="5045" y="2443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7550" name="Line 14"/>
            <p:cNvSpPr>
              <a:spLocks noChangeShapeType="1"/>
            </p:cNvSpPr>
            <p:nvPr/>
          </p:nvSpPr>
          <p:spPr bwMode="auto">
            <a:xfrm>
              <a:off x="5164" y="3211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51" name="Line 15"/>
            <p:cNvSpPr>
              <a:spLocks noChangeShapeType="1"/>
            </p:cNvSpPr>
            <p:nvPr/>
          </p:nvSpPr>
          <p:spPr bwMode="auto">
            <a:xfrm>
              <a:off x="5164" y="3583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7552" name="Freeform 16"/>
            <p:cNvSpPr>
              <a:spLocks/>
            </p:cNvSpPr>
            <p:nvPr/>
          </p:nvSpPr>
          <p:spPr bwMode="auto">
            <a:xfrm>
              <a:off x="4959" y="1915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7553" name="WordArt 17"/>
            <p:cNvSpPr>
              <a:spLocks noChangeArrowheads="1" noChangeShapeType="1" noTextEdit="1"/>
            </p:cNvSpPr>
            <p:nvPr/>
          </p:nvSpPr>
          <p:spPr bwMode="auto">
            <a:xfrm>
              <a:off x="5448" y="2674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7555" name="Rectangle 19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7556" name="Text Box 20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7557" name="Text Box 21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7558" name="Freeform 22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7559" name="WordArt 23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7560" name="Line 24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57561" name="Oval 25"/>
          <p:cNvSpPr>
            <a:spLocks noChangeArrowheads="1"/>
          </p:cNvSpPr>
          <p:nvPr/>
        </p:nvSpPr>
        <p:spPr bwMode="auto">
          <a:xfrm>
            <a:off x="5410200" y="1008063"/>
            <a:ext cx="3297238" cy="523875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sp>
        <p:nvSpPr>
          <p:cNvPr id="1857562" name="Rectangle 26"/>
          <p:cNvSpPr>
            <a:spLocks noChangeArrowheads="1"/>
          </p:cNvSpPr>
          <p:nvPr/>
        </p:nvSpPr>
        <p:spPr bwMode="auto">
          <a:xfrm>
            <a:off x="5722938" y="1038225"/>
            <a:ext cx="3421062" cy="1399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it will fall slower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it will fall faster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it will fall the same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1857564" name="Text Box 28"/>
          <p:cNvSpPr txBox="1">
            <a:spLocks noChangeArrowheads="1"/>
          </p:cNvSpPr>
          <p:nvPr/>
        </p:nvSpPr>
        <p:spPr bwMode="auto">
          <a:xfrm>
            <a:off x="0" y="6146800"/>
            <a:ext cx="7435850" cy="711200"/>
          </a:xfrm>
          <a:prstGeom prst="rect">
            <a:avLst/>
          </a:prstGeom>
          <a:solidFill>
            <a:srgbClr val="3366FF"/>
          </a:solidFill>
          <a:ln w="9525">
            <a:solidFill>
              <a:schemeClr val="tx2"/>
            </a:solidFill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/>
            <a:r>
              <a:rPr lang="en-US" sz="2000" b="1">
                <a:solidFill>
                  <a:srgbClr val="000000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Follow-up:</a:t>
            </a:r>
            <a:r>
              <a:rPr lang="en-US" sz="2000" b="1">
                <a:effectLst>
                  <a:outerShdw blurRad="38100" dist="38100" dir="2700000" algn="tl">
                    <a:srgbClr val="000000"/>
                  </a:outerShdw>
                </a:effectLst>
              </a:rPr>
              <a:t>  What happens in case 2 if you flip the magnet so that the South pole is on the bottom as the magnet falls?</a:t>
            </a:r>
          </a:p>
        </p:txBody>
      </p:sp>
    </p:spTree>
    <p:extLst>
      <p:ext uri="{BB962C8B-B14F-4D97-AF65-F5344CB8AC3E}">
        <p14:creationId xmlns:p14="http://schemas.microsoft.com/office/powerpoint/2010/main" val="2758201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587" name="Rectangle 3"/>
          <p:cNvSpPr>
            <a:spLocks noChangeArrowheads="1"/>
          </p:cNvSpPr>
          <p:nvPr/>
        </p:nvSpPr>
        <p:spPr bwMode="auto">
          <a:xfrm>
            <a:off x="3300413" y="960438"/>
            <a:ext cx="5843587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induced current doesn’t need any energy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energy conservation is violated in this case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there is less KE in case 2 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there is more gravitational PE in case 2</a:t>
            </a:r>
          </a:p>
        </p:txBody>
      </p:sp>
      <p:sp>
        <p:nvSpPr>
          <p:cNvPr id="1859589" name="Rectangle 5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59588" name="Rectangle 4"/>
          <p:cNvSpPr>
            <a:spLocks noGrp="1" noChangeArrowheads="1"/>
          </p:cNvSpPr>
          <p:nvPr>
            <p:ph idx="1"/>
          </p:nvPr>
        </p:nvSpPr>
        <p:spPr>
          <a:xfrm>
            <a:off x="0" y="665163"/>
            <a:ext cx="3024188" cy="239553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/>
              <a:t>	If there is induced current, doesn’t that cost energy? Where would that energy come from in case 2?</a:t>
            </a:r>
            <a:r>
              <a:rPr lang="en-US" sz="1600" b="1">
                <a:solidFill>
                  <a:schemeClr val="hlink"/>
                </a:solidFill>
              </a:rPr>
              <a:t> 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2855913" y="3381375"/>
            <a:ext cx="3554412" cy="3257550"/>
            <a:chOff x="3521" y="1923"/>
            <a:chExt cx="2239" cy="2052"/>
          </a:xfrm>
        </p:grpSpPr>
        <p:grpSp>
          <p:nvGrpSpPr>
            <p:cNvPr id="3" name="Group 7"/>
            <p:cNvGrpSpPr>
              <a:grpSpLocks/>
            </p:cNvGrpSpPr>
            <p:nvPr/>
          </p:nvGrpSpPr>
          <p:grpSpPr bwMode="auto">
            <a:xfrm rot="-5400000">
              <a:off x="5067" y="3145"/>
              <a:ext cx="194" cy="719"/>
              <a:chOff x="2403" y="1778"/>
              <a:chExt cx="194" cy="719"/>
            </a:xfrm>
          </p:grpSpPr>
          <p:sp>
            <p:nvSpPr>
              <p:cNvPr id="1859592" name="Arc 8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9593" name="Arc 9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59594" name="Rectangle 10"/>
            <p:cNvSpPr>
              <a:spLocks noChangeArrowheads="1"/>
            </p:cNvSpPr>
            <p:nvPr/>
          </p:nvSpPr>
          <p:spPr bwMode="auto">
            <a:xfrm>
              <a:off x="5044" y="2451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5" name="Text Box 11"/>
            <p:cNvSpPr txBox="1">
              <a:spLocks noChangeArrowheads="1"/>
            </p:cNvSpPr>
            <p:nvPr/>
          </p:nvSpPr>
          <p:spPr bwMode="auto">
            <a:xfrm>
              <a:off x="5032" y="2980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59596" name="Text Box 12"/>
            <p:cNvSpPr txBox="1">
              <a:spLocks noChangeArrowheads="1"/>
            </p:cNvSpPr>
            <p:nvPr/>
          </p:nvSpPr>
          <p:spPr bwMode="auto">
            <a:xfrm>
              <a:off x="5045" y="2451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59597" name="Line 13"/>
            <p:cNvSpPr>
              <a:spLocks noChangeShapeType="1"/>
            </p:cNvSpPr>
            <p:nvPr/>
          </p:nvSpPr>
          <p:spPr bwMode="auto">
            <a:xfrm>
              <a:off x="5164" y="3219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8" name="Line 14"/>
            <p:cNvSpPr>
              <a:spLocks noChangeShapeType="1"/>
            </p:cNvSpPr>
            <p:nvPr/>
          </p:nvSpPr>
          <p:spPr bwMode="auto">
            <a:xfrm>
              <a:off x="5164" y="3591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59599" name="Freeform 15"/>
            <p:cNvSpPr>
              <a:spLocks/>
            </p:cNvSpPr>
            <p:nvPr/>
          </p:nvSpPr>
          <p:spPr bwMode="auto">
            <a:xfrm>
              <a:off x="4959" y="1923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9600" name="WordArt 16"/>
            <p:cNvSpPr>
              <a:spLocks noChangeArrowheads="1" noChangeShapeType="1" noTextEdit="1"/>
            </p:cNvSpPr>
            <p:nvPr/>
          </p:nvSpPr>
          <p:spPr bwMode="auto">
            <a:xfrm>
              <a:off x="5448" y="2682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59601" name="Text Box 17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59603" name="Rectangle 19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59604" name="Text Box 20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59605" name="Text Box 21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59606" name="Freeform 22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59607" name="WordArt 23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59608" name="Line 24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94999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1635" name="Rectangle 3"/>
          <p:cNvSpPr>
            <a:spLocks noChangeArrowheads="1"/>
          </p:cNvSpPr>
          <p:nvPr/>
        </p:nvSpPr>
        <p:spPr bwMode="auto">
          <a:xfrm>
            <a:off x="3300413" y="960438"/>
            <a:ext cx="5843587" cy="17857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induced current doesn’t need any energy</a:t>
            </a: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energy conservation is violated in this case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there is less KE in case 2 </a:t>
            </a:r>
          </a:p>
          <a:p>
            <a:pPr marL="457200" indent="-457200"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d)  there is more gravitational PE in case 2</a:t>
            </a:r>
          </a:p>
        </p:txBody>
      </p:sp>
      <p:sp>
        <p:nvSpPr>
          <p:cNvPr id="1861640" name="Rectangle 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223.44.15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1636" name="Rectangle 4"/>
          <p:cNvSpPr>
            <a:spLocks noGrp="1" noChangeArrowheads="1"/>
          </p:cNvSpPr>
          <p:nvPr>
            <p:ph idx="1"/>
          </p:nvPr>
        </p:nvSpPr>
        <p:spPr>
          <a:xfrm>
            <a:off x="0" y="665163"/>
            <a:ext cx="3024188" cy="239553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20000"/>
              </a:lnSpc>
              <a:buFont typeface="Monotype Sorts" pitchFamily="2" charset="2"/>
              <a:buNone/>
            </a:pPr>
            <a:r>
              <a:rPr lang="en-US" b="1"/>
              <a:t>	If there is induced current, doesn’t that cost energy? Where would that energy come from in case 2?</a:t>
            </a:r>
            <a:r>
              <a:rPr lang="en-US" sz="1600" b="1">
                <a:solidFill>
                  <a:schemeClr val="hlink"/>
                </a:solidFill>
              </a:rPr>
              <a:t> 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</p:txBody>
      </p:sp>
      <p:sp>
        <p:nvSpPr>
          <p:cNvPr id="1861637" name="AutoShape 5"/>
          <p:cNvSpPr>
            <a:spLocks noChangeArrowheads="1"/>
          </p:cNvSpPr>
          <p:nvPr/>
        </p:nvSpPr>
        <p:spPr bwMode="auto">
          <a:xfrm>
            <a:off x="0" y="3346450"/>
            <a:ext cx="5124450" cy="301148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1638" name="Rectangle 6"/>
          <p:cNvSpPr>
            <a:spLocks noChangeArrowheads="1"/>
          </p:cNvSpPr>
          <p:nvPr/>
        </p:nvSpPr>
        <p:spPr bwMode="auto">
          <a:xfrm>
            <a:off x="0" y="3424238"/>
            <a:ext cx="5116513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 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 both cases, the magnet starts with the same initial gravitational PE.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>
                <a:solidFill>
                  <a:schemeClr val="bg2"/>
                </a:solidFill>
              </a:rPr>
              <a:t>  In case 1, all the gravitational PE has been converted into kinetic energy.  </a:t>
            </a:r>
          </a:p>
          <a:p>
            <a:pPr marL="285750" indent="-285750">
              <a:lnSpc>
                <a:spcPct val="111000"/>
              </a:lnSpc>
            </a:pPr>
            <a:r>
              <a:rPr lang="en-US" sz="2000" b="1">
                <a:solidFill>
                  <a:schemeClr val="bg2"/>
                </a:solidFill>
              </a:rPr>
              <a:t>  In case 2, we know the magnet falls slower, thus there is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less KE</a:t>
            </a:r>
            <a:r>
              <a:rPr lang="en-US" sz="2000" b="1">
                <a:solidFill>
                  <a:schemeClr val="bg2"/>
                </a:solidFill>
              </a:rPr>
              <a:t>.   The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difference in energy</a:t>
            </a:r>
            <a:r>
              <a:rPr lang="en-US" sz="2000" b="1">
                <a:solidFill>
                  <a:schemeClr val="bg2"/>
                </a:solidFill>
              </a:rPr>
              <a:t> goes into</a:t>
            </a:r>
            <a:r>
              <a:rPr lang="en-US" sz="1800" b="1">
                <a:solidFill>
                  <a:schemeClr val="accent1"/>
                </a:solidFill>
              </a:rPr>
              <a:t>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making the induced current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61639" name="Oval 7"/>
          <p:cNvSpPr>
            <a:spLocks noChangeArrowheads="1"/>
          </p:cNvSpPr>
          <p:nvPr/>
        </p:nvSpPr>
        <p:spPr bwMode="auto">
          <a:xfrm>
            <a:off x="2974975" y="1812925"/>
            <a:ext cx="4583113" cy="531813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5589588" y="3381375"/>
            <a:ext cx="3554412" cy="3257550"/>
            <a:chOff x="3521" y="1923"/>
            <a:chExt cx="2239" cy="2052"/>
          </a:xfrm>
        </p:grpSpPr>
        <p:grpSp>
          <p:nvGrpSpPr>
            <p:cNvPr id="3" name="Group 10"/>
            <p:cNvGrpSpPr>
              <a:grpSpLocks/>
            </p:cNvGrpSpPr>
            <p:nvPr/>
          </p:nvGrpSpPr>
          <p:grpSpPr bwMode="auto">
            <a:xfrm rot="-5400000">
              <a:off x="5067" y="3145"/>
              <a:ext cx="194" cy="719"/>
              <a:chOff x="2403" y="1778"/>
              <a:chExt cx="194" cy="719"/>
            </a:xfrm>
          </p:grpSpPr>
          <p:sp>
            <p:nvSpPr>
              <p:cNvPr id="1861643" name="Arc 11"/>
              <p:cNvSpPr>
                <a:spLocks/>
              </p:cNvSpPr>
              <p:nvPr/>
            </p:nvSpPr>
            <p:spPr bwMode="gray">
              <a:xfrm rot="5400000" flipH="1">
                <a:off x="2185" y="2084"/>
                <a:ext cx="717" cy="106"/>
              </a:xfrm>
              <a:custGeom>
                <a:avLst/>
                <a:gdLst>
                  <a:gd name="G0" fmla="+- 21386 0 0"/>
                  <a:gd name="G1" fmla="+- 21600 0 0"/>
                  <a:gd name="G2" fmla="+- 21600 0 0"/>
                  <a:gd name="T0" fmla="*/ 0 w 42986"/>
                  <a:gd name="T1" fmla="*/ 18564 h 23739"/>
                  <a:gd name="T2" fmla="*/ 42880 w 42986"/>
                  <a:gd name="T3" fmla="*/ 23739 h 23739"/>
                  <a:gd name="T4" fmla="*/ 21386 w 42986"/>
                  <a:gd name="T5" fmla="*/ 21600 h 237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2986" h="23739" fill="none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</a:path>
                  <a:path w="42986" h="23739" stroke="0" extrusionOk="0">
                    <a:moveTo>
                      <a:pt x="0" y="18564"/>
                    </a:moveTo>
                    <a:cubicBezTo>
                      <a:pt x="1512" y="7914"/>
                      <a:pt x="10629" y="-1"/>
                      <a:pt x="21386" y="0"/>
                    </a:cubicBezTo>
                    <a:cubicBezTo>
                      <a:pt x="33315" y="0"/>
                      <a:pt x="42986" y="9670"/>
                      <a:pt x="42986" y="21600"/>
                    </a:cubicBezTo>
                    <a:cubicBezTo>
                      <a:pt x="42986" y="22314"/>
                      <a:pt x="42950" y="23028"/>
                      <a:pt x="42879" y="23738"/>
                    </a:cubicBezTo>
                    <a:lnTo>
                      <a:pt x="21386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1644" name="Arc 12"/>
              <p:cNvSpPr>
                <a:spLocks/>
              </p:cNvSpPr>
              <p:nvPr/>
            </p:nvSpPr>
            <p:spPr bwMode="auto">
              <a:xfrm rot="5400000" flipH="1" flipV="1">
                <a:off x="2095" y="2086"/>
                <a:ext cx="719" cy="104"/>
              </a:xfrm>
              <a:custGeom>
                <a:avLst/>
                <a:gdLst>
                  <a:gd name="G0" fmla="+- 21600 0 0"/>
                  <a:gd name="G1" fmla="+- 21600 0 0"/>
                  <a:gd name="G2" fmla="+- 21600 0 0"/>
                  <a:gd name="T0" fmla="*/ 85 w 43200"/>
                  <a:gd name="T1" fmla="*/ 23510 h 23510"/>
                  <a:gd name="T2" fmla="*/ 43200 w 43200"/>
                  <a:gd name="T3" fmla="*/ 21600 h 23510"/>
                  <a:gd name="T4" fmla="*/ 21600 w 43200"/>
                  <a:gd name="T5" fmla="*/ 21600 h 23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3200" h="23510" fill="none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</a:path>
                  <a:path w="43200" h="23510" stroke="0" extrusionOk="0">
                    <a:moveTo>
                      <a:pt x="84" y="23510"/>
                    </a:moveTo>
                    <a:cubicBezTo>
                      <a:pt x="28" y="22874"/>
                      <a:pt x="0" y="22237"/>
                      <a:pt x="0" y="21600"/>
                    </a:cubicBezTo>
                    <a:cubicBezTo>
                      <a:pt x="0" y="9670"/>
                      <a:pt x="9670" y="0"/>
                      <a:pt x="21600" y="0"/>
                    </a:cubicBezTo>
                    <a:cubicBezTo>
                      <a:pt x="33529" y="-1"/>
                      <a:pt x="43199" y="9670"/>
                      <a:pt x="43200" y="21599"/>
                    </a:cubicBezTo>
                    <a:lnTo>
                      <a:pt x="21600" y="21600"/>
                    </a:lnTo>
                    <a:close/>
                  </a:path>
                </a:pathLst>
              </a:custGeom>
              <a:noFill/>
              <a:ln w="7620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1645" name="Rectangle 13"/>
            <p:cNvSpPr>
              <a:spLocks noChangeArrowheads="1"/>
            </p:cNvSpPr>
            <p:nvPr/>
          </p:nvSpPr>
          <p:spPr bwMode="auto">
            <a:xfrm>
              <a:off x="5044" y="2451"/>
              <a:ext cx="240" cy="768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46" name="Text Box 14"/>
            <p:cNvSpPr txBox="1">
              <a:spLocks noChangeArrowheads="1"/>
            </p:cNvSpPr>
            <p:nvPr/>
          </p:nvSpPr>
          <p:spPr bwMode="auto">
            <a:xfrm>
              <a:off x="5032" y="2980"/>
              <a:ext cx="264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N</a:t>
              </a:r>
            </a:p>
          </p:txBody>
        </p:sp>
        <p:sp>
          <p:nvSpPr>
            <p:cNvPr id="1861647" name="Text Box 15"/>
            <p:cNvSpPr txBox="1">
              <a:spLocks noChangeArrowheads="1"/>
            </p:cNvSpPr>
            <p:nvPr/>
          </p:nvSpPr>
          <p:spPr bwMode="auto">
            <a:xfrm>
              <a:off x="5045" y="2451"/>
              <a:ext cx="238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b="1">
                  <a:solidFill>
                    <a:schemeClr val="bg2"/>
                  </a:solidFill>
                  <a:latin typeface="Tahoma" pitchFamily="34" charset="0"/>
                </a:rPr>
                <a:t>S</a:t>
              </a:r>
            </a:p>
          </p:txBody>
        </p:sp>
        <p:sp>
          <p:nvSpPr>
            <p:cNvPr id="1861648" name="Line 16"/>
            <p:cNvSpPr>
              <a:spLocks noChangeShapeType="1"/>
            </p:cNvSpPr>
            <p:nvPr/>
          </p:nvSpPr>
          <p:spPr bwMode="auto">
            <a:xfrm>
              <a:off x="5164" y="3219"/>
              <a:ext cx="0" cy="2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49" name="Line 17"/>
            <p:cNvSpPr>
              <a:spLocks noChangeShapeType="1"/>
            </p:cNvSpPr>
            <p:nvPr/>
          </p:nvSpPr>
          <p:spPr bwMode="auto">
            <a:xfrm>
              <a:off x="5164" y="3591"/>
              <a:ext cx="0" cy="38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1650" name="Freeform 18"/>
            <p:cNvSpPr>
              <a:spLocks/>
            </p:cNvSpPr>
            <p:nvPr/>
          </p:nvSpPr>
          <p:spPr bwMode="auto">
            <a:xfrm>
              <a:off x="4959" y="1923"/>
              <a:ext cx="683" cy="512"/>
            </a:xfrm>
            <a:custGeom>
              <a:avLst/>
              <a:gdLst/>
              <a:ahLst/>
              <a:cxnLst>
                <a:cxn ang="0">
                  <a:pos x="375" y="851"/>
                </a:cxn>
                <a:cxn ang="0">
                  <a:pos x="386" y="784"/>
                </a:cxn>
                <a:cxn ang="0">
                  <a:pos x="405" y="701"/>
                </a:cxn>
                <a:cxn ang="0">
                  <a:pos x="433" y="652"/>
                </a:cxn>
                <a:cxn ang="0">
                  <a:pos x="444" y="603"/>
                </a:cxn>
                <a:cxn ang="0">
                  <a:pos x="489" y="563"/>
                </a:cxn>
                <a:cxn ang="0">
                  <a:pos x="537" y="521"/>
                </a:cxn>
                <a:cxn ang="0">
                  <a:pos x="576" y="523"/>
                </a:cxn>
                <a:cxn ang="0">
                  <a:pos x="602" y="553"/>
                </a:cxn>
                <a:cxn ang="0">
                  <a:pos x="592" y="624"/>
                </a:cxn>
                <a:cxn ang="0">
                  <a:pos x="532" y="735"/>
                </a:cxn>
                <a:cxn ang="0">
                  <a:pos x="484" y="796"/>
                </a:cxn>
                <a:cxn ang="0">
                  <a:pos x="453" y="871"/>
                </a:cxn>
                <a:cxn ang="0">
                  <a:pos x="458" y="910"/>
                </a:cxn>
                <a:cxn ang="0">
                  <a:pos x="519" y="930"/>
                </a:cxn>
                <a:cxn ang="0">
                  <a:pos x="567" y="922"/>
                </a:cxn>
                <a:cxn ang="0">
                  <a:pos x="586" y="911"/>
                </a:cxn>
                <a:cxn ang="0">
                  <a:pos x="622" y="894"/>
                </a:cxn>
                <a:cxn ang="0">
                  <a:pos x="649" y="868"/>
                </a:cxn>
                <a:cxn ang="0">
                  <a:pos x="687" y="805"/>
                </a:cxn>
                <a:cxn ang="0">
                  <a:pos x="751" y="749"/>
                </a:cxn>
                <a:cxn ang="0">
                  <a:pos x="801" y="727"/>
                </a:cxn>
                <a:cxn ang="0">
                  <a:pos x="861" y="692"/>
                </a:cxn>
                <a:cxn ang="0">
                  <a:pos x="919" y="655"/>
                </a:cxn>
                <a:cxn ang="0">
                  <a:pos x="959" y="629"/>
                </a:cxn>
                <a:cxn ang="0">
                  <a:pos x="994" y="600"/>
                </a:cxn>
                <a:cxn ang="0">
                  <a:pos x="1041" y="545"/>
                </a:cxn>
                <a:cxn ang="0">
                  <a:pos x="1111" y="462"/>
                </a:cxn>
                <a:cxn ang="0">
                  <a:pos x="1211" y="380"/>
                </a:cxn>
                <a:cxn ang="0">
                  <a:pos x="1307" y="316"/>
                </a:cxn>
                <a:cxn ang="0">
                  <a:pos x="1362" y="279"/>
                </a:cxn>
                <a:cxn ang="0">
                  <a:pos x="1329" y="243"/>
                </a:cxn>
                <a:cxn ang="0">
                  <a:pos x="1228" y="159"/>
                </a:cxn>
                <a:cxn ang="0">
                  <a:pos x="1113" y="67"/>
                </a:cxn>
                <a:cxn ang="0">
                  <a:pos x="1034" y="6"/>
                </a:cxn>
                <a:cxn ang="0">
                  <a:pos x="441" y="259"/>
                </a:cxn>
                <a:cxn ang="0">
                  <a:pos x="393" y="292"/>
                </a:cxn>
                <a:cxn ang="0">
                  <a:pos x="312" y="347"/>
                </a:cxn>
                <a:cxn ang="0">
                  <a:pos x="234" y="398"/>
                </a:cxn>
                <a:cxn ang="0">
                  <a:pos x="191" y="425"/>
                </a:cxn>
                <a:cxn ang="0">
                  <a:pos x="138" y="473"/>
                </a:cxn>
                <a:cxn ang="0">
                  <a:pos x="70" y="542"/>
                </a:cxn>
                <a:cxn ang="0">
                  <a:pos x="16" y="601"/>
                </a:cxn>
                <a:cxn ang="0">
                  <a:pos x="4" y="632"/>
                </a:cxn>
                <a:cxn ang="0">
                  <a:pos x="39" y="670"/>
                </a:cxn>
                <a:cxn ang="0">
                  <a:pos x="53" y="704"/>
                </a:cxn>
                <a:cxn ang="0">
                  <a:pos x="42" y="777"/>
                </a:cxn>
                <a:cxn ang="0">
                  <a:pos x="98" y="799"/>
                </a:cxn>
                <a:cxn ang="0">
                  <a:pos x="143" y="767"/>
                </a:cxn>
                <a:cxn ang="0">
                  <a:pos x="183" y="697"/>
                </a:cxn>
                <a:cxn ang="0">
                  <a:pos x="198" y="699"/>
                </a:cxn>
                <a:cxn ang="0">
                  <a:pos x="222" y="838"/>
                </a:cxn>
                <a:cxn ang="0">
                  <a:pos x="251" y="942"/>
                </a:cxn>
                <a:cxn ang="0">
                  <a:pos x="311" y="1012"/>
                </a:cxn>
                <a:cxn ang="0">
                  <a:pos x="363" y="1017"/>
                </a:cxn>
                <a:cxn ang="0">
                  <a:pos x="389" y="975"/>
                </a:cxn>
              </a:cxnLst>
              <a:rect l="0" t="0" r="r" b="b"/>
              <a:pathLst>
                <a:path w="1367" h="1024">
                  <a:moveTo>
                    <a:pt x="394" y="950"/>
                  </a:moveTo>
                  <a:lnTo>
                    <a:pt x="390" y="912"/>
                  </a:lnTo>
                  <a:lnTo>
                    <a:pt x="383" y="878"/>
                  </a:lnTo>
                  <a:lnTo>
                    <a:pt x="375" y="851"/>
                  </a:lnTo>
                  <a:lnTo>
                    <a:pt x="365" y="836"/>
                  </a:lnTo>
                  <a:lnTo>
                    <a:pt x="371" y="823"/>
                  </a:lnTo>
                  <a:lnTo>
                    <a:pt x="378" y="806"/>
                  </a:lnTo>
                  <a:lnTo>
                    <a:pt x="386" y="784"/>
                  </a:lnTo>
                  <a:lnTo>
                    <a:pt x="393" y="762"/>
                  </a:lnTo>
                  <a:lnTo>
                    <a:pt x="400" y="739"/>
                  </a:lnTo>
                  <a:lnTo>
                    <a:pt x="404" y="719"/>
                  </a:lnTo>
                  <a:lnTo>
                    <a:pt x="405" y="701"/>
                  </a:lnTo>
                  <a:lnTo>
                    <a:pt x="403" y="690"/>
                  </a:lnTo>
                  <a:lnTo>
                    <a:pt x="416" y="677"/>
                  </a:lnTo>
                  <a:lnTo>
                    <a:pt x="426" y="663"/>
                  </a:lnTo>
                  <a:lnTo>
                    <a:pt x="433" y="652"/>
                  </a:lnTo>
                  <a:lnTo>
                    <a:pt x="438" y="639"/>
                  </a:lnTo>
                  <a:lnTo>
                    <a:pt x="440" y="628"/>
                  </a:lnTo>
                  <a:lnTo>
                    <a:pt x="442" y="615"/>
                  </a:lnTo>
                  <a:lnTo>
                    <a:pt x="444" y="603"/>
                  </a:lnTo>
                  <a:lnTo>
                    <a:pt x="447" y="592"/>
                  </a:lnTo>
                  <a:lnTo>
                    <a:pt x="461" y="583"/>
                  </a:lnTo>
                  <a:lnTo>
                    <a:pt x="474" y="573"/>
                  </a:lnTo>
                  <a:lnTo>
                    <a:pt x="489" y="563"/>
                  </a:lnTo>
                  <a:lnTo>
                    <a:pt x="504" y="552"/>
                  </a:lnTo>
                  <a:lnTo>
                    <a:pt x="518" y="540"/>
                  </a:lnTo>
                  <a:lnTo>
                    <a:pt x="529" y="530"/>
                  </a:lnTo>
                  <a:lnTo>
                    <a:pt x="537" y="521"/>
                  </a:lnTo>
                  <a:lnTo>
                    <a:pt x="541" y="511"/>
                  </a:lnTo>
                  <a:lnTo>
                    <a:pt x="555" y="512"/>
                  </a:lnTo>
                  <a:lnTo>
                    <a:pt x="567" y="517"/>
                  </a:lnTo>
                  <a:lnTo>
                    <a:pt x="576" y="523"/>
                  </a:lnTo>
                  <a:lnTo>
                    <a:pt x="584" y="530"/>
                  </a:lnTo>
                  <a:lnTo>
                    <a:pt x="591" y="538"/>
                  </a:lnTo>
                  <a:lnTo>
                    <a:pt x="598" y="546"/>
                  </a:lnTo>
                  <a:lnTo>
                    <a:pt x="602" y="553"/>
                  </a:lnTo>
                  <a:lnTo>
                    <a:pt x="606" y="559"/>
                  </a:lnTo>
                  <a:lnTo>
                    <a:pt x="607" y="575"/>
                  </a:lnTo>
                  <a:lnTo>
                    <a:pt x="602" y="598"/>
                  </a:lnTo>
                  <a:lnTo>
                    <a:pt x="592" y="624"/>
                  </a:lnTo>
                  <a:lnTo>
                    <a:pt x="578" y="654"/>
                  </a:lnTo>
                  <a:lnTo>
                    <a:pt x="562" y="684"/>
                  </a:lnTo>
                  <a:lnTo>
                    <a:pt x="546" y="712"/>
                  </a:lnTo>
                  <a:lnTo>
                    <a:pt x="532" y="735"/>
                  </a:lnTo>
                  <a:lnTo>
                    <a:pt x="520" y="751"/>
                  </a:lnTo>
                  <a:lnTo>
                    <a:pt x="508" y="761"/>
                  </a:lnTo>
                  <a:lnTo>
                    <a:pt x="495" y="777"/>
                  </a:lnTo>
                  <a:lnTo>
                    <a:pt x="484" y="796"/>
                  </a:lnTo>
                  <a:lnTo>
                    <a:pt x="473" y="815"/>
                  </a:lnTo>
                  <a:lnTo>
                    <a:pt x="464" y="836"/>
                  </a:lnTo>
                  <a:lnTo>
                    <a:pt x="457" y="854"/>
                  </a:lnTo>
                  <a:lnTo>
                    <a:pt x="453" y="871"/>
                  </a:lnTo>
                  <a:lnTo>
                    <a:pt x="451" y="883"/>
                  </a:lnTo>
                  <a:lnTo>
                    <a:pt x="451" y="895"/>
                  </a:lnTo>
                  <a:lnTo>
                    <a:pt x="454" y="903"/>
                  </a:lnTo>
                  <a:lnTo>
                    <a:pt x="458" y="910"/>
                  </a:lnTo>
                  <a:lnTo>
                    <a:pt x="466" y="916"/>
                  </a:lnTo>
                  <a:lnTo>
                    <a:pt x="478" y="920"/>
                  </a:lnTo>
                  <a:lnTo>
                    <a:pt x="495" y="925"/>
                  </a:lnTo>
                  <a:lnTo>
                    <a:pt x="519" y="930"/>
                  </a:lnTo>
                  <a:lnTo>
                    <a:pt x="549" y="937"/>
                  </a:lnTo>
                  <a:lnTo>
                    <a:pt x="556" y="930"/>
                  </a:lnTo>
                  <a:lnTo>
                    <a:pt x="562" y="926"/>
                  </a:lnTo>
                  <a:lnTo>
                    <a:pt x="567" y="922"/>
                  </a:lnTo>
                  <a:lnTo>
                    <a:pt x="571" y="919"/>
                  </a:lnTo>
                  <a:lnTo>
                    <a:pt x="576" y="917"/>
                  </a:lnTo>
                  <a:lnTo>
                    <a:pt x="580" y="914"/>
                  </a:lnTo>
                  <a:lnTo>
                    <a:pt x="586" y="911"/>
                  </a:lnTo>
                  <a:lnTo>
                    <a:pt x="593" y="907"/>
                  </a:lnTo>
                  <a:lnTo>
                    <a:pt x="605" y="902"/>
                  </a:lnTo>
                  <a:lnTo>
                    <a:pt x="614" y="897"/>
                  </a:lnTo>
                  <a:lnTo>
                    <a:pt x="622" y="894"/>
                  </a:lnTo>
                  <a:lnTo>
                    <a:pt x="629" y="890"/>
                  </a:lnTo>
                  <a:lnTo>
                    <a:pt x="636" y="886"/>
                  </a:lnTo>
                  <a:lnTo>
                    <a:pt x="642" y="879"/>
                  </a:lnTo>
                  <a:lnTo>
                    <a:pt x="649" y="868"/>
                  </a:lnTo>
                  <a:lnTo>
                    <a:pt x="656" y="853"/>
                  </a:lnTo>
                  <a:lnTo>
                    <a:pt x="664" y="838"/>
                  </a:lnTo>
                  <a:lnTo>
                    <a:pt x="675" y="822"/>
                  </a:lnTo>
                  <a:lnTo>
                    <a:pt x="687" y="805"/>
                  </a:lnTo>
                  <a:lnTo>
                    <a:pt x="702" y="789"/>
                  </a:lnTo>
                  <a:lnTo>
                    <a:pt x="717" y="773"/>
                  </a:lnTo>
                  <a:lnTo>
                    <a:pt x="735" y="759"/>
                  </a:lnTo>
                  <a:lnTo>
                    <a:pt x="751" y="749"/>
                  </a:lnTo>
                  <a:lnTo>
                    <a:pt x="767" y="742"/>
                  </a:lnTo>
                  <a:lnTo>
                    <a:pt x="777" y="738"/>
                  </a:lnTo>
                  <a:lnTo>
                    <a:pt x="789" y="734"/>
                  </a:lnTo>
                  <a:lnTo>
                    <a:pt x="801" y="727"/>
                  </a:lnTo>
                  <a:lnTo>
                    <a:pt x="815" y="720"/>
                  </a:lnTo>
                  <a:lnTo>
                    <a:pt x="830" y="711"/>
                  </a:lnTo>
                  <a:lnTo>
                    <a:pt x="846" y="702"/>
                  </a:lnTo>
                  <a:lnTo>
                    <a:pt x="861" y="692"/>
                  </a:lnTo>
                  <a:lnTo>
                    <a:pt x="876" y="683"/>
                  </a:lnTo>
                  <a:lnTo>
                    <a:pt x="891" y="674"/>
                  </a:lnTo>
                  <a:lnTo>
                    <a:pt x="906" y="664"/>
                  </a:lnTo>
                  <a:lnTo>
                    <a:pt x="919" y="655"/>
                  </a:lnTo>
                  <a:lnTo>
                    <a:pt x="931" y="647"/>
                  </a:lnTo>
                  <a:lnTo>
                    <a:pt x="943" y="639"/>
                  </a:lnTo>
                  <a:lnTo>
                    <a:pt x="952" y="633"/>
                  </a:lnTo>
                  <a:lnTo>
                    <a:pt x="959" y="629"/>
                  </a:lnTo>
                  <a:lnTo>
                    <a:pt x="964" y="625"/>
                  </a:lnTo>
                  <a:lnTo>
                    <a:pt x="972" y="620"/>
                  </a:lnTo>
                  <a:lnTo>
                    <a:pt x="982" y="610"/>
                  </a:lnTo>
                  <a:lnTo>
                    <a:pt x="994" y="600"/>
                  </a:lnTo>
                  <a:lnTo>
                    <a:pt x="1005" y="587"/>
                  </a:lnTo>
                  <a:lnTo>
                    <a:pt x="1018" y="573"/>
                  </a:lnTo>
                  <a:lnTo>
                    <a:pt x="1029" y="559"/>
                  </a:lnTo>
                  <a:lnTo>
                    <a:pt x="1041" y="545"/>
                  </a:lnTo>
                  <a:lnTo>
                    <a:pt x="1051" y="530"/>
                  </a:lnTo>
                  <a:lnTo>
                    <a:pt x="1068" y="507"/>
                  </a:lnTo>
                  <a:lnTo>
                    <a:pt x="1088" y="485"/>
                  </a:lnTo>
                  <a:lnTo>
                    <a:pt x="1111" y="462"/>
                  </a:lnTo>
                  <a:lnTo>
                    <a:pt x="1134" y="441"/>
                  </a:lnTo>
                  <a:lnTo>
                    <a:pt x="1159" y="419"/>
                  </a:lnTo>
                  <a:lnTo>
                    <a:pt x="1186" y="400"/>
                  </a:lnTo>
                  <a:lnTo>
                    <a:pt x="1211" y="380"/>
                  </a:lnTo>
                  <a:lnTo>
                    <a:pt x="1237" y="362"/>
                  </a:lnTo>
                  <a:lnTo>
                    <a:pt x="1262" y="344"/>
                  </a:lnTo>
                  <a:lnTo>
                    <a:pt x="1285" y="329"/>
                  </a:lnTo>
                  <a:lnTo>
                    <a:pt x="1307" y="316"/>
                  </a:lnTo>
                  <a:lnTo>
                    <a:pt x="1325" y="303"/>
                  </a:lnTo>
                  <a:lnTo>
                    <a:pt x="1341" y="292"/>
                  </a:lnTo>
                  <a:lnTo>
                    <a:pt x="1354" y="284"/>
                  </a:lnTo>
                  <a:lnTo>
                    <a:pt x="1362" y="279"/>
                  </a:lnTo>
                  <a:lnTo>
                    <a:pt x="1367" y="275"/>
                  </a:lnTo>
                  <a:lnTo>
                    <a:pt x="1360" y="268"/>
                  </a:lnTo>
                  <a:lnTo>
                    <a:pt x="1346" y="258"/>
                  </a:lnTo>
                  <a:lnTo>
                    <a:pt x="1329" y="243"/>
                  </a:lnTo>
                  <a:lnTo>
                    <a:pt x="1308" y="225"/>
                  </a:lnTo>
                  <a:lnTo>
                    <a:pt x="1283" y="205"/>
                  </a:lnTo>
                  <a:lnTo>
                    <a:pt x="1256" y="183"/>
                  </a:lnTo>
                  <a:lnTo>
                    <a:pt x="1228" y="159"/>
                  </a:lnTo>
                  <a:lnTo>
                    <a:pt x="1199" y="136"/>
                  </a:lnTo>
                  <a:lnTo>
                    <a:pt x="1170" y="112"/>
                  </a:lnTo>
                  <a:lnTo>
                    <a:pt x="1141" y="89"/>
                  </a:lnTo>
                  <a:lnTo>
                    <a:pt x="1113" y="67"/>
                  </a:lnTo>
                  <a:lnTo>
                    <a:pt x="1088" y="47"/>
                  </a:lnTo>
                  <a:lnTo>
                    <a:pt x="1066" y="30"/>
                  </a:lnTo>
                  <a:lnTo>
                    <a:pt x="1048" y="16"/>
                  </a:lnTo>
                  <a:lnTo>
                    <a:pt x="1034" y="6"/>
                  </a:lnTo>
                  <a:lnTo>
                    <a:pt x="1025" y="0"/>
                  </a:lnTo>
                  <a:lnTo>
                    <a:pt x="862" y="226"/>
                  </a:lnTo>
                  <a:lnTo>
                    <a:pt x="443" y="258"/>
                  </a:lnTo>
                  <a:lnTo>
                    <a:pt x="441" y="259"/>
                  </a:lnTo>
                  <a:lnTo>
                    <a:pt x="434" y="264"/>
                  </a:lnTo>
                  <a:lnTo>
                    <a:pt x="424" y="272"/>
                  </a:lnTo>
                  <a:lnTo>
                    <a:pt x="410" y="281"/>
                  </a:lnTo>
                  <a:lnTo>
                    <a:pt x="393" y="292"/>
                  </a:lnTo>
                  <a:lnTo>
                    <a:pt x="374" y="305"/>
                  </a:lnTo>
                  <a:lnTo>
                    <a:pt x="355" y="319"/>
                  </a:lnTo>
                  <a:lnTo>
                    <a:pt x="334" y="333"/>
                  </a:lnTo>
                  <a:lnTo>
                    <a:pt x="312" y="347"/>
                  </a:lnTo>
                  <a:lnTo>
                    <a:pt x="290" y="362"/>
                  </a:lnTo>
                  <a:lnTo>
                    <a:pt x="271" y="375"/>
                  </a:lnTo>
                  <a:lnTo>
                    <a:pt x="251" y="388"/>
                  </a:lnTo>
                  <a:lnTo>
                    <a:pt x="234" y="398"/>
                  </a:lnTo>
                  <a:lnTo>
                    <a:pt x="219" y="409"/>
                  </a:lnTo>
                  <a:lnTo>
                    <a:pt x="207" y="416"/>
                  </a:lnTo>
                  <a:lnTo>
                    <a:pt x="199" y="420"/>
                  </a:lnTo>
                  <a:lnTo>
                    <a:pt x="191" y="425"/>
                  </a:lnTo>
                  <a:lnTo>
                    <a:pt x="182" y="434"/>
                  </a:lnTo>
                  <a:lnTo>
                    <a:pt x="169" y="444"/>
                  </a:lnTo>
                  <a:lnTo>
                    <a:pt x="154" y="458"/>
                  </a:lnTo>
                  <a:lnTo>
                    <a:pt x="138" y="473"/>
                  </a:lnTo>
                  <a:lnTo>
                    <a:pt x="122" y="491"/>
                  </a:lnTo>
                  <a:lnTo>
                    <a:pt x="105" y="508"/>
                  </a:lnTo>
                  <a:lnTo>
                    <a:pt x="88" y="525"/>
                  </a:lnTo>
                  <a:lnTo>
                    <a:pt x="70" y="542"/>
                  </a:lnTo>
                  <a:lnTo>
                    <a:pt x="54" y="560"/>
                  </a:lnTo>
                  <a:lnTo>
                    <a:pt x="39" y="575"/>
                  </a:lnTo>
                  <a:lnTo>
                    <a:pt x="27" y="588"/>
                  </a:lnTo>
                  <a:lnTo>
                    <a:pt x="16" y="601"/>
                  </a:lnTo>
                  <a:lnTo>
                    <a:pt x="7" y="609"/>
                  </a:lnTo>
                  <a:lnTo>
                    <a:pt x="2" y="615"/>
                  </a:lnTo>
                  <a:lnTo>
                    <a:pt x="0" y="617"/>
                  </a:lnTo>
                  <a:lnTo>
                    <a:pt x="4" y="632"/>
                  </a:lnTo>
                  <a:lnTo>
                    <a:pt x="10" y="645"/>
                  </a:lnTo>
                  <a:lnTo>
                    <a:pt x="20" y="655"/>
                  </a:lnTo>
                  <a:lnTo>
                    <a:pt x="29" y="664"/>
                  </a:lnTo>
                  <a:lnTo>
                    <a:pt x="39" y="670"/>
                  </a:lnTo>
                  <a:lnTo>
                    <a:pt x="48" y="675"/>
                  </a:lnTo>
                  <a:lnTo>
                    <a:pt x="57" y="677"/>
                  </a:lnTo>
                  <a:lnTo>
                    <a:pt x="61" y="677"/>
                  </a:lnTo>
                  <a:lnTo>
                    <a:pt x="53" y="704"/>
                  </a:lnTo>
                  <a:lnTo>
                    <a:pt x="43" y="735"/>
                  </a:lnTo>
                  <a:lnTo>
                    <a:pt x="34" y="761"/>
                  </a:lnTo>
                  <a:lnTo>
                    <a:pt x="30" y="772"/>
                  </a:lnTo>
                  <a:lnTo>
                    <a:pt x="42" y="777"/>
                  </a:lnTo>
                  <a:lnTo>
                    <a:pt x="54" y="783"/>
                  </a:lnTo>
                  <a:lnTo>
                    <a:pt x="68" y="790"/>
                  </a:lnTo>
                  <a:lnTo>
                    <a:pt x="83" y="796"/>
                  </a:lnTo>
                  <a:lnTo>
                    <a:pt x="98" y="799"/>
                  </a:lnTo>
                  <a:lnTo>
                    <a:pt x="112" y="799"/>
                  </a:lnTo>
                  <a:lnTo>
                    <a:pt x="123" y="793"/>
                  </a:lnTo>
                  <a:lnTo>
                    <a:pt x="134" y="783"/>
                  </a:lnTo>
                  <a:lnTo>
                    <a:pt x="143" y="767"/>
                  </a:lnTo>
                  <a:lnTo>
                    <a:pt x="153" y="750"/>
                  </a:lnTo>
                  <a:lnTo>
                    <a:pt x="165" y="730"/>
                  </a:lnTo>
                  <a:lnTo>
                    <a:pt x="174" y="712"/>
                  </a:lnTo>
                  <a:lnTo>
                    <a:pt x="183" y="697"/>
                  </a:lnTo>
                  <a:lnTo>
                    <a:pt x="190" y="685"/>
                  </a:lnTo>
                  <a:lnTo>
                    <a:pt x="195" y="681"/>
                  </a:lnTo>
                  <a:lnTo>
                    <a:pt x="197" y="684"/>
                  </a:lnTo>
                  <a:lnTo>
                    <a:pt x="198" y="699"/>
                  </a:lnTo>
                  <a:lnTo>
                    <a:pt x="203" y="725"/>
                  </a:lnTo>
                  <a:lnTo>
                    <a:pt x="209" y="760"/>
                  </a:lnTo>
                  <a:lnTo>
                    <a:pt x="215" y="799"/>
                  </a:lnTo>
                  <a:lnTo>
                    <a:pt x="222" y="838"/>
                  </a:lnTo>
                  <a:lnTo>
                    <a:pt x="230" y="874"/>
                  </a:lnTo>
                  <a:lnTo>
                    <a:pt x="236" y="902"/>
                  </a:lnTo>
                  <a:lnTo>
                    <a:pt x="241" y="918"/>
                  </a:lnTo>
                  <a:lnTo>
                    <a:pt x="251" y="942"/>
                  </a:lnTo>
                  <a:lnTo>
                    <a:pt x="265" y="964"/>
                  </a:lnTo>
                  <a:lnTo>
                    <a:pt x="280" y="983"/>
                  </a:lnTo>
                  <a:lnTo>
                    <a:pt x="295" y="1000"/>
                  </a:lnTo>
                  <a:lnTo>
                    <a:pt x="311" y="1012"/>
                  </a:lnTo>
                  <a:lnTo>
                    <a:pt x="326" y="1020"/>
                  </a:lnTo>
                  <a:lnTo>
                    <a:pt x="341" y="1024"/>
                  </a:lnTo>
                  <a:lnTo>
                    <a:pt x="352" y="1023"/>
                  </a:lnTo>
                  <a:lnTo>
                    <a:pt x="363" y="1017"/>
                  </a:lnTo>
                  <a:lnTo>
                    <a:pt x="371" y="1008"/>
                  </a:lnTo>
                  <a:lnTo>
                    <a:pt x="379" y="998"/>
                  </a:lnTo>
                  <a:lnTo>
                    <a:pt x="385" y="987"/>
                  </a:lnTo>
                  <a:lnTo>
                    <a:pt x="389" y="975"/>
                  </a:lnTo>
                  <a:lnTo>
                    <a:pt x="392" y="965"/>
                  </a:lnTo>
                  <a:lnTo>
                    <a:pt x="394" y="956"/>
                  </a:lnTo>
                  <a:lnTo>
                    <a:pt x="394" y="950"/>
                  </a:lnTo>
                  <a:close/>
                </a:path>
              </a:pathLst>
            </a:custGeom>
            <a:solidFill>
              <a:srgbClr val="CC66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1651" name="WordArt 19"/>
            <p:cNvSpPr>
              <a:spLocks noChangeArrowheads="1" noChangeShapeType="1" noTextEdit="1"/>
            </p:cNvSpPr>
            <p:nvPr/>
          </p:nvSpPr>
          <p:spPr bwMode="auto">
            <a:xfrm>
              <a:off x="5448" y="2682"/>
              <a:ext cx="312" cy="360"/>
            </a:xfrm>
            <a:prstGeom prst="rect">
              <a:avLst/>
            </a:prstGeom>
          </p:spPr>
          <p:txBody>
            <a:bodyPr wrap="none" fromWordArt="1">
              <a:prstTxWarp prst="textPlain">
                <a:avLst>
                  <a:gd name="adj" fmla="val 50000"/>
                </a:avLst>
              </a:prstTxWarp>
            </a:bodyPr>
            <a:lstStyle/>
            <a:p>
              <a:pPr algn="ctr"/>
              <a:r>
                <a:rPr lang="en-US" sz="3600" kern="10">
                  <a:ln w="19050">
                    <a:solidFill>
                      <a:srgbClr val="99CCFF"/>
                    </a:solidFill>
                    <a:round/>
                    <a:headEnd/>
                    <a:tailEnd/>
                  </a:ln>
                  <a:solidFill>
                    <a:srgbClr val="0066CC"/>
                  </a:solidFill>
                  <a:effectLst>
                    <a:outerShdw dist="35921" dir="2700000" algn="ctr" rotWithShape="0">
                      <a:srgbClr val="990000"/>
                    </a:outerShdw>
                  </a:effectLst>
                  <a:latin typeface="Impact"/>
                </a:rPr>
                <a:t>2</a:t>
              </a:r>
            </a:p>
          </p:txBody>
        </p:sp>
        <p:sp>
          <p:nvSpPr>
            <p:cNvPr id="1861652" name="Text Box 20"/>
            <p:cNvSpPr txBox="1">
              <a:spLocks noChangeArrowheads="1"/>
            </p:cNvSpPr>
            <p:nvPr/>
          </p:nvSpPr>
          <p:spPr bwMode="auto">
            <a:xfrm>
              <a:off x="4361" y="3176"/>
              <a:ext cx="619" cy="442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copper</a:t>
              </a:r>
            </a:p>
            <a:p>
              <a:r>
                <a:rPr lang="en-US" sz="2000" b="1">
                  <a:effectLst>
                    <a:outerShdw blurRad="38100" dist="38100" dir="2700000" algn="tl">
                      <a:srgbClr val="000000"/>
                    </a:outerShdw>
                  </a:effectLst>
                  <a:latin typeface="Comic Sans MS" pitchFamily="66" charset="0"/>
                </a:rPr>
                <a:t>loop</a:t>
              </a:r>
            </a:p>
          </p:txBody>
        </p:sp>
        <p:grpSp>
          <p:nvGrpSpPr>
            <p:cNvPr id="4" name="Group 21"/>
            <p:cNvGrpSpPr>
              <a:grpSpLocks/>
            </p:cNvGrpSpPr>
            <p:nvPr/>
          </p:nvGrpSpPr>
          <p:grpSpPr bwMode="auto">
            <a:xfrm>
              <a:off x="3521" y="1923"/>
              <a:ext cx="688" cy="1686"/>
              <a:chOff x="3328" y="1915"/>
              <a:chExt cx="688" cy="1686"/>
            </a:xfrm>
          </p:grpSpPr>
          <p:sp>
            <p:nvSpPr>
              <p:cNvPr id="1861654" name="Rectangle 22"/>
              <p:cNvSpPr>
                <a:spLocks noChangeArrowheads="1"/>
              </p:cNvSpPr>
              <p:nvPr/>
            </p:nvSpPr>
            <p:spPr bwMode="auto">
              <a:xfrm>
                <a:off x="3412" y="2443"/>
                <a:ext cx="240" cy="768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1655" name="Text Box 23"/>
              <p:cNvSpPr txBox="1">
                <a:spLocks noChangeArrowheads="1"/>
              </p:cNvSpPr>
              <p:nvPr/>
            </p:nvSpPr>
            <p:spPr bwMode="auto">
              <a:xfrm>
                <a:off x="3400" y="2972"/>
                <a:ext cx="264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N</a:t>
                </a:r>
              </a:p>
            </p:txBody>
          </p:sp>
          <p:sp>
            <p:nvSpPr>
              <p:cNvPr id="1861656" name="Text Box 24"/>
              <p:cNvSpPr txBox="1">
                <a:spLocks noChangeArrowheads="1"/>
              </p:cNvSpPr>
              <p:nvPr/>
            </p:nvSpPr>
            <p:spPr bwMode="auto">
              <a:xfrm>
                <a:off x="3413" y="2443"/>
                <a:ext cx="238" cy="288"/>
              </a:xfrm>
              <a:prstGeom prst="rect">
                <a:avLst/>
              </a:prstGeom>
              <a:noFill/>
              <a:ln w="19050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chemeClr val="bg2"/>
                    </a:solidFill>
                    <a:latin typeface="Tahoma" pitchFamily="34" charset="0"/>
                  </a:rPr>
                  <a:t>S</a:t>
                </a:r>
              </a:p>
            </p:txBody>
          </p:sp>
          <p:sp>
            <p:nvSpPr>
              <p:cNvPr id="1861657" name="Freeform 25"/>
              <p:cNvSpPr>
                <a:spLocks/>
              </p:cNvSpPr>
              <p:nvPr/>
            </p:nvSpPr>
            <p:spPr bwMode="auto">
              <a:xfrm>
                <a:off x="3328" y="1915"/>
                <a:ext cx="683" cy="512"/>
              </a:xfrm>
              <a:custGeom>
                <a:avLst/>
                <a:gdLst/>
                <a:ahLst/>
                <a:cxnLst>
                  <a:cxn ang="0">
                    <a:pos x="375" y="851"/>
                  </a:cxn>
                  <a:cxn ang="0">
                    <a:pos x="386" y="784"/>
                  </a:cxn>
                  <a:cxn ang="0">
                    <a:pos x="405" y="701"/>
                  </a:cxn>
                  <a:cxn ang="0">
                    <a:pos x="433" y="652"/>
                  </a:cxn>
                  <a:cxn ang="0">
                    <a:pos x="444" y="603"/>
                  </a:cxn>
                  <a:cxn ang="0">
                    <a:pos x="489" y="563"/>
                  </a:cxn>
                  <a:cxn ang="0">
                    <a:pos x="537" y="521"/>
                  </a:cxn>
                  <a:cxn ang="0">
                    <a:pos x="576" y="523"/>
                  </a:cxn>
                  <a:cxn ang="0">
                    <a:pos x="602" y="553"/>
                  </a:cxn>
                  <a:cxn ang="0">
                    <a:pos x="592" y="624"/>
                  </a:cxn>
                  <a:cxn ang="0">
                    <a:pos x="532" y="735"/>
                  </a:cxn>
                  <a:cxn ang="0">
                    <a:pos x="484" y="796"/>
                  </a:cxn>
                  <a:cxn ang="0">
                    <a:pos x="453" y="871"/>
                  </a:cxn>
                  <a:cxn ang="0">
                    <a:pos x="458" y="910"/>
                  </a:cxn>
                  <a:cxn ang="0">
                    <a:pos x="519" y="930"/>
                  </a:cxn>
                  <a:cxn ang="0">
                    <a:pos x="567" y="922"/>
                  </a:cxn>
                  <a:cxn ang="0">
                    <a:pos x="586" y="911"/>
                  </a:cxn>
                  <a:cxn ang="0">
                    <a:pos x="622" y="894"/>
                  </a:cxn>
                  <a:cxn ang="0">
                    <a:pos x="649" y="868"/>
                  </a:cxn>
                  <a:cxn ang="0">
                    <a:pos x="687" y="805"/>
                  </a:cxn>
                  <a:cxn ang="0">
                    <a:pos x="751" y="749"/>
                  </a:cxn>
                  <a:cxn ang="0">
                    <a:pos x="801" y="727"/>
                  </a:cxn>
                  <a:cxn ang="0">
                    <a:pos x="861" y="692"/>
                  </a:cxn>
                  <a:cxn ang="0">
                    <a:pos x="919" y="655"/>
                  </a:cxn>
                  <a:cxn ang="0">
                    <a:pos x="959" y="629"/>
                  </a:cxn>
                  <a:cxn ang="0">
                    <a:pos x="994" y="600"/>
                  </a:cxn>
                  <a:cxn ang="0">
                    <a:pos x="1041" y="545"/>
                  </a:cxn>
                  <a:cxn ang="0">
                    <a:pos x="1111" y="462"/>
                  </a:cxn>
                  <a:cxn ang="0">
                    <a:pos x="1211" y="380"/>
                  </a:cxn>
                  <a:cxn ang="0">
                    <a:pos x="1307" y="316"/>
                  </a:cxn>
                  <a:cxn ang="0">
                    <a:pos x="1362" y="279"/>
                  </a:cxn>
                  <a:cxn ang="0">
                    <a:pos x="1329" y="243"/>
                  </a:cxn>
                  <a:cxn ang="0">
                    <a:pos x="1228" y="159"/>
                  </a:cxn>
                  <a:cxn ang="0">
                    <a:pos x="1113" y="67"/>
                  </a:cxn>
                  <a:cxn ang="0">
                    <a:pos x="1034" y="6"/>
                  </a:cxn>
                  <a:cxn ang="0">
                    <a:pos x="441" y="259"/>
                  </a:cxn>
                  <a:cxn ang="0">
                    <a:pos x="393" y="292"/>
                  </a:cxn>
                  <a:cxn ang="0">
                    <a:pos x="312" y="347"/>
                  </a:cxn>
                  <a:cxn ang="0">
                    <a:pos x="234" y="398"/>
                  </a:cxn>
                  <a:cxn ang="0">
                    <a:pos x="191" y="425"/>
                  </a:cxn>
                  <a:cxn ang="0">
                    <a:pos x="138" y="473"/>
                  </a:cxn>
                  <a:cxn ang="0">
                    <a:pos x="70" y="542"/>
                  </a:cxn>
                  <a:cxn ang="0">
                    <a:pos x="16" y="601"/>
                  </a:cxn>
                  <a:cxn ang="0">
                    <a:pos x="4" y="632"/>
                  </a:cxn>
                  <a:cxn ang="0">
                    <a:pos x="39" y="670"/>
                  </a:cxn>
                  <a:cxn ang="0">
                    <a:pos x="53" y="704"/>
                  </a:cxn>
                  <a:cxn ang="0">
                    <a:pos x="42" y="777"/>
                  </a:cxn>
                  <a:cxn ang="0">
                    <a:pos x="98" y="799"/>
                  </a:cxn>
                  <a:cxn ang="0">
                    <a:pos x="143" y="767"/>
                  </a:cxn>
                  <a:cxn ang="0">
                    <a:pos x="183" y="697"/>
                  </a:cxn>
                  <a:cxn ang="0">
                    <a:pos x="198" y="699"/>
                  </a:cxn>
                  <a:cxn ang="0">
                    <a:pos x="222" y="838"/>
                  </a:cxn>
                  <a:cxn ang="0">
                    <a:pos x="251" y="942"/>
                  </a:cxn>
                  <a:cxn ang="0">
                    <a:pos x="311" y="1012"/>
                  </a:cxn>
                  <a:cxn ang="0">
                    <a:pos x="363" y="1017"/>
                  </a:cxn>
                  <a:cxn ang="0">
                    <a:pos x="389" y="975"/>
                  </a:cxn>
                </a:cxnLst>
                <a:rect l="0" t="0" r="r" b="b"/>
                <a:pathLst>
                  <a:path w="1367" h="1024">
                    <a:moveTo>
                      <a:pt x="394" y="950"/>
                    </a:moveTo>
                    <a:lnTo>
                      <a:pt x="390" y="912"/>
                    </a:lnTo>
                    <a:lnTo>
                      <a:pt x="383" y="878"/>
                    </a:lnTo>
                    <a:lnTo>
                      <a:pt x="375" y="851"/>
                    </a:lnTo>
                    <a:lnTo>
                      <a:pt x="365" y="836"/>
                    </a:lnTo>
                    <a:lnTo>
                      <a:pt x="371" y="823"/>
                    </a:lnTo>
                    <a:lnTo>
                      <a:pt x="378" y="806"/>
                    </a:lnTo>
                    <a:lnTo>
                      <a:pt x="386" y="784"/>
                    </a:lnTo>
                    <a:lnTo>
                      <a:pt x="393" y="762"/>
                    </a:lnTo>
                    <a:lnTo>
                      <a:pt x="400" y="739"/>
                    </a:lnTo>
                    <a:lnTo>
                      <a:pt x="404" y="719"/>
                    </a:lnTo>
                    <a:lnTo>
                      <a:pt x="405" y="701"/>
                    </a:lnTo>
                    <a:lnTo>
                      <a:pt x="403" y="690"/>
                    </a:lnTo>
                    <a:lnTo>
                      <a:pt x="416" y="677"/>
                    </a:lnTo>
                    <a:lnTo>
                      <a:pt x="426" y="663"/>
                    </a:lnTo>
                    <a:lnTo>
                      <a:pt x="433" y="652"/>
                    </a:lnTo>
                    <a:lnTo>
                      <a:pt x="438" y="639"/>
                    </a:lnTo>
                    <a:lnTo>
                      <a:pt x="440" y="628"/>
                    </a:lnTo>
                    <a:lnTo>
                      <a:pt x="442" y="615"/>
                    </a:lnTo>
                    <a:lnTo>
                      <a:pt x="444" y="603"/>
                    </a:lnTo>
                    <a:lnTo>
                      <a:pt x="447" y="592"/>
                    </a:lnTo>
                    <a:lnTo>
                      <a:pt x="461" y="583"/>
                    </a:lnTo>
                    <a:lnTo>
                      <a:pt x="474" y="573"/>
                    </a:lnTo>
                    <a:lnTo>
                      <a:pt x="489" y="563"/>
                    </a:lnTo>
                    <a:lnTo>
                      <a:pt x="504" y="552"/>
                    </a:lnTo>
                    <a:lnTo>
                      <a:pt x="518" y="540"/>
                    </a:lnTo>
                    <a:lnTo>
                      <a:pt x="529" y="530"/>
                    </a:lnTo>
                    <a:lnTo>
                      <a:pt x="537" y="521"/>
                    </a:lnTo>
                    <a:lnTo>
                      <a:pt x="541" y="511"/>
                    </a:lnTo>
                    <a:lnTo>
                      <a:pt x="555" y="512"/>
                    </a:lnTo>
                    <a:lnTo>
                      <a:pt x="567" y="517"/>
                    </a:lnTo>
                    <a:lnTo>
                      <a:pt x="576" y="523"/>
                    </a:lnTo>
                    <a:lnTo>
                      <a:pt x="584" y="530"/>
                    </a:lnTo>
                    <a:lnTo>
                      <a:pt x="591" y="538"/>
                    </a:lnTo>
                    <a:lnTo>
                      <a:pt x="598" y="546"/>
                    </a:lnTo>
                    <a:lnTo>
                      <a:pt x="602" y="553"/>
                    </a:lnTo>
                    <a:lnTo>
                      <a:pt x="606" y="559"/>
                    </a:lnTo>
                    <a:lnTo>
                      <a:pt x="607" y="575"/>
                    </a:lnTo>
                    <a:lnTo>
                      <a:pt x="602" y="598"/>
                    </a:lnTo>
                    <a:lnTo>
                      <a:pt x="592" y="624"/>
                    </a:lnTo>
                    <a:lnTo>
                      <a:pt x="578" y="654"/>
                    </a:lnTo>
                    <a:lnTo>
                      <a:pt x="562" y="684"/>
                    </a:lnTo>
                    <a:lnTo>
                      <a:pt x="546" y="712"/>
                    </a:lnTo>
                    <a:lnTo>
                      <a:pt x="532" y="735"/>
                    </a:lnTo>
                    <a:lnTo>
                      <a:pt x="520" y="751"/>
                    </a:lnTo>
                    <a:lnTo>
                      <a:pt x="508" y="761"/>
                    </a:lnTo>
                    <a:lnTo>
                      <a:pt x="495" y="777"/>
                    </a:lnTo>
                    <a:lnTo>
                      <a:pt x="484" y="796"/>
                    </a:lnTo>
                    <a:lnTo>
                      <a:pt x="473" y="815"/>
                    </a:lnTo>
                    <a:lnTo>
                      <a:pt x="464" y="836"/>
                    </a:lnTo>
                    <a:lnTo>
                      <a:pt x="457" y="854"/>
                    </a:lnTo>
                    <a:lnTo>
                      <a:pt x="453" y="871"/>
                    </a:lnTo>
                    <a:lnTo>
                      <a:pt x="451" y="883"/>
                    </a:lnTo>
                    <a:lnTo>
                      <a:pt x="451" y="895"/>
                    </a:lnTo>
                    <a:lnTo>
                      <a:pt x="454" y="903"/>
                    </a:lnTo>
                    <a:lnTo>
                      <a:pt x="458" y="910"/>
                    </a:lnTo>
                    <a:lnTo>
                      <a:pt x="466" y="916"/>
                    </a:lnTo>
                    <a:lnTo>
                      <a:pt x="478" y="920"/>
                    </a:lnTo>
                    <a:lnTo>
                      <a:pt x="495" y="925"/>
                    </a:lnTo>
                    <a:lnTo>
                      <a:pt x="519" y="930"/>
                    </a:lnTo>
                    <a:lnTo>
                      <a:pt x="549" y="937"/>
                    </a:lnTo>
                    <a:lnTo>
                      <a:pt x="556" y="930"/>
                    </a:lnTo>
                    <a:lnTo>
                      <a:pt x="562" y="926"/>
                    </a:lnTo>
                    <a:lnTo>
                      <a:pt x="567" y="922"/>
                    </a:lnTo>
                    <a:lnTo>
                      <a:pt x="571" y="919"/>
                    </a:lnTo>
                    <a:lnTo>
                      <a:pt x="576" y="917"/>
                    </a:lnTo>
                    <a:lnTo>
                      <a:pt x="580" y="914"/>
                    </a:lnTo>
                    <a:lnTo>
                      <a:pt x="586" y="911"/>
                    </a:lnTo>
                    <a:lnTo>
                      <a:pt x="593" y="907"/>
                    </a:lnTo>
                    <a:lnTo>
                      <a:pt x="605" y="902"/>
                    </a:lnTo>
                    <a:lnTo>
                      <a:pt x="614" y="897"/>
                    </a:lnTo>
                    <a:lnTo>
                      <a:pt x="622" y="894"/>
                    </a:lnTo>
                    <a:lnTo>
                      <a:pt x="629" y="890"/>
                    </a:lnTo>
                    <a:lnTo>
                      <a:pt x="636" y="886"/>
                    </a:lnTo>
                    <a:lnTo>
                      <a:pt x="642" y="879"/>
                    </a:lnTo>
                    <a:lnTo>
                      <a:pt x="649" y="868"/>
                    </a:lnTo>
                    <a:lnTo>
                      <a:pt x="656" y="853"/>
                    </a:lnTo>
                    <a:lnTo>
                      <a:pt x="664" y="838"/>
                    </a:lnTo>
                    <a:lnTo>
                      <a:pt x="675" y="822"/>
                    </a:lnTo>
                    <a:lnTo>
                      <a:pt x="687" y="805"/>
                    </a:lnTo>
                    <a:lnTo>
                      <a:pt x="702" y="789"/>
                    </a:lnTo>
                    <a:lnTo>
                      <a:pt x="717" y="773"/>
                    </a:lnTo>
                    <a:lnTo>
                      <a:pt x="735" y="759"/>
                    </a:lnTo>
                    <a:lnTo>
                      <a:pt x="751" y="749"/>
                    </a:lnTo>
                    <a:lnTo>
                      <a:pt x="767" y="742"/>
                    </a:lnTo>
                    <a:lnTo>
                      <a:pt x="777" y="738"/>
                    </a:lnTo>
                    <a:lnTo>
                      <a:pt x="789" y="734"/>
                    </a:lnTo>
                    <a:lnTo>
                      <a:pt x="801" y="727"/>
                    </a:lnTo>
                    <a:lnTo>
                      <a:pt x="815" y="720"/>
                    </a:lnTo>
                    <a:lnTo>
                      <a:pt x="830" y="711"/>
                    </a:lnTo>
                    <a:lnTo>
                      <a:pt x="846" y="702"/>
                    </a:lnTo>
                    <a:lnTo>
                      <a:pt x="861" y="692"/>
                    </a:lnTo>
                    <a:lnTo>
                      <a:pt x="876" y="683"/>
                    </a:lnTo>
                    <a:lnTo>
                      <a:pt x="891" y="674"/>
                    </a:lnTo>
                    <a:lnTo>
                      <a:pt x="906" y="664"/>
                    </a:lnTo>
                    <a:lnTo>
                      <a:pt x="919" y="655"/>
                    </a:lnTo>
                    <a:lnTo>
                      <a:pt x="931" y="647"/>
                    </a:lnTo>
                    <a:lnTo>
                      <a:pt x="943" y="639"/>
                    </a:lnTo>
                    <a:lnTo>
                      <a:pt x="952" y="633"/>
                    </a:lnTo>
                    <a:lnTo>
                      <a:pt x="959" y="629"/>
                    </a:lnTo>
                    <a:lnTo>
                      <a:pt x="964" y="625"/>
                    </a:lnTo>
                    <a:lnTo>
                      <a:pt x="972" y="620"/>
                    </a:lnTo>
                    <a:lnTo>
                      <a:pt x="982" y="610"/>
                    </a:lnTo>
                    <a:lnTo>
                      <a:pt x="994" y="600"/>
                    </a:lnTo>
                    <a:lnTo>
                      <a:pt x="1005" y="587"/>
                    </a:lnTo>
                    <a:lnTo>
                      <a:pt x="1018" y="573"/>
                    </a:lnTo>
                    <a:lnTo>
                      <a:pt x="1029" y="559"/>
                    </a:lnTo>
                    <a:lnTo>
                      <a:pt x="1041" y="545"/>
                    </a:lnTo>
                    <a:lnTo>
                      <a:pt x="1051" y="530"/>
                    </a:lnTo>
                    <a:lnTo>
                      <a:pt x="1068" y="507"/>
                    </a:lnTo>
                    <a:lnTo>
                      <a:pt x="1088" y="485"/>
                    </a:lnTo>
                    <a:lnTo>
                      <a:pt x="1111" y="462"/>
                    </a:lnTo>
                    <a:lnTo>
                      <a:pt x="1134" y="441"/>
                    </a:lnTo>
                    <a:lnTo>
                      <a:pt x="1159" y="419"/>
                    </a:lnTo>
                    <a:lnTo>
                      <a:pt x="1186" y="400"/>
                    </a:lnTo>
                    <a:lnTo>
                      <a:pt x="1211" y="380"/>
                    </a:lnTo>
                    <a:lnTo>
                      <a:pt x="1237" y="362"/>
                    </a:lnTo>
                    <a:lnTo>
                      <a:pt x="1262" y="344"/>
                    </a:lnTo>
                    <a:lnTo>
                      <a:pt x="1285" y="329"/>
                    </a:lnTo>
                    <a:lnTo>
                      <a:pt x="1307" y="316"/>
                    </a:lnTo>
                    <a:lnTo>
                      <a:pt x="1325" y="303"/>
                    </a:lnTo>
                    <a:lnTo>
                      <a:pt x="1341" y="292"/>
                    </a:lnTo>
                    <a:lnTo>
                      <a:pt x="1354" y="284"/>
                    </a:lnTo>
                    <a:lnTo>
                      <a:pt x="1362" y="279"/>
                    </a:lnTo>
                    <a:lnTo>
                      <a:pt x="1367" y="275"/>
                    </a:lnTo>
                    <a:lnTo>
                      <a:pt x="1360" y="268"/>
                    </a:lnTo>
                    <a:lnTo>
                      <a:pt x="1346" y="258"/>
                    </a:lnTo>
                    <a:lnTo>
                      <a:pt x="1329" y="243"/>
                    </a:lnTo>
                    <a:lnTo>
                      <a:pt x="1308" y="225"/>
                    </a:lnTo>
                    <a:lnTo>
                      <a:pt x="1283" y="205"/>
                    </a:lnTo>
                    <a:lnTo>
                      <a:pt x="1256" y="183"/>
                    </a:lnTo>
                    <a:lnTo>
                      <a:pt x="1228" y="159"/>
                    </a:lnTo>
                    <a:lnTo>
                      <a:pt x="1199" y="136"/>
                    </a:lnTo>
                    <a:lnTo>
                      <a:pt x="1170" y="112"/>
                    </a:lnTo>
                    <a:lnTo>
                      <a:pt x="1141" y="89"/>
                    </a:lnTo>
                    <a:lnTo>
                      <a:pt x="1113" y="67"/>
                    </a:lnTo>
                    <a:lnTo>
                      <a:pt x="1088" y="47"/>
                    </a:lnTo>
                    <a:lnTo>
                      <a:pt x="1066" y="30"/>
                    </a:lnTo>
                    <a:lnTo>
                      <a:pt x="1048" y="16"/>
                    </a:lnTo>
                    <a:lnTo>
                      <a:pt x="1034" y="6"/>
                    </a:lnTo>
                    <a:lnTo>
                      <a:pt x="1025" y="0"/>
                    </a:lnTo>
                    <a:lnTo>
                      <a:pt x="862" y="226"/>
                    </a:lnTo>
                    <a:lnTo>
                      <a:pt x="443" y="258"/>
                    </a:lnTo>
                    <a:lnTo>
                      <a:pt x="441" y="259"/>
                    </a:lnTo>
                    <a:lnTo>
                      <a:pt x="434" y="264"/>
                    </a:lnTo>
                    <a:lnTo>
                      <a:pt x="424" y="272"/>
                    </a:lnTo>
                    <a:lnTo>
                      <a:pt x="410" y="281"/>
                    </a:lnTo>
                    <a:lnTo>
                      <a:pt x="393" y="292"/>
                    </a:lnTo>
                    <a:lnTo>
                      <a:pt x="374" y="305"/>
                    </a:lnTo>
                    <a:lnTo>
                      <a:pt x="355" y="319"/>
                    </a:lnTo>
                    <a:lnTo>
                      <a:pt x="334" y="333"/>
                    </a:lnTo>
                    <a:lnTo>
                      <a:pt x="312" y="347"/>
                    </a:lnTo>
                    <a:lnTo>
                      <a:pt x="290" y="362"/>
                    </a:lnTo>
                    <a:lnTo>
                      <a:pt x="271" y="375"/>
                    </a:lnTo>
                    <a:lnTo>
                      <a:pt x="251" y="388"/>
                    </a:lnTo>
                    <a:lnTo>
                      <a:pt x="234" y="398"/>
                    </a:lnTo>
                    <a:lnTo>
                      <a:pt x="219" y="409"/>
                    </a:lnTo>
                    <a:lnTo>
                      <a:pt x="207" y="416"/>
                    </a:lnTo>
                    <a:lnTo>
                      <a:pt x="199" y="420"/>
                    </a:lnTo>
                    <a:lnTo>
                      <a:pt x="191" y="425"/>
                    </a:lnTo>
                    <a:lnTo>
                      <a:pt x="182" y="434"/>
                    </a:lnTo>
                    <a:lnTo>
                      <a:pt x="169" y="444"/>
                    </a:lnTo>
                    <a:lnTo>
                      <a:pt x="154" y="458"/>
                    </a:lnTo>
                    <a:lnTo>
                      <a:pt x="138" y="473"/>
                    </a:lnTo>
                    <a:lnTo>
                      <a:pt x="122" y="491"/>
                    </a:lnTo>
                    <a:lnTo>
                      <a:pt x="105" y="508"/>
                    </a:lnTo>
                    <a:lnTo>
                      <a:pt x="88" y="525"/>
                    </a:lnTo>
                    <a:lnTo>
                      <a:pt x="70" y="542"/>
                    </a:lnTo>
                    <a:lnTo>
                      <a:pt x="54" y="560"/>
                    </a:lnTo>
                    <a:lnTo>
                      <a:pt x="39" y="575"/>
                    </a:lnTo>
                    <a:lnTo>
                      <a:pt x="27" y="588"/>
                    </a:lnTo>
                    <a:lnTo>
                      <a:pt x="16" y="601"/>
                    </a:lnTo>
                    <a:lnTo>
                      <a:pt x="7" y="609"/>
                    </a:lnTo>
                    <a:lnTo>
                      <a:pt x="2" y="615"/>
                    </a:lnTo>
                    <a:lnTo>
                      <a:pt x="0" y="617"/>
                    </a:lnTo>
                    <a:lnTo>
                      <a:pt x="4" y="632"/>
                    </a:lnTo>
                    <a:lnTo>
                      <a:pt x="10" y="645"/>
                    </a:lnTo>
                    <a:lnTo>
                      <a:pt x="20" y="655"/>
                    </a:lnTo>
                    <a:lnTo>
                      <a:pt x="29" y="664"/>
                    </a:lnTo>
                    <a:lnTo>
                      <a:pt x="39" y="670"/>
                    </a:lnTo>
                    <a:lnTo>
                      <a:pt x="48" y="675"/>
                    </a:lnTo>
                    <a:lnTo>
                      <a:pt x="57" y="677"/>
                    </a:lnTo>
                    <a:lnTo>
                      <a:pt x="61" y="677"/>
                    </a:lnTo>
                    <a:lnTo>
                      <a:pt x="53" y="704"/>
                    </a:lnTo>
                    <a:lnTo>
                      <a:pt x="43" y="735"/>
                    </a:lnTo>
                    <a:lnTo>
                      <a:pt x="34" y="761"/>
                    </a:lnTo>
                    <a:lnTo>
                      <a:pt x="30" y="772"/>
                    </a:lnTo>
                    <a:lnTo>
                      <a:pt x="42" y="777"/>
                    </a:lnTo>
                    <a:lnTo>
                      <a:pt x="54" y="783"/>
                    </a:lnTo>
                    <a:lnTo>
                      <a:pt x="68" y="790"/>
                    </a:lnTo>
                    <a:lnTo>
                      <a:pt x="83" y="796"/>
                    </a:lnTo>
                    <a:lnTo>
                      <a:pt x="98" y="799"/>
                    </a:lnTo>
                    <a:lnTo>
                      <a:pt x="112" y="799"/>
                    </a:lnTo>
                    <a:lnTo>
                      <a:pt x="123" y="793"/>
                    </a:lnTo>
                    <a:lnTo>
                      <a:pt x="134" y="783"/>
                    </a:lnTo>
                    <a:lnTo>
                      <a:pt x="143" y="767"/>
                    </a:lnTo>
                    <a:lnTo>
                      <a:pt x="153" y="750"/>
                    </a:lnTo>
                    <a:lnTo>
                      <a:pt x="165" y="730"/>
                    </a:lnTo>
                    <a:lnTo>
                      <a:pt x="174" y="712"/>
                    </a:lnTo>
                    <a:lnTo>
                      <a:pt x="183" y="697"/>
                    </a:lnTo>
                    <a:lnTo>
                      <a:pt x="190" y="685"/>
                    </a:lnTo>
                    <a:lnTo>
                      <a:pt x="195" y="681"/>
                    </a:lnTo>
                    <a:lnTo>
                      <a:pt x="197" y="684"/>
                    </a:lnTo>
                    <a:lnTo>
                      <a:pt x="198" y="699"/>
                    </a:lnTo>
                    <a:lnTo>
                      <a:pt x="203" y="725"/>
                    </a:lnTo>
                    <a:lnTo>
                      <a:pt x="209" y="760"/>
                    </a:lnTo>
                    <a:lnTo>
                      <a:pt x="215" y="799"/>
                    </a:lnTo>
                    <a:lnTo>
                      <a:pt x="222" y="838"/>
                    </a:lnTo>
                    <a:lnTo>
                      <a:pt x="230" y="874"/>
                    </a:lnTo>
                    <a:lnTo>
                      <a:pt x="236" y="902"/>
                    </a:lnTo>
                    <a:lnTo>
                      <a:pt x="241" y="918"/>
                    </a:lnTo>
                    <a:lnTo>
                      <a:pt x="251" y="942"/>
                    </a:lnTo>
                    <a:lnTo>
                      <a:pt x="265" y="964"/>
                    </a:lnTo>
                    <a:lnTo>
                      <a:pt x="280" y="983"/>
                    </a:lnTo>
                    <a:lnTo>
                      <a:pt x="295" y="1000"/>
                    </a:lnTo>
                    <a:lnTo>
                      <a:pt x="311" y="1012"/>
                    </a:lnTo>
                    <a:lnTo>
                      <a:pt x="326" y="1020"/>
                    </a:lnTo>
                    <a:lnTo>
                      <a:pt x="341" y="1024"/>
                    </a:lnTo>
                    <a:lnTo>
                      <a:pt x="352" y="1023"/>
                    </a:lnTo>
                    <a:lnTo>
                      <a:pt x="363" y="1017"/>
                    </a:lnTo>
                    <a:lnTo>
                      <a:pt x="371" y="1008"/>
                    </a:lnTo>
                    <a:lnTo>
                      <a:pt x="379" y="998"/>
                    </a:lnTo>
                    <a:lnTo>
                      <a:pt x="385" y="987"/>
                    </a:lnTo>
                    <a:lnTo>
                      <a:pt x="389" y="975"/>
                    </a:lnTo>
                    <a:lnTo>
                      <a:pt x="392" y="965"/>
                    </a:lnTo>
                    <a:lnTo>
                      <a:pt x="394" y="956"/>
                    </a:lnTo>
                    <a:lnTo>
                      <a:pt x="394" y="950"/>
                    </a:lnTo>
                    <a:close/>
                  </a:path>
                </a:pathLst>
              </a:custGeom>
              <a:solidFill>
                <a:srgbClr val="CC6600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1658" name="WordArt 26"/>
              <p:cNvSpPr>
                <a:spLocks noChangeArrowheads="1" noChangeShapeType="1" noTextEdit="1"/>
              </p:cNvSpPr>
              <p:nvPr/>
            </p:nvSpPr>
            <p:spPr bwMode="auto">
              <a:xfrm>
                <a:off x="3841" y="2673"/>
                <a:ext cx="175" cy="360"/>
              </a:xfrm>
              <a:prstGeom prst="rect">
                <a:avLst/>
              </a:prstGeom>
            </p:spPr>
            <p:txBody>
              <a:bodyPr wrap="none" fromWordArt="1">
                <a:prstTxWarp prst="textPlain">
                  <a:avLst>
                    <a:gd name="adj" fmla="val 50000"/>
                  </a:avLst>
                </a:prstTxWarp>
              </a:bodyPr>
              <a:lstStyle/>
              <a:p>
                <a:pPr algn="ctr"/>
                <a:r>
                  <a:rPr lang="en-US" sz="3600" kern="10">
                    <a:ln w="19050">
                      <a:solidFill>
                        <a:srgbClr val="99CCFF"/>
                      </a:solidFill>
                      <a:round/>
                      <a:headEnd/>
                      <a:tailEnd/>
                    </a:ln>
                    <a:solidFill>
                      <a:srgbClr val="0066CC"/>
                    </a:solidFill>
                    <a:effectLst>
                      <a:outerShdw dist="35921" dir="2700000" algn="ctr" rotWithShape="0">
                        <a:srgbClr val="990000"/>
                      </a:outerShdw>
                    </a:effectLst>
                    <a:latin typeface="Impact"/>
                  </a:rPr>
                  <a:t>1</a:t>
                </a:r>
              </a:p>
            </p:txBody>
          </p:sp>
          <p:sp>
            <p:nvSpPr>
              <p:cNvPr id="1861659" name="Line 27"/>
              <p:cNvSpPr>
                <a:spLocks noChangeShapeType="1"/>
              </p:cNvSpPr>
              <p:nvPr/>
            </p:nvSpPr>
            <p:spPr bwMode="auto">
              <a:xfrm>
                <a:off x="3532" y="3217"/>
                <a:ext cx="0" cy="384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217194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698" name="Rectangle 18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3683" name="Rectangle 3"/>
          <p:cNvSpPr>
            <a:spLocks noGrp="1" noChangeArrowheads="1"/>
          </p:cNvSpPr>
          <p:nvPr>
            <p:ph idx="1"/>
          </p:nvPr>
        </p:nvSpPr>
        <p:spPr>
          <a:xfrm>
            <a:off x="0" y="890588"/>
            <a:ext cx="4632325" cy="17287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3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A wire loop is being pulled away from a current-carrying wire.  What is the direction of the induced current in the loop?</a:t>
            </a:r>
            <a:endParaRPr lang="en-US" sz="18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173413" y="3143250"/>
            <a:ext cx="2862262" cy="3465513"/>
            <a:chOff x="1945" y="1895"/>
            <a:chExt cx="1803" cy="2183"/>
          </a:xfrm>
          <a:solidFill>
            <a:schemeClr val="bg1"/>
          </a:solidFill>
        </p:grpSpPr>
        <p:sp>
          <p:nvSpPr>
            <p:cNvPr id="1863685" name="Rectangle 5"/>
            <p:cNvSpPr>
              <a:spLocks noChangeArrowheads="1"/>
            </p:cNvSpPr>
            <p:nvPr/>
          </p:nvSpPr>
          <p:spPr bwMode="auto">
            <a:xfrm>
              <a:off x="1945" y="1895"/>
              <a:ext cx="1803" cy="2183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6"/>
            <p:cNvGrpSpPr>
              <a:grpSpLocks/>
            </p:cNvGrpSpPr>
            <p:nvPr/>
          </p:nvGrpSpPr>
          <p:grpSpPr bwMode="auto">
            <a:xfrm>
              <a:off x="2112" y="1920"/>
              <a:ext cx="1528" cy="2149"/>
              <a:chOff x="3509" y="1920"/>
              <a:chExt cx="1528" cy="2149"/>
            </a:xfrm>
            <a:grpFill/>
          </p:grpSpPr>
          <p:grpSp>
            <p:nvGrpSpPr>
              <p:cNvPr id="4" name="Group 7"/>
              <p:cNvGrpSpPr>
                <a:grpSpLocks/>
              </p:cNvGrpSpPr>
              <p:nvPr/>
            </p:nvGrpSpPr>
            <p:grpSpPr bwMode="auto">
              <a:xfrm>
                <a:off x="3594" y="1920"/>
                <a:ext cx="0" cy="1968"/>
                <a:chOff x="2832" y="1872"/>
                <a:chExt cx="0" cy="1968"/>
              </a:xfrm>
              <a:grpFill/>
            </p:grpSpPr>
            <p:sp>
              <p:nvSpPr>
                <p:cNvPr id="1863688" name="Line 8"/>
                <p:cNvSpPr>
                  <a:spLocks noChangeShapeType="1"/>
                </p:cNvSpPr>
                <p:nvPr/>
              </p:nvSpPr>
              <p:spPr bwMode="auto">
                <a:xfrm flipV="1">
                  <a:off x="2832" y="3120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8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2832" y="2448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832" y="3456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1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2832" y="2784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2" name="Line 12"/>
                <p:cNvSpPr>
                  <a:spLocks noChangeShapeType="1"/>
                </p:cNvSpPr>
                <p:nvPr/>
              </p:nvSpPr>
              <p:spPr bwMode="auto">
                <a:xfrm flipV="1">
                  <a:off x="2832" y="211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3693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2832" y="187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863694" name="Text Box 14"/>
              <p:cNvSpPr txBox="1">
                <a:spLocks noChangeArrowheads="1"/>
              </p:cNvSpPr>
              <p:nvPr/>
            </p:nvSpPr>
            <p:spPr bwMode="auto">
              <a:xfrm>
                <a:off x="3509" y="3756"/>
                <a:ext cx="191" cy="313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>
                  <a:lnSpc>
                    <a:spcPct val="111000"/>
                  </a:lnSpc>
                </a:pPr>
                <a:r>
                  <a:rPr lang="en-US" b="1">
                    <a:solidFill>
                      <a:schemeClr val="hlink"/>
                    </a:solidFill>
                    <a:latin typeface="Times New Roman" pitchFamily="18" charset="0"/>
                  </a:rPr>
                  <a:t>I</a:t>
                </a:r>
                <a:endParaRPr lang="en-US" sz="2000" b="1"/>
              </a:p>
            </p:txBody>
          </p:sp>
          <p:sp>
            <p:nvSpPr>
              <p:cNvPr id="1863695" name="Rectangle 15"/>
              <p:cNvSpPr>
                <a:spLocks noChangeArrowheads="1"/>
              </p:cNvSpPr>
              <p:nvPr/>
            </p:nvSpPr>
            <p:spPr bwMode="auto">
              <a:xfrm>
                <a:off x="4052" y="2341"/>
                <a:ext cx="459" cy="881"/>
              </a:xfrm>
              <a:prstGeom prst="rect">
                <a:avLst/>
              </a:prstGeom>
              <a:grpFill/>
              <a:ln w="3810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3696" name="Line 16"/>
              <p:cNvSpPr>
                <a:spLocks noChangeShapeType="1"/>
              </p:cNvSpPr>
              <p:nvPr/>
            </p:nvSpPr>
            <p:spPr bwMode="auto">
              <a:xfrm>
                <a:off x="4555" y="2800"/>
                <a:ext cx="482" cy="0"/>
              </a:xfrm>
              <a:prstGeom prst="line">
                <a:avLst/>
              </a:prstGeom>
              <a:grp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3697" name="Rectangle 17"/>
          <p:cNvSpPr>
            <a:spLocks noChangeArrowheads="1"/>
          </p:cNvSpPr>
          <p:nvPr/>
        </p:nvSpPr>
        <p:spPr bwMode="auto">
          <a:xfrm>
            <a:off x="5380038" y="1130300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  <p:extLst>
      <p:ext uri="{BB962C8B-B14F-4D97-AF65-F5344CB8AC3E}">
        <p14:creationId xmlns:p14="http://schemas.microsoft.com/office/powerpoint/2010/main" val="34270824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730" name="AutoShape 2"/>
          <p:cNvSpPr>
            <a:spLocks noChangeArrowheads="1"/>
          </p:cNvSpPr>
          <p:nvPr/>
        </p:nvSpPr>
        <p:spPr bwMode="auto">
          <a:xfrm>
            <a:off x="0" y="3338513"/>
            <a:ext cx="5668963" cy="31734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5731" name="Rectangle 3"/>
          <p:cNvSpPr>
            <a:spLocks noChangeArrowheads="1"/>
          </p:cNvSpPr>
          <p:nvPr/>
        </p:nvSpPr>
        <p:spPr bwMode="auto">
          <a:xfrm>
            <a:off x="0" y="3390900"/>
            <a:ext cx="5626100" cy="301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ct val="50000"/>
              </a:spcBef>
            </a:pPr>
            <a:r>
              <a:rPr lang="en-US" sz="2000" b="1">
                <a:solidFill>
                  <a:schemeClr val="bg2"/>
                </a:solidFill>
              </a:rPr>
              <a:t>	The magnetic flux is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</a:t>
            </a:r>
            <a:r>
              <a:rPr lang="en-US" sz="2000" b="1">
                <a:solidFill>
                  <a:schemeClr val="bg2"/>
                </a:solidFill>
              </a:rPr>
              <a:t> on the right side of the wire and </a:t>
            </a:r>
            <a:r>
              <a:rPr lang="en-US" sz="2000" b="1" i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decreasing</a:t>
            </a:r>
            <a:r>
              <a:rPr lang="en-US" sz="2000" b="1">
                <a:solidFill>
                  <a:schemeClr val="bg2"/>
                </a:solidFill>
              </a:rPr>
              <a:t> due to the fact that the loop is being pulled away.  By Lenz’s Law, the induced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will </a:t>
            </a:r>
            <a:r>
              <a:rPr lang="en-US" sz="2000" b="1" i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oppose this decrease</a:t>
            </a:r>
            <a:r>
              <a:rPr lang="en-US" sz="2000" b="1">
                <a:solidFill>
                  <a:schemeClr val="bg2"/>
                </a:solidFill>
              </a:rPr>
              <a:t>.  Thus, the new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 points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into the page,</a:t>
            </a:r>
            <a:r>
              <a:rPr lang="en-US" sz="2000" b="1">
                <a:solidFill>
                  <a:schemeClr val="bg2"/>
                </a:solidFill>
              </a:rPr>
              <a:t> which requires an induced </a:t>
            </a:r>
            <a:r>
              <a:rPr lang="en-US" sz="2000" b="1" i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clockwise</a:t>
            </a:r>
            <a:r>
              <a:rPr lang="en-US" sz="2000" b="1">
                <a:solidFill>
                  <a:schemeClr val="bg2"/>
                </a:solidFill>
              </a:rPr>
              <a:t> current to produce such a </a:t>
            </a:r>
            <a:r>
              <a:rPr lang="en-US" sz="2000" b="1" i="1">
                <a:solidFill>
                  <a:schemeClr val="bg2"/>
                </a:solidFill>
              </a:rPr>
              <a:t>B</a:t>
            </a:r>
            <a:r>
              <a:rPr lang="en-US" sz="2000" b="1">
                <a:solidFill>
                  <a:schemeClr val="bg2"/>
                </a:solidFill>
              </a:rPr>
              <a:t> field.</a:t>
            </a:r>
          </a:p>
        </p:txBody>
      </p:sp>
      <p:sp>
        <p:nvSpPr>
          <p:cNvPr id="1865733" name="Oval 5"/>
          <p:cNvSpPr>
            <a:spLocks noChangeArrowheads="1"/>
          </p:cNvSpPr>
          <p:nvPr/>
        </p:nvSpPr>
        <p:spPr bwMode="auto">
          <a:xfrm>
            <a:off x="5176838" y="1031875"/>
            <a:ext cx="2320925" cy="53975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6102350" y="3113088"/>
            <a:ext cx="3041650" cy="3468687"/>
            <a:chOff x="3744" y="1885"/>
            <a:chExt cx="1916" cy="2185"/>
          </a:xfrm>
          <a:solidFill>
            <a:schemeClr val="bg1"/>
          </a:solidFill>
        </p:grpSpPr>
        <p:sp>
          <p:nvSpPr>
            <p:cNvPr id="1865735" name="Rectangle 7"/>
            <p:cNvSpPr>
              <a:spLocks noChangeArrowheads="1"/>
            </p:cNvSpPr>
            <p:nvPr/>
          </p:nvSpPr>
          <p:spPr bwMode="auto">
            <a:xfrm>
              <a:off x="3744" y="1885"/>
              <a:ext cx="1916" cy="2185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4055" y="1920"/>
              <a:ext cx="1528" cy="2149"/>
              <a:chOff x="3509" y="1920"/>
              <a:chExt cx="1528" cy="2149"/>
            </a:xfrm>
            <a:grpFill/>
          </p:grpSpPr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3594" y="1920"/>
                <a:ext cx="0" cy="1968"/>
                <a:chOff x="2832" y="1872"/>
                <a:chExt cx="0" cy="1968"/>
              </a:xfrm>
              <a:grpFill/>
            </p:grpSpPr>
            <p:sp>
              <p:nvSpPr>
                <p:cNvPr id="1865738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832" y="3120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39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2832" y="2448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0" name="Line 12"/>
                <p:cNvSpPr>
                  <a:spLocks noChangeShapeType="1"/>
                </p:cNvSpPr>
                <p:nvPr/>
              </p:nvSpPr>
              <p:spPr bwMode="auto">
                <a:xfrm flipV="1">
                  <a:off x="2832" y="3456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1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2832" y="2784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2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2832" y="211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5743" name="Line 15"/>
                <p:cNvSpPr>
                  <a:spLocks noChangeShapeType="1"/>
                </p:cNvSpPr>
                <p:nvPr/>
              </p:nvSpPr>
              <p:spPr bwMode="auto">
                <a:xfrm flipV="1">
                  <a:off x="2832" y="1872"/>
                  <a:ext cx="0" cy="384"/>
                </a:xfrm>
                <a:prstGeom prst="line">
                  <a:avLst/>
                </a:prstGeom>
                <a:grpFill/>
                <a:ln w="57150">
                  <a:solidFill>
                    <a:schemeClr val="hlink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865744" name="Text Box 16"/>
              <p:cNvSpPr txBox="1">
                <a:spLocks noChangeArrowheads="1"/>
              </p:cNvSpPr>
              <p:nvPr/>
            </p:nvSpPr>
            <p:spPr bwMode="auto">
              <a:xfrm>
                <a:off x="3509" y="3756"/>
                <a:ext cx="191" cy="313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>
                  <a:lnSpc>
                    <a:spcPct val="111000"/>
                  </a:lnSpc>
                </a:pPr>
                <a:r>
                  <a:rPr lang="en-US" b="1">
                    <a:solidFill>
                      <a:schemeClr val="hlink"/>
                    </a:solidFill>
                    <a:latin typeface="Times New Roman" pitchFamily="18" charset="0"/>
                  </a:rPr>
                  <a:t>I</a:t>
                </a:r>
                <a:endParaRPr lang="en-US" sz="2000" b="1"/>
              </a:p>
            </p:txBody>
          </p:sp>
          <p:sp>
            <p:nvSpPr>
              <p:cNvPr id="1865745" name="Rectangle 17"/>
              <p:cNvSpPr>
                <a:spLocks noChangeArrowheads="1"/>
              </p:cNvSpPr>
              <p:nvPr/>
            </p:nvSpPr>
            <p:spPr bwMode="auto">
              <a:xfrm>
                <a:off x="4052" y="2341"/>
                <a:ext cx="459" cy="881"/>
              </a:xfrm>
              <a:prstGeom prst="rect">
                <a:avLst/>
              </a:prstGeom>
              <a:grpFill/>
              <a:ln w="38100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46" name="Line 18"/>
              <p:cNvSpPr>
                <a:spLocks noChangeShapeType="1"/>
              </p:cNvSpPr>
              <p:nvPr/>
            </p:nvSpPr>
            <p:spPr bwMode="auto">
              <a:xfrm>
                <a:off x="4555" y="2800"/>
                <a:ext cx="482" cy="0"/>
              </a:xfrm>
              <a:prstGeom prst="line">
                <a:avLst/>
              </a:prstGeom>
              <a:grpFill/>
              <a:ln w="57150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5" name="Group 19"/>
            <p:cNvGrpSpPr>
              <a:grpSpLocks/>
            </p:cNvGrpSpPr>
            <p:nvPr/>
          </p:nvGrpSpPr>
          <p:grpSpPr bwMode="auto">
            <a:xfrm rot="-5400000">
              <a:off x="3547" y="2728"/>
              <a:ext cx="1651" cy="218"/>
              <a:chOff x="3381" y="1812"/>
              <a:chExt cx="1651" cy="218"/>
            </a:xfrm>
            <a:grpFill/>
          </p:grpSpPr>
          <p:grpSp>
            <p:nvGrpSpPr>
              <p:cNvPr id="6" name="Group 20"/>
              <p:cNvGrpSpPr>
                <a:grpSpLocks/>
              </p:cNvGrpSpPr>
              <p:nvPr/>
            </p:nvGrpSpPr>
            <p:grpSpPr bwMode="auto">
              <a:xfrm>
                <a:off x="3381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49" name="Oval 21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7" name="Group 22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51" name="Line 23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52" name="Line 24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8" name="Group 25"/>
              <p:cNvGrpSpPr>
                <a:grpSpLocks/>
              </p:cNvGrpSpPr>
              <p:nvPr/>
            </p:nvGrpSpPr>
            <p:grpSpPr bwMode="auto">
              <a:xfrm flipH="1">
                <a:off x="3864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54" name="Oval 26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9" name="Group 27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56" name="Line 28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57" name="Line 29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0" name="Group 30"/>
              <p:cNvGrpSpPr>
                <a:grpSpLocks/>
              </p:cNvGrpSpPr>
              <p:nvPr/>
            </p:nvGrpSpPr>
            <p:grpSpPr bwMode="auto">
              <a:xfrm>
                <a:off x="4348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59" name="Oval 31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1" name="Group 32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61" name="Line 33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62" name="Line 34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2" name="Group 35"/>
              <p:cNvGrpSpPr>
                <a:grpSpLocks/>
              </p:cNvGrpSpPr>
              <p:nvPr/>
            </p:nvGrpSpPr>
            <p:grpSpPr bwMode="auto">
              <a:xfrm flipH="1">
                <a:off x="4832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5764" name="Oval 36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3" name="Group 37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5766" name="Line 38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5767" name="Line 39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</p:grpSp>
        <p:grpSp>
          <p:nvGrpSpPr>
            <p:cNvPr id="14" name="Group 40"/>
            <p:cNvGrpSpPr>
              <a:grpSpLocks/>
            </p:cNvGrpSpPr>
            <p:nvPr/>
          </p:nvGrpSpPr>
          <p:grpSpPr bwMode="auto">
            <a:xfrm>
              <a:off x="3754" y="2018"/>
              <a:ext cx="218" cy="1656"/>
              <a:chOff x="3508" y="1263"/>
              <a:chExt cx="218" cy="1656"/>
            </a:xfrm>
            <a:grpFill/>
          </p:grpSpPr>
          <p:sp>
            <p:nvSpPr>
              <p:cNvPr id="1865769" name="Oval 41"/>
              <p:cNvSpPr>
                <a:spLocks noChangeArrowheads="1"/>
              </p:cNvSpPr>
              <p:nvPr/>
            </p:nvSpPr>
            <p:spPr bwMode="auto">
              <a:xfrm rot="-5400000">
                <a:off x="3517" y="174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0" name="Oval 42"/>
              <p:cNvSpPr>
                <a:spLocks noChangeArrowheads="1"/>
              </p:cNvSpPr>
              <p:nvPr/>
            </p:nvSpPr>
            <p:spPr bwMode="auto">
              <a:xfrm rot="-5400000">
                <a:off x="3587" y="181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1" name="Oval 43"/>
              <p:cNvSpPr>
                <a:spLocks noChangeArrowheads="1"/>
              </p:cNvSpPr>
              <p:nvPr/>
            </p:nvSpPr>
            <p:spPr bwMode="auto">
              <a:xfrm rot="16200000" flipH="1">
                <a:off x="3517" y="2225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2" name="Oval 44"/>
              <p:cNvSpPr>
                <a:spLocks noChangeArrowheads="1"/>
              </p:cNvSpPr>
              <p:nvPr/>
            </p:nvSpPr>
            <p:spPr bwMode="auto">
              <a:xfrm rot="16200000" flipH="1">
                <a:off x="3587" y="2300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3" name="Oval 45"/>
              <p:cNvSpPr>
                <a:spLocks noChangeArrowheads="1"/>
              </p:cNvSpPr>
              <p:nvPr/>
            </p:nvSpPr>
            <p:spPr bwMode="auto">
              <a:xfrm rot="16200000" flipH="1">
                <a:off x="3517" y="271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4" name="Oval 46"/>
              <p:cNvSpPr>
                <a:spLocks noChangeArrowheads="1"/>
              </p:cNvSpPr>
              <p:nvPr/>
            </p:nvSpPr>
            <p:spPr bwMode="auto">
              <a:xfrm rot="16200000" flipH="1">
                <a:off x="3587" y="278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5" name="Oval 47"/>
              <p:cNvSpPr>
                <a:spLocks noChangeArrowheads="1"/>
              </p:cNvSpPr>
              <p:nvPr/>
            </p:nvSpPr>
            <p:spPr bwMode="auto">
              <a:xfrm rot="16200000" flipH="1">
                <a:off x="3517" y="1254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5776" name="Oval 48"/>
              <p:cNvSpPr>
                <a:spLocks noChangeArrowheads="1"/>
              </p:cNvSpPr>
              <p:nvPr/>
            </p:nvSpPr>
            <p:spPr bwMode="auto">
              <a:xfrm rot="16200000" flipH="1">
                <a:off x="3587" y="1329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5777" name="Rectangle 49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223.44.16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5779" name="Rectangle 51"/>
          <p:cNvSpPr>
            <a:spLocks noGrp="1" noChangeArrowheads="1"/>
          </p:cNvSpPr>
          <p:nvPr>
            <p:ph idx="1"/>
          </p:nvPr>
        </p:nvSpPr>
        <p:spPr>
          <a:xfrm>
            <a:off x="0" y="890588"/>
            <a:ext cx="4632325" cy="17287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3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A wire loop is being pulled away from a current-carrying wire.  What is the direction of the induced current in the loop?</a:t>
            </a:r>
            <a:endParaRPr lang="en-US" sz="18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65778" name="Rectangle 50"/>
          <p:cNvSpPr>
            <a:spLocks noChangeArrowheads="1"/>
          </p:cNvSpPr>
          <p:nvPr/>
        </p:nvSpPr>
        <p:spPr bwMode="auto">
          <a:xfrm>
            <a:off x="5380038" y="1130300"/>
            <a:ext cx="3763962" cy="122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</p:spTree>
    <p:extLst>
      <p:ext uri="{BB962C8B-B14F-4D97-AF65-F5344CB8AC3E}">
        <p14:creationId xmlns:p14="http://schemas.microsoft.com/office/powerpoint/2010/main" val="37585145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793" name="Rectangle 17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7779" name="Rectangle 3"/>
          <p:cNvSpPr>
            <a:spLocks noGrp="1" noChangeArrowheads="1"/>
          </p:cNvSpPr>
          <p:nvPr>
            <p:ph idx="1"/>
          </p:nvPr>
        </p:nvSpPr>
        <p:spPr>
          <a:xfrm>
            <a:off x="214313" y="925513"/>
            <a:ext cx="4579937" cy="1919287"/>
          </a:xfrm>
          <a:noFill/>
          <a:ln/>
        </p:spPr>
        <p:txBody>
          <a:bodyPr>
            <a:normAutofit fontScale="775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induced current if the wire loop moves in the direction of the 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blue arrow </a:t>
            </a:r>
            <a:r>
              <a:rPr lang="en-US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?</a:t>
            </a:r>
            <a:endParaRPr lang="en-US" sz="2400" b="1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67780" name="Rectangle 4"/>
          <p:cNvSpPr>
            <a:spLocks noChangeArrowheads="1"/>
          </p:cNvSpPr>
          <p:nvPr/>
        </p:nvSpPr>
        <p:spPr bwMode="auto">
          <a:xfrm>
            <a:off x="5080000" y="1052513"/>
            <a:ext cx="3763963" cy="1401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330575" y="2968625"/>
            <a:ext cx="2471738" cy="3724275"/>
            <a:chOff x="1953" y="1855"/>
            <a:chExt cx="1557" cy="2346"/>
          </a:xfrm>
          <a:solidFill>
            <a:schemeClr val="bg1"/>
          </a:solidFill>
        </p:grpSpPr>
        <p:sp>
          <p:nvSpPr>
            <p:cNvPr id="1867782" name="Rectangle 6"/>
            <p:cNvSpPr>
              <a:spLocks noChangeArrowheads="1"/>
            </p:cNvSpPr>
            <p:nvPr/>
          </p:nvSpPr>
          <p:spPr bwMode="auto">
            <a:xfrm>
              <a:off x="1953" y="1855"/>
              <a:ext cx="1557" cy="2346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2205" y="1952"/>
              <a:ext cx="0" cy="2142"/>
              <a:chOff x="2832" y="1872"/>
              <a:chExt cx="0" cy="1968"/>
            </a:xfrm>
            <a:grpFill/>
          </p:grpSpPr>
          <p:sp>
            <p:nvSpPr>
              <p:cNvPr id="1867784" name="Line 8"/>
              <p:cNvSpPr>
                <a:spLocks noChangeShapeType="1"/>
              </p:cNvSpPr>
              <p:nvPr/>
            </p:nvSpPr>
            <p:spPr bwMode="auto">
              <a:xfrm flipV="1">
                <a:off x="2832" y="3120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5" name="Line 9"/>
              <p:cNvSpPr>
                <a:spLocks noChangeShapeType="1"/>
              </p:cNvSpPr>
              <p:nvPr/>
            </p:nvSpPr>
            <p:spPr bwMode="auto">
              <a:xfrm flipV="1">
                <a:off x="2832" y="2448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6" name="Line 10"/>
              <p:cNvSpPr>
                <a:spLocks noChangeShapeType="1"/>
              </p:cNvSpPr>
              <p:nvPr/>
            </p:nvSpPr>
            <p:spPr bwMode="auto">
              <a:xfrm flipV="1">
                <a:off x="2832" y="3456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7" name="Line 11"/>
              <p:cNvSpPr>
                <a:spLocks noChangeShapeType="1"/>
              </p:cNvSpPr>
              <p:nvPr/>
            </p:nvSpPr>
            <p:spPr bwMode="auto">
              <a:xfrm flipV="1">
                <a:off x="2832" y="2784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8" name="Line 12"/>
              <p:cNvSpPr>
                <a:spLocks noChangeShapeType="1"/>
              </p:cNvSpPr>
              <p:nvPr/>
            </p:nvSpPr>
            <p:spPr bwMode="auto">
              <a:xfrm flipV="1">
                <a:off x="2832" y="211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7789" name="Line 13"/>
              <p:cNvSpPr>
                <a:spLocks noChangeShapeType="1"/>
              </p:cNvSpPr>
              <p:nvPr/>
            </p:nvSpPr>
            <p:spPr bwMode="auto">
              <a:xfrm flipV="1">
                <a:off x="2832" y="187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7790" name="Rectangle 14"/>
            <p:cNvSpPr>
              <a:spLocks noChangeArrowheads="1"/>
            </p:cNvSpPr>
            <p:nvPr/>
          </p:nvSpPr>
          <p:spPr bwMode="auto">
            <a:xfrm>
              <a:off x="2663" y="2410"/>
              <a:ext cx="459" cy="959"/>
            </a:xfrm>
            <a:prstGeom prst="rect">
              <a:avLst/>
            </a:prstGeom>
            <a:grp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7791" name="Line 15"/>
            <p:cNvSpPr>
              <a:spLocks noChangeShapeType="1"/>
            </p:cNvSpPr>
            <p:nvPr/>
          </p:nvSpPr>
          <p:spPr bwMode="auto">
            <a:xfrm rot="5400000" flipV="1">
              <a:off x="2635" y="3677"/>
              <a:ext cx="524" cy="0"/>
            </a:xfrm>
            <a:prstGeom prst="line">
              <a:avLst/>
            </a:prstGeom>
            <a:grpFill/>
            <a:ln w="57150">
              <a:solidFill>
                <a:schemeClr val="tx2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7792" name="Text Box 16"/>
            <p:cNvSpPr txBox="1">
              <a:spLocks noChangeArrowheads="1"/>
            </p:cNvSpPr>
            <p:nvPr/>
          </p:nvSpPr>
          <p:spPr bwMode="auto">
            <a:xfrm>
              <a:off x="2114" y="3886"/>
              <a:ext cx="191" cy="313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lnSpc>
                  <a:spcPct val="111000"/>
                </a:lnSpc>
              </a:pPr>
              <a:r>
                <a:rPr lang="en-US" b="1">
                  <a:solidFill>
                    <a:schemeClr val="hlink"/>
                  </a:solidFill>
                  <a:latin typeface="Times New Roman" pitchFamily="18" charset="0"/>
                </a:rPr>
                <a:t>I</a:t>
              </a:r>
              <a:endParaRPr lang="en-US" sz="2000" b="1"/>
            </a:p>
          </p:txBody>
        </p:sp>
      </p:grpSp>
    </p:spTree>
    <p:extLst>
      <p:ext uri="{BB962C8B-B14F-4D97-AF65-F5344CB8AC3E}">
        <p14:creationId xmlns:p14="http://schemas.microsoft.com/office/powerpoint/2010/main" val="5459870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826" name="AutoShape 2"/>
          <p:cNvSpPr>
            <a:spLocks noChangeArrowheads="1"/>
          </p:cNvSpPr>
          <p:nvPr/>
        </p:nvSpPr>
        <p:spPr bwMode="auto">
          <a:xfrm>
            <a:off x="195263" y="3581400"/>
            <a:ext cx="5113337" cy="217646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38100">
            <a:solidFill>
              <a:srgbClr val="000000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algn="ctr"/>
            <a:endParaRPr lang="en-US">
              <a:latin typeface="Times New Roman" pitchFamily="18" charset="0"/>
            </a:endParaRPr>
          </a:p>
        </p:txBody>
      </p:sp>
      <p:sp>
        <p:nvSpPr>
          <p:cNvPr id="1869827" name="Rectangle 3"/>
          <p:cNvSpPr>
            <a:spLocks noChangeArrowheads="1"/>
          </p:cNvSpPr>
          <p:nvPr/>
        </p:nvSpPr>
        <p:spPr bwMode="auto">
          <a:xfrm>
            <a:off x="231775" y="3548063"/>
            <a:ext cx="4956175" cy="20907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60000"/>
              </a:lnSpc>
              <a:spcBef>
                <a:spcPct val="50000"/>
              </a:spcBef>
            </a:pPr>
            <a:r>
              <a:rPr lang="en-US" sz="2200" b="1">
                <a:solidFill>
                  <a:schemeClr val="bg2"/>
                </a:solidFill>
              </a:rPr>
              <a:t>	</a:t>
            </a:r>
            <a:r>
              <a:rPr lang="en-US" sz="2000" b="1">
                <a:solidFill>
                  <a:schemeClr val="bg2"/>
                </a:solidFill>
              </a:rPr>
              <a:t>The </a:t>
            </a:r>
            <a:r>
              <a:rPr lang="en-US" sz="2000" b="1">
                <a:solidFill>
                  <a:srgbClr val="0000FF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magnetic flux through the loop is not changing</a:t>
            </a:r>
            <a:r>
              <a:rPr lang="en-US" sz="2000" b="1">
                <a:solidFill>
                  <a:schemeClr val="bg2"/>
                </a:solidFill>
              </a:rPr>
              <a:t> as it moves parallel to the wire.  Therefore, there is </a:t>
            </a:r>
            <a:r>
              <a:rPr lang="en-US" sz="2000" b="1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no induced current</a:t>
            </a:r>
            <a:r>
              <a:rPr lang="en-US" sz="2000" b="1">
                <a:solidFill>
                  <a:schemeClr val="bg2"/>
                </a:solidFill>
              </a:rPr>
              <a:t>.</a:t>
            </a:r>
          </a:p>
        </p:txBody>
      </p:sp>
      <p:sp>
        <p:nvSpPr>
          <p:cNvPr id="1869829" name="Oval 5"/>
          <p:cNvSpPr>
            <a:spLocks noChangeArrowheads="1"/>
          </p:cNvSpPr>
          <p:nvPr/>
        </p:nvSpPr>
        <p:spPr bwMode="auto">
          <a:xfrm>
            <a:off x="4806950" y="1949450"/>
            <a:ext cx="3702050" cy="609600"/>
          </a:xfrm>
          <a:prstGeom prst="ellips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6137275" y="3127375"/>
            <a:ext cx="2543175" cy="3584575"/>
            <a:chOff x="3812" y="1958"/>
            <a:chExt cx="1602" cy="2258"/>
          </a:xfrm>
          <a:solidFill>
            <a:schemeClr val="bg1"/>
          </a:solidFill>
        </p:grpSpPr>
        <p:sp>
          <p:nvSpPr>
            <p:cNvPr id="1869831" name="Rectangle 7"/>
            <p:cNvSpPr>
              <a:spLocks noChangeArrowheads="1"/>
            </p:cNvSpPr>
            <p:nvPr/>
          </p:nvSpPr>
          <p:spPr bwMode="auto">
            <a:xfrm>
              <a:off x="3812" y="1958"/>
              <a:ext cx="1602" cy="2258"/>
            </a:xfrm>
            <a:prstGeom prst="rect">
              <a:avLst/>
            </a:prstGeom>
            <a:grp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4219" y="2029"/>
              <a:ext cx="0" cy="2072"/>
              <a:chOff x="2832" y="1872"/>
              <a:chExt cx="0" cy="1968"/>
            </a:xfrm>
            <a:grpFill/>
          </p:grpSpPr>
          <p:sp>
            <p:nvSpPr>
              <p:cNvPr id="1869833" name="Line 9"/>
              <p:cNvSpPr>
                <a:spLocks noChangeShapeType="1"/>
              </p:cNvSpPr>
              <p:nvPr/>
            </p:nvSpPr>
            <p:spPr bwMode="auto">
              <a:xfrm flipV="1">
                <a:off x="2832" y="3120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4" name="Line 10"/>
              <p:cNvSpPr>
                <a:spLocks noChangeShapeType="1"/>
              </p:cNvSpPr>
              <p:nvPr/>
            </p:nvSpPr>
            <p:spPr bwMode="auto">
              <a:xfrm flipV="1">
                <a:off x="2832" y="2448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5" name="Line 11"/>
              <p:cNvSpPr>
                <a:spLocks noChangeShapeType="1"/>
              </p:cNvSpPr>
              <p:nvPr/>
            </p:nvSpPr>
            <p:spPr bwMode="auto">
              <a:xfrm flipV="1">
                <a:off x="2832" y="3456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6" name="Line 12"/>
              <p:cNvSpPr>
                <a:spLocks noChangeShapeType="1"/>
              </p:cNvSpPr>
              <p:nvPr/>
            </p:nvSpPr>
            <p:spPr bwMode="auto">
              <a:xfrm flipV="1">
                <a:off x="2832" y="2784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7" name="Line 13"/>
              <p:cNvSpPr>
                <a:spLocks noChangeShapeType="1"/>
              </p:cNvSpPr>
              <p:nvPr/>
            </p:nvSpPr>
            <p:spPr bwMode="auto">
              <a:xfrm flipV="1">
                <a:off x="2832" y="211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38" name="Line 14"/>
              <p:cNvSpPr>
                <a:spLocks noChangeShapeType="1"/>
              </p:cNvSpPr>
              <p:nvPr/>
            </p:nvSpPr>
            <p:spPr bwMode="auto">
              <a:xfrm flipV="1">
                <a:off x="2832" y="1872"/>
                <a:ext cx="0" cy="384"/>
              </a:xfrm>
              <a:prstGeom prst="line">
                <a:avLst/>
              </a:prstGeom>
              <a:grpFill/>
              <a:ln w="571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69839" name="Text Box 15"/>
            <p:cNvSpPr txBox="1">
              <a:spLocks noChangeArrowheads="1"/>
            </p:cNvSpPr>
            <p:nvPr/>
          </p:nvSpPr>
          <p:spPr bwMode="auto">
            <a:xfrm>
              <a:off x="4122" y="3892"/>
              <a:ext cx="191" cy="313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lnSpc>
                  <a:spcPct val="111000"/>
                </a:lnSpc>
              </a:pPr>
              <a:r>
                <a:rPr lang="en-US" b="1">
                  <a:solidFill>
                    <a:schemeClr val="hlink"/>
                  </a:solidFill>
                  <a:latin typeface="Times New Roman" pitchFamily="18" charset="0"/>
                </a:rPr>
                <a:t>I</a:t>
              </a:r>
              <a:endParaRPr lang="en-US" sz="2000" b="1"/>
            </a:p>
          </p:txBody>
        </p:sp>
        <p:sp>
          <p:nvSpPr>
            <p:cNvPr id="1869840" name="Rectangle 16"/>
            <p:cNvSpPr>
              <a:spLocks noChangeArrowheads="1"/>
            </p:cNvSpPr>
            <p:nvPr/>
          </p:nvSpPr>
          <p:spPr bwMode="auto">
            <a:xfrm>
              <a:off x="4655" y="2472"/>
              <a:ext cx="436" cy="928"/>
            </a:xfrm>
            <a:prstGeom prst="rect">
              <a:avLst/>
            </a:prstGeom>
            <a:grp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69841" name="Line 17"/>
            <p:cNvSpPr>
              <a:spLocks noChangeShapeType="1"/>
            </p:cNvSpPr>
            <p:nvPr/>
          </p:nvSpPr>
          <p:spPr bwMode="auto">
            <a:xfrm rot="5400000" flipV="1">
              <a:off x="4623" y="3687"/>
              <a:ext cx="508" cy="0"/>
            </a:xfrm>
            <a:prstGeom prst="line">
              <a:avLst/>
            </a:prstGeom>
            <a:grpFill/>
            <a:ln w="57150">
              <a:solidFill>
                <a:schemeClr val="tx2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4" name="Group 18"/>
            <p:cNvGrpSpPr>
              <a:grpSpLocks/>
            </p:cNvGrpSpPr>
            <p:nvPr/>
          </p:nvGrpSpPr>
          <p:grpSpPr bwMode="auto">
            <a:xfrm rot="-5400000">
              <a:off x="3570" y="2858"/>
              <a:ext cx="1738" cy="208"/>
              <a:chOff x="3381" y="1812"/>
              <a:chExt cx="1651" cy="218"/>
            </a:xfrm>
            <a:grpFill/>
          </p:grpSpPr>
          <p:grpSp>
            <p:nvGrpSpPr>
              <p:cNvPr id="5" name="Group 19"/>
              <p:cNvGrpSpPr>
                <a:grpSpLocks/>
              </p:cNvGrpSpPr>
              <p:nvPr/>
            </p:nvGrpSpPr>
            <p:grpSpPr bwMode="auto">
              <a:xfrm>
                <a:off x="3381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44" name="Oval 20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6" name="Group 21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46" name="Line 22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47" name="Line 23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7" name="Group 24"/>
              <p:cNvGrpSpPr>
                <a:grpSpLocks/>
              </p:cNvGrpSpPr>
              <p:nvPr/>
            </p:nvGrpSpPr>
            <p:grpSpPr bwMode="auto">
              <a:xfrm flipH="1">
                <a:off x="3864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49" name="Oval 25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8" name="Group 26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51" name="Line 27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52" name="Line 28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9" name="Group 29"/>
              <p:cNvGrpSpPr>
                <a:grpSpLocks/>
              </p:cNvGrpSpPr>
              <p:nvPr/>
            </p:nvGrpSpPr>
            <p:grpSpPr bwMode="auto">
              <a:xfrm>
                <a:off x="4348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54" name="Oval 30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0" name="Group 31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56" name="Line 32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57" name="Line 33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11" name="Group 34"/>
              <p:cNvGrpSpPr>
                <a:grpSpLocks/>
              </p:cNvGrpSpPr>
              <p:nvPr/>
            </p:nvGrpSpPr>
            <p:grpSpPr bwMode="auto">
              <a:xfrm flipH="1">
                <a:off x="4832" y="1812"/>
                <a:ext cx="200" cy="218"/>
                <a:chOff x="1719" y="1255"/>
                <a:chExt cx="273" cy="273"/>
              </a:xfrm>
              <a:grpFill/>
            </p:grpSpPr>
            <p:sp>
              <p:nvSpPr>
                <p:cNvPr id="1869859" name="Oval 35"/>
                <p:cNvSpPr>
                  <a:spLocks noChangeArrowheads="1"/>
                </p:cNvSpPr>
                <p:nvPr/>
              </p:nvSpPr>
              <p:spPr bwMode="auto">
                <a:xfrm>
                  <a:off x="1719" y="1255"/>
                  <a:ext cx="273" cy="273"/>
                </a:xfrm>
                <a:prstGeom prst="ellipse">
                  <a:avLst/>
                </a:prstGeom>
                <a:grpFill/>
                <a:ln w="28575">
                  <a:solidFill>
                    <a:schemeClr val="accent2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grpSp>
              <p:nvGrpSpPr>
                <p:cNvPr id="12" name="Group 36"/>
                <p:cNvGrpSpPr>
                  <a:grpSpLocks/>
                </p:cNvGrpSpPr>
                <p:nvPr/>
              </p:nvGrpSpPr>
              <p:grpSpPr bwMode="auto">
                <a:xfrm rot="2700000">
                  <a:off x="1770" y="1305"/>
                  <a:ext cx="173" cy="173"/>
                  <a:chOff x="2432" y="2387"/>
                  <a:chExt cx="173" cy="173"/>
                </a:xfrm>
                <a:grpFill/>
              </p:grpSpPr>
              <p:sp>
                <p:nvSpPr>
                  <p:cNvPr id="1869861" name="Line 37"/>
                  <p:cNvSpPr>
                    <a:spLocks noChangeShapeType="1"/>
                  </p:cNvSpPr>
                  <p:nvPr/>
                </p:nvSpPr>
                <p:spPr bwMode="auto">
                  <a:xfrm>
                    <a:off x="2432" y="2473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  <p:sp>
                <p:nvSpPr>
                  <p:cNvPr id="1869862" name="Line 38"/>
                  <p:cNvSpPr>
                    <a:spLocks noChangeShapeType="1"/>
                  </p:cNvSpPr>
                  <p:nvPr/>
                </p:nvSpPr>
                <p:spPr bwMode="auto">
                  <a:xfrm rot="-5400000">
                    <a:off x="2432" y="2474"/>
                    <a:ext cx="173" cy="0"/>
                  </a:xfrm>
                  <a:prstGeom prst="line">
                    <a:avLst/>
                  </a:prstGeom>
                  <a:grpFill/>
                  <a:ln w="28575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</p:spPr>
                <p:txBody>
                  <a:bodyPr wrap="none" anchor="ctr"/>
                  <a:lstStyle/>
                  <a:p>
                    <a:endParaRPr lang="en-US"/>
                  </a:p>
                </p:txBody>
              </p:sp>
            </p:grpSp>
          </p:grpSp>
        </p:grpSp>
        <p:grpSp>
          <p:nvGrpSpPr>
            <p:cNvPr id="13" name="Group 39"/>
            <p:cNvGrpSpPr>
              <a:grpSpLocks/>
            </p:cNvGrpSpPr>
            <p:nvPr/>
          </p:nvGrpSpPr>
          <p:grpSpPr bwMode="auto">
            <a:xfrm>
              <a:off x="3850" y="2100"/>
              <a:ext cx="207" cy="1744"/>
              <a:chOff x="3508" y="1263"/>
              <a:chExt cx="218" cy="1656"/>
            </a:xfrm>
            <a:grpFill/>
          </p:grpSpPr>
          <p:sp>
            <p:nvSpPr>
              <p:cNvPr id="1869864" name="Oval 40"/>
              <p:cNvSpPr>
                <a:spLocks noChangeArrowheads="1"/>
              </p:cNvSpPr>
              <p:nvPr/>
            </p:nvSpPr>
            <p:spPr bwMode="auto">
              <a:xfrm rot="-5400000">
                <a:off x="3517" y="174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5" name="Oval 41"/>
              <p:cNvSpPr>
                <a:spLocks noChangeArrowheads="1"/>
              </p:cNvSpPr>
              <p:nvPr/>
            </p:nvSpPr>
            <p:spPr bwMode="auto">
              <a:xfrm rot="-5400000">
                <a:off x="3587" y="181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6" name="Oval 42"/>
              <p:cNvSpPr>
                <a:spLocks noChangeArrowheads="1"/>
              </p:cNvSpPr>
              <p:nvPr/>
            </p:nvSpPr>
            <p:spPr bwMode="auto">
              <a:xfrm rot="16200000" flipH="1">
                <a:off x="3517" y="2225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7" name="Oval 43"/>
              <p:cNvSpPr>
                <a:spLocks noChangeArrowheads="1"/>
              </p:cNvSpPr>
              <p:nvPr/>
            </p:nvSpPr>
            <p:spPr bwMode="auto">
              <a:xfrm rot="16200000" flipH="1">
                <a:off x="3587" y="2300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8" name="Oval 44"/>
              <p:cNvSpPr>
                <a:spLocks noChangeArrowheads="1"/>
              </p:cNvSpPr>
              <p:nvPr/>
            </p:nvSpPr>
            <p:spPr bwMode="auto">
              <a:xfrm rot="16200000" flipH="1">
                <a:off x="3517" y="2710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69" name="Oval 45"/>
              <p:cNvSpPr>
                <a:spLocks noChangeArrowheads="1"/>
              </p:cNvSpPr>
              <p:nvPr/>
            </p:nvSpPr>
            <p:spPr bwMode="auto">
              <a:xfrm rot="16200000" flipH="1">
                <a:off x="3587" y="2785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70" name="Oval 46"/>
              <p:cNvSpPr>
                <a:spLocks noChangeArrowheads="1"/>
              </p:cNvSpPr>
              <p:nvPr/>
            </p:nvSpPr>
            <p:spPr bwMode="auto">
              <a:xfrm rot="16200000" flipH="1">
                <a:off x="3517" y="1254"/>
                <a:ext cx="200" cy="218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69871" name="Oval 47"/>
              <p:cNvSpPr>
                <a:spLocks noChangeArrowheads="1"/>
              </p:cNvSpPr>
              <p:nvPr/>
            </p:nvSpPr>
            <p:spPr bwMode="auto">
              <a:xfrm rot="16200000" flipH="1">
                <a:off x="3587" y="1329"/>
                <a:ext cx="60" cy="65"/>
              </a:xfrm>
              <a:prstGeom prst="ellipse">
                <a:avLst/>
              </a:prstGeom>
              <a:grpFill/>
              <a:ln w="28575">
                <a:solidFill>
                  <a:schemeClr val="accent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1869872" name="Rectangle 48"/>
          <p:cNvSpPr>
            <a:spLocks noChangeArrowheads="1"/>
          </p:cNvSpPr>
          <p:nvPr/>
        </p:nvSpPr>
        <p:spPr bwMode="auto">
          <a:xfrm>
            <a:off x="5080000" y="1052513"/>
            <a:ext cx="3763963" cy="1401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11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</p:txBody>
      </p:sp>
      <p:sp>
        <p:nvSpPr>
          <p:cNvPr id="1869874" name="Rectangle 50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223.44.17</a:t>
            </a:r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1869873" name="Rectangle 49"/>
          <p:cNvSpPr>
            <a:spLocks noGrp="1" noChangeArrowheads="1"/>
          </p:cNvSpPr>
          <p:nvPr>
            <p:ph idx="1"/>
          </p:nvPr>
        </p:nvSpPr>
        <p:spPr>
          <a:xfrm>
            <a:off x="214313" y="925513"/>
            <a:ext cx="4579937" cy="1919287"/>
          </a:xfrm>
          <a:noFill/>
          <a:ln/>
        </p:spPr>
        <p:txBody>
          <a:bodyPr>
            <a:normAutofit fontScale="70000" lnSpcReduction="20000"/>
          </a:bodyPr>
          <a:lstStyle/>
          <a:p>
            <a:pPr marL="401638" indent="-401638">
              <a:lnSpc>
                <a:spcPct val="150000"/>
              </a:lnSpc>
              <a:buFont typeface="Monotype Sorts" pitchFamily="2" charset="2"/>
              <a:buNone/>
            </a:pP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	What is the induced current if the wire loop moves in the direction of the </a:t>
            </a:r>
            <a:r>
              <a:rPr lang="en-US" b="1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yellow arrow </a:t>
            </a:r>
            <a:r>
              <a:rPr lang="en-US" b="1">
                <a:effectLst>
                  <a:outerShdw blurRad="38100" dist="38100" dir="2700000" algn="tl">
                    <a:srgbClr val="000000"/>
                  </a:outerShdw>
                </a:effectLst>
              </a:rPr>
              <a:t>?</a:t>
            </a:r>
            <a:endParaRPr lang="en-US" sz="2400" b="1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043574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/>
          <p:cNvSpPr/>
          <p:nvPr/>
        </p:nvSpPr>
        <p:spPr>
          <a:xfrm>
            <a:off x="2743200" y="3566160"/>
            <a:ext cx="3063240" cy="1615440"/>
          </a:xfrm>
          <a:prstGeom prst="parallelogram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/>
          <p:cNvCxnSpPr/>
          <p:nvPr/>
        </p:nvCxnSpPr>
        <p:spPr>
          <a:xfrm flipV="1">
            <a:off x="3886200" y="3185160"/>
            <a:ext cx="30480" cy="118872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V="1">
            <a:off x="3886200" y="3901440"/>
            <a:ext cx="914400" cy="457200"/>
          </a:xfrm>
          <a:prstGeom prst="straightConnector1">
            <a:avLst/>
          </a:prstGeom>
          <a:ln w="28575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3870960" y="4358640"/>
            <a:ext cx="899160" cy="36576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876676" y="4119563"/>
            <a:ext cx="242888" cy="10001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4110039" y="4214813"/>
            <a:ext cx="4761" cy="24765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V="1">
            <a:off x="3900488" y="4048125"/>
            <a:ext cx="147637" cy="7620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4048127" y="4048126"/>
            <a:ext cx="4761" cy="24765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c 18"/>
          <p:cNvSpPr/>
          <p:nvPr/>
        </p:nvSpPr>
        <p:spPr>
          <a:xfrm>
            <a:off x="3948114" y="4162424"/>
            <a:ext cx="528636" cy="423864"/>
          </a:xfrm>
          <a:prstGeom prst="arc">
            <a:avLst>
              <a:gd name="adj1" fmla="val 17873291"/>
              <a:gd name="adj2" fmla="val 2512733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457575" y="3190875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4888" y="363378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4413" y="4586288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325" y="4143375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/>
              </a:rPr>
              <a:t></a:t>
            </a:r>
            <a:endParaRPr lang="en-US" dirty="0"/>
          </a:p>
        </p:txBody>
      </p:sp>
      <p:grpSp>
        <p:nvGrpSpPr>
          <p:cNvPr id="28" name="Group 27"/>
          <p:cNvGrpSpPr/>
          <p:nvPr/>
        </p:nvGrpSpPr>
        <p:grpSpPr>
          <a:xfrm flipH="1">
            <a:off x="4933951" y="3686175"/>
            <a:ext cx="100011" cy="47624"/>
            <a:chOff x="7119939" y="1866901"/>
            <a:chExt cx="476249" cy="157162"/>
          </a:xfrm>
        </p:grpSpPr>
        <p:sp>
          <p:nvSpPr>
            <p:cNvPr id="26" name="Rectangle 25"/>
            <p:cNvSpPr/>
            <p:nvPr/>
          </p:nvSpPr>
          <p:spPr>
            <a:xfrm>
              <a:off x="7281863" y="1924050"/>
              <a:ext cx="314325" cy="4762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 rot="16200000">
              <a:off x="7143752" y="1843088"/>
              <a:ext cx="157162" cy="204787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 flipH="1">
            <a:off x="4919663" y="4657726"/>
            <a:ext cx="128586" cy="57150"/>
            <a:chOff x="7119939" y="1866901"/>
            <a:chExt cx="476249" cy="157162"/>
          </a:xfrm>
          <a:solidFill>
            <a:srgbClr val="FF0000"/>
          </a:solidFill>
        </p:grpSpPr>
        <p:sp>
          <p:nvSpPr>
            <p:cNvPr id="30" name="Rectangle 29"/>
            <p:cNvSpPr/>
            <p:nvPr/>
          </p:nvSpPr>
          <p:spPr>
            <a:xfrm>
              <a:off x="7281863" y="1924050"/>
              <a:ext cx="314325" cy="476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 rot="16200000">
              <a:off x="7143752" y="1843088"/>
              <a:ext cx="157162" cy="204787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/>
          <p:cNvGrpSpPr/>
          <p:nvPr/>
        </p:nvGrpSpPr>
        <p:grpSpPr>
          <a:xfrm flipH="1">
            <a:off x="3552825" y="3224214"/>
            <a:ext cx="128586" cy="57150"/>
            <a:chOff x="7119939" y="1866901"/>
            <a:chExt cx="476249" cy="157162"/>
          </a:xfrm>
          <a:solidFill>
            <a:schemeClr val="tx1"/>
          </a:solidFill>
        </p:grpSpPr>
        <p:sp>
          <p:nvSpPr>
            <p:cNvPr id="33" name="Rectangle 32"/>
            <p:cNvSpPr/>
            <p:nvPr/>
          </p:nvSpPr>
          <p:spPr>
            <a:xfrm>
              <a:off x="7281863" y="1924050"/>
              <a:ext cx="314325" cy="476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Isosceles Triangle 33"/>
            <p:cNvSpPr/>
            <p:nvPr/>
          </p:nvSpPr>
          <p:spPr>
            <a:xfrm rot="16200000">
              <a:off x="7143752" y="1843088"/>
              <a:ext cx="157162" cy="204787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Oval 34"/>
          <p:cNvSpPr/>
          <p:nvPr/>
        </p:nvSpPr>
        <p:spPr>
          <a:xfrm>
            <a:off x="3819525" y="4286250"/>
            <a:ext cx="133350" cy="1428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3462337" y="4248150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+q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n 16"/>
          <p:cNvSpPr/>
          <p:nvPr/>
        </p:nvSpPr>
        <p:spPr>
          <a:xfrm rot="3243152">
            <a:off x="2726545" y="2797787"/>
            <a:ext cx="213360" cy="1920240"/>
          </a:xfrm>
          <a:prstGeom prst="can">
            <a:avLst>
              <a:gd name="adj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 rot="19443152">
            <a:off x="3018669" y="2243221"/>
            <a:ext cx="1173480" cy="196596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 rot="19443152">
            <a:off x="3477559" y="2248432"/>
            <a:ext cx="335280" cy="193548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 rot="19443152">
            <a:off x="3166720" y="2135863"/>
            <a:ext cx="1173480" cy="196596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rest of hand.gif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3243152">
            <a:off x="4083300" y="2236371"/>
            <a:ext cx="1628156" cy="1015479"/>
          </a:xfrm>
          <a:prstGeom prst="rect">
            <a:avLst/>
          </a:prstGeom>
        </p:spPr>
      </p:pic>
      <p:sp>
        <p:nvSpPr>
          <p:cNvPr id="16" name="Can 15"/>
          <p:cNvSpPr/>
          <p:nvPr/>
        </p:nvSpPr>
        <p:spPr>
          <a:xfrm rot="3243152">
            <a:off x="4401071" y="1602342"/>
            <a:ext cx="213360" cy="1920240"/>
          </a:xfrm>
          <a:prstGeom prst="can">
            <a:avLst>
              <a:gd name="adj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/>
          <p:cNvSpPr/>
          <p:nvPr/>
        </p:nvSpPr>
        <p:spPr>
          <a:xfrm rot="19443152">
            <a:off x="3399913" y="2317660"/>
            <a:ext cx="762000" cy="1600200"/>
          </a:xfrm>
          <a:prstGeom prst="arc">
            <a:avLst>
              <a:gd name="adj1" fmla="val 2172041"/>
              <a:gd name="adj2" fmla="val 18643781"/>
            </a:avLst>
          </a:prstGeom>
          <a:ln>
            <a:solidFill>
              <a:schemeClr val="tx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fingers.gif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rot="3243152">
            <a:off x="3473153" y="1706767"/>
            <a:ext cx="2175772" cy="1370822"/>
          </a:xfrm>
          <a:prstGeom prst="rect">
            <a:avLst/>
          </a:prstGeom>
        </p:spPr>
      </p:pic>
      <p:cxnSp>
        <p:nvCxnSpPr>
          <p:cNvPr id="20" name="Straight Arrow Connector 19"/>
          <p:cNvCxnSpPr/>
          <p:nvPr/>
        </p:nvCxnSpPr>
        <p:spPr>
          <a:xfrm flipV="1">
            <a:off x="5577840" y="1203960"/>
            <a:ext cx="853440" cy="62484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156960" y="1569720"/>
            <a:ext cx="5020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sym typeface="Symbol"/>
              </a:rPr>
              <a:t></a:t>
            </a:r>
            <a:endParaRPr lang="en-US" sz="3600" dirty="0">
              <a:solidFill>
                <a:srgbClr val="FF0000"/>
              </a:solidFill>
            </a:endParaRPr>
          </a:p>
        </p:txBody>
      </p:sp>
      <p:grpSp>
        <p:nvGrpSpPr>
          <p:cNvPr id="22" name="Group 21"/>
          <p:cNvGrpSpPr/>
          <p:nvPr/>
        </p:nvGrpSpPr>
        <p:grpSpPr>
          <a:xfrm flipH="1">
            <a:off x="6260780" y="1645920"/>
            <a:ext cx="368619" cy="137160"/>
            <a:chOff x="7119939" y="1866901"/>
            <a:chExt cx="476249" cy="157162"/>
          </a:xfrm>
          <a:solidFill>
            <a:srgbClr val="FF0000"/>
          </a:solidFill>
        </p:grpSpPr>
        <p:sp>
          <p:nvSpPr>
            <p:cNvPr id="23" name="Rectangle 22"/>
            <p:cNvSpPr/>
            <p:nvPr/>
          </p:nvSpPr>
          <p:spPr>
            <a:xfrm>
              <a:off x="7281863" y="1924050"/>
              <a:ext cx="314325" cy="476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 rot="16200000">
              <a:off x="7143752" y="1843088"/>
              <a:ext cx="157162" cy="204787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469563" y="1741419"/>
            <a:ext cx="3672840" cy="2446883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6" name="Rectangle 5"/>
          <p:cNvSpPr/>
          <p:nvPr/>
        </p:nvSpPr>
        <p:spPr>
          <a:xfrm>
            <a:off x="2621280" y="1838495"/>
            <a:ext cx="3398520" cy="22222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grpSp>
        <p:nvGrpSpPr>
          <p:cNvPr id="2" name="Group 5"/>
          <p:cNvGrpSpPr/>
          <p:nvPr/>
        </p:nvGrpSpPr>
        <p:grpSpPr>
          <a:xfrm rot="2700000">
            <a:off x="2561221" y="1429796"/>
            <a:ext cx="204979" cy="177992"/>
            <a:chOff x="883920" y="396240"/>
            <a:chExt cx="929640" cy="929640"/>
          </a:xfrm>
        </p:grpSpPr>
        <p:sp>
          <p:nvSpPr>
            <p:cNvPr id="73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4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3" name="Group 6"/>
          <p:cNvGrpSpPr/>
          <p:nvPr/>
        </p:nvGrpSpPr>
        <p:grpSpPr>
          <a:xfrm rot="2700000">
            <a:off x="2561221" y="2368436"/>
            <a:ext cx="204979" cy="177992"/>
            <a:chOff x="883920" y="396240"/>
            <a:chExt cx="929640" cy="929640"/>
          </a:xfrm>
        </p:grpSpPr>
        <p:sp>
          <p:nvSpPr>
            <p:cNvPr id="71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2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4" name="Group 9"/>
          <p:cNvGrpSpPr/>
          <p:nvPr/>
        </p:nvGrpSpPr>
        <p:grpSpPr>
          <a:xfrm rot="2700000">
            <a:off x="2554789" y="3339167"/>
            <a:ext cx="204979" cy="177992"/>
            <a:chOff x="883920" y="396240"/>
            <a:chExt cx="929640" cy="929640"/>
          </a:xfrm>
        </p:grpSpPr>
        <p:sp>
          <p:nvSpPr>
            <p:cNvPr id="69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70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7" name="Group 12"/>
          <p:cNvGrpSpPr/>
          <p:nvPr/>
        </p:nvGrpSpPr>
        <p:grpSpPr>
          <a:xfrm rot="2700000">
            <a:off x="2554789" y="4293852"/>
            <a:ext cx="204979" cy="177992"/>
            <a:chOff x="883920" y="396240"/>
            <a:chExt cx="929640" cy="929640"/>
          </a:xfrm>
        </p:grpSpPr>
        <p:sp>
          <p:nvSpPr>
            <p:cNvPr id="67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8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8" name="Group 15"/>
          <p:cNvGrpSpPr/>
          <p:nvPr/>
        </p:nvGrpSpPr>
        <p:grpSpPr>
          <a:xfrm rot="2700000">
            <a:off x="3313799" y="1429796"/>
            <a:ext cx="204979" cy="177992"/>
            <a:chOff x="883920" y="396240"/>
            <a:chExt cx="929640" cy="929640"/>
          </a:xfrm>
        </p:grpSpPr>
        <p:sp>
          <p:nvSpPr>
            <p:cNvPr id="65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6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9" name="Group 18"/>
          <p:cNvGrpSpPr/>
          <p:nvPr/>
        </p:nvGrpSpPr>
        <p:grpSpPr>
          <a:xfrm rot="2700000">
            <a:off x="3313799" y="2368436"/>
            <a:ext cx="204979" cy="177992"/>
            <a:chOff x="883920" y="396240"/>
            <a:chExt cx="929640" cy="929640"/>
          </a:xfrm>
        </p:grpSpPr>
        <p:sp>
          <p:nvSpPr>
            <p:cNvPr id="63" name="Rectangle 1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4" name="Rectangle 2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0" name="Group 21"/>
          <p:cNvGrpSpPr/>
          <p:nvPr/>
        </p:nvGrpSpPr>
        <p:grpSpPr>
          <a:xfrm rot="2700000">
            <a:off x="3307367" y="3339167"/>
            <a:ext cx="204979" cy="177992"/>
            <a:chOff x="883920" y="396240"/>
            <a:chExt cx="929640" cy="929640"/>
          </a:xfrm>
        </p:grpSpPr>
        <p:sp>
          <p:nvSpPr>
            <p:cNvPr id="61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2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1" name="Group 24"/>
          <p:cNvGrpSpPr/>
          <p:nvPr/>
        </p:nvGrpSpPr>
        <p:grpSpPr>
          <a:xfrm rot="2700000">
            <a:off x="3307367" y="4293852"/>
            <a:ext cx="204979" cy="177992"/>
            <a:chOff x="883920" y="396240"/>
            <a:chExt cx="929640" cy="929640"/>
          </a:xfrm>
        </p:grpSpPr>
        <p:sp>
          <p:nvSpPr>
            <p:cNvPr id="59" name="Rectangle 5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60" name="Rectangle 5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2" name="Group 27"/>
          <p:cNvGrpSpPr/>
          <p:nvPr/>
        </p:nvGrpSpPr>
        <p:grpSpPr>
          <a:xfrm rot="2700000">
            <a:off x="4104971" y="1429796"/>
            <a:ext cx="204979" cy="177992"/>
            <a:chOff x="883920" y="396240"/>
            <a:chExt cx="929640" cy="929640"/>
          </a:xfrm>
        </p:grpSpPr>
        <p:sp>
          <p:nvSpPr>
            <p:cNvPr id="57" name="Rectangle 5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8" name="Rectangle 5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3" name="Group 30"/>
          <p:cNvGrpSpPr/>
          <p:nvPr/>
        </p:nvGrpSpPr>
        <p:grpSpPr>
          <a:xfrm rot="2700000">
            <a:off x="4104971" y="2368436"/>
            <a:ext cx="204979" cy="177992"/>
            <a:chOff x="883920" y="396240"/>
            <a:chExt cx="929640" cy="929640"/>
          </a:xfrm>
        </p:grpSpPr>
        <p:sp>
          <p:nvSpPr>
            <p:cNvPr id="55" name="Rectangle 5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6" name="Rectangle 5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4" name="Group 33"/>
          <p:cNvGrpSpPr/>
          <p:nvPr/>
        </p:nvGrpSpPr>
        <p:grpSpPr>
          <a:xfrm rot="2700000">
            <a:off x="4098539" y="3339167"/>
            <a:ext cx="204979" cy="177992"/>
            <a:chOff x="883920" y="396240"/>
            <a:chExt cx="929640" cy="929640"/>
          </a:xfrm>
        </p:grpSpPr>
        <p:sp>
          <p:nvSpPr>
            <p:cNvPr id="53" name="Rectangle 5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4" name="Rectangle 5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5" name="Group 36"/>
          <p:cNvGrpSpPr/>
          <p:nvPr/>
        </p:nvGrpSpPr>
        <p:grpSpPr>
          <a:xfrm rot="2700000">
            <a:off x="4098539" y="4293852"/>
            <a:ext cx="204979" cy="177992"/>
            <a:chOff x="883920" y="396240"/>
            <a:chExt cx="929640" cy="929640"/>
          </a:xfrm>
        </p:grpSpPr>
        <p:sp>
          <p:nvSpPr>
            <p:cNvPr id="51" name="Rectangle 5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2" name="Rectangle 5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6" name="Group 39"/>
          <p:cNvGrpSpPr/>
          <p:nvPr/>
        </p:nvGrpSpPr>
        <p:grpSpPr>
          <a:xfrm rot="2700000">
            <a:off x="4870415" y="1429796"/>
            <a:ext cx="204979" cy="177992"/>
            <a:chOff x="883920" y="396240"/>
            <a:chExt cx="929640" cy="929640"/>
          </a:xfrm>
        </p:grpSpPr>
        <p:sp>
          <p:nvSpPr>
            <p:cNvPr id="49" name="Rectangle 4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50" name="Rectangle 4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7" name="Group 42"/>
          <p:cNvGrpSpPr/>
          <p:nvPr/>
        </p:nvGrpSpPr>
        <p:grpSpPr>
          <a:xfrm rot="2700000">
            <a:off x="4870414" y="2368436"/>
            <a:ext cx="204979" cy="177992"/>
            <a:chOff x="883920" y="396240"/>
            <a:chExt cx="929640" cy="929640"/>
          </a:xfrm>
        </p:grpSpPr>
        <p:sp>
          <p:nvSpPr>
            <p:cNvPr id="47" name="Rectangle 4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8" name="Rectangle 4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8" name="Group 45"/>
          <p:cNvGrpSpPr/>
          <p:nvPr/>
        </p:nvGrpSpPr>
        <p:grpSpPr>
          <a:xfrm rot="2700000">
            <a:off x="4863982" y="3339167"/>
            <a:ext cx="204979" cy="177992"/>
            <a:chOff x="883920" y="396240"/>
            <a:chExt cx="929640" cy="929640"/>
          </a:xfrm>
        </p:grpSpPr>
        <p:sp>
          <p:nvSpPr>
            <p:cNvPr id="45" name="Rectangle 4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6" name="Rectangle 4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9" name="Group 48"/>
          <p:cNvGrpSpPr/>
          <p:nvPr/>
        </p:nvGrpSpPr>
        <p:grpSpPr>
          <a:xfrm rot="2700000">
            <a:off x="4863982" y="4293852"/>
            <a:ext cx="204979" cy="177992"/>
            <a:chOff x="883920" y="396240"/>
            <a:chExt cx="929640" cy="929640"/>
          </a:xfrm>
        </p:grpSpPr>
        <p:sp>
          <p:nvSpPr>
            <p:cNvPr id="43" name="Rectangle 4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4" name="Rectangle 4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0" name="Group 51"/>
          <p:cNvGrpSpPr/>
          <p:nvPr/>
        </p:nvGrpSpPr>
        <p:grpSpPr>
          <a:xfrm rot="2700000">
            <a:off x="5629425" y="1429796"/>
            <a:ext cx="204979" cy="177992"/>
            <a:chOff x="883920" y="396240"/>
            <a:chExt cx="929640" cy="929640"/>
          </a:xfrm>
        </p:grpSpPr>
        <p:sp>
          <p:nvSpPr>
            <p:cNvPr id="41" name="Rectangle 4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1" name="Group 54"/>
          <p:cNvGrpSpPr/>
          <p:nvPr/>
        </p:nvGrpSpPr>
        <p:grpSpPr>
          <a:xfrm rot="2700000">
            <a:off x="5629425" y="2368436"/>
            <a:ext cx="204979" cy="177992"/>
            <a:chOff x="883920" y="396240"/>
            <a:chExt cx="929640" cy="929640"/>
          </a:xfrm>
        </p:grpSpPr>
        <p:sp>
          <p:nvSpPr>
            <p:cNvPr id="39" name="Rectangle 3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40" name="Rectangle 3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2" name="Group 57"/>
          <p:cNvGrpSpPr/>
          <p:nvPr/>
        </p:nvGrpSpPr>
        <p:grpSpPr>
          <a:xfrm rot="2700000">
            <a:off x="5622993" y="3339167"/>
            <a:ext cx="204979" cy="177992"/>
            <a:chOff x="883920" y="396240"/>
            <a:chExt cx="929640" cy="929640"/>
          </a:xfrm>
        </p:grpSpPr>
        <p:sp>
          <p:nvSpPr>
            <p:cNvPr id="37" name="Rectangle 3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38" name="Rectangle 3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3" name="Group 60"/>
          <p:cNvGrpSpPr/>
          <p:nvPr/>
        </p:nvGrpSpPr>
        <p:grpSpPr>
          <a:xfrm rot="2700000">
            <a:off x="5622993" y="4293852"/>
            <a:ext cx="204979" cy="177992"/>
            <a:chOff x="883920" y="396240"/>
            <a:chExt cx="929640" cy="929640"/>
          </a:xfrm>
        </p:grpSpPr>
        <p:sp>
          <p:nvSpPr>
            <p:cNvPr id="35" name="Rectangle 34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36" name="Rectangle 35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sp>
        <p:nvSpPr>
          <p:cNvPr id="28" name="Right Arrow 27"/>
          <p:cNvSpPr/>
          <p:nvPr/>
        </p:nvSpPr>
        <p:spPr>
          <a:xfrm>
            <a:off x="6386495" y="2400133"/>
            <a:ext cx="456693" cy="184519"/>
          </a:xfrm>
          <a:prstGeom prst="rightArrow">
            <a:avLst>
              <a:gd name="adj1" fmla="val 50000"/>
              <a:gd name="adj2" fmla="val 7187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9" name="TextBox 28"/>
          <p:cNvSpPr txBox="1"/>
          <p:nvPr/>
        </p:nvSpPr>
        <p:spPr>
          <a:xfrm>
            <a:off x="6417855" y="1881871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v</a:t>
            </a:r>
          </a:p>
        </p:txBody>
      </p:sp>
      <p:sp>
        <p:nvSpPr>
          <p:cNvPr id="75" name="Right Arrow 74"/>
          <p:cNvSpPr/>
          <p:nvPr/>
        </p:nvSpPr>
        <p:spPr>
          <a:xfrm rot="10800000">
            <a:off x="3068655" y="4478682"/>
            <a:ext cx="701120" cy="191190"/>
          </a:xfrm>
          <a:prstGeom prst="rightArrow">
            <a:avLst>
              <a:gd name="adj1" fmla="val 24910"/>
              <a:gd name="adj2" fmla="val 7880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76" name="TextBox 75"/>
          <p:cNvSpPr txBox="1"/>
          <p:nvPr/>
        </p:nvSpPr>
        <p:spPr>
          <a:xfrm>
            <a:off x="3258581" y="4634617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latin typeface="Times New Roman" pitchFamily="18" charset="0"/>
                <a:cs typeface="Times New Roman" pitchFamily="18" charset="0"/>
              </a:rPr>
              <a:t>I</a:t>
            </a:r>
          </a:p>
        </p:txBody>
      </p:sp>
      <p:grpSp>
        <p:nvGrpSpPr>
          <p:cNvPr id="24" name="Group 5"/>
          <p:cNvGrpSpPr/>
          <p:nvPr/>
        </p:nvGrpSpPr>
        <p:grpSpPr>
          <a:xfrm rot="2700000">
            <a:off x="1922037" y="1432068"/>
            <a:ext cx="204979" cy="177992"/>
            <a:chOff x="883920" y="396240"/>
            <a:chExt cx="929640" cy="929640"/>
          </a:xfrm>
        </p:grpSpPr>
        <p:sp>
          <p:nvSpPr>
            <p:cNvPr id="80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1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5" name="Group 6"/>
          <p:cNvGrpSpPr/>
          <p:nvPr/>
        </p:nvGrpSpPr>
        <p:grpSpPr>
          <a:xfrm rot="2700000">
            <a:off x="1922037" y="2370708"/>
            <a:ext cx="204979" cy="177992"/>
            <a:chOff x="883920" y="396240"/>
            <a:chExt cx="929640" cy="929640"/>
          </a:xfrm>
        </p:grpSpPr>
        <p:sp>
          <p:nvSpPr>
            <p:cNvPr id="83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4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6" name="Group 9"/>
          <p:cNvGrpSpPr/>
          <p:nvPr/>
        </p:nvGrpSpPr>
        <p:grpSpPr>
          <a:xfrm rot="2700000">
            <a:off x="1915605" y="3341439"/>
            <a:ext cx="204979" cy="177992"/>
            <a:chOff x="883920" y="396240"/>
            <a:chExt cx="929640" cy="929640"/>
          </a:xfrm>
        </p:grpSpPr>
        <p:sp>
          <p:nvSpPr>
            <p:cNvPr id="86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87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31" name="Group 12"/>
          <p:cNvGrpSpPr/>
          <p:nvPr/>
        </p:nvGrpSpPr>
        <p:grpSpPr>
          <a:xfrm rot="2700000">
            <a:off x="1915605" y="4296124"/>
            <a:ext cx="204979" cy="177992"/>
            <a:chOff x="883920" y="396240"/>
            <a:chExt cx="929640" cy="929640"/>
          </a:xfrm>
        </p:grpSpPr>
        <p:sp>
          <p:nvSpPr>
            <p:cNvPr id="89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0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91" name="Group 9"/>
          <p:cNvGrpSpPr/>
          <p:nvPr/>
        </p:nvGrpSpPr>
        <p:grpSpPr>
          <a:xfrm rot="2700000">
            <a:off x="2554789" y="5259407"/>
            <a:ext cx="204979" cy="177992"/>
            <a:chOff x="883920" y="396240"/>
            <a:chExt cx="929640" cy="929640"/>
          </a:xfrm>
        </p:grpSpPr>
        <p:sp>
          <p:nvSpPr>
            <p:cNvPr id="92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3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94" name="Group 12"/>
          <p:cNvGrpSpPr/>
          <p:nvPr/>
        </p:nvGrpSpPr>
        <p:grpSpPr>
          <a:xfrm rot="2700000">
            <a:off x="2554789" y="6214092"/>
            <a:ext cx="204979" cy="177992"/>
            <a:chOff x="883920" y="396240"/>
            <a:chExt cx="929640" cy="929640"/>
          </a:xfrm>
        </p:grpSpPr>
        <p:sp>
          <p:nvSpPr>
            <p:cNvPr id="95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96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00" name="Group 21"/>
          <p:cNvGrpSpPr/>
          <p:nvPr/>
        </p:nvGrpSpPr>
        <p:grpSpPr>
          <a:xfrm rot="2700000">
            <a:off x="3307367" y="5259407"/>
            <a:ext cx="204979" cy="177992"/>
            <a:chOff x="883920" y="396240"/>
            <a:chExt cx="929640" cy="929640"/>
          </a:xfrm>
        </p:grpSpPr>
        <p:sp>
          <p:nvSpPr>
            <p:cNvPr id="101" name="Rectangle 2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02" name="Rectangle 2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03" name="Group 24"/>
          <p:cNvGrpSpPr/>
          <p:nvPr/>
        </p:nvGrpSpPr>
        <p:grpSpPr>
          <a:xfrm rot="2700000">
            <a:off x="3307367" y="6214092"/>
            <a:ext cx="204979" cy="177992"/>
            <a:chOff x="883920" y="396240"/>
            <a:chExt cx="929640" cy="929640"/>
          </a:xfrm>
        </p:grpSpPr>
        <p:sp>
          <p:nvSpPr>
            <p:cNvPr id="104" name="Rectangle 10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05" name="Rectangle 10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09" name="Group 33"/>
          <p:cNvGrpSpPr/>
          <p:nvPr/>
        </p:nvGrpSpPr>
        <p:grpSpPr>
          <a:xfrm rot="2700000">
            <a:off x="4098539" y="5259407"/>
            <a:ext cx="204979" cy="177992"/>
            <a:chOff x="883920" y="396240"/>
            <a:chExt cx="929640" cy="929640"/>
          </a:xfrm>
        </p:grpSpPr>
        <p:sp>
          <p:nvSpPr>
            <p:cNvPr id="110" name="Rectangle 109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11" name="Rectangle 110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12" name="Group 36"/>
          <p:cNvGrpSpPr/>
          <p:nvPr/>
        </p:nvGrpSpPr>
        <p:grpSpPr>
          <a:xfrm rot="2700000">
            <a:off x="4098539" y="6214092"/>
            <a:ext cx="204979" cy="177992"/>
            <a:chOff x="883920" y="396240"/>
            <a:chExt cx="929640" cy="929640"/>
          </a:xfrm>
        </p:grpSpPr>
        <p:sp>
          <p:nvSpPr>
            <p:cNvPr id="113" name="Rectangle 112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14" name="Rectangle 113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18" name="Group 45"/>
          <p:cNvGrpSpPr/>
          <p:nvPr/>
        </p:nvGrpSpPr>
        <p:grpSpPr>
          <a:xfrm rot="2700000">
            <a:off x="4863982" y="5259407"/>
            <a:ext cx="204979" cy="177992"/>
            <a:chOff x="883920" y="396240"/>
            <a:chExt cx="929640" cy="929640"/>
          </a:xfrm>
        </p:grpSpPr>
        <p:sp>
          <p:nvSpPr>
            <p:cNvPr id="119" name="Rectangle 118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20" name="Rectangle 119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21" name="Group 48"/>
          <p:cNvGrpSpPr/>
          <p:nvPr/>
        </p:nvGrpSpPr>
        <p:grpSpPr>
          <a:xfrm rot="2700000">
            <a:off x="4863982" y="6214092"/>
            <a:ext cx="204979" cy="177992"/>
            <a:chOff x="883920" y="396240"/>
            <a:chExt cx="929640" cy="929640"/>
          </a:xfrm>
        </p:grpSpPr>
        <p:sp>
          <p:nvSpPr>
            <p:cNvPr id="122" name="Rectangle 12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23" name="Rectangle 12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27" name="Group 57"/>
          <p:cNvGrpSpPr/>
          <p:nvPr/>
        </p:nvGrpSpPr>
        <p:grpSpPr>
          <a:xfrm rot="2700000">
            <a:off x="5622993" y="5259407"/>
            <a:ext cx="204979" cy="177992"/>
            <a:chOff x="883920" y="396240"/>
            <a:chExt cx="929640" cy="929640"/>
          </a:xfrm>
        </p:grpSpPr>
        <p:sp>
          <p:nvSpPr>
            <p:cNvPr id="128" name="Rectangle 12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29" name="Rectangle 12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30" name="Group 60"/>
          <p:cNvGrpSpPr/>
          <p:nvPr/>
        </p:nvGrpSpPr>
        <p:grpSpPr>
          <a:xfrm rot="2700000">
            <a:off x="5622993" y="6214092"/>
            <a:ext cx="204979" cy="177992"/>
            <a:chOff x="883920" y="396240"/>
            <a:chExt cx="929640" cy="929640"/>
          </a:xfrm>
        </p:grpSpPr>
        <p:sp>
          <p:nvSpPr>
            <p:cNvPr id="131" name="Rectangle 13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32" name="Rectangle 13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34" name="Group 6"/>
          <p:cNvGrpSpPr/>
          <p:nvPr/>
        </p:nvGrpSpPr>
        <p:grpSpPr>
          <a:xfrm rot="2700000">
            <a:off x="1922037" y="4290948"/>
            <a:ext cx="204979" cy="177992"/>
            <a:chOff x="883920" y="396240"/>
            <a:chExt cx="929640" cy="929640"/>
          </a:xfrm>
        </p:grpSpPr>
        <p:sp>
          <p:nvSpPr>
            <p:cNvPr id="135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36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37" name="Group 9"/>
          <p:cNvGrpSpPr/>
          <p:nvPr/>
        </p:nvGrpSpPr>
        <p:grpSpPr>
          <a:xfrm rot="2700000">
            <a:off x="1915605" y="5261679"/>
            <a:ext cx="204979" cy="177992"/>
            <a:chOff x="883920" y="396240"/>
            <a:chExt cx="929640" cy="929640"/>
          </a:xfrm>
        </p:grpSpPr>
        <p:sp>
          <p:nvSpPr>
            <p:cNvPr id="138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39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40" name="Group 12"/>
          <p:cNvGrpSpPr/>
          <p:nvPr/>
        </p:nvGrpSpPr>
        <p:grpSpPr>
          <a:xfrm rot="2700000">
            <a:off x="1915605" y="6216364"/>
            <a:ext cx="204979" cy="177992"/>
            <a:chOff x="883920" y="396240"/>
            <a:chExt cx="929640" cy="929640"/>
          </a:xfrm>
        </p:grpSpPr>
        <p:sp>
          <p:nvSpPr>
            <p:cNvPr id="141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42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43" name="Group 5"/>
          <p:cNvGrpSpPr/>
          <p:nvPr/>
        </p:nvGrpSpPr>
        <p:grpSpPr>
          <a:xfrm rot="2700000">
            <a:off x="2561222" y="500156"/>
            <a:ext cx="204979" cy="177992"/>
            <a:chOff x="883920" y="396240"/>
            <a:chExt cx="929640" cy="929640"/>
          </a:xfrm>
        </p:grpSpPr>
        <p:sp>
          <p:nvSpPr>
            <p:cNvPr id="144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45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49" name="Group 15"/>
          <p:cNvGrpSpPr/>
          <p:nvPr/>
        </p:nvGrpSpPr>
        <p:grpSpPr>
          <a:xfrm rot="2700000">
            <a:off x="3313800" y="500156"/>
            <a:ext cx="204979" cy="177992"/>
            <a:chOff x="883920" y="396240"/>
            <a:chExt cx="929640" cy="929640"/>
          </a:xfrm>
        </p:grpSpPr>
        <p:sp>
          <p:nvSpPr>
            <p:cNvPr id="150" name="Rectangle 16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51" name="Rectangle 17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55" name="Group 27"/>
          <p:cNvGrpSpPr/>
          <p:nvPr/>
        </p:nvGrpSpPr>
        <p:grpSpPr>
          <a:xfrm rot="2700000">
            <a:off x="4104972" y="500156"/>
            <a:ext cx="204979" cy="177992"/>
            <a:chOff x="883920" y="396240"/>
            <a:chExt cx="929640" cy="929640"/>
          </a:xfrm>
        </p:grpSpPr>
        <p:sp>
          <p:nvSpPr>
            <p:cNvPr id="156" name="Rectangle 155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57" name="Rectangle 156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61" name="Group 39"/>
          <p:cNvGrpSpPr/>
          <p:nvPr/>
        </p:nvGrpSpPr>
        <p:grpSpPr>
          <a:xfrm rot="2700000">
            <a:off x="4870416" y="500156"/>
            <a:ext cx="204979" cy="177992"/>
            <a:chOff x="883920" y="396240"/>
            <a:chExt cx="929640" cy="929640"/>
          </a:xfrm>
        </p:grpSpPr>
        <p:sp>
          <p:nvSpPr>
            <p:cNvPr id="162" name="Rectangle 161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63" name="Rectangle 162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67" name="Group 51"/>
          <p:cNvGrpSpPr/>
          <p:nvPr/>
        </p:nvGrpSpPr>
        <p:grpSpPr>
          <a:xfrm rot="2700000">
            <a:off x="5629426" y="500156"/>
            <a:ext cx="204979" cy="177992"/>
            <a:chOff x="883920" y="396240"/>
            <a:chExt cx="929640" cy="929640"/>
          </a:xfrm>
        </p:grpSpPr>
        <p:sp>
          <p:nvSpPr>
            <p:cNvPr id="168" name="Rectangle 16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69" name="Rectangle 16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5065142" y="110546"/>
            <a:ext cx="407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B</a:t>
            </a:r>
          </a:p>
        </p:txBody>
      </p:sp>
      <p:grpSp>
        <p:nvGrpSpPr>
          <p:cNvPr id="174" name="Group 5"/>
          <p:cNvGrpSpPr/>
          <p:nvPr/>
        </p:nvGrpSpPr>
        <p:grpSpPr>
          <a:xfrm rot="2700000">
            <a:off x="1922038" y="502428"/>
            <a:ext cx="204979" cy="177992"/>
            <a:chOff x="883920" y="396240"/>
            <a:chExt cx="929640" cy="929640"/>
          </a:xfrm>
        </p:grpSpPr>
        <p:sp>
          <p:nvSpPr>
            <p:cNvPr id="175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76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77" name="Group 6"/>
          <p:cNvGrpSpPr/>
          <p:nvPr/>
        </p:nvGrpSpPr>
        <p:grpSpPr>
          <a:xfrm rot="2700000">
            <a:off x="1922038" y="1441068"/>
            <a:ext cx="204979" cy="177992"/>
            <a:chOff x="883920" y="396240"/>
            <a:chExt cx="929640" cy="929640"/>
          </a:xfrm>
        </p:grpSpPr>
        <p:sp>
          <p:nvSpPr>
            <p:cNvPr id="178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79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80" name="Group 5"/>
          <p:cNvGrpSpPr/>
          <p:nvPr/>
        </p:nvGrpSpPr>
        <p:grpSpPr>
          <a:xfrm rot="2700000">
            <a:off x="1159141" y="1429796"/>
            <a:ext cx="204979" cy="177992"/>
            <a:chOff x="883920" y="396240"/>
            <a:chExt cx="929640" cy="929640"/>
          </a:xfrm>
        </p:grpSpPr>
        <p:sp>
          <p:nvSpPr>
            <p:cNvPr id="181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82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83" name="Group 6"/>
          <p:cNvGrpSpPr/>
          <p:nvPr/>
        </p:nvGrpSpPr>
        <p:grpSpPr>
          <a:xfrm rot="2700000">
            <a:off x="1159141" y="2368436"/>
            <a:ext cx="204979" cy="177992"/>
            <a:chOff x="883920" y="396240"/>
            <a:chExt cx="929640" cy="929640"/>
          </a:xfrm>
        </p:grpSpPr>
        <p:sp>
          <p:nvSpPr>
            <p:cNvPr id="184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85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86" name="Group 9"/>
          <p:cNvGrpSpPr/>
          <p:nvPr/>
        </p:nvGrpSpPr>
        <p:grpSpPr>
          <a:xfrm rot="2700000">
            <a:off x="1152709" y="3339167"/>
            <a:ext cx="204979" cy="177992"/>
            <a:chOff x="883920" y="396240"/>
            <a:chExt cx="929640" cy="929640"/>
          </a:xfrm>
        </p:grpSpPr>
        <p:sp>
          <p:nvSpPr>
            <p:cNvPr id="187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88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189" name="Group 12"/>
          <p:cNvGrpSpPr/>
          <p:nvPr/>
        </p:nvGrpSpPr>
        <p:grpSpPr>
          <a:xfrm rot="2700000">
            <a:off x="1152709" y="4293852"/>
            <a:ext cx="204979" cy="177992"/>
            <a:chOff x="883920" y="396240"/>
            <a:chExt cx="929640" cy="929640"/>
          </a:xfrm>
        </p:grpSpPr>
        <p:sp>
          <p:nvSpPr>
            <p:cNvPr id="190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191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05" name="Group 5"/>
          <p:cNvGrpSpPr/>
          <p:nvPr/>
        </p:nvGrpSpPr>
        <p:grpSpPr>
          <a:xfrm rot="2700000">
            <a:off x="519957" y="1432068"/>
            <a:ext cx="204979" cy="177992"/>
            <a:chOff x="883920" y="396240"/>
            <a:chExt cx="929640" cy="929640"/>
          </a:xfrm>
        </p:grpSpPr>
        <p:sp>
          <p:nvSpPr>
            <p:cNvPr id="206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07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08" name="Group 6"/>
          <p:cNvGrpSpPr/>
          <p:nvPr/>
        </p:nvGrpSpPr>
        <p:grpSpPr>
          <a:xfrm rot="2700000">
            <a:off x="519957" y="2370708"/>
            <a:ext cx="204979" cy="177992"/>
            <a:chOff x="883920" y="396240"/>
            <a:chExt cx="929640" cy="929640"/>
          </a:xfrm>
        </p:grpSpPr>
        <p:sp>
          <p:nvSpPr>
            <p:cNvPr id="209" name="Rectangle 7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10" name="Rectangle 8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11" name="Group 9"/>
          <p:cNvGrpSpPr/>
          <p:nvPr/>
        </p:nvGrpSpPr>
        <p:grpSpPr>
          <a:xfrm rot="2700000">
            <a:off x="513525" y="3341439"/>
            <a:ext cx="204979" cy="177992"/>
            <a:chOff x="883920" y="396240"/>
            <a:chExt cx="929640" cy="929640"/>
          </a:xfrm>
        </p:grpSpPr>
        <p:sp>
          <p:nvSpPr>
            <p:cNvPr id="212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13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14" name="Group 12"/>
          <p:cNvGrpSpPr/>
          <p:nvPr/>
        </p:nvGrpSpPr>
        <p:grpSpPr>
          <a:xfrm rot="2700000">
            <a:off x="513525" y="4296124"/>
            <a:ext cx="204979" cy="177992"/>
            <a:chOff x="883920" y="396240"/>
            <a:chExt cx="929640" cy="929640"/>
          </a:xfrm>
        </p:grpSpPr>
        <p:sp>
          <p:nvSpPr>
            <p:cNvPr id="215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16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20" name="Group 9"/>
          <p:cNvGrpSpPr/>
          <p:nvPr/>
        </p:nvGrpSpPr>
        <p:grpSpPr>
          <a:xfrm rot="2700000">
            <a:off x="1152709" y="5259407"/>
            <a:ext cx="204979" cy="177992"/>
            <a:chOff x="883920" y="396240"/>
            <a:chExt cx="929640" cy="929640"/>
          </a:xfrm>
        </p:grpSpPr>
        <p:sp>
          <p:nvSpPr>
            <p:cNvPr id="221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22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23" name="Group 12"/>
          <p:cNvGrpSpPr/>
          <p:nvPr/>
        </p:nvGrpSpPr>
        <p:grpSpPr>
          <a:xfrm rot="2700000">
            <a:off x="1152709" y="6214092"/>
            <a:ext cx="204979" cy="177992"/>
            <a:chOff x="883920" y="396240"/>
            <a:chExt cx="929640" cy="929640"/>
          </a:xfrm>
        </p:grpSpPr>
        <p:sp>
          <p:nvSpPr>
            <p:cNvPr id="224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25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38" name="Group 9"/>
          <p:cNvGrpSpPr/>
          <p:nvPr/>
        </p:nvGrpSpPr>
        <p:grpSpPr>
          <a:xfrm rot="2700000">
            <a:off x="513525" y="5261679"/>
            <a:ext cx="204979" cy="177992"/>
            <a:chOff x="883920" y="396240"/>
            <a:chExt cx="929640" cy="929640"/>
          </a:xfrm>
        </p:grpSpPr>
        <p:sp>
          <p:nvSpPr>
            <p:cNvPr id="239" name="Rectangle 10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40" name="Rectangle 11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41" name="Group 12"/>
          <p:cNvGrpSpPr/>
          <p:nvPr/>
        </p:nvGrpSpPr>
        <p:grpSpPr>
          <a:xfrm rot="2700000">
            <a:off x="513525" y="6216364"/>
            <a:ext cx="204979" cy="177992"/>
            <a:chOff x="883920" y="396240"/>
            <a:chExt cx="929640" cy="929640"/>
          </a:xfrm>
        </p:grpSpPr>
        <p:sp>
          <p:nvSpPr>
            <p:cNvPr id="242" name="Rectangle 1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43" name="Rectangle 1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44" name="Group 5"/>
          <p:cNvGrpSpPr/>
          <p:nvPr/>
        </p:nvGrpSpPr>
        <p:grpSpPr>
          <a:xfrm rot="2700000">
            <a:off x="1159142" y="500156"/>
            <a:ext cx="204979" cy="177992"/>
            <a:chOff x="883920" y="396240"/>
            <a:chExt cx="929640" cy="929640"/>
          </a:xfrm>
        </p:grpSpPr>
        <p:sp>
          <p:nvSpPr>
            <p:cNvPr id="245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46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grpSp>
        <p:nvGrpSpPr>
          <p:cNvPr id="256" name="Group 5"/>
          <p:cNvGrpSpPr/>
          <p:nvPr/>
        </p:nvGrpSpPr>
        <p:grpSpPr>
          <a:xfrm rot="2700000">
            <a:off x="519958" y="502428"/>
            <a:ext cx="204979" cy="177992"/>
            <a:chOff x="883920" y="396240"/>
            <a:chExt cx="929640" cy="929640"/>
          </a:xfrm>
        </p:grpSpPr>
        <p:sp>
          <p:nvSpPr>
            <p:cNvPr id="257" name="Rectangle 3"/>
            <p:cNvSpPr/>
            <p:nvPr/>
          </p:nvSpPr>
          <p:spPr>
            <a:xfrm>
              <a:off x="883920" y="822959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sp>
          <p:nvSpPr>
            <p:cNvPr id="258" name="Rectangle 4"/>
            <p:cNvSpPr/>
            <p:nvPr/>
          </p:nvSpPr>
          <p:spPr>
            <a:xfrm rot="16200000">
              <a:off x="883920" y="822960"/>
              <a:ext cx="929640" cy="76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</p:grpSp>
      <p:sp>
        <p:nvSpPr>
          <p:cNvPr id="262" name="Right Arrow 261"/>
          <p:cNvSpPr/>
          <p:nvPr/>
        </p:nvSpPr>
        <p:spPr>
          <a:xfrm>
            <a:off x="6173135" y="2964013"/>
            <a:ext cx="456693" cy="184519"/>
          </a:xfrm>
          <a:prstGeom prst="rightArrow">
            <a:avLst>
              <a:gd name="adj1" fmla="val 50000"/>
              <a:gd name="adj2" fmla="val 7187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63" name="TextBox 262"/>
          <p:cNvSpPr txBox="1"/>
          <p:nvPr/>
        </p:nvSpPr>
        <p:spPr>
          <a:xfrm>
            <a:off x="6478815" y="3192511"/>
            <a:ext cx="7088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F</a:t>
            </a:r>
            <a:r>
              <a:rPr lang="en-US" sz="2800" baseline="-25000" dirty="0" err="1"/>
              <a:t>pull</a:t>
            </a:r>
            <a:endParaRPr lang="en-US" sz="2800" baseline="-25000" dirty="0"/>
          </a:p>
        </p:txBody>
      </p:sp>
      <p:cxnSp>
        <p:nvCxnSpPr>
          <p:cNvPr id="265" name="Straight Connector 264"/>
          <p:cNvCxnSpPr/>
          <p:nvPr/>
        </p:nvCxnSpPr>
        <p:spPr>
          <a:xfrm>
            <a:off x="2514600" y="944880"/>
            <a:ext cx="0" cy="5181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/>
          <p:cNvCxnSpPr/>
          <p:nvPr/>
        </p:nvCxnSpPr>
        <p:spPr>
          <a:xfrm>
            <a:off x="6065520" y="944880"/>
            <a:ext cx="0" cy="5181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/>
          <p:cNvCxnSpPr/>
          <p:nvPr/>
        </p:nvCxnSpPr>
        <p:spPr>
          <a:xfrm>
            <a:off x="2499360" y="1188720"/>
            <a:ext cx="3566160" cy="0"/>
          </a:xfrm>
          <a:prstGeom prst="line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/>
          <p:cNvSpPr txBox="1"/>
          <p:nvPr/>
        </p:nvSpPr>
        <p:spPr>
          <a:xfrm>
            <a:off x="4130040" y="899160"/>
            <a:ext cx="362600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x</a:t>
            </a:r>
          </a:p>
        </p:txBody>
      </p:sp>
      <p:cxnSp>
        <p:nvCxnSpPr>
          <p:cNvPr id="271" name="Straight Connector 270"/>
          <p:cNvCxnSpPr/>
          <p:nvPr/>
        </p:nvCxnSpPr>
        <p:spPr>
          <a:xfrm rot="5400000">
            <a:off x="2148840" y="1554480"/>
            <a:ext cx="0" cy="5181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/>
          <p:cNvCxnSpPr/>
          <p:nvPr/>
        </p:nvCxnSpPr>
        <p:spPr>
          <a:xfrm rot="5400000">
            <a:off x="2103120" y="3855720"/>
            <a:ext cx="0" cy="5181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/>
          <p:cNvCxnSpPr/>
          <p:nvPr/>
        </p:nvCxnSpPr>
        <p:spPr>
          <a:xfrm>
            <a:off x="2194560" y="1813560"/>
            <a:ext cx="0" cy="2286000"/>
          </a:xfrm>
          <a:prstGeom prst="line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TextBox 275"/>
          <p:cNvSpPr txBox="1"/>
          <p:nvPr/>
        </p:nvSpPr>
        <p:spPr>
          <a:xfrm>
            <a:off x="1996440" y="2575560"/>
            <a:ext cx="352982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eurb10"/>
              </a:rPr>
              <a:t>`</a:t>
            </a:r>
            <a:endParaRPr lang="en-US" sz="3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350520" y="7397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At the moment shown, what direction is the induced current?</a:t>
            </a:r>
          </a:p>
        </p:txBody>
      </p: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1522243" y="3753898"/>
            <a:ext cx="3201084" cy="1107747"/>
            <a:chOff x="3529" y="2884"/>
            <a:chExt cx="1586" cy="644"/>
          </a:xfrm>
        </p:grpSpPr>
        <p:sp>
          <p:nvSpPr>
            <p:cNvPr id="1835017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5018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223.44.E1</a:t>
            </a:r>
            <a:endParaRPr lang="en-US" sz="2800" dirty="0">
              <a:solidFill>
                <a:schemeClr val="accent2"/>
              </a:solidFill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84020" y="3291840"/>
            <a:ext cx="259080" cy="243840"/>
            <a:chOff x="594360" y="2895600"/>
            <a:chExt cx="1066800" cy="1021080"/>
          </a:xfrm>
        </p:grpSpPr>
        <p:sp>
          <p:nvSpPr>
            <p:cNvPr id="11" name="Oval 10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699260" y="4206240"/>
            <a:ext cx="259080" cy="243840"/>
            <a:chOff x="594360" y="2895600"/>
            <a:chExt cx="1066800" cy="1021080"/>
          </a:xfrm>
        </p:grpSpPr>
        <p:sp>
          <p:nvSpPr>
            <p:cNvPr id="16" name="Oval 1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714500" y="5135880"/>
            <a:ext cx="259080" cy="243840"/>
            <a:chOff x="594360" y="2895600"/>
            <a:chExt cx="1066800" cy="1021080"/>
          </a:xfrm>
        </p:grpSpPr>
        <p:sp>
          <p:nvSpPr>
            <p:cNvPr id="20" name="Oval 1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1684020" y="6035040"/>
            <a:ext cx="259080" cy="243840"/>
            <a:chOff x="594360" y="2895600"/>
            <a:chExt cx="1066800" cy="1021080"/>
          </a:xfrm>
        </p:grpSpPr>
        <p:sp>
          <p:nvSpPr>
            <p:cNvPr id="24" name="Oval 2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2613660" y="3307080"/>
            <a:ext cx="259080" cy="243840"/>
            <a:chOff x="594360" y="2895600"/>
            <a:chExt cx="1066800" cy="1021080"/>
          </a:xfrm>
        </p:grpSpPr>
        <p:sp>
          <p:nvSpPr>
            <p:cNvPr id="28" name="Oval 2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28900" y="4221480"/>
            <a:ext cx="259080" cy="243840"/>
            <a:chOff x="594360" y="2895600"/>
            <a:chExt cx="1066800" cy="1021080"/>
          </a:xfrm>
        </p:grpSpPr>
        <p:sp>
          <p:nvSpPr>
            <p:cNvPr id="32" name="Oval 3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2644140" y="5151120"/>
            <a:ext cx="259080" cy="243840"/>
            <a:chOff x="594360" y="2895600"/>
            <a:chExt cx="1066800" cy="1021080"/>
          </a:xfrm>
        </p:grpSpPr>
        <p:sp>
          <p:nvSpPr>
            <p:cNvPr id="36" name="Oval 3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2613660" y="6050280"/>
            <a:ext cx="259080" cy="243840"/>
            <a:chOff x="594360" y="2895600"/>
            <a:chExt cx="1066800" cy="1021080"/>
          </a:xfrm>
        </p:grpSpPr>
        <p:sp>
          <p:nvSpPr>
            <p:cNvPr id="40" name="Oval 3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3528060" y="3291840"/>
            <a:ext cx="259080" cy="243840"/>
            <a:chOff x="594360" y="2895600"/>
            <a:chExt cx="1066800" cy="1021080"/>
          </a:xfrm>
        </p:grpSpPr>
        <p:sp>
          <p:nvSpPr>
            <p:cNvPr id="44" name="Oval 4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3543300" y="4206240"/>
            <a:ext cx="259080" cy="243840"/>
            <a:chOff x="594360" y="2895600"/>
            <a:chExt cx="1066800" cy="1021080"/>
          </a:xfrm>
        </p:grpSpPr>
        <p:sp>
          <p:nvSpPr>
            <p:cNvPr id="48" name="Oval 4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3558540" y="5135880"/>
            <a:ext cx="259080" cy="243840"/>
            <a:chOff x="594360" y="2895600"/>
            <a:chExt cx="1066800" cy="1021080"/>
          </a:xfrm>
        </p:grpSpPr>
        <p:sp>
          <p:nvSpPr>
            <p:cNvPr id="52" name="Oval 5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3528060" y="6035040"/>
            <a:ext cx="259080" cy="243840"/>
            <a:chOff x="594360" y="2895600"/>
            <a:chExt cx="1066800" cy="1021080"/>
          </a:xfrm>
        </p:grpSpPr>
        <p:sp>
          <p:nvSpPr>
            <p:cNvPr id="56" name="Oval 5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/>
          <p:cNvGrpSpPr/>
          <p:nvPr/>
        </p:nvGrpSpPr>
        <p:grpSpPr>
          <a:xfrm>
            <a:off x="4457700" y="3307080"/>
            <a:ext cx="259080" cy="243840"/>
            <a:chOff x="594360" y="2895600"/>
            <a:chExt cx="1066800" cy="1021080"/>
          </a:xfrm>
        </p:grpSpPr>
        <p:sp>
          <p:nvSpPr>
            <p:cNvPr id="60" name="Oval 5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4472940" y="4221480"/>
            <a:ext cx="259080" cy="243840"/>
            <a:chOff x="594360" y="2895600"/>
            <a:chExt cx="1066800" cy="1021080"/>
          </a:xfrm>
        </p:grpSpPr>
        <p:sp>
          <p:nvSpPr>
            <p:cNvPr id="64" name="Oval 6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/>
          <p:cNvGrpSpPr/>
          <p:nvPr/>
        </p:nvGrpSpPr>
        <p:grpSpPr>
          <a:xfrm>
            <a:off x="4488180" y="5151120"/>
            <a:ext cx="259080" cy="243840"/>
            <a:chOff x="594360" y="2895600"/>
            <a:chExt cx="1066800" cy="1021080"/>
          </a:xfrm>
        </p:grpSpPr>
        <p:sp>
          <p:nvSpPr>
            <p:cNvPr id="68" name="Oval 6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4457700" y="6050280"/>
            <a:ext cx="259080" cy="243840"/>
            <a:chOff x="594360" y="2895600"/>
            <a:chExt cx="1066800" cy="1021080"/>
          </a:xfrm>
        </p:grpSpPr>
        <p:sp>
          <p:nvSpPr>
            <p:cNvPr id="72" name="Oval 7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754380" y="3291840"/>
            <a:ext cx="259080" cy="243840"/>
            <a:chOff x="594360" y="2895600"/>
            <a:chExt cx="1066800" cy="1021080"/>
          </a:xfrm>
        </p:grpSpPr>
        <p:sp>
          <p:nvSpPr>
            <p:cNvPr id="76" name="Oval 7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9" name="Group 78"/>
          <p:cNvGrpSpPr/>
          <p:nvPr/>
        </p:nvGrpSpPr>
        <p:grpSpPr>
          <a:xfrm>
            <a:off x="769620" y="4206240"/>
            <a:ext cx="259080" cy="243840"/>
            <a:chOff x="594360" y="2895600"/>
            <a:chExt cx="1066800" cy="1021080"/>
          </a:xfrm>
        </p:grpSpPr>
        <p:sp>
          <p:nvSpPr>
            <p:cNvPr id="80" name="Oval 7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784860" y="5135880"/>
            <a:ext cx="259080" cy="243840"/>
            <a:chOff x="594360" y="2895600"/>
            <a:chExt cx="1066800" cy="1021080"/>
          </a:xfrm>
        </p:grpSpPr>
        <p:sp>
          <p:nvSpPr>
            <p:cNvPr id="84" name="Oval 8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754380" y="6035040"/>
            <a:ext cx="259080" cy="243840"/>
            <a:chOff x="594360" y="2895600"/>
            <a:chExt cx="1066800" cy="1021080"/>
          </a:xfrm>
        </p:grpSpPr>
        <p:sp>
          <p:nvSpPr>
            <p:cNvPr id="88" name="Oval 8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011" name="Rectangle 3"/>
          <p:cNvSpPr>
            <a:spLocks noChangeArrowheads="1"/>
          </p:cNvSpPr>
          <p:nvPr/>
        </p:nvSpPr>
        <p:spPr bwMode="auto">
          <a:xfrm>
            <a:off x="5380038" y="1055688"/>
            <a:ext cx="3763962" cy="1647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2075" tIns="46038" rIns="92075" bIns="46038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a)   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b)   counterclockwise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r>
              <a:rPr lang="en-US" sz="2000" b="1" dirty="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c)   no induced current</a:t>
            </a:r>
          </a:p>
          <a:p>
            <a:pPr marL="285750" indent="-285750">
              <a:lnSpc>
                <a:spcPct val="90000"/>
              </a:lnSpc>
              <a:spcBef>
                <a:spcPct val="50000"/>
              </a:spcBef>
            </a:pP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1835012" name="Rectangle 4"/>
          <p:cNvSpPr>
            <a:spLocks noChangeArrowheads="1"/>
          </p:cNvSpPr>
          <p:nvPr/>
        </p:nvSpPr>
        <p:spPr bwMode="auto">
          <a:xfrm>
            <a:off x="350520" y="739775"/>
            <a:ext cx="422910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401638" indent="-401638">
              <a:lnSpc>
                <a:spcPct val="130000"/>
              </a:lnSpc>
              <a:spcBef>
                <a:spcPct val="30000"/>
              </a:spcBef>
              <a:buClr>
                <a:schemeClr val="bg2"/>
              </a:buClr>
              <a:buSzPct val="75000"/>
              <a:buFont typeface="Monotype Sorts" pitchFamily="2" charset="2"/>
              <a:buNone/>
            </a:pPr>
            <a:r>
              <a:rPr lang="en-US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At the moment shown, what direction is the induced current?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3579643" y="3830098"/>
            <a:ext cx="3201084" cy="1107747"/>
            <a:chOff x="3529" y="2884"/>
            <a:chExt cx="1586" cy="644"/>
          </a:xfrm>
        </p:grpSpPr>
        <p:sp>
          <p:nvSpPr>
            <p:cNvPr id="1835017" name="Line 9"/>
            <p:cNvSpPr>
              <a:spLocks noChangeShapeType="1"/>
            </p:cNvSpPr>
            <p:nvPr/>
          </p:nvSpPr>
          <p:spPr bwMode="auto">
            <a:xfrm>
              <a:off x="4448" y="3105"/>
              <a:ext cx="667" cy="0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35018" name="Rectangle 10"/>
            <p:cNvSpPr>
              <a:spLocks noChangeArrowheads="1"/>
            </p:cNvSpPr>
            <p:nvPr/>
          </p:nvSpPr>
          <p:spPr bwMode="auto">
            <a:xfrm>
              <a:off x="3529" y="2884"/>
              <a:ext cx="881" cy="64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835019" name="Rectangle 11"/>
          <p:cNvSpPr>
            <a:spLocks noGrp="1" noChangeArrowheads="1"/>
          </p:cNvSpPr>
          <p:nvPr>
            <p:ph type="title"/>
          </p:nvPr>
        </p:nvSpPr>
        <p:spPr>
          <a:xfrm>
            <a:off x="660400" y="0"/>
            <a:ext cx="8050213" cy="838200"/>
          </a:xfrm>
          <a:noFill/>
          <a:ln/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800" dirty="0"/>
              <a:t>Question 223.44.E2</a:t>
            </a:r>
            <a:endParaRPr lang="en-US" sz="2800" dirty="0">
              <a:solidFill>
                <a:schemeClr val="accent2"/>
              </a:solidFill>
            </a:endParaRPr>
          </a:p>
        </p:txBody>
      </p:sp>
      <p:grpSp>
        <p:nvGrpSpPr>
          <p:cNvPr id="3" name="Group 13"/>
          <p:cNvGrpSpPr/>
          <p:nvPr/>
        </p:nvGrpSpPr>
        <p:grpSpPr>
          <a:xfrm>
            <a:off x="1684020" y="3291840"/>
            <a:ext cx="259080" cy="243840"/>
            <a:chOff x="594360" y="2895600"/>
            <a:chExt cx="1066800" cy="1021080"/>
          </a:xfrm>
        </p:grpSpPr>
        <p:sp>
          <p:nvSpPr>
            <p:cNvPr id="11" name="Oval 10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14"/>
          <p:cNvGrpSpPr/>
          <p:nvPr/>
        </p:nvGrpSpPr>
        <p:grpSpPr>
          <a:xfrm>
            <a:off x="1699260" y="4206240"/>
            <a:ext cx="259080" cy="243840"/>
            <a:chOff x="594360" y="2895600"/>
            <a:chExt cx="1066800" cy="1021080"/>
          </a:xfrm>
        </p:grpSpPr>
        <p:sp>
          <p:nvSpPr>
            <p:cNvPr id="16" name="Oval 1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18"/>
          <p:cNvGrpSpPr/>
          <p:nvPr/>
        </p:nvGrpSpPr>
        <p:grpSpPr>
          <a:xfrm>
            <a:off x="1714500" y="5135880"/>
            <a:ext cx="259080" cy="243840"/>
            <a:chOff x="594360" y="2895600"/>
            <a:chExt cx="1066800" cy="1021080"/>
          </a:xfrm>
        </p:grpSpPr>
        <p:sp>
          <p:nvSpPr>
            <p:cNvPr id="20" name="Oval 1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22"/>
          <p:cNvGrpSpPr/>
          <p:nvPr/>
        </p:nvGrpSpPr>
        <p:grpSpPr>
          <a:xfrm>
            <a:off x="1684020" y="6035040"/>
            <a:ext cx="259080" cy="243840"/>
            <a:chOff x="594360" y="2895600"/>
            <a:chExt cx="1066800" cy="1021080"/>
          </a:xfrm>
        </p:grpSpPr>
        <p:sp>
          <p:nvSpPr>
            <p:cNvPr id="24" name="Oval 2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26"/>
          <p:cNvGrpSpPr/>
          <p:nvPr/>
        </p:nvGrpSpPr>
        <p:grpSpPr>
          <a:xfrm>
            <a:off x="2613660" y="3307080"/>
            <a:ext cx="259080" cy="243840"/>
            <a:chOff x="594360" y="2895600"/>
            <a:chExt cx="1066800" cy="1021080"/>
          </a:xfrm>
        </p:grpSpPr>
        <p:sp>
          <p:nvSpPr>
            <p:cNvPr id="28" name="Oval 2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30"/>
          <p:cNvGrpSpPr/>
          <p:nvPr/>
        </p:nvGrpSpPr>
        <p:grpSpPr>
          <a:xfrm>
            <a:off x="2628900" y="4221480"/>
            <a:ext cx="259080" cy="243840"/>
            <a:chOff x="594360" y="2895600"/>
            <a:chExt cx="1066800" cy="1021080"/>
          </a:xfrm>
        </p:grpSpPr>
        <p:sp>
          <p:nvSpPr>
            <p:cNvPr id="32" name="Oval 3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34"/>
          <p:cNvGrpSpPr/>
          <p:nvPr/>
        </p:nvGrpSpPr>
        <p:grpSpPr>
          <a:xfrm>
            <a:off x="2644140" y="5151120"/>
            <a:ext cx="259080" cy="243840"/>
            <a:chOff x="594360" y="2895600"/>
            <a:chExt cx="1066800" cy="1021080"/>
          </a:xfrm>
        </p:grpSpPr>
        <p:sp>
          <p:nvSpPr>
            <p:cNvPr id="36" name="Oval 3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38"/>
          <p:cNvGrpSpPr/>
          <p:nvPr/>
        </p:nvGrpSpPr>
        <p:grpSpPr>
          <a:xfrm>
            <a:off x="2613660" y="6050280"/>
            <a:ext cx="259080" cy="243840"/>
            <a:chOff x="594360" y="2895600"/>
            <a:chExt cx="1066800" cy="1021080"/>
          </a:xfrm>
        </p:grpSpPr>
        <p:sp>
          <p:nvSpPr>
            <p:cNvPr id="40" name="Oval 3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42"/>
          <p:cNvGrpSpPr/>
          <p:nvPr/>
        </p:nvGrpSpPr>
        <p:grpSpPr>
          <a:xfrm>
            <a:off x="3528060" y="3291840"/>
            <a:ext cx="259080" cy="243840"/>
            <a:chOff x="594360" y="2895600"/>
            <a:chExt cx="1066800" cy="1021080"/>
          </a:xfrm>
        </p:grpSpPr>
        <p:sp>
          <p:nvSpPr>
            <p:cNvPr id="44" name="Oval 4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46"/>
          <p:cNvGrpSpPr/>
          <p:nvPr/>
        </p:nvGrpSpPr>
        <p:grpSpPr>
          <a:xfrm>
            <a:off x="3543300" y="4206240"/>
            <a:ext cx="259080" cy="243840"/>
            <a:chOff x="594360" y="2895600"/>
            <a:chExt cx="1066800" cy="1021080"/>
          </a:xfrm>
        </p:grpSpPr>
        <p:sp>
          <p:nvSpPr>
            <p:cNvPr id="48" name="Oval 4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50"/>
          <p:cNvGrpSpPr/>
          <p:nvPr/>
        </p:nvGrpSpPr>
        <p:grpSpPr>
          <a:xfrm>
            <a:off x="3558540" y="5135880"/>
            <a:ext cx="259080" cy="243840"/>
            <a:chOff x="594360" y="2895600"/>
            <a:chExt cx="1066800" cy="1021080"/>
          </a:xfrm>
        </p:grpSpPr>
        <p:sp>
          <p:nvSpPr>
            <p:cNvPr id="52" name="Oval 5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54"/>
          <p:cNvGrpSpPr/>
          <p:nvPr/>
        </p:nvGrpSpPr>
        <p:grpSpPr>
          <a:xfrm>
            <a:off x="3528060" y="6035040"/>
            <a:ext cx="259080" cy="243840"/>
            <a:chOff x="594360" y="2895600"/>
            <a:chExt cx="1066800" cy="1021080"/>
          </a:xfrm>
        </p:grpSpPr>
        <p:sp>
          <p:nvSpPr>
            <p:cNvPr id="56" name="Oval 5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58"/>
          <p:cNvGrpSpPr/>
          <p:nvPr/>
        </p:nvGrpSpPr>
        <p:grpSpPr>
          <a:xfrm>
            <a:off x="4457700" y="3307080"/>
            <a:ext cx="259080" cy="243840"/>
            <a:chOff x="594360" y="2895600"/>
            <a:chExt cx="1066800" cy="1021080"/>
          </a:xfrm>
        </p:grpSpPr>
        <p:sp>
          <p:nvSpPr>
            <p:cNvPr id="60" name="Oval 5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62"/>
          <p:cNvGrpSpPr/>
          <p:nvPr/>
        </p:nvGrpSpPr>
        <p:grpSpPr>
          <a:xfrm>
            <a:off x="4472940" y="4221480"/>
            <a:ext cx="259080" cy="243840"/>
            <a:chOff x="594360" y="2895600"/>
            <a:chExt cx="1066800" cy="1021080"/>
          </a:xfrm>
        </p:grpSpPr>
        <p:sp>
          <p:nvSpPr>
            <p:cNvPr id="64" name="Oval 6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08" name="Group 66"/>
          <p:cNvGrpSpPr/>
          <p:nvPr/>
        </p:nvGrpSpPr>
        <p:grpSpPr>
          <a:xfrm>
            <a:off x="4488180" y="5151120"/>
            <a:ext cx="259080" cy="243840"/>
            <a:chOff x="594360" y="2895600"/>
            <a:chExt cx="1066800" cy="1021080"/>
          </a:xfrm>
        </p:grpSpPr>
        <p:sp>
          <p:nvSpPr>
            <p:cNvPr id="68" name="Oval 6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09" name="Group 70"/>
          <p:cNvGrpSpPr/>
          <p:nvPr/>
        </p:nvGrpSpPr>
        <p:grpSpPr>
          <a:xfrm>
            <a:off x="4457700" y="6050280"/>
            <a:ext cx="259080" cy="243840"/>
            <a:chOff x="594360" y="2895600"/>
            <a:chExt cx="1066800" cy="1021080"/>
          </a:xfrm>
        </p:grpSpPr>
        <p:sp>
          <p:nvSpPr>
            <p:cNvPr id="72" name="Oval 71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0" name="Group 74"/>
          <p:cNvGrpSpPr/>
          <p:nvPr/>
        </p:nvGrpSpPr>
        <p:grpSpPr>
          <a:xfrm>
            <a:off x="754380" y="3291840"/>
            <a:ext cx="259080" cy="243840"/>
            <a:chOff x="594360" y="2895600"/>
            <a:chExt cx="1066800" cy="1021080"/>
          </a:xfrm>
        </p:grpSpPr>
        <p:sp>
          <p:nvSpPr>
            <p:cNvPr id="76" name="Oval 75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3" name="Group 78"/>
          <p:cNvGrpSpPr/>
          <p:nvPr/>
        </p:nvGrpSpPr>
        <p:grpSpPr>
          <a:xfrm>
            <a:off x="769620" y="4206240"/>
            <a:ext cx="259080" cy="243840"/>
            <a:chOff x="594360" y="2895600"/>
            <a:chExt cx="1066800" cy="1021080"/>
          </a:xfrm>
        </p:grpSpPr>
        <p:sp>
          <p:nvSpPr>
            <p:cNvPr id="80" name="Oval 79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4" name="Group 82"/>
          <p:cNvGrpSpPr/>
          <p:nvPr/>
        </p:nvGrpSpPr>
        <p:grpSpPr>
          <a:xfrm>
            <a:off x="784860" y="5135880"/>
            <a:ext cx="259080" cy="243840"/>
            <a:chOff x="594360" y="2895600"/>
            <a:chExt cx="1066800" cy="1021080"/>
          </a:xfrm>
        </p:grpSpPr>
        <p:sp>
          <p:nvSpPr>
            <p:cNvPr id="84" name="Oval 83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5015" name="Group 86"/>
          <p:cNvGrpSpPr/>
          <p:nvPr/>
        </p:nvGrpSpPr>
        <p:grpSpPr>
          <a:xfrm>
            <a:off x="754380" y="6035040"/>
            <a:ext cx="259080" cy="243840"/>
            <a:chOff x="594360" y="2895600"/>
            <a:chExt cx="1066800" cy="1021080"/>
          </a:xfrm>
        </p:grpSpPr>
        <p:sp>
          <p:nvSpPr>
            <p:cNvPr id="88" name="Oval 87"/>
            <p:cNvSpPr/>
            <p:nvPr/>
          </p:nvSpPr>
          <p:spPr>
            <a:xfrm>
              <a:off x="594360" y="2895600"/>
              <a:ext cx="1066800" cy="102108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/>
            <p:cNvSpPr/>
            <p:nvPr/>
          </p:nvSpPr>
          <p:spPr>
            <a:xfrm>
              <a:off x="655320" y="2964180"/>
              <a:ext cx="944880" cy="8839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/>
            <p:cNvSpPr/>
            <p:nvPr/>
          </p:nvSpPr>
          <p:spPr>
            <a:xfrm>
              <a:off x="1021080" y="3295650"/>
              <a:ext cx="213360" cy="2209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3045</Words>
  <Application>Microsoft Office PowerPoint</Application>
  <PresentationFormat>On-screen Show (4:3)</PresentationFormat>
  <Paragraphs>397</Paragraphs>
  <Slides>41</Slides>
  <Notes>32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2" baseType="lpstr">
      <vt:lpstr>Arial</vt:lpstr>
      <vt:lpstr>Calibri</vt:lpstr>
      <vt:lpstr>Comic Sans MS</vt:lpstr>
      <vt:lpstr>eurb10</vt:lpstr>
      <vt:lpstr>Impact</vt:lpstr>
      <vt:lpstr>Monotype Sorts</vt:lpstr>
      <vt:lpstr>Symbol</vt:lpstr>
      <vt:lpstr>Tahoma</vt:lpstr>
      <vt:lpstr>Times New Roman</vt:lpstr>
      <vt:lpstr>Office Theme</vt:lpstr>
      <vt:lpstr>Equation</vt:lpstr>
      <vt:lpstr>Question 223.44.1</vt:lpstr>
      <vt:lpstr>Question 223.44.2</vt:lpstr>
      <vt:lpstr>Question 223.44.3</vt:lpstr>
      <vt:lpstr>Question 223.44.3</vt:lpstr>
      <vt:lpstr>PowerPoint Presentation</vt:lpstr>
      <vt:lpstr>PowerPoint Presentation</vt:lpstr>
      <vt:lpstr>PowerPoint Presentation</vt:lpstr>
      <vt:lpstr>Question 223.44.4</vt:lpstr>
      <vt:lpstr>Question 223.44.4</vt:lpstr>
      <vt:lpstr>Question 223.44.5</vt:lpstr>
      <vt:lpstr>Question 223.44.5</vt:lpstr>
      <vt:lpstr>Question 223.44.6</vt:lpstr>
      <vt:lpstr>Question 223.44.6</vt:lpstr>
      <vt:lpstr>Question 223.44.7</vt:lpstr>
      <vt:lpstr>Question 223.44.7</vt:lpstr>
      <vt:lpstr>Question 223.44.8</vt:lpstr>
      <vt:lpstr>Question 223.44.8</vt:lpstr>
      <vt:lpstr>Question 223.44.9</vt:lpstr>
      <vt:lpstr>Question 223.44.9</vt:lpstr>
      <vt:lpstr>Question 223.44.10</vt:lpstr>
      <vt:lpstr>Question 223.44.10</vt:lpstr>
      <vt:lpstr>Question 223.44.11</vt:lpstr>
      <vt:lpstr>Question 223.44.11</vt:lpstr>
      <vt:lpstr>PowerPoint Presentation</vt:lpstr>
      <vt:lpstr>Question 223.44.12</vt:lpstr>
      <vt:lpstr>Question 223.44.12</vt:lpstr>
      <vt:lpstr>Question 223.44.13</vt:lpstr>
      <vt:lpstr>Question 223.44.13</vt:lpstr>
      <vt:lpstr>Question 223.44.14</vt:lpstr>
      <vt:lpstr>Question 223.44.14</vt:lpstr>
      <vt:lpstr>Question 223.44.15</vt:lpstr>
      <vt:lpstr>Question 223.44.15</vt:lpstr>
      <vt:lpstr>Question 223.44.16</vt:lpstr>
      <vt:lpstr>Question 223.44.16</vt:lpstr>
      <vt:lpstr>Question 223.44.17</vt:lpstr>
      <vt:lpstr>Question 223.44.17</vt:lpstr>
      <vt:lpstr>PowerPoint Presentation</vt:lpstr>
      <vt:lpstr>PowerPoint Presentation</vt:lpstr>
      <vt:lpstr>PowerPoint Presentation</vt:lpstr>
      <vt:lpstr>Question 223.44.E1</vt:lpstr>
      <vt:lpstr>Question 223.44.E2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5</cp:revision>
  <dcterms:created xsi:type="dcterms:W3CDTF">2011-11-29T01:07:40Z</dcterms:created>
  <dcterms:modified xsi:type="dcterms:W3CDTF">2025-11-10T22:26:18Z</dcterms:modified>
</cp:coreProperties>
</file>